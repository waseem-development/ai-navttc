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16E520-0E38-4D56-9E10-9AE0FF305639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DAE867-28B2-4A66-A398-C8CDEC87944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37E5F1-E1DD-404B-97CF-A665E9F3197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B6E14E-F2DC-42D9-9F00-E701CC9E668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906FD9-076D-4299-A7BD-A6A4AF910D8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4DC573-D945-4E29-A275-B9E075AD289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A2CD48-3A5D-4CAD-BD8D-87435ADBA43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7177E1-B428-4228-AFBB-AE837459C0E2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0F629F-2F3C-4B30-9601-924B4D19A6C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309DE5-64A1-45E0-BD46-310D7D399CFD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A9325B-03D7-463B-A101-79E5378F772B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Components of a Network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61" name="Content Placeholder 4"/>
          <p:cNvPicPr/>
          <p:nvPr/>
        </p:nvPicPr>
        <p:blipFill>
          <a:blip r:embed="rId1"/>
          <a:stretch/>
        </p:blipFill>
        <p:spPr>
          <a:xfrm>
            <a:off x="2226600" y="1825560"/>
            <a:ext cx="773856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Graphs: A Common Language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63" name="Content Placeholder 6"/>
          <p:cNvPicPr/>
          <p:nvPr/>
        </p:nvPicPr>
        <p:blipFill>
          <a:blip r:embed="rId1"/>
          <a:stretch/>
        </p:blipFill>
        <p:spPr>
          <a:xfrm>
            <a:off x="2518920" y="1825560"/>
            <a:ext cx="715392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Choosing a Proper Representation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65" name="Content Placeholder 5"/>
          <p:cNvPicPr/>
          <p:nvPr/>
        </p:nvPicPr>
        <p:blipFill>
          <a:blip r:embed="rId1"/>
          <a:stretch/>
        </p:blipFill>
        <p:spPr>
          <a:xfrm>
            <a:off x="2493720" y="1825560"/>
            <a:ext cx="720432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How do you degine a Graph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67" name="Content Placeholder 6"/>
          <p:cNvPicPr/>
          <p:nvPr/>
        </p:nvPicPr>
        <p:blipFill>
          <a:blip r:embed="rId1"/>
          <a:stretch/>
        </p:blipFill>
        <p:spPr>
          <a:xfrm>
            <a:off x="2539080" y="1825560"/>
            <a:ext cx="711360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Directed VS Undirected Graphs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69" name="Content Placeholder 5"/>
          <p:cNvPicPr/>
          <p:nvPr/>
        </p:nvPicPr>
        <p:blipFill>
          <a:blip r:embed="rId1"/>
          <a:stretch/>
        </p:blipFill>
        <p:spPr>
          <a:xfrm>
            <a:off x="2572560" y="1825560"/>
            <a:ext cx="704664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Node Degrees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71" name="Content Placeholder 6"/>
          <p:cNvPicPr/>
          <p:nvPr/>
        </p:nvPicPr>
        <p:blipFill>
          <a:blip r:embed="rId1"/>
          <a:stretch/>
        </p:blipFill>
        <p:spPr>
          <a:xfrm>
            <a:off x="1911240" y="2705760"/>
            <a:ext cx="8369280" cy="259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Node Degrees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73" name="Content Placeholder 5"/>
          <p:cNvPicPr/>
          <p:nvPr/>
        </p:nvPicPr>
        <p:blipFill>
          <a:blip r:embed="rId1"/>
          <a:stretch/>
        </p:blipFill>
        <p:spPr>
          <a:xfrm>
            <a:off x="2580120" y="1825560"/>
            <a:ext cx="703152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Bipartile Graphs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75" name="Content Placeholder 6"/>
          <p:cNvPicPr/>
          <p:nvPr/>
        </p:nvPicPr>
        <p:blipFill>
          <a:blip r:embed="rId1"/>
          <a:stretch/>
        </p:blipFill>
        <p:spPr>
          <a:xfrm>
            <a:off x="2538360" y="1825560"/>
            <a:ext cx="711504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Folded / Projected Bipartile Graphs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77" name="Content Placeholder 5"/>
          <p:cNvPicPr/>
          <p:nvPr/>
        </p:nvPicPr>
        <p:blipFill>
          <a:blip r:embed="rId1"/>
          <a:stretch/>
        </p:blipFill>
        <p:spPr>
          <a:xfrm>
            <a:off x="2502000" y="1825560"/>
            <a:ext cx="718740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Representing Graphs: Adjacency Matrix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79" name="Content Placeholder 6"/>
          <p:cNvPicPr/>
          <p:nvPr/>
        </p:nvPicPr>
        <p:blipFill>
          <a:blip r:embed="rId1"/>
          <a:stretch/>
        </p:blipFill>
        <p:spPr>
          <a:xfrm>
            <a:off x="2475360" y="1825560"/>
            <a:ext cx="724068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Adjacency Matrix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81" name="Content Placeholder 4"/>
          <p:cNvPicPr/>
          <p:nvPr/>
        </p:nvPicPr>
        <p:blipFill>
          <a:blip r:embed="rId1"/>
          <a:stretch/>
        </p:blipFill>
        <p:spPr>
          <a:xfrm>
            <a:off x="2458800" y="1825560"/>
            <a:ext cx="727380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Adjacency Matrices are Sparse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83" name="Content Placeholder 4"/>
          <p:cNvPicPr/>
          <p:nvPr/>
        </p:nvPicPr>
        <p:blipFill>
          <a:blip r:embed="rId1"/>
          <a:stretch/>
        </p:blipFill>
        <p:spPr>
          <a:xfrm>
            <a:off x="2771280" y="1825560"/>
            <a:ext cx="664884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Networks are Sparse Graphs 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85" name="Content Placeholder 6"/>
          <p:cNvPicPr/>
          <p:nvPr/>
        </p:nvPicPr>
        <p:blipFill>
          <a:blip r:embed="rId1"/>
          <a:stretch/>
        </p:blipFill>
        <p:spPr>
          <a:xfrm>
            <a:off x="838080" y="1825560"/>
            <a:ext cx="946224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Representing Graphs: Edge List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87" name="Content Placeholder 4"/>
          <p:cNvPicPr/>
          <p:nvPr/>
        </p:nvPicPr>
        <p:blipFill>
          <a:blip r:embed="rId1"/>
          <a:stretch/>
        </p:blipFill>
        <p:spPr>
          <a:xfrm>
            <a:off x="2370960" y="1825560"/>
            <a:ext cx="744948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Representing Graphs: Adjacency List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89" name="Content Placeholder 4"/>
          <p:cNvPicPr/>
          <p:nvPr/>
        </p:nvPicPr>
        <p:blipFill>
          <a:blip r:embed="rId1"/>
          <a:stretch/>
        </p:blipFill>
        <p:spPr>
          <a:xfrm>
            <a:off x="2534400" y="1825560"/>
            <a:ext cx="712296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Node and Edge Attributes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91" name="Content Placeholder 6"/>
          <p:cNvPicPr/>
          <p:nvPr/>
        </p:nvPicPr>
        <p:blipFill>
          <a:blip r:embed="rId1"/>
          <a:stretch/>
        </p:blipFill>
        <p:spPr>
          <a:xfrm>
            <a:off x="1958760" y="1873800"/>
            <a:ext cx="8274240" cy="4254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More Types of Graphs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93" name="Content Placeholder 5"/>
          <p:cNvPicPr/>
          <p:nvPr/>
        </p:nvPicPr>
        <p:blipFill>
          <a:blip r:embed="rId1"/>
          <a:stretch/>
        </p:blipFill>
        <p:spPr>
          <a:xfrm>
            <a:off x="2614320" y="1825560"/>
            <a:ext cx="696276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More Types of Graphs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95" name="Content Placeholder 6"/>
          <p:cNvPicPr/>
          <p:nvPr/>
        </p:nvPicPr>
        <p:blipFill>
          <a:blip r:embed="rId1"/>
          <a:stretch/>
        </p:blipFill>
        <p:spPr>
          <a:xfrm>
            <a:off x="2518560" y="1825560"/>
            <a:ext cx="715464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Connectivity of Undirected Graphs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97" name="Content Placeholder 5"/>
          <p:cNvPicPr/>
          <p:nvPr/>
        </p:nvPicPr>
        <p:blipFill>
          <a:blip r:embed="rId1"/>
          <a:stretch/>
        </p:blipFill>
        <p:spPr>
          <a:xfrm>
            <a:off x="2047680" y="1845360"/>
            <a:ext cx="8096400" cy="431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Connectivity: Example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99" name="Content Placeholder 6"/>
          <p:cNvPicPr/>
          <p:nvPr/>
        </p:nvPicPr>
        <p:blipFill>
          <a:blip r:embed="rId1"/>
          <a:stretch/>
        </p:blipFill>
        <p:spPr>
          <a:xfrm>
            <a:off x="2635200" y="1825560"/>
            <a:ext cx="692100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Connectivity of Directed Graphs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101" name="Content Placeholder 5"/>
          <p:cNvPicPr/>
          <p:nvPr/>
        </p:nvPicPr>
        <p:blipFill>
          <a:blip r:embed="rId1"/>
          <a:stretch/>
        </p:blipFill>
        <p:spPr>
          <a:xfrm>
            <a:off x="2440800" y="1825560"/>
            <a:ext cx="730980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Connectivity of Directed Graphs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103" name="Content Placeholder 6"/>
          <p:cNvPicPr/>
          <p:nvPr/>
        </p:nvPicPr>
        <p:blipFill>
          <a:blip r:embed="rId1"/>
          <a:stretch/>
        </p:blipFill>
        <p:spPr>
          <a:xfrm>
            <a:off x="2522160" y="1825560"/>
            <a:ext cx="714708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Machine Learning Tasks: Rewiew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105" name="Content Placeholder 4"/>
          <p:cNvPicPr/>
          <p:nvPr/>
        </p:nvPicPr>
        <p:blipFill>
          <a:blip r:embed="rId1"/>
          <a:stretch/>
        </p:blipFill>
        <p:spPr>
          <a:xfrm>
            <a:off x="2517480" y="1825560"/>
            <a:ext cx="715644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Traditional ML Pipeline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107" name="Content Placeholder 4"/>
          <p:cNvPicPr/>
          <p:nvPr/>
        </p:nvPicPr>
        <p:blipFill>
          <a:blip r:embed="rId1"/>
          <a:stretch/>
        </p:blipFill>
        <p:spPr>
          <a:xfrm>
            <a:off x="2510280" y="1825560"/>
            <a:ext cx="717084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Traditional ML Pipeline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109" name="Content Placeholder 4"/>
          <p:cNvPicPr/>
          <p:nvPr/>
        </p:nvPicPr>
        <p:blipFill>
          <a:blip r:embed="rId1"/>
          <a:stretch/>
        </p:blipFill>
        <p:spPr>
          <a:xfrm>
            <a:off x="2576160" y="1825560"/>
            <a:ext cx="703908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Feature Design (This Lecture)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111" name="Content Placeholder 4"/>
          <p:cNvPicPr/>
          <p:nvPr/>
        </p:nvPicPr>
        <p:blipFill>
          <a:blip r:embed="rId1"/>
          <a:stretch/>
        </p:blipFill>
        <p:spPr>
          <a:xfrm>
            <a:off x="2548800" y="1825560"/>
            <a:ext cx="7093800" cy="4350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Machine Learning in Graphs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113" name="Content Placeholder 4"/>
          <p:cNvPicPr/>
          <p:nvPr/>
        </p:nvPicPr>
        <p:blipFill>
          <a:blip r:embed="rId1"/>
          <a:stretch/>
        </p:blipFill>
        <p:spPr>
          <a:xfrm>
            <a:off x="319680" y="1885320"/>
            <a:ext cx="5625360" cy="301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Picture 6"/>
          <p:cNvPicPr/>
          <p:nvPr/>
        </p:nvPicPr>
        <p:blipFill>
          <a:blip r:embed="rId2"/>
          <a:stretch/>
        </p:blipFill>
        <p:spPr>
          <a:xfrm>
            <a:off x="5778720" y="1885320"/>
            <a:ext cx="6230880" cy="339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5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93800" y="387000"/>
            <a:ext cx="10065600" cy="129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Node-Level Tasks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7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-720" y="1998720"/>
            <a:ext cx="11454120" cy="781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8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03200"/>
            <a:ext cx="11382840" cy="4267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12708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19" name="Content Placeholder 10"/>
          <p:cNvPicPr/>
          <p:nvPr/>
        </p:nvPicPr>
        <p:blipFill>
          <a:blip r:embed="rId1"/>
          <a:stretch/>
        </p:blipFill>
        <p:spPr>
          <a:xfrm>
            <a:off x="6042960" y="2779920"/>
            <a:ext cx="4530240" cy="307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Content Placeholder 8"/>
          <p:cNvPicPr/>
          <p:nvPr/>
        </p:nvPicPr>
        <p:blipFill>
          <a:blip r:embed="rId2"/>
          <a:stretch/>
        </p:blipFill>
        <p:spPr>
          <a:xfrm>
            <a:off x="577080" y="2450520"/>
            <a:ext cx="5149800" cy="350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228400" y="2313000"/>
            <a:ext cx="781200" cy="151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2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793800" y="387000"/>
            <a:ext cx="4048560" cy="129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85000"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Node-Features Node Degree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4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-720" y="1998720"/>
            <a:ext cx="11454120" cy="781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5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03200"/>
            <a:ext cx="11382840" cy="4267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12708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6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228400" y="2313000"/>
            <a:ext cx="781200" cy="151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27" name="Picture 3"/>
          <p:cNvPicPr/>
          <p:nvPr/>
        </p:nvPicPr>
        <p:blipFill>
          <a:blip r:embed="rId1"/>
          <a:stretch/>
        </p:blipFill>
        <p:spPr>
          <a:xfrm>
            <a:off x="-71280" y="2237040"/>
            <a:ext cx="5486400" cy="36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Content Placeholder 9"/>
          <p:cNvPicPr/>
          <p:nvPr/>
        </p:nvPicPr>
        <p:blipFill>
          <a:blip r:embed="rId2"/>
          <a:stretch/>
        </p:blipFill>
        <p:spPr>
          <a:xfrm>
            <a:off x="5210640" y="2274120"/>
            <a:ext cx="6701760" cy="390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itle 1"/>
          <p:cNvSpPr/>
          <p:nvPr/>
        </p:nvSpPr>
        <p:spPr>
          <a:xfrm>
            <a:off x="6110640" y="473400"/>
            <a:ext cx="40485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 fontScale="85000" lnSpcReduction="9999"/>
          </a:bodyPr>
          <a:p>
            <a:pPr defTabSz="914400">
              <a:lnSpc>
                <a:spcPct val="90000"/>
              </a:lnSpc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Node-Features Node Centrality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0" name="Rectang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93800" y="387000"/>
            <a:ext cx="4473000" cy="129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lnSpcReduction="9999"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8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Node Centrality (1)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2" name="Rectangl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-720" y="1998720"/>
            <a:ext cx="11454120" cy="781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3" name="Rectangl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03200"/>
            <a:ext cx="11382840" cy="4267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12708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4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1228400" y="2313000"/>
            <a:ext cx="781200" cy="151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5" name="Title 1"/>
          <p:cNvSpPr/>
          <p:nvPr/>
        </p:nvSpPr>
        <p:spPr>
          <a:xfrm>
            <a:off x="6613920" y="2271600"/>
            <a:ext cx="40485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 fontScale="40000" lnSpcReduction="19999"/>
          </a:bodyPr>
          <a:p>
            <a:pPr algn="just" defTabSz="914400">
              <a:lnSpc>
                <a:spcPct val="90000"/>
              </a:lnSpc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Perron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–</a:t>
            </a: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Frobenius theorem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, asserts that a real square matrix with positive entries has a unique eigenvalue of largest magnitude and that eigenvalue is real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Picture 4"/>
          <p:cNvPicPr/>
          <p:nvPr/>
        </p:nvPicPr>
        <p:blipFill>
          <a:blip r:embed="rId1"/>
          <a:stretch/>
        </p:blipFill>
        <p:spPr>
          <a:xfrm>
            <a:off x="56880" y="2203200"/>
            <a:ext cx="5436360" cy="3902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430416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Eigen Values and Eigen Vectors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138" name="Picture 4"/>
          <p:cNvPicPr/>
          <p:nvPr/>
        </p:nvPicPr>
        <p:blipFill>
          <a:blip r:embed="rId1"/>
          <a:stretch/>
        </p:blipFill>
        <p:spPr>
          <a:xfrm>
            <a:off x="386280" y="1690560"/>
            <a:ext cx="4964760" cy="448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Picture 6"/>
          <p:cNvPicPr/>
          <p:nvPr/>
        </p:nvPicPr>
        <p:blipFill>
          <a:blip r:embed="rId2"/>
          <a:stretch/>
        </p:blipFill>
        <p:spPr>
          <a:xfrm>
            <a:off x="5885280" y="1930320"/>
            <a:ext cx="5328720" cy="344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4"/>
          <p:cNvPicPr/>
          <p:nvPr/>
        </p:nvPicPr>
        <p:blipFill>
          <a:blip r:embed="rId1"/>
          <a:stretch/>
        </p:blipFill>
        <p:spPr>
          <a:xfrm>
            <a:off x="602280" y="482400"/>
            <a:ext cx="2840040" cy="143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Picture 6"/>
          <p:cNvPicPr/>
          <p:nvPr/>
        </p:nvPicPr>
        <p:blipFill>
          <a:blip r:embed="rId2"/>
          <a:stretch/>
        </p:blipFill>
        <p:spPr>
          <a:xfrm>
            <a:off x="4025880" y="618480"/>
            <a:ext cx="3129480" cy="168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Picture 8"/>
          <p:cNvPicPr/>
          <p:nvPr/>
        </p:nvPicPr>
        <p:blipFill>
          <a:blip r:embed="rId3"/>
          <a:stretch/>
        </p:blipFill>
        <p:spPr>
          <a:xfrm>
            <a:off x="7436880" y="618480"/>
            <a:ext cx="3972960" cy="1526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Picture 10"/>
          <p:cNvPicPr/>
          <p:nvPr/>
        </p:nvPicPr>
        <p:blipFill>
          <a:blip r:embed="rId4"/>
          <a:stretch/>
        </p:blipFill>
        <p:spPr>
          <a:xfrm>
            <a:off x="602280" y="2778120"/>
            <a:ext cx="3294360" cy="163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Picture 12"/>
          <p:cNvPicPr/>
          <p:nvPr/>
        </p:nvPicPr>
        <p:blipFill>
          <a:blip r:embed="rId5"/>
          <a:stretch/>
        </p:blipFill>
        <p:spPr>
          <a:xfrm>
            <a:off x="4012560" y="3012840"/>
            <a:ext cx="3423960" cy="186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Picture 14"/>
          <p:cNvPicPr/>
          <p:nvPr/>
        </p:nvPicPr>
        <p:blipFill>
          <a:blip r:embed="rId6"/>
          <a:stretch/>
        </p:blipFill>
        <p:spPr>
          <a:xfrm>
            <a:off x="7904520" y="2778120"/>
            <a:ext cx="3501000" cy="1821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Picture 16"/>
          <p:cNvPicPr/>
          <p:nvPr/>
        </p:nvPicPr>
        <p:blipFill>
          <a:blip r:embed="rId7"/>
          <a:stretch/>
        </p:blipFill>
        <p:spPr>
          <a:xfrm>
            <a:off x="243000" y="4865040"/>
            <a:ext cx="4626720" cy="143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Picture 18"/>
          <p:cNvPicPr/>
          <p:nvPr/>
        </p:nvPicPr>
        <p:blipFill>
          <a:blip r:embed="rId8"/>
          <a:stretch/>
        </p:blipFill>
        <p:spPr>
          <a:xfrm>
            <a:off x="6040800" y="4875840"/>
            <a:ext cx="5554080" cy="1420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icture 18"/>
          <p:cNvPicPr/>
          <p:nvPr/>
        </p:nvPicPr>
        <p:blipFill>
          <a:blip r:embed="rId1"/>
          <a:stretch/>
        </p:blipFill>
        <p:spPr>
          <a:xfrm>
            <a:off x="167760" y="0"/>
            <a:ext cx="5554080" cy="142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Picture 2"/>
          <p:cNvPicPr/>
          <p:nvPr/>
        </p:nvPicPr>
        <p:blipFill>
          <a:blip r:embed="rId2"/>
          <a:stretch/>
        </p:blipFill>
        <p:spPr>
          <a:xfrm>
            <a:off x="5995800" y="0"/>
            <a:ext cx="5678280" cy="207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Picture 5"/>
          <p:cNvPicPr/>
          <p:nvPr/>
        </p:nvPicPr>
        <p:blipFill>
          <a:blip r:embed="rId3"/>
          <a:stretch/>
        </p:blipFill>
        <p:spPr>
          <a:xfrm>
            <a:off x="362160" y="1978560"/>
            <a:ext cx="4958280" cy="207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Node Centrality (2)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152" name="Picture 4"/>
          <p:cNvPicPr/>
          <p:nvPr/>
        </p:nvPicPr>
        <p:blipFill>
          <a:blip r:embed="rId1"/>
          <a:stretch/>
        </p:blipFill>
        <p:spPr>
          <a:xfrm>
            <a:off x="724320" y="1841040"/>
            <a:ext cx="10629360" cy="39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Node Closeness (3)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154" name="Picture 3"/>
          <p:cNvPicPr/>
          <p:nvPr/>
        </p:nvPicPr>
        <p:blipFill>
          <a:blip r:embed="rId1"/>
          <a:stretch/>
        </p:blipFill>
        <p:spPr>
          <a:xfrm>
            <a:off x="1764360" y="1690560"/>
            <a:ext cx="8344080" cy="4991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Application>LibreOffice/26.2.5.2$Linux_X86_64 LibreOffice_project/620$Build-2</Application>
  <AppVersion>15.0000</AppVersion>
  <Words>161</Words>
  <Paragraphs>35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2026-08-27T05:44:37Z</dcterms:created>
  <dc:creator>Imam Baloch</dc:creator>
  <dc:description/>
  <dc:language>en-US</dc:language>
  <cp:lastModifiedBy/>
  <dcterms:modified xsi:type="dcterms:W3CDTF">2026-08-27T19:50:09Z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36</vt:i4>
  </property>
</Properties>
</file>