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260" r:id="rId36"/>
    <p:sldId id="261" r:id="rId37"/>
    <p:sldId id="262" r:id="rId38"/>
    <p:sldId id="263" r:id="rId39"/>
    <p:sldId id="264" r:id="rId40"/>
    <p:sldId id="265" r:id="rId41"/>
    <p:sldId id="266" r:id="rId42"/>
    <p:sldId id="267" r:id="rId43"/>
    <p:sldId id="268" r:id="rId44"/>
    <p:sldId id="269" r:id="rId45"/>
    <p:sldId id="270" r:id="rId46"/>
    <p:sldId id="271" r:id="rId47"/>
    <p:sldId id="272" r:id="rId48"/>
    <p:sldId id="273" r:id="rId49"/>
    <p:sldId id="274" r:id="rId50"/>
    <p:sldId id="275" r:id="rId51"/>
    <p:sldId id="276" r:id="rId52"/>
    <p:sldId id="277" r:id="rId53"/>
    <p:sldId id="278" r:id="rId54"/>
    <p:sldId id="279" r:id="rId55"/>
    <p:sldId id="280" r:id="rId56"/>
    <p:sldId id="281" r:id="rId57"/>
    <p:sldId id="282" r:id="rId58"/>
    <p:sldId id="283" r:id="rId59"/>
    <p:sldId id="284" r:id="rId60"/>
    <p:sldId id="285" r:id="rId61"/>
    <p:sldId id="286" r:id="rId62"/>
    <p:sldId id="287" r:id="rId63"/>
    <p:sldId id="288" r:id="rId64"/>
    <p:sldId id="289" r:id="rId65"/>
    <p:sldId id="290" r:id="rId66"/>
    <p:sldId id="291" r:id="rId67"/>
    <p:sldId id="292" r:id="rId68"/>
    <p:sldId id="293" r:id="rId69"/>
    <p:sldId id="294" r:id="rId70"/>
    <p:sldId id="295" r:id="rId71"/>
    <p:sldId id="296" r:id="rId72"/>
    <p:sldId id="297" r:id="rId73"/>
    <p:sldId id="298" r:id="rId74"/>
    <p:sldId id="299" r:id="rId75"/>
    <p:sldId id="300" r:id="rId76"/>
    <p:sldId id="301" r:id="rId7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0" Type="http://schemas.openxmlformats.org/officeDocument/2006/relationships/tableStyles" Target="tableStyles.xml"/><Relationship Id="rId8" Type="http://schemas.openxmlformats.org/officeDocument/2006/relationships/slide" Target="slides/slide4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465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Convolutional Networks • BS 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46520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1: Graph Foundations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465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Convolutional Networks • BS 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46520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1: Graph Foundations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5"/>
          </a:solidFill>
          <a:ln w="12700">
            <a:solidFill>
              <a:srgbClr val="FF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858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C95D"/>
                </a:solidFill>
              </a:rPr>
              <a:t>LECTURE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Foundations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GCNs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CEEEB"/>
                </a:solidFill>
              </a:rPr>
              <a:t>From graph theory and representations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CEEEB"/>
                </a:solidFill>
              </a:rPr>
              <a:t>to the ideas that make GCNs possible.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flipV="1">
            <a:off x="5278755" y="2458085"/>
            <a:ext cx="1836420" cy="812165"/>
          </a:xfrm>
          <a:prstGeom prst="line">
            <a:avLst/>
          </a:prstGeom>
          <a:noFill/>
          <a:ln w="29210">
            <a:solidFill>
              <a:srgbClr val="B33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23053" y="3467405"/>
            <a:ext cx="1806854" cy="841248"/>
          </a:xfrm>
          <a:prstGeom prst="line">
            <a:avLst/>
          </a:prstGeom>
          <a:noFill/>
          <a:ln w="29210">
            <a:solidFill>
              <a:srgbClr val="B33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07885" y="2457907"/>
            <a:ext cx="1945843" cy="841248"/>
          </a:xfrm>
          <a:prstGeom prst="line">
            <a:avLst/>
          </a:prstGeom>
          <a:noFill/>
          <a:ln w="29210">
            <a:solidFill>
              <a:srgbClr val="B33A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7078980" y="2659380"/>
            <a:ext cx="184785" cy="1421130"/>
          </a:xfrm>
          <a:prstGeom prst="line">
            <a:avLst/>
          </a:prstGeom>
          <a:noFill/>
          <a:ln w="29210">
            <a:solidFill>
              <a:srgbClr val="B33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22185" y="2641600"/>
            <a:ext cx="2754630" cy="1895475"/>
          </a:xfrm>
          <a:prstGeom prst="line">
            <a:avLst/>
          </a:prstGeom>
          <a:noFill/>
          <a:ln w="29210">
            <a:solidFill>
              <a:srgbClr val="B33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53728" y="3299155"/>
            <a:ext cx="903427" cy="1261872"/>
          </a:xfrm>
          <a:prstGeom prst="line">
            <a:avLst/>
          </a:prstGeom>
          <a:noFill/>
          <a:ln w="29210">
            <a:solidFill>
              <a:srgbClr val="B33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29907" y="4308653"/>
            <a:ext cx="3127248" cy="252374"/>
          </a:xfrm>
          <a:prstGeom prst="line">
            <a:avLst/>
          </a:prstGeom>
          <a:noFill/>
          <a:ln w="29210">
            <a:solidFill>
              <a:srgbClr val="B33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4453" y="3238805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B33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4453" y="3257093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2A28"/>
                </a:solidFill>
              </a:rPr>
              <a:t>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79285" y="2229307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B33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9285" y="2247595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2A28"/>
                </a:solidFill>
              </a:rPr>
              <a:t>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25128" y="3070555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B33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5128" y="3088843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2A28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01307" y="4080053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B33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1307" y="4098341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2A28"/>
                </a:solidFill>
              </a:rPr>
              <a:t>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928555" y="4332427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B33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8555" y="4350715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2A28"/>
                </a:solidFill>
              </a:rPr>
              <a:t>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57607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2A28"/>
                </a:solidFill>
              </a:rPr>
              <a:t>G = (V, E)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goals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What students should be able to do before the first GCN layer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34416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1. Graph reasoning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" y="1664208"/>
            <a:ext cx="3273552" cy="13441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Define nodes, edges, neighborhoods, degree, paths, cycles, connectivity, trees, and sparsity.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23444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134416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2. Representation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62272" y="1664208"/>
            <a:ext cx="3273552" cy="13441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Move confidently between graph drawings, adjacency matrices, adjacency lists, edge lists, and feature matrices.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23444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3024" y="134416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3. GCN readiness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93024" y="1664208"/>
            <a:ext cx="3273552" cy="13441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Understand why ordinary CNNs do not transfer directly to irregular graphs and why message passing is the right abstraction.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54480" y="3657600"/>
            <a:ext cx="4160520" cy="1645920"/>
          </a:xfrm>
          <a:prstGeom prst="roundRect">
            <a:avLst>
              <a:gd name="adj" fmla="val 3333"/>
            </a:avLst>
          </a:prstGeom>
          <a:solidFill>
            <a:srgbClr val="FFFDFB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0784" y="3767328"/>
            <a:ext cx="3867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4. Mathematics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00784" y="4087368"/>
            <a:ext cx="3867912" cy="11155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Use matrix multiplication, normalization, Laplacians, dimensions, and simple eigenvalue ideas.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657600"/>
            <a:ext cx="4160520" cy="1645920"/>
          </a:xfrm>
          <a:prstGeom prst="roundRect">
            <a:avLst>
              <a:gd name="adj" fmla="val 3333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3767328"/>
            <a:ext cx="3867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5. Classroom habit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92824" y="4087368"/>
            <a:ext cx="3867912" cy="11155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Do not memorize the GCN equation first. Explain what each matrix does before writing the formula.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Prerequisites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Only the pieces that the GCN pipeline actually needs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35440" y="429768"/>
            <a:ext cx="2057400" cy="246888"/>
          </a:xfrm>
          <a:prstGeom prst="rect">
            <a:avLst/>
          </a:prstGeom>
          <a:solidFill>
            <a:srgbClr val="9F1D20"/>
          </a:solidFill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HERE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2120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344168"/>
            <a:ext cx="4919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Programming + 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2A28"/>
                </a:solidFill>
              </a:rPr>
              <a:t>Python: variables, loops, arrays, functions, classes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2A28"/>
                </a:solidFill>
              </a:rPr>
              <a:t>Basic neural networks: layers, activations, loss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2120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4224" y="1344168"/>
            <a:ext cx="4919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Mathematics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783080"/>
            <a:ext cx="4709160" cy="22860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2A28"/>
                </a:solidFill>
              </a:rPr>
              <a:t>Vectors and matrices; matrix multiplication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2A28"/>
                </a:solidFill>
              </a:rPr>
              <a:t>Derivatives, chain rule, gradient descent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2A28"/>
                </a:solidFill>
              </a:rPr>
              <a:t>Basic probability/statistics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1D20"/>
                </a:solidFill>
              </a:rPr>
              <a:t>Diagnostic question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2A28"/>
                </a:solidFill>
              </a:rPr>
              <a:t>Can a student explain why (n×d)(d×h) = n×h?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434340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5A54"/>
                </a:solidFill>
              </a:rPr>
              <a:t>If not, spend one short review session on matrix shapes before GCNs.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is a graph?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2A28"/>
                </a:solidFill>
              </a:rPr>
              <a:t>A graph is a mathematical structure for representing objects and the relationships between them.</a:t>
            </a:r>
            <a:endParaRPr lang="en-US" sz="2000" b="1" dirty="0">
              <a:solidFill>
                <a:srgbClr val="332A28"/>
              </a:solidFill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chemeClr val="accent1"/>
                </a:solidFill>
              </a:rPr>
              <a:t>Graphs are a general language for describing and</a:t>
            </a:r>
            <a:endParaRPr lang="en-US" altLang="en-US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chemeClr val="accent1"/>
                </a:solidFill>
              </a:rPr>
              <a:t>analyzing entities with relations/interactions</a:t>
            </a:r>
            <a:endParaRPr lang="en-US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286635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1D20"/>
                </a:solidFill>
              </a:rPr>
              <a:t>G = (V, E)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27432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990088"/>
            <a:ext cx="2450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V — vertices / nodes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2450592" cy="1664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Objects or entities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Examples: people, papers, atoms, road intersections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880360"/>
            <a:ext cx="27432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3904" y="2990088"/>
            <a:ext cx="2450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E — edges / links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03904" y="3310128"/>
            <a:ext cx="2450592" cy="1664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Relationships between nodes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Friendship, citation, road, chemical bond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2155" y="1143000"/>
            <a:ext cx="4439285" cy="42976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622540" y="1987550"/>
            <a:ext cx="1102995" cy="31178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2438" y="2518258"/>
            <a:ext cx="760781" cy="163311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53805" y="1916582"/>
            <a:ext cx="1521562" cy="644652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8515350" y="1987550"/>
            <a:ext cx="306705" cy="203962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21115" y="2129155"/>
            <a:ext cx="1226185" cy="189801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0251440" y="2651760"/>
            <a:ext cx="252730" cy="140335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3219" y="4151376"/>
            <a:ext cx="1806854" cy="8595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3838" y="2289658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3838" y="2307946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25205" y="1687982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25205" y="1706270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46766" y="2332634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6766" y="235092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54619" y="392277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4619" y="394106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61474" y="400873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1474" y="402701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0" y="56692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n = |V|    m = |E|</a:t>
            </a:r>
            <a:endParaRPr lang="en-US" sz="2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3" name="Text 1"/>
          <p:cNvSpPr/>
          <p:nvPr/>
        </p:nvSpPr>
        <p:spPr>
          <a:xfrm>
            <a:off x="3759835" y="472440"/>
            <a:ext cx="773366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The central abstraction behind networked data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Many Types of Data are Graphs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03904" y="2990088"/>
            <a:ext cx="2450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E — edges / links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70" y="1256030"/>
            <a:ext cx="10389235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Many Types of Data are Graphs</a:t>
            </a:r>
            <a:endParaRPr lang="en-US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833755"/>
            <a:ext cx="11764010" cy="5376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Many Types of Data are Graphs</a:t>
            </a:r>
            <a:endParaRPr lang="en-US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95" y="944245"/>
            <a:ext cx="11686540" cy="52660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Databases are Graphs</a:t>
            </a:r>
            <a:endParaRPr lang="en-US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35" y="1126490"/>
            <a:ext cx="11558905" cy="5603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515" y="578993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Graphs in the Machine Learning</a:t>
            </a:r>
            <a:endParaRPr lang="en-US" altLang="en-US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15925" y="1151255"/>
            <a:ext cx="103917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en-US" sz="2000" b="1" dirty="0">
                <a:solidFill>
                  <a:schemeClr val="accent2"/>
                </a:solidFill>
                <a:sym typeface="+mn-ea"/>
              </a:rPr>
              <a:t>Complex domains have a rich relational structure, which can be represented as a relational graph. By explicitly modeling relationships we achieve better performance!</a:t>
            </a:r>
            <a:endParaRPr lang="en-US" altLang="en-US" sz="2000" b="1" dirty="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615" y="1848485"/>
            <a:ext cx="11468735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515" y="578993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Why is Graph Deep Learning is Hard?</a:t>
            </a:r>
            <a:endParaRPr lang="en-US" altLang="en-US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10515" y="5721350"/>
            <a:ext cx="103917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en-US" sz="2000" b="1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How can we develop neural networks that are much more broadly applicable?</a:t>
            </a:r>
            <a:endParaRPr lang="en-US" altLang="en-US" sz="2000" b="1" dirty="0">
              <a:solidFill>
                <a:schemeClr val="accent2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en-US" sz="20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Graphs are the new frontier of deep learning</a:t>
            </a:r>
            <a:endParaRPr lang="en-US" altLang="en-US" sz="20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23620"/>
            <a:ext cx="11094720" cy="43859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515" y="578993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Graph Neural Networks in Research Community</a:t>
            </a:r>
            <a:endParaRPr lang="en-US" altLang="en-US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10515" y="5721350"/>
            <a:ext cx="103917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en-US" sz="2000" b="1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How can we develop neural networks that are much more broadly applicable?</a:t>
            </a:r>
            <a:endParaRPr lang="en-US" altLang="en-US" sz="2000" b="1" dirty="0">
              <a:solidFill>
                <a:schemeClr val="accent2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en-US" sz="20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Graphs are the new frontier of deep learning</a:t>
            </a:r>
            <a:endParaRPr lang="en-US" altLang="en-US" sz="20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" y="992505"/>
            <a:ext cx="10621645" cy="4729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515" y="578993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Common Language in Graphs</a:t>
            </a:r>
            <a:endParaRPr lang="en-US" altLang="en-US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1473835"/>
            <a:ext cx="10950575" cy="44888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Heterogeneous Graphs</a:t>
            </a:r>
            <a:endParaRPr lang="en-US" alt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5" y="1183640"/>
            <a:ext cx="10785475" cy="51600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Hetrogenious Graphs</a:t>
            </a:r>
            <a:endParaRPr lang="en-US" alt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204595"/>
            <a:ext cx="12190730" cy="56534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Directed VS Undirected Graphs</a:t>
            </a:r>
            <a:endParaRPr lang="en-US" alt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945" y="1173480"/>
            <a:ext cx="11040110" cy="5085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Bipartite Graphs</a:t>
            </a:r>
            <a:endParaRPr lang="en-US" alt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1376045"/>
            <a:ext cx="11204575" cy="46907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Different Types of Tasks</a:t>
            </a:r>
            <a:endParaRPr lang="en-US" alt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" y="1181100"/>
            <a:ext cx="11228070" cy="53816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ML / DL Types of Tasks</a:t>
            </a:r>
            <a:endParaRPr lang="en-US" alt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45" y="1165860"/>
            <a:ext cx="11191875" cy="56921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Node Level Classification</a:t>
            </a:r>
            <a:endParaRPr lang="en-US" alt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70" y="1183005"/>
            <a:ext cx="4937125" cy="48075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690" y="653415"/>
            <a:ext cx="6390640" cy="55518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Protien Folding</a:t>
            </a:r>
            <a:endParaRPr lang="en-US" alt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165860"/>
            <a:ext cx="10801350" cy="49650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Protien Folding</a:t>
            </a:r>
            <a:endParaRPr lang="en-US" alt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35" y="1145540"/>
            <a:ext cx="11257915" cy="4973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Link Level Predictions</a:t>
            </a:r>
            <a:endParaRPr lang="en-US" alt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545" y="1157605"/>
            <a:ext cx="1058291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Recommended Systems</a:t>
            </a:r>
            <a:endParaRPr lang="en-US" alt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190" y="1189355"/>
            <a:ext cx="10930255" cy="50558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Recommended Systems</a:t>
            </a:r>
            <a:endParaRPr lang="en-US" altLang="en-US" sz="2600" dirty="0"/>
          </a:p>
        </p:txBody>
      </p:sp>
      <p:sp>
        <p:nvSpPr>
          <p:cNvPr id="2" name="Text Box 1"/>
          <p:cNvSpPr txBox="1"/>
          <p:nvPr/>
        </p:nvSpPr>
        <p:spPr>
          <a:xfrm>
            <a:off x="243840" y="1249045"/>
            <a:ext cx="1025461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>
                <a:solidFill>
                  <a:schemeClr val="accent6">
                    <a:lumMod val="75000"/>
                  </a:schemeClr>
                </a:solidFill>
              </a:rPr>
              <a:t>Goal: We want make a prediction for an entire graph or a subgraph of the graph.</a:t>
            </a:r>
            <a:endParaRPr lang="en-US" altLang="zh-CN"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230" y="1622425"/>
            <a:ext cx="10250805" cy="46196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Road Network as a Graph</a:t>
            </a:r>
            <a:endParaRPr lang="en-US" alt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290" y="1120775"/>
            <a:ext cx="10847070" cy="51447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Traffic Prediction Via GCN</a:t>
            </a:r>
            <a:endParaRPr lang="en-US" alt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395" y="1196340"/>
            <a:ext cx="11204575" cy="56616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Drug Discovery Via GCN</a:t>
            </a:r>
            <a:endParaRPr lang="en-US" alt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35" y="1183640"/>
            <a:ext cx="11631930" cy="56743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Deep Learning for Antibiotic Discovery</a:t>
            </a:r>
            <a:endParaRPr lang="en-US" alt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230" y="1141095"/>
            <a:ext cx="10543540" cy="57169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Physics Simulation</a:t>
            </a:r>
            <a:endParaRPr lang="en-US" alt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0" y="1133475"/>
            <a:ext cx="10426065" cy="497268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Simulation Learning Framework </a:t>
            </a:r>
            <a:endParaRPr lang="en-US" alt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90" y="1311275"/>
            <a:ext cx="11488420" cy="48196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42265" y="391795"/>
            <a:ext cx="11068050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Weather Prediction </a:t>
            </a:r>
            <a:endParaRPr lang="en-US" alt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150" y="1181100"/>
            <a:ext cx="10807065" cy="52482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Common graph variants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The GCN idea starts simple, then generalizes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234440"/>
          <a:ext cx="10881360" cy="4114800"/>
        </p:xfrm>
        <a:graphic>
          <a:graphicData uri="http://schemas.openxmlformats.org/drawingml/2006/table">
            <a:tbl>
              <a:tblPr/>
              <a:tblGrid>
                <a:gridCol w="2103120"/>
                <a:gridCol w="5212080"/>
                <a:gridCol w="3566160"/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Undirected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u—v means the same relationship as v—u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Friendship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Directed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u→v differs from v→u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Citation / follow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Weighted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Edges carry values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Distance / similarity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Simple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self-loops or parallel edges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Basic teaching graph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Sparse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 ≪ n²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 real-world networks</a:t>
                      </a:r>
                      <a:endParaRPr lang="en-US" sz="1600" dirty="0">
                        <a:latin typeface="Aptos" pitchFamily="34" charset="0"/>
                        <a:ea typeface="Aptos" pitchFamily="34" charset="0"/>
                        <a:cs typeface="Aptos" pitchFamily="34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57784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1D20"/>
                </a:solidFill>
              </a:rPr>
              <a:t>Teaching default: begin with an undirected, unweighted graph, then add weights and direction when the students are comfortable.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Why graphs appear everywhere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Same abstraction, very different meanings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3832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344168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Social network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" y="1664208"/>
            <a:ext cx="3090672" cy="11155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People → nodes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Friendships → edges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234440"/>
            <a:ext cx="33832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9704" y="1344168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Web / citation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9704" y="1664208"/>
            <a:ext cx="3090672" cy="11155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Pages or papers → nodes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Links/citations → directed edges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2440" y="1234440"/>
            <a:ext cx="33832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8744" y="1344168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Road network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38744" y="1664208"/>
            <a:ext cx="3090672" cy="11155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Intersections → nodes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Roads → edges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3383280"/>
            <a:ext cx="33832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493008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Molecule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" y="3813048"/>
            <a:ext cx="3090672" cy="11155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Atoms → nodes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Bonds → edges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383280"/>
            <a:ext cx="33832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9704" y="3493008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9704" y="3813048"/>
            <a:ext cx="3090672" cy="11155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Users/items → nodes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Interactions → edges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3383280"/>
            <a:ext cx="33832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3493008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Image regions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38744" y="3813048"/>
            <a:ext cx="3090672" cy="11155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Patches/pixels → nodes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Spatial relations → edges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62356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F1D20"/>
                </a:solidFill>
              </a:rPr>
              <a:t>A key teaching point: the graph structure changes, but the mathematical language stays the same.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worth discussing in class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Use the examples to motivate scale, structure, and graph algorithms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252728"/>
            <a:ext cx="4919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Karate Club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" y="1572768"/>
            <a:ext cx="4919472" cy="12984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34 vertices and 78 friendship edges. A small but visual example for neighborhoods, degree, and communities.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14300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7064" y="1252728"/>
            <a:ext cx="5148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Web graph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27064" y="1572768"/>
            <a:ext cx="5148072" cy="12984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Web pages become vertices; hyperlinks become directed edges. The important lesson is that graphs can be enormous and dynamic.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3493008"/>
            <a:ext cx="4919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Street map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" y="3813048"/>
            <a:ext cx="4919472" cy="12984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Intersections are vertices; streets are edges. Shortest path becomes a natural graph problem.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38328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3493008"/>
            <a:ext cx="5148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Compiler register allocation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27064" y="3813048"/>
            <a:ext cx="5148072" cy="12984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Variables become vertices; an edge means two variables interfere. Coloring the graph models register assignment.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Important terminology: edges and adjacency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These words must become automatic before matrix notation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480560" cy="42976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2308860"/>
            <a:ext cx="1433779" cy="859536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69971" y="2308860"/>
            <a:ext cx="1344168" cy="859536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6192" y="3168396"/>
            <a:ext cx="1433779" cy="116037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69971" y="3168396"/>
            <a:ext cx="1344168" cy="116037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8448" y="2930652"/>
            <a:ext cx="475488" cy="47548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948940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32227" y="2071116"/>
            <a:ext cx="475488" cy="47548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2227" y="2089404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76395" y="2930652"/>
            <a:ext cx="475488" cy="47548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76395" y="2948940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32227" y="4091026"/>
            <a:ext cx="475488" cy="47548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32227" y="4109314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57400" y="1828800"/>
            <a:ext cx="914400" cy="365760"/>
          </a:xfrm>
          <a:prstGeom prst="line">
            <a:avLst/>
          </a:prstGeom>
          <a:noFill/>
          <a:ln w="50800">
            <a:solidFill>
              <a:srgbClr val="9F1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144475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1D20"/>
                </a:solidFill>
              </a:rPr>
              <a:t>e = {u, v}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0" y="1234440"/>
            <a:ext cx="57607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32704" y="1344168"/>
            <a:ext cx="5468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Vocabulary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32704" y="1664208"/>
            <a:ext cx="5468112" cy="3767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Endpoints of e: u and v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Adjacent nodes: u and v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Incident edge: e is incident on u and v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Neighbor: v is a neighbor of u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Path: sequence of adjacent nodes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Shortest-path distance: minimum number of edges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Connected component: maximal mutually reachable set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Neighborhood and degree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The first quantities a GCN will aggregate over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754880" cy="448056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2351837"/>
            <a:ext cx="1426464" cy="1209751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2351837"/>
            <a:ext cx="0" cy="224028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2351837"/>
            <a:ext cx="1569110" cy="2419502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9070" y="3314700"/>
            <a:ext cx="493776" cy="49377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9070" y="3332988"/>
            <a:ext cx="4937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70632" y="2104949"/>
            <a:ext cx="493776" cy="49377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123237"/>
            <a:ext cx="4937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97096" y="3314700"/>
            <a:ext cx="493776" cy="49377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97096" y="3332988"/>
            <a:ext cx="4937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70632" y="4345229"/>
            <a:ext cx="493776" cy="49377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4363517"/>
            <a:ext cx="4937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9742" y="4524451"/>
            <a:ext cx="493776" cy="49377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9742" y="4542739"/>
            <a:ext cx="49377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z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N(y) = {v, w, z}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54406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32A28"/>
                </a:solidFill>
              </a:rPr>
              <a:t>deg(y) = |N(y)| = 3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715000" y="1097280"/>
            <a:ext cx="56692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61304" y="1207008"/>
            <a:ext cx="53766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Definitions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61304" y="1527048"/>
            <a:ext cx="5376672" cy="3950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For u ∈ V: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N(u) = {v : {u,v} ∈ E}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deg(u) = |N(u)| for an undirected graph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Closed neighborhood: N[u] = N(u) ∪ {u}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Self-loops make the closed neighborhood participate in GCN aggregation.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How many edges can a graph have?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A useful counting result for understanding sparse graphs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32A28"/>
                </a:solidFill>
              </a:rPr>
              <a:t>For a simple undirected graph with n vertices, every edge chooses 2 distinct endpoints.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286000" y="196596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9F1D20"/>
                </a:solidFill>
              </a:rPr>
              <a:t>m ≤ n(n − 1) / 2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3264408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Example: n =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" y="3584448"/>
            <a:ext cx="2999232" cy="10698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Maximum edges = 5×4/2 = 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315468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3264408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Example: n = 1,000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1144" y="3584448"/>
            <a:ext cx="2999232" cy="10698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Maximum edges = 499,500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315468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3264408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93024" y="3584448"/>
            <a:ext cx="2999232" cy="10698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An n×n dense matrix stores O(n²) entries even if only a small fraction are edges.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2578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1D20"/>
                </a:solidFill>
              </a:rPr>
              <a:t>This is the motivation for sparse graph storage and sparse message passing.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Directed graphs: in-degree and out-degree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Direction changes what “neighbor” means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5486400" cy="448056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912" y="1903781"/>
            <a:ext cx="1645920" cy="76169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27832" y="1903781"/>
            <a:ext cx="1865376" cy="985723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11880" y="2889504"/>
            <a:ext cx="1481328" cy="1568196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27832" y="1903781"/>
            <a:ext cx="384048" cy="2553919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72184" y="2665476"/>
            <a:ext cx="109728" cy="1926641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581912" y="2665476"/>
            <a:ext cx="2029968" cy="179222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344168" y="2427732"/>
            <a:ext cx="475488" cy="47548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446020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90088" y="1666037"/>
            <a:ext cx="475488" cy="47548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1684325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55464" y="2651760"/>
            <a:ext cx="475488" cy="47548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2670048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74136" y="4219956"/>
            <a:ext cx="475488" cy="47548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4238244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34440" y="4354373"/>
            <a:ext cx="475488" cy="47548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372661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109728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1207008"/>
            <a:ext cx="4828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Definitions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47104" y="1527048"/>
            <a:ext cx="4828032" cy="3950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out-degree(u): number of edges leaving u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in-degree(u): number of edges entering u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In a directed graph, u → v and v → u are different relationships.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For GCN teaching, begin with undirected graphs so aggregation is easier to visualize, then explain how frameworks represent both directions for message passing.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Paths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A path is a sequence of adjacent vertices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7315200" cy="420624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266825" y="2432050"/>
            <a:ext cx="1139190" cy="111569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42616" y="2286000"/>
            <a:ext cx="1609344" cy="1682496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4478020" y="2435860"/>
            <a:ext cx="1243965" cy="155702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61304" y="2286000"/>
            <a:ext cx="1463040" cy="147218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42616" y="2286000"/>
            <a:ext cx="3218688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3529584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54787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14016" y="205740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14016" y="207568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373989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375818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32704" y="205740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2704" y="207568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95744" y="3529584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95744" y="354787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166360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F1D20"/>
                </a:solidFill>
              </a:rPr>
              <a:t>Highlighted path: A → B → C → D → E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229600" y="1234440"/>
            <a:ext cx="3200400" cy="42062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1344168"/>
            <a:ext cx="29077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Teaching points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75904" y="1664208"/>
            <a:ext cx="2907792" cy="3675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A path is a sequence of vertices with consecutive vertices adjacent.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Length = number of edges used.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Shortest path = minimum possible path length between two vertices.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Shortest-path distance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Distance on a graph is not Euclidean distance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6675120" cy="42976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490980" y="2110740"/>
            <a:ext cx="1078230" cy="97282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76118" y="2088490"/>
            <a:ext cx="1335024" cy="120335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2130" y="3291840"/>
            <a:ext cx="2077085" cy="190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6166" y="2088490"/>
            <a:ext cx="1201522" cy="120335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1094" y="3291840"/>
            <a:ext cx="2670048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76118" y="2088490"/>
            <a:ext cx="2670048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1638" y="3072384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1638" y="3090672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56662" y="1869034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6662" y="1887322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91686" y="3072384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1686" y="3090672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26710" y="1869034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6710" y="1887322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28232" y="3072384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090672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5015230"/>
            <a:ext cx="5486400" cy="535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dist(A,E) = 2  via A → C → 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772400" y="1143000"/>
            <a:ext cx="3657600" cy="42976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18704" y="1252728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Why GCN students need 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18704" y="1572768"/>
            <a:ext cx="3364992" cy="3767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A 1-layer GCN sees at most 1-hop neighbors.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A 2-layer GCN can incorporate information up to roughly 2 hops away.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Depth therefore controls the receptive field.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Cycles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A cycle starts and ends at the same vertex without repeating vertices internally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760720" cy="42976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501775" y="2011680"/>
            <a:ext cx="925830" cy="111506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6332" y="1962302"/>
            <a:ext cx="1728216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4548" y="1962302"/>
            <a:ext cx="1152144" cy="137525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6332" y="4712818"/>
            <a:ext cx="1728216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4188" y="3337560"/>
            <a:ext cx="1152144" cy="137525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4592320" y="3528060"/>
            <a:ext cx="930910" cy="99187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75588" y="310896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5588" y="312724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7732" y="1733702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7732" y="1751990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55948" y="1733702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55948" y="1751990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8092" y="310896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8092" y="312724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55948" y="4484218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5948" y="4502506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27732" y="4484218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7732" y="4502506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507492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F1D20"/>
                </a:solidFill>
              </a:rPr>
              <a:t>A → B → C → D → E → F → A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858000" y="1188720"/>
            <a:ext cx="45720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1298448"/>
            <a:ext cx="42793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Why cycles matter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04304" y="1618488"/>
            <a:ext cx="4279392" cy="3767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Trees have no cycles.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Cycles increase structural complexity and often create multiple routes between nodes.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Many graph algorithms and message-passing patterns behave differently on trees and cyclic graphs.</a:t>
            </a:r>
            <a:endParaRPr lang="en-US" sz="1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Connected components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A GCN cannot communicate across a missing connection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029200" cy="42976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2093976"/>
            <a:ext cx="1106424" cy="859536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2093976"/>
            <a:ext cx="1106424" cy="94549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06624" y="3039466"/>
            <a:ext cx="1005840" cy="120335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9616" y="2953512"/>
            <a:ext cx="1207008" cy="128930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1016" y="2724912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1016" y="2743200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186537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88366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83864" y="281086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282915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78024" y="401421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403250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234440"/>
            <a:ext cx="5029200" cy="42976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94576" y="2179930"/>
            <a:ext cx="1709928" cy="773582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04504" y="2179930"/>
            <a:ext cx="1307592" cy="1719072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5976" y="2724912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2743200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75904" y="195133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196961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83496" y="3670402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83496" y="3688690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52120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1D20"/>
                </a:solidFill>
              </a:rPr>
              <a:t>Component 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52120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7EBB"/>
                </a:solidFill>
              </a:rPr>
              <a:t>Component 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011680" y="580644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No message passes from one component to the other unless a new edge is added.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Density, sparsity, and scale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Why sparse graph computation is essential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51560" y="1325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1D20"/>
                </a:solidFill>
              </a:rPr>
              <a:t>Dense graph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16736" y="2432304"/>
            <a:ext cx="1097280" cy="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6736" y="2432304"/>
            <a:ext cx="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2432304"/>
            <a:ext cx="109728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2432304"/>
            <a:ext cx="0" cy="128016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2432304"/>
            <a:ext cx="1097280" cy="128016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65376" y="2432304"/>
            <a:ext cx="1097280" cy="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5376" y="2432304"/>
            <a:ext cx="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65376" y="2432304"/>
            <a:ext cx="109728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5376" y="2432304"/>
            <a:ext cx="0" cy="128016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5376" y="2432304"/>
            <a:ext cx="1097280" cy="128016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6736" y="2432304"/>
            <a:ext cx="109728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14016" y="2432304"/>
            <a:ext cx="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16736" y="2432304"/>
            <a:ext cx="1097280" cy="128016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14016" y="2432304"/>
            <a:ext cx="0" cy="128016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5376" y="2432304"/>
            <a:ext cx="109728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62656" y="2432304"/>
            <a:ext cx="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5376" y="2432304"/>
            <a:ext cx="1097280" cy="128016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62656" y="2432304"/>
            <a:ext cx="0" cy="128016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16736" y="3072384"/>
            <a:ext cx="1097280" cy="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16736" y="3072384"/>
            <a:ext cx="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16736" y="3072384"/>
            <a:ext cx="109728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5376" y="3072384"/>
            <a:ext cx="1097280" cy="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5376" y="3072384"/>
            <a:ext cx="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3072384"/>
            <a:ext cx="109728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6736" y="3072384"/>
            <a:ext cx="109728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14016" y="3072384"/>
            <a:ext cx="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5376" y="3072384"/>
            <a:ext cx="109728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62656" y="3072384"/>
            <a:ext cx="0" cy="64008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16736" y="3712464"/>
            <a:ext cx="1097280" cy="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65376" y="3712464"/>
            <a:ext cx="1097280" cy="0"/>
          </a:xfrm>
          <a:prstGeom prst="line">
            <a:avLst/>
          </a:prstGeom>
          <a:noFill/>
          <a:ln w="12700">
            <a:solidFill>
              <a:srgbClr val="CFC2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25296" y="234086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25296" y="235915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773936" y="234086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73936" y="235915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322576" y="234086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22576" y="235915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871216" y="234086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71216" y="235915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225296" y="298094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25296" y="299923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773936" y="298094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73936" y="299923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322576" y="298094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22576" y="299923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871216" y="298094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71216" y="299923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8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225296" y="362102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25296" y="363931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9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773936" y="362102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73936" y="363931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10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322576" y="362102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22576" y="363931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11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871216" y="3621024"/>
            <a:ext cx="182880" cy="182880"/>
          </a:xfrm>
          <a:prstGeom prst="ellipse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71216" y="363931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12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143000" y="4070985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1D20"/>
                </a:solidFill>
              </a:rPr>
              <a:t>m ≈ O(n²)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519420" y="305435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9B6F"/>
                </a:solidFill>
              </a:rPr>
              <a:t>Sparse graph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008245" y="2209165"/>
            <a:ext cx="3840480" cy="329184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5896610" y="2514600"/>
            <a:ext cx="360680" cy="65024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9944" y="2423160"/>
            <a:ext cx="691286" cy="987552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47485" y="2412365"/>
            <a:ext cx="1064260" cy="17653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54112" y="2587752"/>
            <a:ext cx="729691" cy="987552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86016" y="3410712"/>
            <a:ext cx="115214" cy="888797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19902" y="3108960"/>
            <a:ext cx="274320" cy="274320"/>
          </a:xfrm>
          <a:prstGeom prst="ellipse">
            <a:avLst/>
          </a:prstGeom>
          <a:solidFill>
            <a:srgbClr val="4E9B6F"/>
          </a:solidFill>
          <a:ln w="20320">
            <a:solidFill>
              <a:srgbClr val="4E9B6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19902" y="312724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72784" y="2286000"/>
            <a:ext cx="274320" cy="274320"/>
          </a:xfrm>
          <a:prstGeom prst="ellipse">
            <a:avLst/>
          </a:prstGeom>
          <a:solidFill>
            <a:srgbClr val="4E9B6F"/>
          </a:solidFill>
          <a:ln w="20320">
            <a:solidFill>
              <a:srgbClr val="4E9B6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72784" y="230428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964070" y="3273552"/>
            <a:ext cx="274320" cy="274320"/>
          </a:xfrm>
          <a:prstGeom prst="ellipse">
            <a:avLst/>
          </a:prstGeom>
          <a:solidFill>
            <a:srgbClr val="4E9B6F"/>
          </a:solidFill>
          <a:ln w="20320">
            <a:solidFill>
              <a:srgbClr val="4E9B6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64070" y="329184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616952" y="2450592"/>
            <a:ext cx="274320" cy="274320"/>
          </a:xfrm>
          <a:prstGeom prst="ellipse">
            <a:avLst/>
          </a:prstGeom>
          <a:solidFill>
            <a:srgbClr val="4E9B6F"/>
          </a:solidFill>
          <a:ln w="20320">
            <a:solidFill>
              <a:srgbClr val="4E9B6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16952" y="246888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346643" y="3438144"/>
            <a:ext cx="274320" cy="274320"/>
          </a:xfrm>
          <a:prstGeom prst="ellipse">
            <a:avLst/>
          </a:prstGeom>
          <a:solidFill>
            <a:srgbClr val="4E9B6F"/>
          </a:solidFill>
          <a:ln w="20320">
            <a:solidFill>
              <a:srgbClr val="4E9B6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46643" y="345643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848856" y="4162349"/>
            <a:ext cx="274320" cy="274320"/>
          </a:xfrm>
          <a:prstGeom prst="ellipse">
            <a:avLst/>
          </a:prstGeom>
          <a:solidFill>
            <a:srgbClr val="4E9B6F"/>
          </a:solidFill>
          <a:ln w="20320">
            <a:solidFill>
              <a:srgbClr val="4E9B6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48856" y="4180637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035040" y="47091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9B6F"/>
                </a:solidFill>
              </a:rPr>
              <a:t>m ≪ n²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9326880" y="2545080"/>
            <a:ext cx="2103120" cy="34747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73184" y="157276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Key idea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9473184" y="2974848"/>
            <a:ext cx="1810512" cy="2944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2A28"/>
                </a:solidFill>
              </a:rPr>
              <a:t>A large graph may have millions of nodes but only a few edges per node.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2A28"/>
                </a:solidFill>
              </a:rPr>
              <a:t>GCN frameworks therefore favor sparse edge storage and sparse message passing.</a:t>
            </a:r>
            <a:endParaRPr lang="en-US" sz="1400" dirty="0"/>
          </a:p>
        </p:txBody>
      </p:sp>
      <p:sp>
        <p:nvSpPr>
          <p:cNvPr id="8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84" name="Shape 78"/>
          <p:cNvSpPr/>
          <p:nvPr/>
        </p:nvSpPr>
        <p:spPr>
          <a:xfrm>
            <a:off x="5624195" y="671195"/>
            <a:ext cx="6442710" cy="1217295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5" name="Text Box 84"/>
          <p:cNvSpPr txBox="1"/>
          <p:nvPr/>
        </p:nvSpPr>
        <p:spPr>
          <a:xfrm>
            <a:off x="5672455" y="675005"/>
            <a:ext cx="6590665" cy="1176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A sparse graph is a graph in which the number of edges is much smaller than the maximum possible number of edges. In simple terms, it is a graph where most potential connections between nodes do not actually exist.</a:t>
            </a:r>
            <a:endParaRPr lang="en-US" altLang="en-US"/>
          </a:p>
        </p:txBody>
      </p:sp>
      <p:sp>
        <p:nvSpPr>
          <p:cNvPr id="86" name="Text Box 85"/>
          <p:cNvSpPr txBox="1"/>
          <p:nvPr/>
        </p:nvSpPr>
        <p:spPr>
          <a:xfrm>
            <a:off x="343535" y="460121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/>
              <a:t>A dense graph is a graph in which the number of edges is close to the maximum possible number of edges. In simple terms, it is a graph where most nodes are connected to most other nodes.</a:t>
            </a:r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Adjacency 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A matrix whose nonzero entries encode graph connectivity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931920" cy="3819525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68375" y="2020570"/>
            <a:ext cx="726440" cy="112458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1894" y="2020824"/>
            <a:ext cx="1297534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89427" y="2020824"/>
            <a:ext cx="865022" cy="1316736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761615" y="3583305"/>
            <a:ext cx="1284605" cy="112585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3337560"/>
            <a:ext cx="1572768" cy="140451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1894" y="2020824"/>
            <a:ext cx="668426" cy="272125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3136392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154680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90726" y="1819656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0726" y="1837944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88259" y="1819656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88259" y="1837944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53282" y="3136392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3282" y="3154680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59152" y="4540910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4559198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1417320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89320" y="1417320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66560" y="1417320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43800" y="1417320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21040" y="1417320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212080" y="2039112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989320" y="2039112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766560" y="2039112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543800" y="2039112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21040" y="2039112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212080" y="2660904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989320" y="2660904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766560" y="2660904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543800" y="2660904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321040" y="2660904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212080" y="3282696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989320" y="3282696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766560" y="3282696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543800" y="3282696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321040" y="3282696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212080" y="3904488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989320" y="3904488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766560" y="3904488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543800" y="3904488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321040" y="3904488"/>
            <a:ext cx="777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212080" y="1417320"/>
            <a:ext cx="3886200" cy="310896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4709160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2A28"/>
                </a:solidFill>
              </a:rPr>
              <a:t>Aᵢⱼ = 1  if i and j are connected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332A28"/>
                </a:solidFill>
              </a:rPr>
              <a:t>Aᵢⱼ = 0  otherwise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9464040" y="1417320"/>
            <a:ext cx="1965960" cy="3474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10344" y="1527048"/>
            <a:ext cx="1673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For undirected graphs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610344" y="1847088"/>
            <a:ext cx="1673352" cy="2944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A = Aᵀ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The matrix is symmetric.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The diagonal is 0 for a simple graph before self-loops are added.</a:t>
            </a:r>
            <a:endParaRPr lang="en-US" sz="15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52" name="Shape 46"/>
          <p:cNvSpPr/>
          <p:nvPr/>
        </p:nvSpPr>
        <p:spPr>
          <a:xfrm>
            <a:off x="794385" y="5525135"/>
            <a:ext cx="10762615" cy="926465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3" name="Text Box 52"/>
          <p:cNvSpPr txBox="1"/>
          <p:nvPr/>
        </p:nvSpPr>
        <p:spPr>
          <a:xfrm>
            <a:off x="969010" y="5605145"/>
            <a:ext cx="10430510" cy="78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An adjacency matrix is a square matrix used to represent a finite graph. The elements of the matrix indicate whether pairs of vertices are adjacent or not in the graph.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endParaRPr lang="en-US" altLang="en-US"/>
          </a:p>
          <a:p>
            <a:endParaRPr lang="en-US" altLang="en-US"/>
          </a:p>
        </p:txBody>
      </p:sp>
      <p:sp>
        <p:nvSpPr>
          <p:cNvPr id="54" name="Shape 46"/>
          <p:cNvSpPr/>
          <p:nvPr/>
        </p:nvSpPr>
        <p:spPr>
          <a:xfrm>
            <a:off x="9591040" y="1544320"/>
            <a:ext cx="1965960" cy="34747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Adjacency 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Store only the neighbors that actually exist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937760" cy="3952875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5272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Example graph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1572768"/>
            <a:ext cx="4645152" cy="3950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32A28"/>
                </a:solidFill>
              </a:rPr>
              <a:t>A — B — C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32A28"/>
                </a:solidFill>
              </a:rPr>
              <a:t>|        |   /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32A28"/>
                </a:solidFill>
              </a:rPr>
              <a:t>D — E — 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80760" y="1234440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A: B, 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80760" y="1801368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2A28"/>
                </a:solidFill>
              </a:rPr>
              <a:t>B: A, C, 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80760" y="2368296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C: B, E, F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80760" y="2935224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2A28"/>
                </a:solidFill>
              </a:rPr>
              <a:t>D: A, 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80760" y="3502152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E: B, C, D, 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80760" y="4069080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2A28"/>
                </a:solidFill>
              </a:rPr>
              <a:t>F: C, 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80760" y="49834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Storage ≈ O(n + m) for a sparse graph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80760" y="54406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5A54"/>
                </a:solidFill>
              </a:rPr>
              <a:t>This is much smaller than O(n²) when m ≪ n².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52" name="Shape 46"/>
          <p:cNvSpPr/>
          <p:nvPr/>
        </p:nvSpPr>
        <p:spPr>
          <a:xfrm>
            <a:off x="794385" y="5525135"/>
            <a:ext cx="10762615" cy="926465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3" name="Text Box 52"/>
          <p:cNvSpPr txBox="1"/>
          <p:nvPr/>
        </p:nvSpPr>
        <p:spPr>
          <a:xfrm>
            <a:off x="969010" y="5605145"/>
            <a:ext cx="10430510" cy="78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An adjacency list is a collection of unordered lists used to represent a finite graph. Each list describes the set of neighbors of a vertex in the graph.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Adjacency matrix vs adjacency 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Students should know both before using PyG edge_index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94360" y="1234440"/>
          <a:ext cx="10972800" cy="3337560"/>
        </p:xfrm>
        <a:graphic>
          <a:graphicData uri="http://schemas.openxmlformats.org/drawingml/2006/table">
            <a:tbl>
              <a:tblPr/>
              <a:tblGrid>
                <a:gridCol w="2148840"/>
                <a:gridCol w="1645920"/>
                <a:gridCol w="3200400"/>
                <a:gridCol w="3794760"/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Representation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Storage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Best mental model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Typical use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Adjacency matrix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O(n²)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“Is i connected to j?”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Tiny/dense graphs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Adjacency list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O(n+m)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“Who are i’s neighbors?”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Sparse graphs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Edge list / edge_index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O(m)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“Here are the edges.”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2A28"/>
                          </a:solidFill>
                        </a:rPr>
                        <a:t>Sparse GNN libraries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4892040"/>
            <a:ext cx="10332720" cy="914400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0704" y="5001768"/>
            <a:ext cx="10040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GCN connection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60704" y="5321808"/>
            <a:ext cx="10040112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A GCN layer can be understood as sparse neighborhood aggregation over edge_index instead of multiplying a huge dense n×n matrix.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Trees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A tree is connected and contains no cycles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6217920" cy="448056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2082165" y="1757680"/>
            <a:ext cx="1464945" cy="88201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1591056"/>
            <a:ext cx="1865376" cy="1254557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283335" y="3018155"/>
            <a:ext cx="413385" cy="118173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83664" y="2845613"/>
            <a:ext cx="870509" cy="152339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4859655" y="3000375"/>
            <a:ext cx="574675" cy="120142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4416" y="2845613"/>
            <a:ext cx="621792" cy="152339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1389888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40817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82496" y="2644445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82496" y="2662733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13248" y="2644445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2662733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0704" y="4167835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186123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53005" y="4167835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3005" y="4186123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42739" y="4167835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2739" y="4186123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4167835"/>
            <a:ext cx="402336" cy="402336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4186123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1143000"/>
            <a:ext cx="4023360" cy="44805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61504" y="1252728"/>
            <a:ext cx="3730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Key tree facts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61504" y="1572768"/>
            <a:ext cx="3730752" cy="3950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For a tree with n vertices: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• exactly n − 1 edges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• exactly one simple path between any two vertices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• removing any edge disconnects the graph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Trees are ideal teaching examples for recursive graph algorithms and message passing.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Regular graphs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A graph where every vertex has the same degree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4846320" cy="42976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171575" y="1953260"/>
            <a:ext cx="757555" cy="114109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3976" y="1916582"/>
            <a:ext cx="1938528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32504" y="1916582"/>
            <a:ext cx="969264" cy="137525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258945" y="3502660"/>
            <a:ext cx="742315" cy="107632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93976" y="4667098"/>
            <a:ext cx="1938528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" y="3291840"/>
            <a:ext cx="969264" cy="137525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081528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99816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83664" y="1706270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3664" y="1724558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22192" y="1706270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1724558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91456" y="3081528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3099816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22192" y="4456786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4475074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83664" y="4456786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4475074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12064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F1D20"/>
                </a:solidFill>
              </a:rPr>
              <a:t>Every node has degree 2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989320" y="1143000"/>
            <a:ext cx="53035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1252728"/>
            <a:ext cx="5010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Why mention regularity?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35624" y="1572768"/>
            <a:ext cx="5010912" cy="3767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Degree is one of the first structural statistics students can calculate.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Regular graphs also make normalization easy to reason about because all nodes have the same local degree.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Later, students should compare this with graphs containing hubs and highly uneven degrees.</a:t>
            </a:r>
            <a:endParaRPr lang="en-US" sz="1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Complete graphs and graph families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Useful reference structures for exercises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389120" cy="411480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1562" y="2011680"/>
            <a:ext cx="2809037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1562" y="2011680"/>
            <a:ext cx="2809037" cy="246888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1562" y="2011680"/>
            <a:ext cx="0" cy="246888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30598" y="2011680"/>
            <a:ext cx="0" cy="246888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1561" y="2011680"/>
            <a:ext cx="2809037" cy="246888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1561" y="4480560"/>
            <a:ext cx="2809037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2962" y="178308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2962" y="180136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01998" y="178308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1998" y="180136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01998" y="425196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01998" y="427024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92962" y="425196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2962" y="427024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8920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1D20"/>
                </a:solidFill>
              </a:rPr>
              <a:t>K₄: every pair of vertices is connected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77840" y="1188720"/>
            <a:ext cx="55778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24144" y="1298448"/>
            <a:ext cx="5285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Useful families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24144" y="1618488"/>
            <a:ext cx="5285232" cy="35844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Complete graph Kₙ: every pair is adjacent.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Cycle graph Cₙ: vertices form one cycle.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Path graph Pₙ: vertices form one chain.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Tree: connected, no cycles.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These families make good hand-calculation exercises for A, D, and 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Graph algorithms preview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Graph data structures are not only for neural networks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344168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BFS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0664" y="1664208"/>
            <a:ext cx="2313432" cy="23042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Breadth-first search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Shortest paths in unweighted graphs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0" y="123444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1024" y="1344168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DFS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21024" y="1664208"/>
            <a:ext cx="2313432" cy="23042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Depth-first search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Connectivity, components, traversal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55080" y="123444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344168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Dijkstra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01384" y="1664208"/>
            <a:ext cx="2313432" cy="23042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Weighted shortest path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Shortest paths with nonnegative weights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235440" y="123444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1744" y="1344168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Max-Cut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81744" y="1664208"/>
            <a:ext cx="2313432" cy="23042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Partition vertices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Cut as many edges as possible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57200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F1D20"/>
                </a:solidFill>
              </a:rPr>
              <a:t>Teaching bridge to GCNs: classical graph algorithms reason over structure; GNNs learn representations by repeatedly aggregating over that structure.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BFS: breadth-first search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Explore neighbors layer by layer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5486400" cy="42976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261745" y="2056130"/>
            <a:ext cx="1031240" cy="105727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291840"/>
            <a:ext cx="1371600" cy="120335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2002536"/>
            <a:ext cx="1481328" cy="21488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2002536"/>
            <a:ext cx="0" cy="249265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95928" y="2217420"/>
            <a:ext cx="987552" cy="128930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4495190"/>
            <a:ext cx="1371600" cy="171907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3838575" y="2428875"/>
            <a:ext cx="95250" cy="199898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06324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8152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177393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79222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98882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200710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426659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428487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78124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29641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4438498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456786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9848" y="2880360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EBB"/>
                </a:solidFill>
              </a:rPr>
              <a:t>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41448" y="1591056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EBB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41448" y="4083710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EBB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22776" y="1805940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EBB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13048" y="4255618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EBB"/>
                </a:solidFill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0328" y="3095244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EBB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1143000"/>
            <a:ext cx="50292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7104" y="1252728"/>
            <a:ext cx="4736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Core idea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47104" y="1572768"/>
            <a:ext cx="4736592" cy="3767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1. Start from a source.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2. Visit all current neighbors.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3. Move outward one level at a time.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4. Keep a queue of discovered vertices.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For an unweighted graph, BFS discovers shortest-path distance from the source.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 DFS: depth-first search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Follow one branch as far as possible before backtracking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5486400" cy="42976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475105" y="2231390"/>
            <a:ext cx="667385" cy="94551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50008" y="2002536"/>
            <a:ext cx="1261872" cy="94549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2979420"/>
            <a:ext cx="1463675" cy="128778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2948026"/>
            <a:ext cx="0" cy="154716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93208" y="2002536"/>
            <a:ext cx="438912" cy="236372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4366260"/>
            <a:ext cx="1920240" cy="12893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306324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08152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21408" y="177393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179222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271942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73771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64608" y="177393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79222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426659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428487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4137660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415594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166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F1D20"/>
                </a:solidFill>
              </a:rPr>
              <a:t>Think: “go deep, then backtrack.”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0" y="1143000"/>
            <a:ext cx="50292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1252728"/>
            <a:ext cx="4736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Core idea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47104" y="1572768"/>
            <a:ext cx="4736592" cy="3767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DFS is naturally expressed with recursion or an explicit stack.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Useful for connected components, cycle detection, topological-style reasoning on directed graphs, and many backtracking problems.</a:t>
            </a:r>
            <a:endParaRPr lang="en-US" sz="1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 Spanning trees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A spanning tree connects all vertices using exactly n − 1 edges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58165" y="1161415"/>
            <a:ext cx="5486400" cy="438912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715770" y="2072640"/>
            <a:ext cx="615950" cy="989965"/>
          </a:xfrm>
          <a:prstGeom prst="line">
            <a:avLst/>
          </a:prstGeom>
          <a:noFill/>
          <a:ln w="50800">
            <a:solidFill>
              <a:srgbClr val="9F1D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975104"/>
            <a:ext cx="1371600" cy="0"/>
          </a:xfrm>
          <a:prstGeom prst="line">
            <a:avLst/>
          </a:prstGeom>
          <a:noFill/>
          <a:ln w="50800">
            <a:solidFill>
              <a:srgbClr val="9F1D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1975104"/>
            <a:ext cx="1207008" cy="1097280"/>
          </a:xfrm>
          <a:prstGeom prst="line">
            <a:avLst/>
          </a:prstGeom>
          <a:noFill/>
          <a:ln w="50800">
            <a:solidFill>
              <a:srgbClr val="9F1D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56685" y="2194560"/>
            <a:ext cx="316865" cy="2404110"/>
          </a:xfrm>
          <a:prstGeom prst="line">
            <a:avLst/>
          </a:prstGeom>
          <a:noFill/>
          <a:ln w="50800">
            <a:solidFill>
              <a:srgbClr val="9F1D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95728" y="4608576"/>
            <a:ext cx="1810512" cy="0"/>
          </a:xfrm>
          <a:prstGeom prst="line">
            <a:avLst/>
          </a:prstGeom>
          <a:noFill/>
          <a:ln w="50800">
            <a:solidFill>
              <a:srgbClr val="9F1D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072384"/>
            <a:ext cx="932688" cy="1536192"/>
          </a:xfrm>
          <a:prstGeom prst="line">
            <a:avLst/>
          </a:prstGeom>
          <a:noFill/>
          <a:ln w="15240">
            <a:solidFill>
              <a:srgbClr val="CFC2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975104"/>
            <a:ext cx="1645920" cy="2633472"/>
          </a:xfrm>
          <a:prstGeom prst="line">
            <a:avLst/>
          </a:prstGeom>
          <a:noFill/>
          <a:ln w="15240">
            <a:solidFill>
              <a:srgbClr val="CFC2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43584" y="2852928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871216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40864" y="1755648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0864" y="1773936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12464" y="1755648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773936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19472" y="2852928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871216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86784" y="4389120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6784" y="4407408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76272" y="4389120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6272" y="4407408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1097280"/>
            <a:ext cx="49834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1207008"/>
            <a:ext cx="4690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Key fact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92824" y="1527048"/>
            <a:ext cx="4690872" cy="3858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A connected graph may contain many edges, but a spanning tree keeps only enough edges to remain connected.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This idea is useful when teaching BFS trees, DFS trees, minimum spanning trees, and graph sparsification.</a:t>
            </a:r>
            <a:endParaRPr lang="en-US" sz="1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 Max-Cut intuition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Partition the vertices so that many edges cross between the two groups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486400" cy="438912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600200" y="2136140"/>
            <a:ext cx="763905" cy="83185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2020824"/>
            <a:ext cx="1645920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2020824"/>
            <a:ext cx="1097280" cy="109728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343400" y="3130550"/>
            <a:ext cx="640715" cy="141414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4654296"/>
            <a:ext cx="1645920" cy="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3118104"/>
            <a:ext cx="1097280" cy="1536192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020824"/>
            <a:ext cx="1645920" cy="2633472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020824"/>
            <a:ext cx="1645920" cy="2633472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2889504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0779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1792224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181051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86200" y="1792224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181051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83480" y="2889504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90779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86200" y="442569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444398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40280" y="4425696"/>
            <a:ext cx="457200" cy="45720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444398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43000" y="2889504"/>
            <a:ext cx="457200" cy="457200"/>
          </a:xfrm>
          <a:prstGeom prst="ellipse">
            <a:avLst/>
          </a:prstGeom>
          <a:solidFill>
            <a:srgbClr val="EAF2FF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290779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7EBB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86200" y="1792224"/>
            <a:ext cx="457200" cy="457200"/>
          </a:xfrm>
          <a:prstGeom prst="ellipse">
            <a:avLst/>
          </a:prstGeom>
          <a:solidFill>
            <a:srgbClr val="EAF2FF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181051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7EBB"/>
                </a:solidFill>
              </a:rPr>
              <a:t>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86200" y="4425696"/>
            <a:ext cx="457200" cy="457200"/>
          </a:xfrm>
          <a:prstGeom prst="ellipse">
            <a:avLst/>
          </a:prstGeom>
          <a:solidFill>
            <a:srgbClr val="EAF2FF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444398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7EBB"/>
                </a:solidFill>
              </a:rPr>
              <a:t>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40280" y="1792224"/>
            <a:ext cx="457200" cy="457200"/>
          </a:xfrm>
          <a:prstGeom prst="ellipse">
            <a:avLst/>
          </a:prstGeom>
          <a:solidFill>
            <a:srgbClr val="FBE7E4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181051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1D20"/>
                </a:solidFill>
              </a:rPr>
              <a:t>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83480" y="2889504"/>
            <a:ext cx="457200" cy="457200"/>
          </a:xfrm>
          <a:prstGeom prst="ellipse">
            <a:avLst/>
          </a:prstGeom>
          <a:solidFill>
            <a:srgbClr val="FBE7E4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90779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1D20"/>
                </a:solidFill>
              </a:rPr>
              <a:t>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40280" y="4425696"/>
            <a:ext cx="457200" cy="457200"/>
          </a:xfrm>
          <a:prstGeom prst="ellipse">
            <a:avLst/>
          </a:prstGeom>
          <a:solidFill>
            <a:srgbClr val="FBE7E4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40280" y="444398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1D20"/>
                </a:solidFill>
              </a:rPr>
              <a:t>F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1143000"/>
            <a:ext cx="50292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7104" y="1252728"/>
            <a:ext cx="4736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Why include it?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47104" y="1572768"/>
            <a:ext cx="4736592" cy="3858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It shows that graphs support optimization problems, not only traversal.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Later, students can see how learned node embeddings may also be used for clustering or partitioning.</a:t>
            </a:r>
            <a:endParaRPr lang="en-US" sz="17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 From graph structure to graph learning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GCNs add node features to the connectivity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1D20"/>
                </a:solidFill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09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49680" y="1691640"/>
            <a:ext cx="609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59280" y="1691640"/>
            <a:ext cx="609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301240"/>
            <a:ext cx="609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49680" y="2301240"/>
            <a:ext cx="609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59280" y="2301240"/>
            <a:ext cx="609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2910840"/>
            <a:ext cx="609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49680" y="2910840"/>
            <a:ext cx="609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59280" y="2910840"/>
            <a:ext cx="609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1691640"/>
            <a:ext cx="18288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2344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1D20"/>
                </a:solidFill>
              </a:rPr>
              <a:t>X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1691640"/>
            <a:ext cx="10058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89120" y="1691640"/>
            <a:ext cx="10058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83280" y="2301240"/>
            <a:ext cx="10058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89120" y="2301240"/>
            <a:ext cx="10058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383280" y="2910840"/>
            <a:ext cx="10058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389120" y="2910840"/>
            <a:ext cx="100584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383280" y="1691640"/>
            <a:ext cx="201168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703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F5A54"/>
                </a:solidFill>
              </a:rPr>
              <a:t>Node 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43650" y="8458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1D20"/>
                </a:solidFill>
              </a:rPr>
              <a:t>GNN idea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17920" y="1828800"/>
            <a:ext cx="1234440" cy="548640"/>
          </a:xfrm>
          <a:prstGeom prst="rightArrow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1234440"/>
            <a:ext cx="36576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81544" y="1344168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Core question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81544" y="1664208"/>
            <a:ext cx="3364992" cy="30358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How should a node update its representation using: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• its own features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• its neighbors’ features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• the graph topology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This question leads directly to message passing and the GCN layer.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4400" y="4526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X ∈ Rⁿˣᵈ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8640" y="49834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F5A54"/>
                </a:solidFill>
              </a:rPr>
              <a:t>n = nodes, d = features per node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 Why a standard CNN does not transfer directly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Images have regular neighborhoods; graphs do not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36776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66544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96312" y="1417320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4708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184708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36776" y="184708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6544" y="184708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847088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276856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2276856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36776" y="2276856"/>
            <a:ext cx="429768" cy="429768"/>
          </a:xfrm>
          <a:prstGeom prst="rect">
            <a:avLst/>
          </a:prstGeom>
          <a:solidFill>
            <a:srgbClr val="F4C95D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66544" y="2276856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96312" y="2276856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7008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36776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66544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96312" y="2706624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136392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3136392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36776" y="3136392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66544" y="3136392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96312" y="3136392"/>
            <a:ext cx="42976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794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1D20"/>
                </a:solidFill>
              </a:rPr>
              <a:t>3×3 kernel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4360" y="41605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32A28"/>
                </a:solidFill>
              </a:rPr>
              <a:t>Regular grid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32A28"/>
                </a:solidFill>
              </a:rPr>
              <a:t>fixed local geometry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063240" y="2240280"/>
            <a:ext cx="1097280" cy="548640"/>
          </a:xfrm>
          <a:prstGeom prst="rightArrow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3400" y="1325880"/>
            <a:ext cx="2926080" cy="29260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4723765" y="1847215"/>
            <a:ext cx="626110" cy="21018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94530" y="2203704"/>
            <a:ext cx="438912" cy="108265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1764792"/>
            <a:ext cx="936346" cy="38039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13832" y="1764792"/>
            <a:ext cx="438912" cy="965606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5090" y="2268855"/>
            <a:ext cx="359410" cy="87249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5327015" y="2781935"/>
            <a:ext cx="474980" cy="55753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52744" y="2730398"/>
            <a:ext cx="848563" cy="64373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29938" y="2039112"/>
            <a:ext cx="329184" cy="32918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9938" y="2057400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49240" y="1600200"/>
            <a:ext cx="329184" cy="32918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161848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B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85586" y="1980590"/>
            <a:ext cx="329184" cy="32918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5586" y="199887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C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968850" y="3121762"/>
            <a:ext cx="329184" cy="32918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68850" y="3140050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788152" y="2565806"/>
            <a:ext cx="329184" cy="32918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88152" y="2584094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36715" y="3209544"/>
            <a:ext cx="329184" cy="32918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6715" y="3227832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F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589520" y="1325880"/>
            <a:ext cx="384048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35824" y="1435608"/>
            <a:ext cx="3547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Irregular graph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735824" y="1755648"/>
            <a:ext cx="3547872" cy="2944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A node may have 1, 2, 10, or 1,000 neighbors.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There is no guaranteed “up / down / left / right” ordering.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Therefore we need a permutation-safe neighborhood operator.</a:t>
            </a:r>
            <a:endParaRPr lang="en-US" sz="17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 Message passing: the central GNN abstraction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Collect → combine → update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297680" cy="429768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7572" y="2048256"/>
            <a:ext cx="1289304" cy="128930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" y="3337560"/>
            <a:ext cx="1289304" cy="128930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6876" y="2048256"/>
            <a:ext cx="1289304" cy="128930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6876" y="3337560"/>
            <a:ext cx="1289304" cy="128930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" y="3118104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" y="3136392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17420" y="1828800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7420" y="1847088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06724" y="3118104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6724" y="3136392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17420" y="4407408"/>
            <a:ext cx="438912" cy="438912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7420" y="4425696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3480" y="2651760"/>
            <a:ext cx="1097280" cy="548640"/>
          </a:xfrm>
          <a:prstGeom prst="rightArrow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18872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1298448"/>
            <a:ext cx="4828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Step 1 — Aggregate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5664" y="1618488"/>
            <a:ext cx="4828032" cy="658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Collect information from neighbors.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Common choices: sum, mean, max, or attention-weighted sum.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260604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2715768"/>
            <a:ext cx="4828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Step 2 — Transform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55664" y="3035808"/>
            <a:ext cx="4828032" cy="658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Apply the same learnable feature transformation W to every node.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402336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4133088"/>
            <a:ext cx="4828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Step 3 — Activate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55664" y="4453128"/>
            <a:ext cx="4828032" cy="658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Apply a nonlinear function such as ReLU, producing the next layer representation.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580644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1D20"/>
                </a:solidFill>
              </a:rPr>
              <a:t>“Your neighborhood helps define your representation.”</a:t>
            </a:r>
            <a:endParaRPr lang="en-US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 Permutation invariance and equivariance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Node IDs are identifiers, not semantics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657600" cy="411480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011680"/>
            <a:ext cx="1280160" cy="102870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2011680"/>
            <a:ext cx="1280160" cy="102870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040380"/>
            <a:ext cx="1280160" cy="135788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3040380"/>
            <a:ext cx="1280160" cy="135788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830068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848356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21408" y="1801368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1819656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01568" y="2830068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2848356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21408" y="4187952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4206240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2606040"/>
            <a:ext cx="1051560" cy="502920"/>
          </a:xfrm>
          <a:prstGeom prst="rightArrow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188720"/>
            <a:ext cx="3657600" cy="411480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011680"/>
            <a:ext cx="1280160" cy="102870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011680"/>
            <a:ext cx="1280160" cy="102870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040380"/>
            <a:ext cx="1280160" cy="135788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3040380"/>
            <a:ext cx="1280160" cy="135788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24928" y="1801368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1819656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24928" y="4187952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4206240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44768" y="2830068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2848356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705088" y="2830068"/>
            <a:ext cx="420624" cy="420624"/>
          </a:xfrm>
          <a:prstGeom prst="ellipse">
            <a:avLst/>
          </a:prstGeom>
          <a:solidFill>
            <a:srgbClr val="FFFDFB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2848356"/>
            <a:ext cx="4206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544068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7EBB"/>
                </a:solidFill>
              </a:rPr>
              <a:t>Same graph, different numbering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784080" y="1417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F1D20"/>
                </a:solidFill>
              </a:rPr>
              <a:t>For node-level tasks: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9F1D20"/>
                </a:solidFill>
              </a:rPr>
              <a:t>f(A′, X′) = P f(A, X)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9646920" y="2743200"/>
            <a:ext cx="2057400" cy="228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93224" y="2852928"/>
            <a:ext cx="17647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Graph-level tasks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93224" y="3172968"/>
            <a:ext cx="1764792" cy="1755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2A28"/>
                </a:solidFill>
              </a:rPr>
              <a:t>A graph-level output should not change when nodes are renumbered.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2A28"/>
                </a:solidFill>
              </a:rPr>
              <a:t>Sum/mean/max pooling are permutation-invariant.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 Laplacian and normalization preview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The mathematical bridge from graph structure to stable propagation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F1D20"/>
                </a:solidFill>
              </a:rPr>
              <a:t>Degree matrix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32560" y="164592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42160" y="164592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32560" y="219456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042160" y="219456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32560" y="274320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42160" y="274320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1645920"/>
            <a:ext cx="18288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47472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12344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F1D20"/>
                </a:solidFill>
              </a:rPr>
              <a:t>Adjacency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0" y="164592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267200" y="164592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76800" y="164592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657600" y="219456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267200" y="219456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76800" y="219456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57600" y="274320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267200" y="274320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76800" y="274320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657600" y="1645920"/>
            <a:ext cx="18288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47472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0" y="1508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F1D20"/>
                </a:solidFill>
              </a:rPr>
              <a:t>L = D − A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943600" y="224028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32A28"/>
                </a:solidFill>
              </a:rPr>
              <a:t>L measures variation across edges: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32A28"/>
                </a:solidFill>
              </a:rPr>
              <a:t>xᵀLx = ½ Σᵢⱼ Aᵢⱼ(xᵢ − xⱼ)²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738360" y="1234440"/>
            <a:ext cx="1737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84664" y="1344168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Normalization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84664" y="1664208"/>
            <a:ext cx="1444752" cy="2944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GCNs commonly use: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Ã = A + I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Â = D̃⁻¹ᐟ² Ã D̃⁻¹ᐟ²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Important: symmetric normalization is symmetric, but its row sums are not generally 1.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 Self-loops and normalized adjacency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The preprocessing students must be able to reproduce by hand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10640" y="141732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81200" y="141732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8788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10640" y="208788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81200" y="208788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5844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10640" y="275844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81200" y="275844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1417320"/>
            <a:ext cx="20116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6118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F1D20"/>
                </a:solidFill>
              </a:rPr>
              <a:t>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2926080" y="2103120"/>
            <a:ext cx="1005840" cy="502920"/>
          </a:xfrm>
          <a:prstGeom prst="rightArrow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41732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31080" y="141732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01640" y="141732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60520" y="208788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31080" y="208788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01640" y="208788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60520" y="275844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31080" y="275844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01640" y="2758440"/>
            <a:ext cx="6705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160520" y="1417320"/>
            <a:ext cx="20116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6118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F1D20"/>
                </a:solidFill>
              </a:rPr>
              <a:t>Ã = A + I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492240" y="2103120"/>
            <a:ext cx="1005840" cy="502920"/>
          </a:xfrm>
          <a:prstGeom prst="rightArrow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1417320"/>
            <a:ext cx="9753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2A28"/>
                </a:solidFill>
              </a:rPr>
              <a:t>0.5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56320" y="1417320"/>
            <a:ext cx="9753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2A28"/>
                </a:solidFill>
              </a:rPr>
              <a:t>0.408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31680" y="1417320"/>
            <a:ext cx="9753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2A28"/>
                </a:solidFill>
              </a:rPr>
              <a:t>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680960" y="2087880"/>
            <a:ext cx="9753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2A28"/>
                </a:solidFill>
              </a:rPr>
              <a:t>0.408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56320" y="2087880"/>
            <a:ext cx="9753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2A28"/>
                </a:solidFill>
              </a:rPr>
              <a:t>0.333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31680" y="2087880"/>
            <a:ext cx="9753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2A28"/>
                </a:solidFill>
              </a:rPr>
              <a:t>0.408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80960" y="2758440"/>
            <a:ext cx="9753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2A28"/>
                </a:solidFill>
              </a:rPr>
              <a:t>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656320" y="2758440"/>
            <a:ext cx="9753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2A28"/>
                </a:solidFill>
              </a:rPr>
              <a:t>0.408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31680" y="2758440"/>
            <a:ext cx="97536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2A28"/>
                </a:solidFill>
              </a:rPr>
              <a:t>0.5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680960" y="1417320"/>
            <a:ext cx="29260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36118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F1D20"/>
                </a:solidFill>
              </a:rPr>
              <a:t>Â = D̃⁻¹ᐟ² Ã D̃⁻¹ᐟ²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822960" y="4343400"/>
            <a:ext cx="10424160" cy="1051560"/>
          </a:xfrm>
          <a:prstGeom prst="roundRect">
            <a:avLst>
              <a:gd name="adj" fmla="val 5217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264" y="4453128"/>
            <a:ext cx="10131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Why do it?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69264" y="4773168"/>
            <a:ext cx="10131552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Self-loop: keep the node’s own information.  •  Degree normalization: prevent high-degree nodes from dominating aggregation.</a:t>
            </a:r>
            <a:endParaRPr lang="en-US" sz="1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30. The standard GCN layer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The equation is just a compact form of the previous three ideas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F1D20"/>
                </a:solidFill>
              </a:rPr>
              <a:t>H⁽ˡ⁺¹⁾ = σ(Â H⁽ˡ⁾ W⁽ˡ⁾)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256032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670048"/>
            <a:ext cx="4782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1D20"/>
                </a:solidFill>
              </a:rPr>
              <a:t>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2104" y="2990088"/>
            <a:ext cx="4782312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aggregate according to graph structure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256032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2670048"/>
            <a:ext cx="4782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1D20"/>
                </a:solidFill>
              </a:rPr>
              <a:t>H⁽ˡ⁾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9944" y="2990088"/>
            <a:ext cx="4782312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current node representations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97764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4087368"/>
            <a:ext cx="4782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1D20"/>
                </a:solidFill>
              </a:rPr>
              <a:t>W⁽ˡ⁾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2104" y="4407408"/>
            <a:ext cx="4782312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shared learnable feature transformation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397764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4087368"/>
            <a:ext cx="4782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1D20"/>
                </a:solidFill>
              </a:rPr>
              <a:t>σ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9944" y="4407408"/>
            <a:ext cx="4782312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2A28"/>
                </a:solidFill>
              </a:rPr>
              <a:t>nonlinearity such as ReLU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5715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One layer ≈ one-hop neighborhood aggregation + feature transformation + nonlinearity.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31. The same GCN layer, node by node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This is the equation students should be able to explain in words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9F1D20"/>
                </a:solidFill>
              </a:rPr>
              <a:t>hᵥ⁽ˡ⁺¹⁾ = σ( Σᵤ∈N[v]  Âᵥᵤ  hᵤ⁽ˡ⁾ W⁽ˡ⁾ 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4023360" cy="265176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5024" y="3090672"/>
            <a:ext cx="1408176" cy="79552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5024" y="3886200"/>
            <a:ext cx="1408176" cy="79552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3090672"/>
            <a:ext cx="1408176" cy="79552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3886200"/>
            <a:ext cx="1408176" cy="795528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1176" y="3694176"/>
            <a:ext cx="384048" cy="38404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3712464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2898648"/>
            <a:ext cx="384048" cy="38404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916936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u1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4489704"/>
            <a:ext cx="384048" cy="38404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507992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u2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59352" y="2898648"/>
            <a:ext cx="384048" cy="38404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9352" y="2916936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u3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59352" y="4489704"/>
            <a:ext cx="384048" cy="384048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9352" y="4507992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u4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32888" y="3675888"/>
            <a:ext cx="420624" cy="420624"/>
          </a:xfrm>
          <a:prstGeom prst="ellipse">
            <a:avLst/>
          </a:prstGeom>
          <a:solidFill>
            <a:srgbClr val="FCE4E1"/>
          </a:solidFill>
          <a:ln w="31750">
            <a:solidFill>
              <a:srgbClr val="9F1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303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1D20"/>
                </a:solidFill>
              </a:rPr>
              <a:t>target node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66360" y="2560320"/>
            <a:ext cx="61264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2664" y="2670048"/>
            <a:ext cx="5833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12664" y="2990088"/>
            <a:ext cx="5833872" cy="21214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Every neighbor contributes a weighted message. The coefficients come from the normalized adjacency matrix. The same W is used for every node. Then the sum is passed through σ.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This is why the model can work with different numbers of neighbors.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 Numerical example: a three-node path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A full forward pass on paper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1D20"/>
                </a:solidFill>
              </a:rPr>
              <a:t>Graph: 1 — 2 —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1645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194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83080" y="2194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2743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83080" y="2743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1645920"/>
            <a:ext cx="164592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23444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X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60320" y="16459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74720" y="16459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560320" y="21945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74720" y="21945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560320" y="27432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474720" y="27432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1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560320" y="1645920"/>
            <a:ext cx="18288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23444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W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92040" y="1645920"/>
            <a:ext cx="960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0.5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852160" y="1645920"/>
            <a:ext cx="960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-0.5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892040" y="2468880"/>
            <a:ext cx="960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-0.5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852160" y="2468880"/>
            <a:ext cx="960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2A28"/>
                </a:solidFill>
              </a:rPr>
              <a:t>0.5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892040" y="1645920"/>
            <a:ext cx="192024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1234440"/>
            <a:ext cx="40233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344168"/>
            <a:ext cx="3730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Step sequence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61504" y="1664208"/>
            <a:ext cx="3730752" cy="30358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1. Add self-loops.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2. Compute new degrees.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3. Compute D̃⁻¹ᐟ².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4. Form Â.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5. Aggregate ÂX.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6. Multiply by W.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7. Apply ReLU.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53492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F1D20"/>
                </a:solidFill>
              </a:rPr>
              <a:t>The purpose of the example is not arithmetic speed; it is understanding what every operation means.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33. Numerical example: key intermediate matrices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Students should be able to check each stage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51560" y="11430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467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6840" y="1554480"/>
            <a:ext cx="7467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0.408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33600" y="1554480"/>
            <a:ext cx="7467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64080"/>
            <a:ext cx="7467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0.408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6840" y="2164080"/>
            <a:ext cx="7467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0.333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33600" y="2164080"/>
            <a:ext cx="7467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0.408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773680"/>
            <a:ext cx="7467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86840" y="2773680"/>
            <a:ext cx="7467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0.408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33600" y="2773680"/>
            <a:ext cx="7467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54480"/>
            <a:ext cx="224028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1430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ÂX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11880" y="1554480"/>
            <a:ext cx="1051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1554480"/>
            <a:ext cx="1051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0.408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1880" y="2164080"/>
            <a:ext cx="1051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0.816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2164080"/>
            <a:ext cx="1051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0.741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11880" y="2773680"/>
            <a:ext cx="1051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0.408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2773680"/>
            <a:ext cx="1051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11880" y="1554480"/>
            <a:ext cx="210312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1430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(ÂX)W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63640" y="1554480"/>
            <a:ext cx="11658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0.046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29500" y="1554480"/>
            <a:ext cx="11658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-0.046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63640" y="2164080"/>
            <a:ext cx="11658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0.037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29500" y="2164080"/>
            <a:ext cx="11658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-0.037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63640" y="2773680"/>
            <a:ext cx="11658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-0.046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29500" y="2773680"/>
            <a:ext cx="11658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0.046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3640" y="1554480"/>
            <a:ext cx="233172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114300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ReLU output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81160" y="1554480"/>
            <a:ext cx="9601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0.046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41280" y="1554480"/>
            <a:ext cx="9601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81160" y="2164080"/>
            <a:ext cx="9601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0.037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41280" y="2164080"/>
            <a:ext cx="9601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81160" y="2773680"/>
            <a:ext cx="9601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41280" y="2773680"/>
            <a:ext cx="9601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A28"/>
                </a:solidFill>
              </a:rPr>
              <a:t>0.046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281160" y="1554480"/>
            <a:ext cx="192024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069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2A28"/>
                </a:solidFill>
              </a:rPr>
              <a:t>Notice the division of labor: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14400" y="4526280"/>
            <a:ext cx="9875520" cy="1280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2A28"/>
                </a:solidFill>
              </a:rPr>
              <a:t>Â determines which information is mixed.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2A28"/>
                </a:solidFill>
              </a:rPr>
              <a:t>W determines how features are transformed.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2A28"/>
                </a:solidFill>
              </a:rPr>
              <a:t>ReLU introduces nonlinearity.</a:t>
            </a:r>
            <a:endParaRPr lang="en-US" sz="17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34. GCN architecture and shape tracking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Dimensions should never be guessed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842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1D20"/>
                </a:solidFill>
              </a:rPr>
              <a:t>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2A28"/>
                </a:solidFill>
              </a:rPr>
              <a:t>n × 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31720" y="2176272"/>
            <a:ext cx="393192" cy="320040"/>
          </a:xfrm>
          <a:prstGeom prst="rightArrow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182880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FCE7E2"/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9842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1D20"/>
                </a:solidFill>
              </a:rPr>
              <a:t>W⁽⁰⁾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26080" y="24231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2A28"/>
                </a:solidFill>
              </a:rPr>
              <a:t>d × 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176272"/>
            <a:ext cx="393192" cy="320040"/>
          </a:xfrm>
          <a:prstGeom prst="rightArrow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82880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9842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1D20"/>
                </a:solidFill>
              </a:rPr>
              <a:t>H⁽¹⁾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57800" y="24231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2A28"/>
                </a:solidFill>
              </a:rPr>
              <a:t>n × 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95160" y="2176272"/>
            <a:ext cx="393192" cy="320040"/>
          </a:xfrm>
          <a:prstGeom prst="rightArrow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82880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FCE7E2"/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9842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1D20"/>
                </a:solidFill>
              </a:rPr>
              <a:t>W⁽¹⁾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89520" y="24231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2A28"/>
                </a:solidFill>
              </a:rPr>
              <a:t>h × 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26880" y="2176272"/>
            <a:ext cx="393192" cy="320040"/>
          </a:xfrm>
          <a:prstGeom prst="rightArrow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9800" y="182880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9F1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19842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1D20"/>
                </a:solidFill>
              </a:rPr>
              <a:t>Z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921240" y="24231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2A28"/>
                </a:solidFill>
              </a:rPr>
              <a:t>n × 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7033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Â ∈ Rⁿˣⁿ stays on the graph side.  The W matrices change feature dimensions.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97280" y="4389120"/>
            <a:ext cx="9966960" cy="1097280"/>
          </a:xfrm>
          <a:prstGeom prst="roundRect">
            <a:avLst>
              <a:gd name="adj" fmla="val 5000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3584" y="4498848"/>
            <a:ext cx="9674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Parameter count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43584" y="4818888"/>
            <a:ext cx="9674352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Ignoring bias terms:  d·h + h·C.  The number of trainable parameters does NOT depend directly on the number of nodes n.</a:t>
            </a:r>
            <a:endParaRPr lang="en-US" sz="1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35. Three major GNN tasks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Same encoder, different prediction targets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566160" cy="4297680"/>
          </a:xfrm>
          <a:prstGeom prst="roundRect">
            <a:avLst>
              <a:gd name="adj" fmla="val 1538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25272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Node classification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4944" y="1572768"/>
            <a:ext cx="3273552" cy="3767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Input: one graph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Output: one label per node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Example: classify papers by topic.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GCN produces H for every node.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15968" y="1143000"/>
            <a:ext cx="3566160" cy="42976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125272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Link prediction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62272" y="1572768"/>
            <a:ext cx="3273552" cy="3767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Input: graph + candidate node pair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Output: probability of an edge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Example: predict a missing friendship or interaction.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83296" y="1143000"/>
            <a:ext cx="3566160" cy="4297680"/>
          </a:xfrm>
          <a:prstGeom prst="roundRect">
            <a:avLst>
              <a:gd name="adj" fmla="val 1538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25272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Graph classification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1572768"/>
            <a:ext cx="3273552" cy="3767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Input: an entire graph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Output: one label per graph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Example: classify a molecule as toxic / non-toxic.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2A28"/>
                </a:solidFill>
              </a:rPr>
              <a:t>Requires a graph-level readout/pooling step.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 Train / validation / test masks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Graph structure may be shared, but labels must be handled carefully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5577840" cy="4480560"/>
          </a:xfrm>
          <a:prstGeom prst="roundRect">
            <a:avLst/>
          </a:prstGeom>
          <a:solidFill>
            <a:srgbClr val="FFFDFB"/>
          </a:solidFill>
          <a:ln w="15240">
            <a:solidFill>
              <a:srgbClr val="D9D0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2261" y="1947672"/>
            <a:ext cx="892454" cy="1120140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64715" y="1947672"/>
            <a:ext cx="1227125" cy="896112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2037283"/>
            <a:ext cx="1227125" cy="806501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18965" y="2037283"/>
            <a:ext cx="1004011" cy="1254557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2261" y="3067812"/>
            <a:ext cx="892454" cy="1478585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843784"/>
            <a:ext cx="111557" cy="1433779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53635" y="3291840"/>
            <a:ext cx="669341" cy="1254557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4715" y="4277563"/>
            <a:ext cx="1338682" cy="26883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3397" y="4277563"/>
            <a:ext cx="1450238" cy="268834"/>
          </a:xfrm>
          <a:prstGeom prst="line">
            <a:avLst/>
          </a:prstGeom>
          <a:noFill/>
          <a:ln w="25400">
            <a:solidFill>
              <a:srgbClr val="332A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9381" y="2884932"/>
            <a:ext cx="365760" cy="36576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1" y="2903220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81835" y="1764792"/>
            <a:ext cx="365760" cy="36576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81835" y="1783080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2660904"/>
            <a:ext cx="365760" cy="36576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679192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6085" y="1854403"/>
            <a:ext cx="365760" cy="36576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36085" y="1872691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0096" y="3108960"/>
            <a:ext cx="365760" cy="36576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0096" y="3127248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81835" y="4363517"/>
            <a:ext cx="365760" cy="36576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81835" y="4381805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20517" y="4094683"/>
            <a:ext cx="365760" cy="36576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0517" y="4112971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70755" y="4363517"/>
            <a:ext cx="365760" cy="365760"/>
          </a:xfrm>
          <a:prstGeom prst="ellipse">
            <a:avLst/>
          </a:prstGeom>
          <a:solidFill>
            <a:srgbClr val="FFFDFB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70755" y="4381805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A28"/>
                </a:solidFill>
              </a:rPr>
              <a:t>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9381" y="2884932"/>
            <a:ext cx="365760" cy="365760"/>
          </a:xfrm>
          <a:prstGeom prst="ellipse">
            <a:avLst/>
          </a:prstGeom>
          <a:solidFill>
            <a:srgbClr val="DFF0E6"/>
          </a:solidFill>
          <a:ln w="20320">
            <a:solidFill>
              <a:srgbClr val="4E9B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9381" y="2903220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9B6F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81835" y="1764792"/>
            <a:ext cx="365760" cy="365760"/>
          </a:xfrm>
          <a:prstGeom prst="ellipse">
            <a:avLst/>
          </a:prstGeom>
          <a:solidFill>
            <a:srgbClr val="DFF0E6"/>
          </a:solidFill>
          <a:ln w="20320">
            <a:solidFill>
              <a:srgbClr val="4E9B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81835" y="1783080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9B6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81835" y="4363517"/>
            <a:ext cx="365760" cy="365760"/>
          </a:xfrm>
          <a:prstGeom prst="ellipse">
            <a:avLst/>
          </a:prstGeom>
          <a:solidFill>
            <a:srgbClr val="DFF0E6"/>
          </a:solidFill>
          <a:ln w="20320">
            <a:solidFill>
              <a:srgbClr val="4E9B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81835" y="4381805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9B6F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20517" y="4094683"/>
            <a:ext cx="365760" cy="365760"/>
          </a:xfrm>
          <a:prstGeom prst="ellipse">
            <a:avLst/>
          </a:prstGeom>
          <a:solidFill>
            <a:srgbClr val="DFF0E6"/>
          </a:solidFill>
          <a:ln w="20320">
            <a:solidFill>
              <a:srgbClr val="4E9B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20517" y="4112971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9B6F"/>
                </a:solidFill>
              </a:rPr>
              <a:t>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36085" y="1854403"/>
            <a:ext cx="365760" cy="365760"/>
          </a:xfrm>
          <a:prstGeom prst="ellipse">
            <a:avLst/>
          </a:prstGeom>
          <a:solidFill>
            <a:srgbClr val="EAF2FF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36085" y="1872691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7EBB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70755" y="4363517"/>
            <a:ext cx="365760" cy="365760"/>
          </a:xfrm>
          <a:prstGeom prst="ellipse">
            <a:avLst/>
          </a:prstGeom>
          <a:solidFill>
            <a:srgbClr val="EAF2FF"/>
          </a:solidFill>
          <a:ln w="20320">
            <a:solidFill>
              <a:srgbClr val="4A7E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70755" y="4381805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7EBB"/>
                </a:solidFill>
              </a:rPr>
              <a:t>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08960" y="2660904"/>
            <a:ext cx="365760" cy="365760"/>
          </a:xfrm>
          <a:prstGeom prst="ellipse">
            <a:avLst/>
          </a:prstGeom>
          <a:solidFill>
            <a:srgbClr val="FBE7E4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0" y="2679192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1D20"/>
                </a:solidFill>
              </a:rPr>
              <a:t>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40096" y="3108960"/>
            <a:ext cx="365760" cy="365760"/>
          </a:xfrm>
          <a:prstGeom prst="ellipse">
            <a:avLst/>
          </a:prstGeom>
          <a:solidFill>
            <a:srgbClr val="FBE7E4"/>
          </a:solidFill>
          <a:ln w="20320">
            <a:solidFill>
              <a:srgbClr val="9F1D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0096" y="3127248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1D20"/>
                </a:solidFill>
              </a:rPr>
              <a:t>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1051560"/>
            <a:ext cx="49377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47104" y="116128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Training rule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47104" y="1481328"/>
            <a:ext cx="4645152" cy="3950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The model may compute embeddings for all nodes, but the supervised loss should use only training labels: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L = CE(Z[train_mask], Y[train_mask])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Validation is for model selection.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Test is for the final unbiased estimate.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Do not tune hyperparameters using test accuracy.</a:t>
            </a:r>
            <a:endParaRPr lang="en-US" sz="16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37. Complexity: dense versus sparse GCNs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Why edge lists matter for large graphs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212080" cy="3566160"/>
          </a:xfrm>
          <a:prstGeom prst="roundRect">
            <a:avLst>
              <a:gd name="adj" fmla="val 1538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44168"/>
            <a:ext cx="4919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Dense adjacency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1664208"/>
            <a:ext cx="4919472" cy="30358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Â is n×n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Aggregation cost ≈ O(n²d)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Adjacency storage ≈ O(n²)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This becomes impractical very quickly as n grows.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2120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9944" y="1344168"/>
            <a:ext cx="4919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Sparse adjacency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9944" y="1664208"/>
            <a:ext cx="4919472" cy="30358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With m edges, aggregation is ≈ O(md)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Feature transformation is ≈ O(ndd′)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One layer ≈ O(md + ndd′)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2A28"/>
                </a:solidFill>
              </a:rPr>
              <a:t>Memory is roughly O(nd + m).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25780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F1D20"/>
                </a:solidFill>
              </a:rPr>
              <a:t>Parameter complexity and data complexity are different: a GCN can have few trainable parameters but still operate on a huge graph.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38. Important warning: over-smoothing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More GCN layers do not automatically mean a better model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89888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2 layers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9224" y="1709928"/>
            <a:ext cx="2313432" cy="20299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Distinct node embeddings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10712" y="1280160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7016" y="1389888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6 layers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57016" y="1709928"/>
            <a:ext cx="2313432" cy="20299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Some similarities appear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18504" y="1280160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389888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12 layers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4808" y="1709928"/>
            <a:ext cx="2313432" cy="20299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Representations become much closer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26296" y="1280160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FF0EE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1389888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Very deep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72600" y="1709928"/>
            <a:ext cx="2313432" cy="20299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Classes can become harder to separate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434340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9F1D20"/>
                </a:solidFill>
              </a:rPr>
              <a:t>Simplified intuition:   H⁽ᵏ⁾ ≈ ÂᵏX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2011680" y="50749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2A28"/>
                </a:solidFill>
              </a:rPr>
              <a:t>Repeated neighborhood mixing can wash out node-specific information.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39. What comes after basic GCNs?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The first GCN is the foundation, not the end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7432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52728"/>
            <a:ext cx="2450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GraphSAGE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2450592" cy="3721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Samples or aggregates neighborhoods and is especially useful for inductive learning and large graphs.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6432" y="1143000"/>
            <a:ext cx="27432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252728"/>
            <a:ext cx="2450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GAT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02736" y="1572768"/>
            <a:ext cx="2450592" cy="3721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Learns attention coefficients so different neighbors can receive different weights.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143000"/>
            <a:ext cx="27432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1252728"/>
            <a:ext cx="2450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47104" y="1572768"/>
            <a:ext cx="2450592" cy="3721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2A28"/>
                </a:solidFill>
              </a:rPr>
              <a:t>Uses powerful aggregation + MLPs and is often discussed in terms of expressive power.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0" y="1143000"/>
            <a:ext cx="2331720" cy="4251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73184" y="1252728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D20"/>
                </a:solidFill>
              </a:rPr>
              <a:t>Graph Transformers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73184" y="1572768"/>
            <a:ext cx="2039112" cy="3721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2A28"/>
                </a:solidFill>
              </a:rPr>
              <a:t>Attention-based models with structural encodings; powerful for long-range interactions but often more expensive.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562356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1D20"/>
                </a:solidFill>
              </a:rPr>
              <a:t>Teach the standard GCN first. Then compare models by asking: what changes in aggregation, scalability, expressiveness, or long-range interaction?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40. Suggested laboratory sequence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Turn each concept into a small, verifiable experiment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25296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Lab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545336"/>
            <a:ext cx="496519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Draw graphs; compute degree, paths, and components by hand.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11556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7064" y="1225296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Lab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27064" y="1545336"/>
            <a:ext cx="496519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Implement adjacency matrix and adjacency list in Python.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5000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459736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Lab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" y="2779776"/>
            <a:ext cx="496519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Implement BFS and DFS.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35000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2459736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Lab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27064" y="2779776"/>
            <a:ext cx="496519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Build Â = D̃⁻¹ᐟ²(A+I)D̃⁻¹ᐟ² in NumPy.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94176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Lab 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" y="4014216"/>
            <a:ext cx="496519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Implement one GCN layer from scratch.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358444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3694176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Lab 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27064" y="4014216"/>
            <a:ext cx="496519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Train a two-layer GCN in PyTorch Geometric.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81888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928616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Lab 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" y="5248656"/>
            <a:ext cx="496519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Compare depth, dropout, and hidden size.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0760" y="481888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4928616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Lab 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27064" y="5248656"/>
            <a:ext cx="496519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Extend to graph classification or link prediction.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41. Quick assessment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Use these questions before moving to the GCN derivation lecture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1. What is the difference between a node, an edge, and a neighborhood?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23444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2. Why can’t a standard 3×3 CNN kernel be applied directly to an irregular graph?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3. What does Aᵢⱼ mean in an adjacency matrix?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63640" y="233172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4. What is the maximum number of edges in a simple undirected graph with n vertices?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5. Why do GCNs add self-loops?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342900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6. Why is symmetric normalization useful?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52628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7. What does a 2-layer GCN allow a node to “see”?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452628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2A28"/>
                </a:solidFill>
              </a:rPr>
              <a:t>8. Why should graph-level readout be permutation invariant?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6235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F1D20"/>
                </a:solidFill>
              </a:rPr>
              <a:t>Exit ticket: explain H⁽ˡ⁺¹⁾ = σ(ÂH⁽ˡ⁾W⁽ˡ⁾) without using the words “because that is the formula.”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42. Bridge to the next GCN lecture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5A54"/>
                </a:solidFill>
              </a:rPr>
              <a:t>Everything in the graph-theory lecture has a role in the neural network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52728"/>
            <a:ext cx="4873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Neighborhood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1572768"/>
            <a:ext cx="487375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defines what can send a message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4300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4224" y="1252728"/>
            <a:ext cx="4873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Degree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64224" y="1572768"/>
            <a:ext cx="487375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controls normalization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487168"/>
            <a:ext cx="4873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Adjacency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2807208"/>
            <a:ext cx="487375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encodes connectivity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2487168"/>
            <a:ext cx="4873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Feature matrix 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2807208"/>
            <a:ext cx="487375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stores the initial node information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721608"/>
            <a:ext cx="4873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Matrix multiplication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" y="4041648"/>
            <a:ext cx="487375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performs weighted aggregation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61188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3721608"/>
            <a:ext cx="4873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Self-loops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64224" y="4041648"/>
            <a:ext cx="487375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preserve the node’s own representation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3EC"/>
          </a:solidFill>
          <a:ln w="12700">
            <a:solidFill>
              <a:srgbClr val="D9D0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956048"/>
            <a:ext cx="48737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D20"/>
                </a:solidFill>
              </a:rPr>
              <a:t>Permutation symmetry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6384" y="5276088"/>
            <a:ext cx="4873752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2A28"/>
                </a:solidFill>
              </a:rPr>
              <a:t>makes the model independent of arbitrary node IDs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5715000"/>
            <a:ext cx="8961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1D20"/>
                </a:solidFill>
              </a:rPr>
              <a:t>Next lecture: derive and implement the complete GCN layer.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6D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19524</Words>
  <Application>WPS Presentation</Application>
  <PresentationFormat>On-screen Show (16:9)</PresentationFormat>
  <Paragraphs>1772</Paragraphs>
  <Slides>73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73</vt:i4>
      </vt:variant>
    </vt:vector>
  </HeadingPairs>
  <TitlesOfParts>
    <vt:vector size="93" baseType="lpstr">
      <vt:lpstr>Arial</vt:lpstr>
      <vt:lpstr>SimSun</vt:lpstr>
      <vt:lpstr>Wingdings</vt:lpstr>
      <vt:lpstr>Aptos</vt:lpstr>
      <vt:lpstr>Segoe UI</vt:lpstr>
      <vt:lpstr>Aptos</vt:lpstr>
      <vt:lpstr>Aptos</vt:lpstr>
      <vt:lpstr>Aptos</vt:lpstr>
      <vt:lpstr>Aptos Display</vt:lpstr>
      <vt:lpstr>Segoe UI Variable Display</vt:lpstr>
      <vt:lpstr>Aptos Display</vt:lpstr>
      <vt:lpstr>Aptos Display</vt:lpstr>
      <vt:lpstr>Microsoft YaHei</vt:lpstr>
      <vt:lpstr>Arial Unicode MS</vt:lpstr>
      <vt:lpstr>MS PGothic</vt:lpstr>
      <vt:lpstr>BatangChe</vt:lpstr>
      <vt:lpstr>Segoe Print</vt:lpstr>
      <vt:lpstr>DengXian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BS Computer Science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— Graph Foundations for GCNs</dc:title>
  <dc:creator>Instructor</dc:creator>
  <dc:subject>Graph Foundations for Graph Convolutional Networks</dc:subject>
  <cp:lastModifiedBy>imam dad</cp:lastModifiedBy>
  <cp:revision>3</cp:revision>
  <dcterms:created xsi:type="dcterms:W3CDTF">2026-08-20T05:23:00Z</dcterms:created>
  <dcterms:modified xsi:type="dcterms:W3CDTF">2026-08-20T07:47:38Z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686E521F2B2D4EAAAD87375FD0BA2F84_13</vt:lpwstr>
  </property>
</Properties>
</file>