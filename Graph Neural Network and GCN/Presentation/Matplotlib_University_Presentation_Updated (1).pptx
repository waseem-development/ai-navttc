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29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24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27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26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3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3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78B46CA-FDC2-43AA-BB32-7427E121597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4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23659A7-E804-4BE5-8D6D-3F0618BDD67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4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D876B94-C642-471B-BDF2-9A427C16A6D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4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F89F305-CD54-4339-9B83-FE4E2BDE9E5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120"/>
          </a:xfrm>
          <a:prstGeom prst="rect">
            <a:avLst/>
          </a:prstGeom>
          <a:ln w="0">
            <a:noFill/>
          </a:ln>
        </p:spPr>
      </p:sp>
      <p:sp>
        <p:nvSpPr>
          <p:cNvPr id="4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AB48A34-CD37-4056-9F6A-E78A6420BE1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4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6D57988-44BC-4414-A55A-CB0B398DB4D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120"/>
          </a:xfrm>
          <a:prstGeom prst="rect">
            <a:avLst/>
          </a:prstGeom>
          <a:ln w="0">
            <a:noFill/>
          </a:ln>
        </p:spPr>
      </p:sp>
      <p:sp>
        <p:nvSpPr>
          <p:cNvPr id="5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403E200-E920-48F9-A6B8-97CAF1C3532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5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A62E6BB-1F81-4193-89C3-050EA81B184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5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7FB6484-D41A-4EF4-B5A3-22E46BC1E4A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5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1CAA754-61C3-4279-ACE0-106499EBD15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5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8983134-CAB7-4FB5-9F61-C34945C93D8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120"/>
          </a:xfrm>
          <a:prstGeom prst="rect">
            <a:avLst/>
          </a:prstGeom>
          <a:ln w="0">
            <a:noFill/>
          </a:ln>
        </p:spPr>
      </p:sp>
      <p:sp>
        <p:nvSpPr>
          <p:cNvPr id="5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A5378DC-C543-4858-9C67-C1897ED2BC0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5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C826E03-1997-4A27-BEB8-474281C5602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8778240" y="-2194560"/>
            <a:ext cx="5484240" cy="5484240"/>
          </a:xfrm>
          <a:prstGeom prst="ellipse">
            <a:avLst/>
          </a:prstGeom>
          <a:solidFill>
            <a:srgbClr val="26275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-2011680" y="4206240"/>
            <a:ext cx="4204080" cy="4204080"/>
          </a:xfrm>
          <a:prstGeom prst="ellipse">
            <a:avLst/>
          </a:prstGeom>
          <a:solidFill>
            <a:srgbClr val="11362E">
              <a:alpha val="5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5943600" y="5212080"/>
            <a:ext cx="1460880" cy="1460880"/>
          </a:xfrm>
          <a:prstGeom prst="ellipse">
            <a:avLst/>
          </a:prstGeom>
          <a:solidFill>
            <a:srgbClr val="4C112D">
              <a:alpha val="5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685800" y="548640"/>
            <a:ext cx="546480" cy="546480"/>
          </a:xfrm>
          <a:prstGeom prst="roundRect">
            <a:avLst>
              <a:gd name="adj" fmla="val 28000"/>
            </a:avLst>
          </a:prstGeom>
          <a:solidFill>
            <a:srgbClr val="818C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861480" y="724320"/>
            <a:ext cx="370800" cy="370800"/>
          </a:xfrm>
          <a:prstGeom prst="roundRect">
            <a:avLst>
              <a:gd name="adj" fmla="val 26471"/>
            </a:avLst>
          </a:prstGeom>
          <a:solidFill>
            <a:srgbClr val="0B0F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960120" y="822960"/>
            <a:ext cx="184320" cy="184320"/>
          </a:xfrm>
          <a:prstGeom prst="roundRect">
            <a:avLst>
              <a:gd name="adj" fmla="val 26471"/>
            </a:avLst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713160" y="2331720"/>
            <a:ext cx="5118480" cy="290520"/>
          </a:xfrm>
          <a:prstGeom prst="roundRect">
            <a:avLst>
              <a:gd name="adj" fmla="val 50000"/>
            </a:avLst>
          </a:prstGeom>
          <a:solidFill>
            <a:srgbClr val="26275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713160" y="2331720"/>
            <a:ext cx="511848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E0E7FF"/>
                </a:solidFill>
                <a:effectLst/>
                <a:uFillTx/>
                <a:latin typeface="Plus Jakarta Sans"/>
                <a:ea typeface="Plus Jakarta Sans"/>
              </a:rPr>
              <a:t>GRAPH CONVOLUTIONAL NETWORKS (GCN)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658440" y="2788920"/>
            <a:ext cx="9599040" cy="12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800" b="1" u="none" spc="-99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M</a:t>
            </a:r>
            <a:r>
              <a:rPr lang="en-US" sz="5800" b="1" u="none" spc="-99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a</a:t>
            </a:r>
            <a:r>
              <a:rPr lang="en-US" sz="5800" b="1" u="none" spc="-99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t</a:t>
            </a:r>
            <a:r>
              <a:rPr lang="en-US" sz="5800" b="1" u="none" spc="-99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p</a:t>
            </a:r>
            <a:r>
              <a:rPr lang="en-US" sz="5800" b="1" u="none" spc="-99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l</a:t>
            </a:r>
            <a:r>
              <a:rPr lang="en-US" sz="5800" b="1" u="none" spc="-99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o</a:t>
            </a:r>
            <a:r>
              <a:rPr lang="en-US" sz="5800" b="1" u="none" spc="-99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t</a:t>
            </a:r>
            <a:r>
              <a:rPr lang="en-US" sz="5800" b="1" u="none" spc="-99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l</a:t>
            </a:r>
            <a:r>
              <a:rPr lang="en-US" sz="5800" b="1" u="none" spc="-99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i</a:t>
            </a:r>
            <a:r>
              <a:rPr lang="en-US" sz="5800" b="1" u="none" spc="-99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b</a:t>
            </a:r>
            <a:endParaRPr lang="en-US" sz="5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713160" y="3794760"/>
            <a:ext cx="8684640" cy="6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DD4BF"/>
                </a:solidFill>
                <a:effectLst/>
                <a:uFillTx/>
                <a:latin typeface="Bricolage Grotesque"/>
                <a:ea typeface="Bricolage Grotesque"/>
              </a:rPr>
              <a:t>Data Visualization with Python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713160" y="4434840"/>
            <a:ext cx="8044560" cy="6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A practical introduction to Pyplot, chart types, the Object-Oriented API, and Saving Plots.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11505960" y="6473880"/>
            <a:ext cx="5007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0"/>
          <p:cNvSpPr/>
          <p:nvPr/>
        </p:nvSpPr>
        <p:spPr>
          <a:xfrm>
            <a:off x="548640" y="384120"/>
            <a:ext cx="959904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PRESENTATION FLOW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"/>
          <p:cNvSpPr/>
          <p:nvPr/>
        </p:nvSpPr>
        <p:spPr>
          <a:xfrm>
            <a:off x="548640" y="658440"/>
            <a:ext cx="10239120" cy="68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What We'll Cover Today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2"/>
          <p:cNvSpPr/>
          <p:nvPr/>
        </p:nvSpPr>
        <p:spPr>
          <a:xfrm>
            <a:off x="11323080" y="384120"/>
            <a:ext cx="381960" cy="381960"/>
          </a:xfrm>
          <a:prstGeom prst="roundRect">
            <a:avLst>
              <a:gd name="adj" fmla="val 28000"/>
            </a:avLst>
          </a:prstGeom>
          <a:solidFill>
            <a:srgbClr val="5755A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3"/>
          <p:cNvSpPr/>
          <p:nvPr/>
        </p:nvSpPr>
        <p:spPr>
          <a:xfrm>
            <a:off x="11445840" y="506880"/>
            <a:ext cx="258840" cy="258840"/>
          </a:xfrm>
          <a:prstGeom prst="roundRect">
            <a:avLst>
              <a:gd name="adj" fmla="val 26471"/>
            </a:avLst>
          </a:prstGeom>
          <a:solidFill>
            <a:srgbClr val="FCF8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4"/>
          <p:cNvSpPr/>
          <p:nvPr/>
        </p:nvSpPr>
        <p:spPr>
          <a:xfrm>
            <a:off x="11514960" y="576000"/>
            <a:ext cx="128520" cy="128520"/>
          </a:xfrm>
          <a:prstGeom prst="roundRect">
            <a:avLst>
              <a:gd name="adj" fmla="val 26471"/>
            </a:avLst>
          </a:prstGeom>
          <a:solidFill>
            <a:srgbClr val="38675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440" tIns="45000" rIns="644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5"/>
          <p:cNvSpPr/>
          <p:nvPr/>
        </p:nvSpPr>
        <p:spPr>
          <a:xfrm>
            <a:off x="457200" y="6473880"/>
            <a:ext cx="6855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Matplotlib: Data Visualization with Python  ·  GCN Course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6"/>
          <p:cNvSpPr/>
          <p:nvPr/>
        </p:nvSpPr>
        <p:spPr>
          <a:xfrm>
            <a:off x="548640" y="1737360"/>
            <a:ext cx="2603880" cy="19638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7"/>
          <p:cNvSpPr/>
          <p:nvPr/>
        </p:nvSpPr>
        <p:spPr>
          <a:xfrm>
            <a:off x="713160" y="1883520"/>
            <a:ext cx="227484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8C8AE0"/>
                </a:solidFill>
                <a:effectLst/>
                <a:uFillTx/>
                <a:latin typeface="Bricolage Grotesque"/>
                <a:ea typeface="Bricolage Grotesque"/>
              </a:rPr>
              <a:t>01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8"/>
          <p:cNvSpPr/>
          <p:nvPr/>
        </p:nvSpPr>
        <p:spPr>
          <a:xfrm>
            <a:off x="713160" y="2423160"/>
            <a:ext cx="227484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Introduction to Matplotlib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9"/>
          <p:cNvSpPr/>
          <p:nvPr/>
        </p:nvSpPr>
        <p:spPr>
          <a:xfrm>
            <a:off x="3291840" y="1737360"/>
            <a:ext cx="2603880" cy="19638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0"/>
          <p:cNvSpPr/>
          <p:nvPr/>
        </p:nvSpPr>
        <p:spPr>
          <a:xfrm>
            <a:off x="3456360" y="1883520"/>
            <a:ext cx="227484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8C8AE0"/>
                </a:solidFill>
                <a:effectLst/>
                <a:uFillTx/>
                <a:latin typeface="Bricolage Grotesque"/>
                <a:ea typeface="Bricolage Grotesque"/>
              </a:rPr>
              <a:t>02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1"/>
          <p:cNvSpPr/>
          <p:nvPr/>
        </p:nvSpPr>
        <p:spPr>
          <a:xfrm>
            <a:off x="3456360" y="2423160"/>
            <a:ext cx="227484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Essential Terminology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2"/>
          <p:cNvSpPr/>
          <p:nvPr/>
        </p:nvSpPr>
        <p:spPr>
          <a:xfrm>
            <a:off x="6035040" y="1737360"/>
            <a:ext cx="2603880" cy="19638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3"/>
          <p:cNvSpPr/>
          <p:nvPr/>
        </p:nvSpPr>
        <p:spPr>
          <a:xfrm>
            <a:off x="6199560" y="1883520"/>
            <a:ext cx="227484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8C8AE0"/>
                </a:solidFill>
                <a:effectLst/>
                <a:uFillTx/>
                <a:latin typeface="Bricolage Grotesque"/>
                <a:ea typeface="Bricolage Grotesque"/>
              </a:rPr>
              <a:t>03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4"/>
          <p:cNvSpPr/>
          <p:nvPr/>
        </p:nvSpPr>
        <p:spPr>
          <a:xfrm>
            <a:off x="6199560" y="2423160"/>
            <a:ext cx="227484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Pyplot — Core Charts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5"/>
          <p:cNvSpPr/>
          <p:nvPr/>
        </p:nvSpPr>
        <p:spPr>
          <a:xfrm>
            <a:off x="8778240" y="1737360"/>
            <a:ext cx="2603880" cy="19638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6"/>
          <p:cNvSpPr/>
          <p:nvPr/>
        </p:nvSpPr>
        <p:spPr>
          <a:xfrm>
            <a:off x="8942760" y="1883520"/>
            <a:ext cx="227484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8C8AE0"/>
                </a:solidFill>
                <a:effectLst/>
                <a:uFillTx/>
                <a:latin typeface="Bricolage Grotesque"/>
                <a:ea typeface="Bricolage Grotesque"/>
              </a:rPr>
              <a:t>04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7"/>
          <p:cNvSpPr/>
          <p:nvPr/>
        </p:nvSpPr>
        <p:spPr>
          <a:xfrm>
            <a:off x="8942760" y="2423160"/>
            <a:ext cx="227484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Practice Tasks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8"/>
          <p:cNvSpPr/>
          <p:nvPr/>
        </p:nvSpPr>
        <p:spPr>
          <a:xfrm>
            <a:off x="548640" y="3849480"/>
            <a:ext cx="2603880" cy="19638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9"/>
          <p:cNvSpPr/>
          <p:nvPr/>
        </p:nvSpPr>
        <p:spPr>
          <a:xfrm>
            <a:off x="713160" y="3996000"/>
            <a:ext cx="227484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8C8AE0"/>
                </a:solidFill>
                <a:effectLst/>
                <a:uFillTx/>
                <a:latin typeface="Bricolage Grotesque"/>
                <a:ea typeface="Bricolage Grotesque"/>
              </a:rPr>
              <a:t>05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0"/>
          <p:cNvSpPr/>
          <p:nvPr/>
        </p:nvSpPr>
        <p:spPr>
          <a:xfrm>
            <a:off x="713160" y="4535280"/>
            <a:ext cx="227484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Subplots &amp; Object-Oriented API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21"/>
          <p:cNvSpPr/>
          <p:nvPr/>
        </p:nvSpPr>
        <p:spPr>
          <a:xfrm>
            <a:off x="3291840" y="3849480"/>
            <a:ext cx="2603880" cy="19638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22"/>
          <p:cNvSpPr/>
          <p:nvPr/>
        </p:nvSpPr>
        <p:spPr>
          <a:xfrm>
            <a:off x="3456360" y="3996000"/>
            <a:ext cx="227484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8C8AE0"/>
                </a:solidFill>
                <a:effectLst/>
                <a:uFillTx/>
                <a:latin typeface="Bricolage Grotesque"/>
                <a:ea typeface="Bricolage Grotesque"/>
              </a:rPr>
              <a:t>06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3"/>
          <p:cNvSpPr/>
          <p:nvPr/>
        </p:nvSpPr>
        <p:spPr>
          <a:xfrm>
            <a:off x="3456360" y="4535280"/>
            <a:ext cx="227484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Saving Plots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24"/>
          <p:cNvSpPr/>
          <p:nvPr/>
        </p:nvSpPr>
        <p:spPr>
          <a:xfrm>
            <a:off x="6035040" y="3849480"/>
            <a:ext cx="2603880" cy="19638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25"/>
          <p:cNvSpPr/>
          <p:nvPr/>
        </p:nvSpPr>
        <p:spPr>
          <a:xfrm>
            <a:off x="6199560" y="3996000"/>
            <a:ext cx="227484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8C8AE0"/>
                </a:solidFill>
                <a:effectLst/>
                <a:uFillTx/>
                <a:latin typeface="Bricolage Grotesque"/>
                <a:ea typeface="Bricolage Grotesque"/>
              </a:rPr>
              <a:t>07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6"/>
          <p:cNvSpPr/>
          <p:nvPr/>
        </p:nvSpPr>
        <p:spPr>
          <a:xfrm>
            <a:off x="6199560" y="4535280"/>
            <a:ext cx="227484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Useful Extras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27"/>
          <p:cNvSpPr/>
          <p:nvPr/>
        </p:nvSpPr>
        <p:spPr>
          <a:xfrm>
            <a:off x="8778240" y="3849480"/>
            <a:ext cx="2603880" cy="19638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8"/>
          <p:cNvSpPr/>
          <p:nvPr/>
        </p:nvSpPr>
        <p:spPr>
          <a:xfrm>
            <a:off x="8942760" y="3996000"/>
            <a:ext cx="2274840" cy="50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8C8AE0"/>
                </a:solidFill>
                <a:effectLst/>
                <a:uFillTx/>
                <a:latin typeface="Bricolage Grotesque"/>
                <a:ea typeface="Bricolage Grotesque"/>
              </a:rPr>
              <a:t>08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9"/>
          <p:cNvSpPr/>
          <p:nvPr/>
        </p:nvSpPr>
        <p:spPr>
          <a:xfrm>
            <a:off x="8942760" y="4535280"/>
            <a:ext cx="227484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Q&amp;A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30"/>
          <p:cNvSpPr/>
          <p:nvPr/>
        </p:nvSpPr>
        <p:spPr>
          <a:xfrm>
            <a:off x="548640" y="5806440"/>
            <a:ext cx="1106208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Target duration: 30–40 minutes.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31"/>
          <p:cNvSpPr/>
          <p:nvPr/>
        </p:nvSpPr>
        <p:spPr>
          <a:xfrm>
            <a:off x="11505960" y="6473880"/>
            <a:ext cx="5007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0"/>
          <p:cNvSpPr/>
          <p:nvPr/>
        </p:nvSpPr>
        <p:spPr>
          <a:xfrm>
            <a:off x="548640" y="384120"/>
            <a:ext cx="959904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01 · INTRODUCTION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"/>
          <p:cNvSpPr/>
          <p:nvPr/>
        </p:nvSpPr>
        <p:spPr>
          <a:xfrm>
            <a:off x="548640" y="658440"/>
            <a:ext cx="10239120" cy="68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What Is Matplotlib, and Why Does It Matter?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2"/>
          <p:cNvSpPr/>
          <p:nvPr/>
        </p:nvSpPr>
        <p:spPr>
          <a:xfrm>
            <a:off x="11323080" y="384120"/>
            <a:ext cx="381960" cy="381960"/>
          </a:xfrm>
          <a:prstGeom prst="roundRect">
            <a:avLst>
              <a:gd name="adj" fmla="val 28000"/>
            </a:avLst>
          </a:prstGeom>
          <a:solidFill>
            <a:srgbClr val="5755A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3"/>
          <p:cNvSpPr/>
          <p:nvPr/>
        </p:nvSpPr>
        <p:spPr>
          <a:xfrm>
            <a:off x="11445840" y="506880"/>
            <a:ext cx="258840" cy="258840"/>
          </a:xfrm>
          <a:prstGeom prst="roundRect">
            <a:avLst>
              <a:gd name="adj" fmla="val 26471"/>
            </a:avLst>
          </a:prstGeom>
          <a:solidFill>
            <a:srgbClr val="FCF8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4"/>
          <p:cNvSpPr/>
          <p:nvPr/>
        </p:nvSpPr>
        <p:spPr>
          <a:xfrm>
            <a:off x="11514960" y="576000"/>
            <a:ext cx="128520" cy="128520"/>
          </a:xfrm>
          <a:prstGeom prst="roundRect">
            <a:avLst>
              <a:gd name="adj" fmla="val 26471"/>
            </a:avLst>
          </a:prstGeom>
          <a:solidFill>
            <a:srgbClr val="38675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440" tIns="45000" rIns="644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5"/>
          <p:cNvSpPr/>
          <p:nvPr/>
        </p:nvSpPr>
        <p:spPr>
          <a:xfrm>
            <a:off x="457200" y="6473880"/>
            <a:ext cx="6855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Matplotlib: Data Visualization with Python  ·  GCN Course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6"/>
          <p:cNvSpPr/>
          <p:nvPr/>
        </p:nvSpPr>
        <p:spPr>
          <a:xfrm>
            <a:off x="548640" y="1737360"/>
            <a:ext cx="11107800" cy="411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Matplotlib is Python's foundational data visualization library — it turns numbers into charts: lines, bars, scatter plots, histograms, and more.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Why visualize at all? Raw numbers are hard to reason about; a well-made chart reveals patterns, trends, and outliers in seconds.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In Data Science, AI, and ML, Matplotlib shows up constantly — exploring a dataset, checking a model's training progress, comparing results, and building figures for reports and papers.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It's also the foundation other libraries (like Seaborn) are built on top of — learning it well pays off across the whole ecosystem.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7"/>
          <p:cNvSpPr/>
          <p:nvPr/>
        </p:nvSpPr>
        <p:spPr>
          <a:xfrm>
            <a:off x="11505960" y="6473880"/>
            <a:ext cx="5007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0"/>
          <p:cNvSpPr/>
          <p:nvPr/>
        </p:nvSpPr>
        <p:spPr>
          <a:xfrm>
            <a:off x="548640" y="384120"/>
            <a:ext cx="959904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01 · INTRODUCTION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"/>
          <p:cNvSpPr/>
          <p:nvPr/>
        </p:nvSpPr>
        <p:spPr>
          <a:xfrm>
            <a:off x="548640" y="658440"/>
            <a:ext cx="10239120" cy="68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The Basic Visualization Workflow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2"/>
          <p:cNvSpPr/>
          <p:nvPr/>
        </p:nvSpPr>
        <p:spPr>
          <a:xfrm>
            <a:off x="11323080" y="384120"/>
            <a:ext cx="381960" cy="381960"/>
          </a:xfrm>
          <a:prstGeom prst="roundRect">
            <a:avLst>
              <a:gd name="adj" fmla="val 28000"/>
            </a:avLst>
          </a:prstGeom>
          <a:solidFill>
            <a:srgbClr val="5755A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3"/>
          <p:cNvSpPr/>
          <p:nvPr/>
        </p:nvSpPr>
        <p:spPr>
          <a:xfrm>
            <a:off x="11445840" y="506880"/>
            <a:ext cx="258840" cy="258840"/>
          </a:xfrm>
          <a:prstGeom prst="roundRect">
            <a:avLst>
              <a:gd name="adj" fmla="val 26471"/>
            </a:avLst>
          </a:prstGeom>
          <a:solidFill>
            <a:srgbClr val="FCF8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4"/>
          <p:cNvSpPr/>
          <p:nvPr/>
        </p:nvSpPr>
        <p:spPr>
          <a:xfrm>
            <a:off x="11514960" y="576000"/>
            <a:ext cx="128520" cy="128520"/>
          </a:xfrm>
          <a:prstGeom prst="roundRect">
            <a:avLst>
              <a:gd name="adj" fmla="val 26471"/>
            </a:avLst>
          </a:prstGeom>
          <a:solidFill>
            <a:srgbClr val="38675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440" tIns="45000" rIns="644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5"/>
          <p:cNvSpPr/>
          <p:nvPr/>
        </p:nvSpPr>
        <p:spPr>
          <a:xfrm>
            <a:off x="457200" y="6473880"/>
            <a:ext cx="6855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Matplotlib: Data Visualization with Python  ·  GCN Course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6"/>
          <p:cNvSpPr/>
          <p:nvPr/>
        </p:nvSpPr>
        <p:spPr>
          <a:xfrm>
            <a:off x="479520" y="1828800"/>
            <a:ext cx="2684520" cy="41122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7"/>
          <p:cNvSpPr/>
          <p:nvPr/>
        </p:nvSpPr>
        <p:spPr>
          <a:xfrm>
            <a:off x="731520" y="2011680"/>
            <a:ext cx="91224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8C8AE0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8"/>
          <p:cNvSpPr/>
          <p:nvPr/>
        </p:nvSpPr>
        <p:spPr>
          <a:xfrm>
            <a:off x="731520" y="2697480"/>
            <a:ext cx="223812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Data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9"/>
          <p:cNvSpPr/>
          <p:nvPr/>
        </p:nvSpPr>
        <p:spPr>
          <a:xfrm>
            <a:off x="731520" y="3535560"/>
            <a:ext cx="2238120" cy="155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Lists, arrays, or DataFrame columns for X and 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0"/>
          <p:cNvSpPr/>
          <p:nvPr/>
        </p:nvSpPr>
        <p:spPr>
          <a:xfrm>
            <a:off x="3154680" y="1828800"/>
            <a:ext cx="180720" cy="301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5755A7"/>
                </a:solidFill>
                <a:effectLst/>
                <a:uFillTx/>
                <a:latin typeface="Calibri"/>
              </a:rPr>
              <a:t>→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11"/>
          <p:cNvSpPr/>
          <p:nvPr/>
        </p:nvSpPr>
        <p:spPr>
          <a:xfrm>
            <a:off x="3268440" y="1828800"/>
            <a:ext cx="2673000" cy="4112280"/>
          </a:xfrm>
          <a:prstGeom prst="roundRect">
            <a:avLst>
              <a:gd name="adj" fmla="val 4211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2"/>
          <p:cNvSpPr/>
          <p:nvPr/>
        </p:nvSpPr>
        <p:spPr>
          <a:xfrm>
            <a:off x="3520440" y="2011680"/>
            <a:ext cx="91224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3"/>
          <p:cNvSpPr/>
          <p:nvPr/>
        </p:nvSpPr>
        <p:spPr>
          <a:xfrm>
            <a:off x="3520440" y="2697480"/>
            <a:ext cx="223812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Plot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4"/>
          <p:cNvSpPr/>
          <p:nvPr/>
        </p:nvSpPr>
        <p:spPr>
          <a:xfrm>
            <a:off x="3520440" y="3535560"/>
            <a:ext cx="2238120" cy="155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plt.plot() / bar() / scatter() / ... draws the chart.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5"/>
          <p:cNvSpPr/>
          <p:nvPr/>
        </p:nvSpPr>
        <p:spPr>
          <a:xfrm>
            <a:off x="5943600" y="1828800"/>
            <a:ext cx="180720" cy="301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5755A7"/>
                </a:solidFill>
                <a:effectLst/>
                <a:uFillTx/>
                <a:latin typeface="Calibri"/>
              </a:rPr>
              <a:t>→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16"/>
          <p:cNvSpPr/>
          <p:nvPr/>
        </p:nvSpPr>
        <p:spPr>
          <a:xfrm>
            <a:off x="6114960" y="1828800"/>
            <a:ext cx="2626920" cy="41122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7"/>
          <p:cNvSpPr/>
          <p:nvPr/>
        </p:nvSpPr>
        <p:spPr>
          <a:xfrm>
            <a:off x="6309360" y="2011680"/>
            <a:ext cx="91224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8C8AE0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8"/>
          <p:cNvSpPr/>
          <p:nvPr/>
        </p:nvSpPr>
        <p:spPr>
          <a:xfrm>
            <a:off x="6309360" y="2697480"/>
            <a:ext cx="223812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Customize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9"/>
          <p:cNvSpPr/>
          <p:nvPr/>
        </p:nvSpPr>
        <p:spPr>
          <a:xfrm>
            <a:off x="6182280" y="3535560"/>
            <a:ext cx="2238120" cy="155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Titles, labels, legend, grid, color, style.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20"/>
          <p:cNvSpPr/>
          <p:nvPr/>
        </p:nvSpPr>
        <p:spPr>
          <a:xfrm>
            <a:off x="8732520" y="1828800"/>
            <a:ext cx="180720" cy="301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5755A7"/>
                </a:solidFill>
                <a:effectLst/>
                <a:uFillTx/>
                <a:latin typeface="Calibri"/>
              </a:rPr>
              <a:t>→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21"/>
          <p:cNvSpPr/>
          <p:nvPr/>
        </p:nvSpPr>
        <p:spPr>
          <a:xfrm>
            <a:off x="8846280" y="1828800"/>
            <a:ext cx="2661480" cy="4112280"/>
          </a:xfrm>
          <a:prstGeom prst="roundRect">
            <a:avLst>
              <a:gd name="adj" fmla="val 4211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22"/>
          <p:cNvSpPr/>
          <p:nvPr/>
        </p:nvSpPr>
        <p:spPr>
          <a:xfrm>
            <a:off x="9098280" y="2011680"/>
            <a:ext cx="91224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23"/>
          <p:cNvSpPr/>
          <p:nvPr/>
        </p:nvSpPr>
        <p:spPr>
          <a:xfrm>
            <a:off x="9098280" y="2697480"/>
            <a:ext cx="223812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Show / Save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24"/>
          <p:cNvSpPr/>
          <p:nvPr/>
        </p:nvSpPr>
        <p:spPr>
          <a:xfrm>
            <a:off x="9063720" y="3431880"/>
            <a:ext cx="2238120" cy="155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plt.show() to view, plt.savefig() to export.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30"/>
          <p:cNvSpPr/>
          <p:nvPr/>
        </p:nvSpPr>
        <p:spPr>
          <a:xfrm>
            <a:off x="11505960" y="6473880"/>
            <a:ext cx="5007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 0"/>
          <p:cNvSpPr/>
          <p:nvPr/>
        </p:nvSpPr>
        <p:spPr>
          <a:xfrm>
            <a:off x="548640" y="384120"/>
            <a:ext cx="959904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01 · INTRODUCTION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"/>
          <p:cNvSpPr/>
          <p:nvPr/>
        </p:nvSpPr>
        <p:spPr>
          <a:xfrm>
            <a:off x="548640" y="658440"/>
            <a:ext cx="10240920" cy="68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Importing Pyplot &amp; Your First Plot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2"/>
          <p:cNvSpPr/>
          <p:nvPr/>
        </p:nvSpPr>
        <p:spPr>
          <a:xfrm>
            <a:off x="11323080" y="384120"/>
            <a:ext cx="381960" cy="381960"/>
          </a:xfrm>
          <a:prstGeom prst="roundRect">
            <a:avLst>
              <a:gd name="adj" fmla="val 28000"/>
            </a:avLst>
          </a:prstGeom>
          <a:solidFill>
            <a:srgbClr val="5755A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3"/>
          <p:cNvSpPr/>
          <p:nvPr/>
        </p:nvSpPr>
        <p:spPr>
          <a:xfrm>
            <a:off x="11445840" y="506880"/>
            <a:ext cx="258840" cy="258840"/>
          </a:xfrm>
          <a:prstGeom prst="roundRect">
            <a:avLst>
              <a:gd name="adj" fmla="val 26471"/>
            </a:avLst>
          </a:prstGeom>
          <a:solidFill>
            <a:srgbClr val="FCF8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4"/>
          <p:cNvSpPr/>
          <p:nvPr/>
        </p:nvSpPr>
        <p:spPr>
          <a:xfrm>
            <a:off x="11514960" y="576000"/>
            <a:ext cx="128520" cy="128520"/>
          </a:xfrm>
          <a:prstGeom prst="roundRect">
            <a:avLst>
              <a:gd name="adj" fmla="val 26471"/>
            </a:avLst>
          </a:prstGeom>
          <a:solidFill>
            <a:srgbClr val="38675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440" tIns="45000" rIns="644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5"/>
          <p:cNvSpPr/>
          <p:nvPr/>
        </p:nvSpPr>
        <p:spPr>
          <a:xfrm>
            <a:off x="457200" y="6473880"/>
            <a:ext cx="6855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Matplotlib: Data Visualization with Python  ·  GCN Course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6"/>
          <p:cNvSpPr/>
          <p:nvPr/>
        </p:nvSpPr>
        <p:spPr>
          <a:xfrm>
            <a:off x="11505960" y="6473880"/>
            <a:ext cx="5007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Rounded Rectangle 363"/>
          <p:cNvSpPr/>
          <p:nvPr/>
        </p:nvSpPr>
        <p:spPr>
          <a:xfrm>
            <a:off x="548640" y="1463040"/>
            <a:ext cx="5714640" cy="4937400"/>
          </a:xfrm>
          <a:prstGeom prst="roundRect">
            <a:avLst>
              <a:gd name="adj" fmla="val 3000"/>
            </a:avLst>
          </a:prstGeom>
          <a:solidFill>
            <a:srgbClr val="0E142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Oval 364"/>
          <p:cNvSpPr/>
          <p:nvPr/>
        </p:nvSpPr>
        <p:spPr>
          <a:xfrm>
            <a:off x="713160" y="1609200"/>
            <a:ext cx="100080" cy="10008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Oval 365"/>
          <p:cNvSpPr/>
          <p:nvPr/>
        </p:nvSpPr>
        <p:spPr>
          <a:xfrm>
            <a:off x="914400" y="1609200"/>
            <a:ext cx="100080" cy="100080"/>
          </a:xfrm>
          <a:prstGeom prst="ellipse">
            <a:avLst/>
          </a:prstGeom>
          <a:solidFill>
            <a:srgbClr val="F9C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Oval 366"/>
          <p:cNvSpPr/>
          <p:nvPr/>
        </p:nvSpPr>
        <p:spPr>
          <a:xfrm>
            <a:off x="1115640" y="1609200"/>
            <a:ext cx="100080" cy="10008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TextBox 367"/>
          <p:cNvSpPr/>
          <p:nvPr/>
        </p:nvSpPr>
        <p:spPr>
          <a:xfrm>
            <a:off x="685800" y="1828800"/>
            <a:ext cx="5440320" cy="448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080" tIns="0" rIns="6408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import matplotlib.pyplot as plt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x = [1, 2, 3, 4, 5]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y = [16, 40, 26, 50, 45]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plt.plot(x, y)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plt.show()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Rounded Rectangle 368"/>
          <p:cNvSpPr/>
          <p:nvPr/>
        </p:nvSpPr>
        <p:spPr>
          <a:xfrm>
            <a:off x="6446520" y="1463040"/>
            <a:ext cx="5211720" cy="228564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C8C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1" name="Picture 369" descr="first.png"/>
          <p:cNvPicPr/>
          <p:nvPr/>
        </p:nvPicPr>
        <p:blipFill>
          <a:blip r:embed="rId1"/>
          <a:stretch/>
        </p:blipFill>
        <p:spPr>
          <a:xfrm>
            <a:off x="6583680" y="1577520"/>
            <a:ext cx="4937400" cy="205704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02" name="Table 370"/>
          <p:cNvGraphicFramePr/>
          <p:nvPr/>
        </p:nvGraphicFramePr>
        <p:xfrm>
          <a:off x="6446520" y="3886200"/>
          <a:ext cx="5211720" cy="2369520"/>
        </p:xfrm>
        <a:graphic>
          <a:graphicData uri="http://schemas.openxmlformats.org/drawingml/2006/table">
            <a:tbl>
              <a:tblPr/>
              <a:tblGrid>
                <a:gridCol w="2148840"/>
                <a:gridCol w="3063240"/>
              </a:tblGrid>
              <a:tr h="39492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Parameter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Meaning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</a:tr>
              <a:tr h="39492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import matplotlib.pyplot as plt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Loads Pyplot under the short name plt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492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x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Values plotted on the X-axis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</a:tr>
              <a:tr h="39492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y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Values plotted on the Y-axis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492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plt.plot(x, y)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Draws a line through the (x, y) points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</a:tr>
              <a:tr h="39492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plt.show()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Displays the figure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 0"/>
          <p:cNvSpPr/>
          <p:nvPr/>
        </p:nvSpPr>
        <p:spPr>
          <a:xfrm>
            <a:off x="548640" y="384120"/>
            <a:ext cx="959904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01 · INTRODUCTION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"/>
          <p:cNvSpPr/>
          <p:nvPr/>
        </p:nvSpPr>
        <p:spPr>
          <a:xfrm>
            <a:off x="548640" y="658440"/>
            <a:ext cx="10240920" cy="68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Weekly Sales vs Expenses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2"/>
          <p:cNvSpPr/>
          <p:nvPr/>
        </p:nvSpPr>
        <p:spPr>
          <a:xfrm>
            <a:off x="11323080" y="384120"/>
            <a:ext cx="381960" cy="381960"/>
          </a:xfrm>
          <a:prstGeom prst="roundRect">
            <a:avLst>
              <a:gd name="adj" fmla="val 28000"/>
            </a:avLst>
          </a:prstGeom>
          <a:solidFill>
            <a:srgbClr val="5755A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3"/>
          <p:cNvSpPr/>
          <p:nvPr/>
        </p:nvSpPr>
        <p:spPr>
          <a:xfrm>
            <a:off x="11445840" y="506880"/>
            <a:ext cx="258840" cy="258840"/>
          </a:xfrm>
          <a:prstGeom prst="roundRect">
            <a:avLst>
              <a:gd name="adj" fmla="val 26471"/>
            </a:avLst>
          </a:prstGeom>
          <a:solidFill>
            <a:srgbClr val="FCF8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4"/>
          <p:cNvSpPr/>
          <p:nvPr/>
        </p:nvSpPr>
        <p:spPr>
          <a:xfrm>
            <a:off x="11514960" y="576000"/>
            <a:ext cx="128520" cy="128520"/>
          </a:xfrm>
          <a:prstGeom prst="roundRect">
            <a:avLst>
              <a:gd name="adj" fmla="val 26471"/>
            </a:avLst>
          </a:prstGeom>
          <a:solidFill>
            <a:srgbClr val="38675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440" tIns="45000" rIns="644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5"/>
          <p:cNvSpPr/>
          <p:nvPr/>
        </p:nvSpPr>
        <p:spPr>
          <a:xfrm>
            <a:off x="457200" y="6473880"/>
            <a:ext cx="6855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Matplotlib: Data Visualization with Python  ·  GCN Course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6"/>
          <p:cNvSpPr/>
          <p:nvPr/>
        </p:nvSpPr>
        <p:spPr>
          <a:xfrm>
            <a:off x="11505960" y="6473880"/>
            <a:ext cx="5007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Rounded Rectangle 363"/>
          <p:cNvSpPr/>
          <p:nvPr/>
        </p:nvSpPr>
        <p:spPr>
          <a:xfrm>
            <a:off x="548640" y="1463040"/>
            <a:ext cx="5714640" cy="4937400"/>
          </a:xfrm>
          <a:prstGeom prst="roundRect">
            <a:avLst>
              <a:gd name="adj" fmla="val 3000"/>
            </a:avLst>
          </a:prstGeom>
          <a:solidFill>
            <a:srgbClr val="0E142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Oval 364"/>
          <p:cNvSpPr/>
          <p:nvPr/>
        </p:nvSpPr>
        <p:spPr>
          <a:xfrm>
            <a:off x="713160" y="1609200"/>
            <a:ext cx="100080" cy="10008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Oval 365"/>
          <p:cNvSpPr/>
          <p:nvPr/>
        </p:nvSpPr>
        <p:spPr>
          <a:xfrm>
            <a:off x="914400" y="1609200"/>
            <a:ext cx="100080" cy="100080"/>
          </a:xfrm>
          <a:prstGeom prst="ellipse">
            <a:avLst/>
          </a:prstGeom>
          <a:solidFill>
            <a:srgbClr val="F9C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Oval 366"/>
          <p:cNvSpPr/>
          <p:nvPr/>
        </p:nvSpPr>
        <p:spPr>
          <a:xfrm>
            <a:off x="1115640" y="1609200"/>
            <a:ext cx="100080" cy="10008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TextBox 367"/>
          <p:cNvSpPr/>
          <p:nvPr/>
        </p:nvSpPr>
        <p:spPr>
          <a:xfrm>
            <a:off x="685800" y="1828800"/>
            <a:ext cx="5440320" cy="448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080" tIns="0" rIns="6408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days = ["Monday", "Tuesday", "Wednesday", "Thursday", "Friday"]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sales = [120, 150, 100, 180, 160]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expenses = [80, 100, 90, 120, 110]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plt.plot(days, sales, label="Sales")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plt.plot(days, expenses, label="Expenses")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plt.title("Weekly Sales vs Expenses")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plt.xlabel("Weekdays")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plt.ylabel("Amount")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plt.legend()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plt.show()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Rounded Rectangle 368"/>
          <p:cNvSpPr/>
          <p:nvPr/>
        </p:nvSpPr>
        <p:spPr>
          <a:xfrm>
            <a:off x="6446520" y="1463040"/>
            <a:ext cx="5211720" cy="228564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C8C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16" name="Table 370"/>
          <p:cNvGraphicFramePr/>
          <p:nvPr/>
        </p:nvGraphicFramePr>
        <p:xfrm>
          <a:off x="6446520" y="3886200"/>
          <a:ext cx="5211720" cy="2221560"/>
        </p:xfrm>
        <a:graphic>
          <a:graphicData uri="http://schemas.openxmlformats.org/drawingml/2006/table">
            <a:tbl>
              <a:tblPr/>
              <a:tblGrid>
                <a:gridCol w="2148840"/>
                <a:gridCol w="3063240"/>
              </a:tblGrid>
              <a:tr h="2466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Parameter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Meaning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</a:tr>
              <a:tr h="2466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days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Category names on the X-axis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6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sales, expenses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Y-values of the two lines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</a:tr>
              <a:tr h="2466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label="Sales"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Name of the line in the legend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6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plt.title("...")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Heading of the chart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</a:tr>
              <a:tr h="2466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plt.xlabel("...")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Text describing the X-axis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6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plt.ylabel("...")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Text describing the Y-axis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</a:tr>
              <a:tr h="2466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plt.legend()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Shows the legend built from the labels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6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plt.show()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Displays the figure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</a:tr>
            </a:tbl>
          </a:graphicData>
        </a:graphic>
      </p:graphicFrame>
      <p:pic>
        <p:nvPicPr>
          <p:cNvPr id="117" name="Picture 1"/>
          <p:cNvPicPr/>
          <p:nvPr/>
        </p:nvPicPr>
        <p:blipFill>
          <a:blip r:embed="rId1"/>
          <a:stretch/>
        </p:blipFill>
        <p:spPr>
          <a:xfrm>
            <a:off x="6713280" y="1654560"/>
            <a:ext cx="4791960" cy="2082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0"/>
          <p:cNvSpPr/>
          <p:nvPr/>
        </p:nvSpPr>
        <p:spPr>
          <a:xfrm>
            <a:off x="9692640" y="-1463040"/>
            <a:ext cx="3838320" cy="3838320"/>
          </a:xfrm>
          <a:prstGeom prst="ellipse">
            <a:avLst/>
          </a:prstGeom>
          <a:solidFill>
            <a:srgbClr val="26275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1"/>
          <p:cNvSpPr/>
          <p:nvPr/>
        </p:nvSpPr>
        <p:spPr>
          <a:xfrm>
            <a:off x="-1280160" y="4754880"/>
            <a:ext cx="3106800" cy="3106800"/>
          </a:xfrm>
          <a:prstGeom prst="ellipse">
            <a:avLst/>
          </a:prstGeom>
          <a:solidFill>
            <a:srgbClr val="11362E">
              <a:alpha val="5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2"/>
          <p:cNvSpPr/>
          <p:nvPr/>
        </p:nvSpPr>
        <p:spPr>
          <a:xfrm>
            <a:off x="640080" y="548640"/>
            <a:ext cx="455040" cy="455040"/>
          </a:xfrm>
          <a:prstGeom prst="roundRect">
            <a:avLst>
              <a:gd name="adj" fmla="val 28000"/>
            </a:avLst>
          </a:prstGeom>
          <a:solidFill>
            <a:srgbClr val="818C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3"/>
          <p:cNvSpPr/>
          <p:nvPr/>
        </p:nvSpPr>
        <p:spPr>
          <a:xfrm>
            <a:off x="786240" y="694800"/>
            <a:ext cx="308880" cy="308880"/>
          </a:xfrm>
          <a:prstGeom prst="roundRect">
            <a:avLst>
              <a:gd name="adj" fmla="val 26471"/>
            </a:avLst>
          </a:prstGeom>
          <a:solidFill>
            <a:srgbClr val="0B0F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4"/>
          <p:cNvSpPr/>
          <p:nvPr/>
        </p:nvSpPr>
        <p:spPr>
          <a:xfrm>
            <a:off x="868680" y="777240"/>
            <a:ext cx="153360" cy="153360"/>
          </a:xfrm>
          <a:prstGeom prst="roundRect">
            <a:avLst>
              <a:gd name="adj" fmla="val 26471"/>
            </a:avLst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680" tIns="45000" rIns="7668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5"/>
          <p:cNvSpPr/>
          <p:nvPr/>
        </p:nvSpPr>
        <p:spPr>
          <a:xfrm>
            <a:off x="640080" y="2331720"/>
            <a:ext cx="91418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300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02 · FOUNDATIONS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6"/>
          <p:cNvSpPr/>
          <p:nvPr/>
        </p:nvSpPr>
        <p:spPr>
          <a:xfrm>
            <a:off x="640080" y="2743200"/>
            <a:ext cx="10330560" cy="136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pc="-51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Essential Terminology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7"/>
          <p:cNvSpPr/>
          <p:nvPr/>
        </p:nvSpPr>
        <p:spPr>
          <a:xfrm>
            <a:off x="640080" y="3931920"/>
            <a:ext cx="9690480" cy="72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The shared vocabulary we'll use for the rest of this talk.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8"/>
          <p:cNvSpPr/>
          <p:nvPr/>
        </p:nvSpPr>
        <p:spPr>
          <a:xfrm>
            <a:off x="11505960" y="6473880"/>
            <a:ext cx="5007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07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 0"/>
          <p:cNvSpPr/>
          <p:nvPr/>
        </p:nvSpPr>
        <p:spPr>
          <a:xfrm>
            <a:off x="548640" y="384120"/>
            <a:ext cx="959904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02 · TERMINOLOGY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"/>
          <p:cNvSpPr/>
          <p:nvPr/>
        </p:nvSpPr>
        <p:spPr>
          <a:xfrm>
            <a:off x="480240" y="669960"/>
            <a:ext cx="4734360" cy="67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Describing &amp; Labeling a Plot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2"/>
          <p:cNvSpPr/>
          <p:nvPr/>
        </p:nvSpPr>
        <p:spPr>
          <a:xfrm>
            <a:off x="11323080" y="384120"/>
            <a:ext cx="381960" cy="381960"/>
          </a:xfrm>
          <a:prstGeom prst="roundRect">
            <a:avLst>
              <a:gd name="adj" fmla="val 28000"/>
            </a:avLst>
          </a:prstGeom>
          <a:solidFill>
            <a:srgbClr val="5755A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3"/>
          <p:cNvSpPr/>
          <p:nvPr/>
        </p:nvSpPr>
        <p:spPr>
          <a:xfrm>
            <a:off x="11445840" y="506880"/>
            <a:ext cx="258840" cy="258840"/>
          </a:xfrm>
          <a:prstGeom prst="roundRect">
            <a:avLst>
              <a:gd name="adj" fmla="val 26471"/>
            </a:avLst>
          </a:prstGeom>
          <a:solidFill>
            <a:srgbClr val="FCF8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4"/>
          <p:cNvSpPr/>
          <p:nvPr/>
        </p:nvSpPr>
        <p:spPr>
          <a:xfrm>
            <a:off x="11514960" y="576000"/>
            <a:ext cx="128520" cy="128520"/>
          </a:xfrm>
          <a:prstGeom prst="roundRect">
            <a:avLst>
              <a:gd name="adj" fmla="val 26471"/>
            </a:avLst>
          </a:prstGeom>
          <a:solidFill>
            <a:srgbClr val="38675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440" tIns="45000" rIns="644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5"/>
          <p:cNvSpPr/>
          <p:nvPr/>
        </p:nvSpPr>
        <p:spPr>
          <a:xfrm>
            <a:off x="457200" y="6473880"/>
            <a:ext cx="6855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Matplotlib: Data Visualization with Python  ·  GCN Course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6"/>
          <p:cNvSpPr/>
          <p:nvPr/>
        </p:nvSpPr>
        <p:spPr>
          <a:xfrm>
            <a:off x="548640" y="1600200"/>
            <a:ext cx="2665440" cy="202788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7"/>
          <p:cNvSpPr/>
          <p:nvPr/>
        </p:nvSpPr>
        <p:spPr>
          <a:xfrm>
            <a:off x="685800" y="1728360"/>
            <a:ext cx="308880" cy="30888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8"/>
          <p:cNvSpPr/>
          <p:nvPr/>
        </p:nvSpPr>
        <p:spPr>
          <a:xfrm>
            <a:off x="685800" y="1728360"/>
            <a:ext cx="30888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9"/>
          <p:cNvSpPr/>
          <p:nvPr/>
        </p:nvSpPr>
        <p:spPr>
          <a:xfrm>
            <a:off x="1088280" y="1691640"/>
            <a:ext cx="1989000" cy="40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Plot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0"/>
          <p:cNvSpPr/>
          <p:nvPr/>
        </p:nvSpPr>
        <p:spPr>
          <a:xfrm>
            <a:off x="685800" y="2094120"/>
            <a:ext cx="2391120" cy="140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A visual representation of data: a line, bar, scatter, etc.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11"/>
          <p:cNvSpPr/>
          <p:nvPr/>
        </p:nvSpPr>
        <p:spPr>
          <a:xfrm>
            <a:off x="3362760" y="1600200"/>
            <a:ext cx="2665440" cy="202788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12"/>
          <p:cNvSpPr/>
          <p:nvPr/>
        </p:nvSpPr>
        <p:spPr>
          <a:xfrm>
            <a:off x="3499920" y="1728360"/>
            <a:ext cx="308880" cy="30888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3"/>
          <p:cNvSpPr/>
          <p:nvPr/>
        </p:nvSpPr>
        <p:spPr>
          <a:xfrm>
            <a:off x="3499920" y="1728360"/>
            <a:ext cx="30888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4"/>
          <p:cNvSpPr/>
          <p:nvPr/>
        </p:nvSpPr>
        <p:spPr>
          <a:xfrm>
            <a:off x="3902040" y="1691640"/>
            <a:ext cx="1989000" cy="40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B1B20"/>
                </a:solidFill>
                <a:effectLst/>
                <a:uFillTx/>
                <a:latin typeface="Bricolage Grotesque"/>
              </a:rPr>
              <a:t>Marker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5"/>
          <p:cNvSpPr/>
          <p:nvPr/>
        </p:nvSpPr>
        <p:spPr>
          <a:xfrm>
            <a:off x="3499920" y="2094120"/>
            <a:ext cx="2391120" cy="140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The symbol at each data point: circle, triangle, x.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16"/>
          <p:cNvSpPr/>
          <p:nvPr/>
        </p:nvSpPr>
        <p:spPr>
          <a:xfrm>
            <a:off x="6176880" y="1600200"/>
            <a:ext cx="2665440" cy="202788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17"/>
          <p:cNvSpPr/>
          <p:nvPr/>
        </p:nvSpPr>
        <p:spPr>
          <a:xfrm>
            <a:off x="6314040" y="1728360"/>
            <a:ext cx="308880" cy="30888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8"/>
          <p:cNvSpPr/>
          <p:nvPr/>
        </p:nvSpPr>
        <p:spPr>
          <a:xfrm>
            <a:off x="6314040" y="1728360"/>
            <a:ext cx="30888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9"/>
          <p:cNvSpPr/>
          <p:nvPr/>
        </p:nvSpPr>
        <p:spPr>
          <a:xfrm>
            <a:off x="6716160" y="1691640"/>
            <a:ext cx="1989000" cy="40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Line Style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20"/>
          <p:cNvSpPr/>
          <p:nvPr/>
        </p:nvSpPr>
        <p:spPr>
          <a:xfrm>
            <a:off x="6314040" y="2094120"/>
            <a:ext cx="2391120" cy="140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How a line looks: solid, dashed, dotted.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21"/>
          <p:cNvSpPr/>
          <p:nvPr/>
        </p:nvSpPr>
        <p:spPr>
          <a:xfrm>
            <a:off x="8991000" y="1600200"/>
            <a:ext cx="2665440" cy="202788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22"/>
          <p:cNvSpPr/>
          <p:nvPr/>
        </p:nvSpPr>
        <p:spPr>
          <a:xfrm>
            <a:off x="9128160" y="1728360"/>
            <a:ext cx="308880" cy="30888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23"/>
          <p:cNvSpPr/>
          <p:nvPr/>
        </p:nvSpPr>
        <p:spPr>
          <a:xfrm>
            <a:off x="9128160" y="1728360"/>
            <a:ext cx="30888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24"/>
          <p:cNvSpPr/>
          <p:nvPr/>
        </p:nvSpPr>
        <p:spPr>
          <a:xfrm>
            <a:off x="9530280" y="1691640"/>
            <a:ext cx="1989000" cy="40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B1B20"/>
                </a:solidFill>
                <a:effectLst/>
                <a:uFillTx/>
                <a:latin typeface="Bricolage Grotesque"/>
              </a:rPr>
              <a:t>Color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25"/>
          <p:cNvSpPr/>
          <p:nvPr/>
        </p:nvSpPr>
        <p:spPr>
          <a:xfrm>
            <a:off x="9128160" y="2094120"/>
            <a:ext cx="2391120" cy="140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The visual color of a line, bar, or marker.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26"/>
          <p:cNvSpPr/>
          <p:nvPr/>
        </p:nvSpPr>
        <p:spPr>
          <a:xfrm>
            <a:off x="548640" y="3776400"/>
            <a:ext cx="2665440" cy="202788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27"/>
          <p:cNvSpPr/>
          <p:nvPr/>
        </p:nvSpPr>
        <p:spPr>
          <a:xfrm>
            <a:off x="685800" y="3904560"/>
            <a:ext cx="308880" cy="30888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28"/>
          <p:cNvSpPr/>
          <p:nvPr/>
        </p:nvSpPr>
        <p:spPr>
          <a:xfrm>
            <a:off x="685800" y="3904560"/>
            <a:ext cx="30888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29"/>
          <p:cNvSpPr/>
          <p:nvPr/>
        </p:nvSpPr>
        <p:spPr>
          <a:xfrm>
            <a:off x="1088280" y="3867840"/>
            <a:ext cx="1989000" cy="40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Label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30"/>
          <p:cNvSpPr/>
          <p:nvPr/>
        </p:nvSpPr>
        <p:spPr>
          <a:xfrm>
            <a:off x="685800" y="4270320"/>
            <a:ext cx="2391120" cy="140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Text describing a data series, axis, or point.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31"/>
          <p:cNvSpPr/>
          <p:nvPr/>
        </p:nvSpPr>
        <p:spPr>
          <a:xfrm>
            <a:off x="3362760" y="3776400"/>
            <a:ext cx="2665440" cy="202788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32"/>
          <p:cNvSpPr/>
          <p:nvPr/>
        </p:nvSpPr>
        <p:spPr>
          <a:xfrm>
            <a:off x="3499920" y="3904560"/>
            <a:ext cx="308880" cy="30888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33"/>
          <p:cNvSpPr/>
          <p:nvPr/>
        </p:nvSpPr>
        <p:spPr>
          <a:xfrm>
            <a:off x="3499920" y="3904560"/>
            <a:ext cx="30888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34"/>
          <p:cNvSpPr/>
          <p:nvPr/>
        </p:nvSpPr>
        <p:spPr>
          <a:xfrm>
            <a:off x="3902040" y="3867840"/>
            <a:ext cx="1989000" cy="40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Title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35"/>
          <p:cNvSpPr/>
          <p:nvPr/>
        </p:nvSpPr>
        <p:spPr>
          <a:xfrm>
            <a:off x="3499920" y="4270320"/>
            <a:ext cx="2391120" cy="140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The heading text that names the chart.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36"/>
          <p:cNvSpPr/>
          <p:nvPr/>
        </p:nvSpPr>
        <p:spPr>
          <a:xfrm>
            <a:off x="6176880" y="3776400"/>
            <a:ext cx="2665440" cy="202788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37"/>
          <p:cNvSpPr/>
          <p:nvPr/>
        </p:nvSpPr>
        <p:spPr>
          <a:xfrm>
            <a:off x="6314040" y="3904560"/>
            <a:ext cx="308880" cy="30888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38"/>
          <p:cNvSpPr/>
          <p:nvPr/>
        </p:nvSpPr>
        <p:spPr>
          <a:xfrm>
            <a:off x="6314040" y="3904560"/>
            <a:ext cx="30888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7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39"/>
          <p:cNvSpPr/>
          <p:nvPr/>
        </p:nvSpPr>
        <p:spPr>
          <a:xfrm>
            <a:off x="6716160" y="3867840"/>
            <a:ext cx="1989000" cy="40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Legend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40"/>
          <p:cNvSpPr/>
          <p:nvPr/>
        </p:nvSpPr>
        <p:spPr>
          <a:xfrm>
            <a:off x="6314040" y="4270320"/>
            <a:ext cx="2391120" cy="140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A key mapping colors/markers to what they represent.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41"/>
          <p:cNvSpPr/>
          <p:nvPr/>
        </p:nvSpPr>
        <p:spPr>
          <a:xfrm>
            <a:off x="8991000" y="3776400"/>
            <a:ext cx="2665440" cy="202788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42"/>
          <p:cNvSpPr/>
          <p:nvPr/>
        </p:nvSpPr>
        <p:spPr>
          <a:xfrm>
            <a:off x="9128160" y="3904560"/>
            <a:ext cx="308880" cy="30888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43"/>
          <p:cNvSpPr/>
          <p:nvPr/>
        </p:nvSpPr>
        <p:spPr>
          <a:xfrm>
            <a:off x="9128160" y="3904560"/>
            <a:ext cx="308880" cy="30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8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44"/>
          <p:cNvSpPr/>
          <p:nvPr/>
        </p:nvSpPr>
        <p:spPr>
          <a:xfrm>
            <a:off x="9530280" y="3867840"/>
            <a:ext cx="1989000" cy="40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Grid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45"/>
          <p:cNvSpPr/>
          <p:nvPr/>
        </p:nvSpPr>
        <p:spPr>
          <a:xfrm>
            <a:off x="9128160" y="4270320"/>
            <a:ext cx="2391120" cy="140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Light background lines that help read values.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46"/>
          <p:cNvSpPr/>
          <p:nvPr/>
        </p:nvSpPr>
        <p:spPr>
          <a:xfrm>
            <a:off x="11505960" y="6473880"/>
            <a:ext cx="5007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ext 0"/>
          <p:cNvSpPr/>
          <p:nvPr/>
        </p:nvSpPr>
        <p:spPr>
          <a:xfrm>
            <a:off x="548640" y="384120"/>
            <a:ext cx="959904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02 · TERMINOLOGY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"/>
          <p:cNvSpPr/>
          <p:nvPr/>
        </p:nvSpPr>
        <p:spPr>
          <a:xfrm>
            <a:off x="548640" y="658440"/>
            <a:ext cx="10239120" cy="68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Figure vs. Axes — Visualized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2"/>
          <p:cNvSpPr/>
          <p:nvPr/>
        </p:nvSpPr>
        <p:spPr>
          <a:xfrm>
            <a:off x="11323080" y="384120"/>
            <a:ext cx="381960" cy="381960"/>
          </a:xfrm>
          <a:prstGeom prst="roundRect">
            <a:avLst>
              <a:gd name="adj" fmla="val 28000"/>
            </a:avLst>
          </a:prstGeom>
          <a:solidFill>
            <a:srgbClr val="5755A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3"/>
          <p:cNvSpPr/>
          <p:nvPr/>
        </p:nvSpPr>
        <p:spPr>
          <a:xfrm>
            <a:off x="11445840" y="506880"/>
            <a:ext cx="258840" cy="258840"/>
          </a:xfrm>
          <a:prstGeom prst="roundRect">
            <a:avLst>
              <a:gd name="adj" fmla="val 26471"/>
            </a:avLst>
          </a:prstGeom>
          <a:solidFill>
            <a:srgbClr val="FCF8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4"/>
          <p:cNvSpPr/>
          <p:nvPr/>
        </p:nvSpPr>
        <p:spPr>
          <a:xfrm>
            <a:off x="11514960" y="576000"/>
            <a:ext cx="128520" cy="128520"/>
          </a:xfrm>
          <a:prstGeom prst="roundRect">
            <a:avLst>
              <a:gd name="adj" fmla="val 26471"/>
            </a:avLst>
          </a:prstGeom>
          <a:solidFill>
            <a:srgbClr val="38675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440" tIns="45000" rIns="644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5"/>
          <p:cNvSpPr/>
          <p:nvPr/>
        </p:nvSpPr>
        <p:spPr>
          <a:xfrm>
            <a:off x="457200" y="6473880"/>
            <a:ext cx="6855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Matplotlib: Data Visualization with Python  ·  GCN Course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6"/>
          <p:cNvSpPr/>
          <p:nvPr/>
        </p:nvSpPr>
        <p:spPr>
          <a:xfrm>
            <a:off x="822960" y="1645920"/>
            <a:ext cx="5758560" cy="4204080"/>
          </a:xfrm>
          <a:prstGeom prst="roundRect">
            <a:avLst>
              <a:gd name="adj" fmla="val 3043"/>
            </a:avLst>
          </a:prstGeom>
          <a:solidFill>
            <a:srgbClr val="F0ECF4"/>
          </a:solidFill>
          <a:ln w="19050">
            <a:solidFill>
              <a:srgbClr val="5755A7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7"/>
          <p:cNvSpPr/>
          <p:nvPr/>
        </p:nvSpPr>
        <p:spPr>
          <a:xfrm>
            <a:off x="1005840" y="1755720"/>
            <a:ext cx="182664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5755A7"/>
                </a:solidFill>
                <a:effectLst/>
                <a:uFillTx/>
                <a:latin typeface="Bricolage Grotesque"/>
                <a:ea typeface="Bricolage Grotesque"/>
              </a:rPr>
              <a:t>Figure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8"/>
          <p:cNvSpPr/>
          <p:nvPr/>
        </p:nvSpPr>
        <p:spPr>
          <a:xfrm>
            <a:off x="1280160" y="2286000"/>
            <a:ext cx="4844160" cy="319824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9"/>
          <p:cNvSpPr/>
          <p:nvPr/>
        </p:nvSpPr>
        <p:spPr>
          <a:xfrm>
            <a:off x="1417320" y="2359080"/>
            <a:ext cx="18266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BE185D"/>
                </a:solidFill>
                <a:effectLst/>
                <a:uFillTx/>
                <a:latin typeface="Bricolage Grotesque"/>
                <a:ea typeface="Bricolage Grotesque"/>
              </a:rPr>
              <a:t>Axes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10"/>
          <p:cNvSpPr/>
          <p:nvPr/>
        </p:nvSpPr>
        <p:spPr>
          <a:xfrm>
            <a:off x="1645920" y="5029200"/>
            <a:ext cx="4114800" cy="360"/>
          </a:xfrm>
          <a:prstGeom prst="line">
            <a:avLst/>
          </a:prstGeom>
          <a:ln w="1905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11"/>
          <p:cNvSpPr/>
          <p:nvPr/>
        </p:nvSpPr>
        <p:spPr>
          <a:xfrm>
            <a:off x="1645920" y="2743200"/>
            <a:ext cx="360" cy="2286000"/>
          </a:xfrm>
          <a:prstGeom prst="line">
            <a:avLst/>
          </a:prstGeom>
          <a:ln w="19050">
            <a:solidFill>
              <a:srgbClr val="47465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2"/>
          <p:cNvSpPr/>
          <p:nvPr/>
        </p:nvSpPr>
        <p:spPr>
          <a:xfrm>
            <a:off x="5120640" y="5102280"/>
            <a:ext cx="9122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X-axis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3"/>
          <p:cNvSpPr/>
          <p:nvPr/>
        </p:nvSpPr>
        <p:spPr>
          <a:xfrm>
            <a:off x="1371600" y="2743200"/>
            <a:ext cx="5464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Y-axis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8" name="Image 0" descr="/home/claude/uni/charts/subplots_two.png"/>
          <p:cNvPicPr/>
          <p:nvPr/>
        </p:nvPicPr>
        <p:blipFill>
          <a:blip r:embed="rId1"/>
          <a:stretch/>
        </p:blipFill>
        <p:spPr>
          <a:xfrm>
            <a:off x="2103120" y="3063240"/>
            <a:ext cx="3381120" cy="164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9" name="Text 14"/>
          <p:cNvSpPr/>
          <p:nvPr/>
        </p:nvSpPr>
        <p:spPr>
          <a:xfrm>
            <a:off x="6903720" y="1783080"/>
            <a:ext cx="4569840" cy="39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Figure is the whole canvas — the entire window or saved image file.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An Axes is one plot area living inside that Figure — it holds the X-axis, Y-axis, title, legend, and data.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One Figure can contain many Axes — that's exactly what Subplots are (coming up shortly).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Every plt.plot(), plt.title(), etc. call quietly targets "the current Axes" of "the current Figure."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5"/>
          <p:cNvSpPr/>
          <p:nvPr/>
        </p:nvSpPr>
        <p:spPr>
          <a:xfrm>
            <a:off x="11505960" y="6473880"/>
            <a:ext cx="5007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Shape 0"/>
          <p:cNvSpPr/>
          <p:nvPr/>
        </p:nvSpPr>
        <p:spPr>
          <a:xfrm>
            <a:off x="9692640" y="-1463040"/>
            <a:ext cx="3838320" cy="3838320"/>
          </a:xfrm>
          <a:prstGeom prst="ellipse">
            <a:avLst/>
          </a:prstGeom>
          <a:solidFill>
            <a:srgbClr val="26275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1"/>
          <p:cNvSpPr/>
          <p:nvPr/>
        </p:nvSpPr>
        <p:spPr>
          <a:xfrm>
            <a:off x="-1280160" y="4754880"/>
            <a:ext cx="3106800" cy="3106800"/>
          </a:xfrm>
          <a:prstGeom prst="ellipse">
            <a:avLst/>
          </a:prstGeom>
          <a:solidFill>
            <a:srgbClr val="11362E">
              <a:alpha val="5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2"/>
          <p:cNvSpPr/>
          <p:nvPr/>
        </p:nvSpPr>
        <p:spPr>
          <a:xfrm>
            <a:off x="640080" y="548640"/>
            <a:ext cx="455040" cy="455040"/>
          </a:xfrm>
          <a:prstGeom prst="roundRect">
            <a:avLst>
              <a:gd name="adj" fmla="val 28000"/>
            </a:avLst>
          </a:prstGeom>
          <a:solidFill>
            <a:srgbClr val="818C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3"/>
          <p:cNvSpPr/>
          <p:nvPr/>
        </p:nvSpPr>
        <p:spPr>
          <a:xfrm>
            <a:off x="786240" y="694800"/>
            <a:ext cx="308880" cy="308880"/>
          </a:xfrm>
          <a:prstGeom prst="roundRect">
            <a:avLst>
              <a:gd name="adj" fmla="val 26471"/>
            </a:avLst>
          </a:prstGeom>
          <a:solidFill>
            <a:srgbClr val="0B0F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4"/>
          <p:cNvSpPr/>
          <p:nvPr/>
        </p:nvSpPr>
        <p:spPr>
          <a:xfrm>
            <a:off x="868680" y="777240"/>
            <a:ext cx="153360" cy="153360"/>
          </a:xfrm>
          <a:prstGeom prst="roundRect">
            <a:avLst>
              <a:gd name="adj" fmla="val 26471"/>
            </a:avLst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680" tIns="45000" rIns="7668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5"/>
          <p:cNvSpPr/>
          <p:nvPr/>
        </p:nvSpPr>
        <p:spPr>
          <a:xfrm>
            <a:off x="640080" y="2331720"/>
            <a:ext cx="91418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300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03 · PYPLOT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6"/>
          <p:cNvSpPr/>
          <p:nvPr/>
        </p:nvSpPr>
        <p:spPr>
          <a:xfrm>
            <a:off x="640080" y="2743200"/>
            <a:ext cx="10330560" cy="136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pc="-51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Pyplot — The Core of Matplotlib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7"/>
          <p:cNvSpPr/>
          <p:nvPr/>
        </p:nvSpPr>
        <p:spPr>
          <a:xfrm>
            <a:off x="640080" y="3931920"/>
            <a:ext cx="9690480" cy="72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Line, bar, pie, histogram, and scatter plots — each with its syntax, parameters, and a code example.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8"/>
          <p:cNvSpPr/>
          <p:nvPr/>
        </p:nvSpPr>
        <p:spPr>
          <a:xfrm>
            <a:off x="11505960" y="6473880"/>
            <a:ext cx="5007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10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ext 0"/>
          <p:cNvSpPr/>
          <p:nvPr/>
        </p:nvSpPr>
        <p:spPr>
          <a:xfrm>
            <a:off x="548640" y="384120"/>
            <a:ext cx="959904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03 · PYPLOT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1"/>
          <p:cNvSpPr/>
          <p:nvPr/>
        </p:nvSpPr>
        <p:spPr>
          <a:xfrm>
            <a:off x="548640" y="658440"/>
            <a:ext cx="10240920" cy="68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Line Plot — plt.plot() Syntax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2"/>
          <p:cNvSpPr/>
          <p:nvPr/>
        </p:nvSpPr>
        <p:spPr>
          <a:xfrm>
            <a:off x="11323080" y="384120"/>
            <a:ext cx="381960" cy="381960"/>
          </a:xfrm>
          <a:prstGeom prst="roundRect">
            <a:avLst>
              <a:gd name="adj" fmla="val 28000"/>
            </a:avLst>
          </a:prstGeom>
          <a:solidFill>
            <a:srgbClr val="5755A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3"/>
          <p:cNvSpPr/>
          <p:nvPr/>
        </p:nvSpPr>
        <p:spPr>
          <a:xfrm>
            <a:off x="11445840" y="506880"/>
            <a:ext cx="258840" cy="258840"/>
          </a:xfrm>
          <a:prstGeom prst="roundRect">
            <a:avLst>
              <a:gd name="adj" fmla="val 26471"/>
            </a:avLst>
          </a:prstGeom>
          <a:solidFill>
            <a:srgbClr val="FCF8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4"/>
          <p:cNvSpPr/>
          <p:nvPr/>
        </p:nvSpPr>
        <p:spPr>
          <a:xfrm>
            <a:off x="11514960" y="576000"/>
            <a:ext cx="128520" cy="128520"/>
          </a:xfrm>
          <a:prstGeom prst="roundRect">
            <a:avLst>
              <a:gd name="adj" fmla="val 26471"/>
            </a:avLst>
          </a:prstGeom>
          <a:solidFill>
            <a:srgbClr val="38675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440" tIns="45000" rIns="644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5"/>
          <p:cNvSpPr/>
          <p:nvPr/>
        </p:nvSpPr>
        <p:spPr>
          <a:xfrm>
            <a:off x="457200" y="6473880"/>
            <a:ext cx="6855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Matplotlib: Data Visualization with Python  ·  GCN Course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6"/>
          <p:cNvSpPr/>
          <p:nvPr/>
        </p:nvSpPr>
        <p:spPr>
          <a:xfrm>
            <a:off x="11505960" y="6473880"/>
            <a:ext cx="5007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Rounded Rectangle 363"/>
          <p:cNvSpPr/>
          <p:nvPr/>
        </p:nvSpPr>
        <p:spPr>
          <a:xfrm>
            <a:off x="548640" y="1554480"/>
            <a:ext cx="5211720" cy="2788560"/>
          </a:xfrm>
          <a:prstGeom prst="roundRect">
            <a:avLst>
              <a:gd name="adj" fmla="val 3000"/>
            </a:avLst>
          </a:prstGeom>
          <a:solidFill>
            <a:srgbClr val="0E142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8" name="Oval 364"/>
          <p:cNvSpPr/>
          <p:nvPr/>
        </p:nvSpPr>
        <p:spPr>
          <a:xfrm>
            <a:off x="713160" y="1700640"/>
            <a:ext cx="100080" cy="10008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9" name="Oval 365"/>
          <p:cNvSpPr/>
          <p:nvPr/>
        </p:nvSpPr>
        <p:spPr>
          <a:xfrm>
            <a:off x="914400" y="1700640"/>
            <a:ext cx="100080" cy="100080"/>
          </a:xfrm>
          <a:prstGeom prst="ellipse">
            <a:avLst/>
          </a:prstGeom>
          <a:solidFill>
            <a:srgbClr val="F9C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0" name="Oval 366"/>
          <p:cNvSpPr/>
          <p:nvPr/>
        </p:nvSpPr>
        <p:spPr>
          <a:xfrm>
            <a:off x="1115640" y="1700640"/>
            <a:ext cx="100080" cy="10008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" name="TextBox 367"/>
          <p:cNvSpPr/>
          <p:nvPr/>
        </p:nvSpPr>
        <p:spPr>
          <a:xfrm>
            <a:off x="685800" y="1920240"/>
            <a:ext cx="4937400" cy="23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080" tIns="0" rIns="6408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plt.plot(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x,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y,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color="color_name",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linestyle="line_style",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linewidth=value,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marker="marker_style",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label="label_name"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12" name="Table 368"/>
          <p:cNvGraphicFramePr/>
          <p:nvPr/>
        </p:nvGraphicFramePr>
        <p:xfrm>
          <a:off x="5989320" y="1554480"/>
          <a:ext cx="5714640" cy="3657600"/>
        </p:xfrm>
        <a:graphic>
          <a:graphicData uri="http://schemas.openxmlformats.org/drawingml/2006/table">
            <a:tbl>
              <a:tblPr/>
              <a:tblGrid>
                <a:gridCol w="2423160"/>
                <a:gridCol w="3291840"/>
              </a:tblGrid>
              <a:tr h="4572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Parameter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Meaning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</a:tr>
              <a:tr h="4572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x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Data for the X-axis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y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Data for the Y-axis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</a:tr>
              <a:tr h="4572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color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Color of the line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linestyle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Line style: ":", "--" or "-."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</a:tr>
              <a:tr h="4572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linewidth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Thickness of the line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marker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Symbol at each point: "o", "x", "^"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</a:tr>
              <a:tr h="4572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label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Name used in the legend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Text 0"/>
          <p:cNvSpPr/>
          <p:nvPr/>
        </p:nvSpPr>
        <p:spPr>
          <a:xfrm>
            <a:off x="548640" y="384120"/>
            <a:ext cx="959904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03 · PYPLOT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1"/>
          <p:cNvSpPr/>
          <p:nvPr/>
        </p:nvSpPr>
        <p:spPr>
          <a:xfrm>
            <a:off x="548640" y="658440"/>
            <a:ext cx="10240920" cy="68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Line Plot — Full Example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2"/>
          <p:cNvSpPr/>
          <p:nvPr/>
        </p:nvSpPr>
        <p:spPr>
          <a:xfrm>
            <a:off x="11323080" y="384120"/>
            <a:ext cx="381960" cy="381960"/>
          </a:xfrm>
          <a:prstGeom prst="roundRect">
            <a:avLst>
              <a:gd name="adj" fmla="val 28000"/>
            </a:avLst>
          </a:prstGeom>
          <a:solidFill>
            <a:srgbClr val="5755A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3"/>
          <p:cNvSpPr/>
          <p:nvPr/>
        </p:nvSpPr>
        <p:spPr>
          <a:xfrm>
            <a:off x="11445840" y="506880"/>
            <a:ext cx="258840" cy="258840"/>
          </a:xfrm>
          <a:prstGeom prst="roundRect">
            <a:avLst>
              <a:gd name="adj" fmla="val 26471"/>
            </a:avLst>
          </a:prstGeom>
          <a:solidFill>
            <a:srgbClr val="FCF8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4"/>
          <p:cNvSpPr/>
          <p:nvPr/>
        </p:nvSpPr>
        <p:spPr>
          <a:xfrm>
            <a:off x="11514960" y="576000"/>
            <a:ext cx="128520" cy="128520"/>
          </a:xfrm>
          <a:prstGeom prst="roundRect">
            <a:avLst>
              <a:gd name="adj" fmla="val 26471"/>
            </a:avLst>
          </a:prstGeom>
          <a:solidFill>
            <a:srgbClr val="38675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440" tIns="45000" rIns="644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5"/>
          <p:cNvSpPr/>
          <p:nvPr/>
        </p:nvSpPr>
        <p:spPr>
          <a:xfrm>
            <a:off x="457200" y="6473880"/>
            <a:ext cx="6855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Matplotlib: Data Visualization with Python  ·  GCN Course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6"/>
          <p:cNvSpPr/>
          <p:nvPr/>
        </p:nvSpPr>
        <p:spPr>
          <a:xfrm>
            <a:off x="11505960" y="6473880"/>
            <a:ext cx="5007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Rounded Rectangle 363"/>
          <p:cNvSpPr/>
          <p:nvPr/>
        </p:nvSpPr>
        <p:spPr>
          <a:xfrm>
            <a:off x="548640" y="1463040"/>
            <a:ext cx="5714640" cy="4937400"/>
          </a:xfrm>
          <a:prstGeom prst="roundRect">
            <a:avLst>
              <a:gd name="adj" fmla="val 3000"/>
            </a:avLst>
          </a:prstGeom>
          <a:solidFill>
            <a:srgbClr val="0E142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1" name="Oval 364"/>
          <p:cNvSpPr/>
          <p:nvPr/>
        </p:nvSpPr>
        <p:spPr>
          <a:xfrm>
            <a:off x="713160" y="1609200"/>
            <a:ext cx="100080" cy="10008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2" name="Oval 365"/>
          <p:cNvSpPr/>
          <p:nvPr/>
        </p:nvSpPr>
        <p:spPr>
          <a:xfrm>
            <a:off x="914400" y="1609200"/>
            <a:ext cx="100080" cy="100080"/>
          </a:xfrm>
          <a:prstGeom prst="ellipse">
            <a:avLst/>
          </a:prstGeom>
          <a:solidFill>
            <a:srgbClr val="F9C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3" name="Oval 366"/>
          <p:cNvSpPr/>
          <p:nvPr/>
        </p:nvSpPr>
        <p:spPr>
          <a:xfrm>
            <a:off x="1115640" y="1609200"/>
            <a:ext cx="100080" cy="10008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4" name="TextBox 367"/>
          <p:cNvSpPr/>
          <p:nvPr/>
        </p:nvSpPr>
        <p:spPr>
          <a:xfrm>
            <a:off x="685800" y="1828800"/>
            <a:ext cx="5440320" cy="369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080" tIns="0" rIns="6408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months = ["Jan", "Feb", "Mar", "Apr", "May", "Jun",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      "Jul", "Aug", "Sep", "Oct", "Nov", "Dec"]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sales = [120, 150, 130, 180, 200, 170,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     220, 240, 210, 260, 280, 300]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expenses = [80, 90, 100, 110, 130, 120,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        140, 150, 135, 160, 170, 180]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plt.plot(months, sales, color="red", linestyle=":",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     linewidth=2, marker="o", label="Sales")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plt.plot(months, expenses, color="blue", linestyle=":",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     linewidth=2, marker="o", label="Expenses")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plt.title("Monthly Sales and Expenses Report")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plt.xlabel("Quarters")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plt.ylabel("Expenses and Sales")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plt.legend(loc="lower right")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plt.xticks([0, 3, 6, 9], ["Q1", "Q2", "Q3", "Q4"])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plt.yticks([50, 150, 250, 350],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       ["50-150", "150-250", "250-350", "350+"])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plt.ylim(0, 350)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plt.grid(axis="both", linestyle=":", linewidth=4, alpha=0.7)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plt.show()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Rounded Rectangle 368"/>
          <p:cNvSpPr/>
          <p:nvPr/>
        </p:nvSpPr>
        <p:spPr>
          <a:xfrm>
            <a:off x="6446520" y="1208880"/>
            <a:ext cx="5200200" cy="248184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C8C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226" name="Table 370"/>
          <p:cNvGraphicFramePr/>
          <p:nvPr/>
        </p:nvGraphicFramePr>
        <p:xfrm>
          <a:off x="6446520" y="3886200"/>
          <a:ext cx="5211720" cy="2468520"/>
        </p:xfrm>
        <a:graphic>
          <a:graphicData uri="http://schemas.openxmlformats.org/drawingml/2006/table">
            <a:tbl>
              <a:tblPr/>
              <a:tblGrid>
                <a:gridCol w="2148840"/>
                <a:gridCol w="3063240"/>
              </a:tblGrid>
              <a:tr h="2466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Parameter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Meaning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</a:tr>
              <a:tr h="2466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color="red" / "blue"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Color of each line and its markers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6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linestyle=":"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Dotted line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</a:tr>
              <a:tr h="2466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linewidth=2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Line thickness of 2 points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6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marker="o"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Circle at every data point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</a:tr>
              <a:tr h="2466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plt.legend(loc="lower right")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Legend in the lower-right corner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6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plt.xticks([0, 3, 6, 9], [...])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Tick positions + labels shown (Q1–Q4)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</a:tr>
              <a:tr h="2466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plt.yticks([50, ...], [...])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Y tick positions + range labels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6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plt.ylim(0, 350)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Y-axis runs from 0 to 350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</a:tr>
              <a:tr h="2466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plt.grid(...)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Grid options — see next slide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27" name="Picture 1"/>
          <p:cNvPicPr/>
          <p:nvPr/>
        </p:nvPicPr>
        <p:blipFill>
          <a:blip r:embed="rId1"/>
          <a:stretch/>
        </p:blipFill>
        <p:spPr>
          <a:xfrm>
            <a:off x="6600240" y="1342800"/>
            <a:ext cx="4914000" cy="2336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Text 0"/>
          <p:cNvSpPr/>
          <p:nvPr/>
        </p:nvSpPr>
        <p:spPr>
          <a:xfrm>
            <a:off x="548640" y="384120"/>
            <a:ext cx="959904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03 · PYPLOT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1"/>
          <p:cNvSpPr/>
          <p:nvPr/>
        </p:nvSpPr>
        <p:spPr>
          <a:xfrm>
            <a:off x="548640" y="658440"/>
            <a:ext cx="10240920" cy="68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Grid Options — plt.grid()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2"/>
          <p:cNvSpPr/>
          <p:nvPr/>
        </p:nvSpPr>
        <p:spPr>
          <a:xfrm>
            <a:off x="11323080" y="384120"/>
            <a:ext cx="381960" cy="381960"/>
          </a:xfrm>
          <a:prstGeom prst="roundRect">
            <a:avLst>
              <a:gd name="adj" fmla="val 28000"/>
            </a:avLst>
          </a:prstGeom>
          <a:solidFill>
            <a:srgbClr val="5755A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3"/>
          <p:cNvSpPr/>
          <p:nvPr/>
        </p:nvSpPr>
        <p:spPr>
          <a:xfrm>
            <a:off x="11445840" y="506880"/>
            <a:ext cx="258840" cy="258840"/>
          </a:xfrm>
          <a:prstGeom prst="roundRect">
            <a:avLst>
              <a:gd name="adj" fmla="val 26471"/>
            </a:avLst>
          </a:prstGeom>
          <a:solidFill>
            <a:srgbClr val="FCF8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4"/>
          <p:cNvSpPr/>
          <p:nvPr/>
        </p:nvSpPr>
        <p:spPr>
          <a:xfrm>
            <a:off x="11514960" y="576000"/>
            <a:ext cx="128520" cy="128520"/>
          </a:xfrm>
          <a:prstGeom prst="roundRect">
            <a:avLst>
              <a:gd name="adj" fmla="val 26471"/>
            </a:avLst>
          </a:prstGeom>
          <a:solidFill>
            <a:srgbClr val="38675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440" tIns="45000" rIns="644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5"/>
          <p:cNvSpPr/>
          <p:nvPr/>
        </p:nvSpPr>
        <p:spPr>
          <a:xfrm>
            <a:off x="457200" y="6473880"/>
            <a:ext cx="6855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74651"/>
                </a:solidFill>
                <a:effectLst/>
                <a:uFillTx/>
                <a:latin typeface="Calibri"/>
                <a:ea typeface="Calibri"/>
              </a:rPr>
              <a:t>Matplotlib: Data Visualization with Python  ·  GCN Course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6"/>
          <p:cNvSpPr/>
          <p:nvPr/>
        </p:nvSpPr>
        <p:spPr>
          <a:xfrm>
            <a:off x="11505960" y="6473880"/>
            <a:ext cx="5007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35" name="Table 363"/>
          <p:cNvGraphicFramePr/>
          <p:nvPr/>
        </p:nvGraphicFramePr>
        <p:xfrm>
          <a:off x="548640" y="1554480"/>
          <a:ext cx="11109600" cy="4626360"/>
        </p:xfrm>
        <a:graphic>
          <a:graphicData uri="http://schemas.openxmlformats.org/drawingml/2006/table">
            <a:tbl>
              <a:tblPr/>
              <a:tblGrid>
                <a:gridCol w="5120640"/>
                <a:gridCol w="5989320"/>
              </a:tblGrid>
              <a:tr h="42048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Call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Meaning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</a:tr>
              <a:tr h="42048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plt.grid()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Turns the grid on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plt.grid(True)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Explicitly turns the grid on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</a:tr>
              <a:tr h="42048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plt.grid(False)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Turns the grid off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plt.grid(axis="y")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Horizontal grid lines only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</a:tr>
              <a:tr h="42048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plt.grid(axis="x")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Vertical grid lines only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plt.grid(axis="both")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Both horizontal and vertical grid lines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</a:tr>
              <a:tr h="42048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plt.grid(linestyle=":")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Changes the grid line style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plt.grid(linewidth=0.5)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Changes the grid line width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</a:tr>
              <a:tr h="42048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plt.grid(alpha=0.5)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Changes the grid transparency (0 to 1)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plt.grid(axis="both", linestyle=":", linewidth=4, alpha=0.7)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Combines several properties in one call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Text 0"/>
          <p:cNvSpPr/>
          <p:nvPr/>
        </p:nvSpPr>
        <p:spPr>
          <a:xfrm>
            <a:off x="548640" y="384120"/>
            <a:ext cx="959904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03 · PYPLOT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1"/>
          <p:cNvSpPr/>
          <p:nvPr/>
        </p:nvSpPr>
        <p:spPr>
          <a:xfrm>
            <a:off x="479520" y="669960"/>
            <a:ext cx="4560480" cy="67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Bar Chart — plt.bar() Syntax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2"/>
          <p:cNvSpPr/>
          <p:nvPr/>
        </p:nvSpPr>
        <p:spPr>
          <a:xfrm>
            <a:off x="11323080" y="384120"/>
            <a:ext cx="381960" cy="381960"/>
          </a:xfrm>
          <a:prstGeom prst="roundRect">
            <a:avLst>
              <a:gd name="adj" fmla="val 28000"/>
            </a:avLst>
          </a:prstGeom>
          <a:solidFill>
            <a:srgbClr val="5755A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3"/>
          <p:cNvSpPr/>
          <p:nvPr/>
        </p:nvSpPr>
        <p:spPr>
          <a:xfrm>
            <a:off x="11445840" y="506880"/>
            <a:ext cx="258840" cy="258840"/>
          </a:xfrm>
          <a:prstGeom prst="roundRect">
            <a:avLst>
              <a:gd name="adj" fmla="val 26471"/>
            </a:avLst>
          </a:prstGeom>
          <a:solidFill>
            <a:srgbClr val="FCF8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4"/>
          <p:cNvSpPr/>
          <p:nvPr/>
        </p:nvSpPr>
        <p:spPr>
          <a:xfrm>
            <a:off x="11514960" y="576000"/>
            <a:ext cx="128520" cy="128520"/>
          </a:xfrm>
          <a:prstGeom prst="roundRect">
            <a:avLst>
              <a:gd name="adj" fmla="val 26471"/>
            </a:avLst>
          </a:prstGeom>
          <a:solidFill>
            <a:srgbClr val="38675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440" tIns="45000" rIns="644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5"/>
          <p:cNvSpPr/>
          <p:nvPr/>
        </p:nvSpPr>
        <p:spPr>
          <a:xfrm>
            <a:off x="457200" y="6473880"/>
            <a:ext cx="6855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Matplotlib: Data Visualization with Python  ·  GCN Course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6"/>
          <p:cNvSpPr/>
          <p:nvPr/>
        </p:nvSpPr>
        <p:spPr>
          <a:xfrm>
            <a:off x="11505960" y="6473880"/>
            <a:ext cx="5007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Rounded Rectangle 363"/>
          <p:cNvSpPr/>
          <p:nvPr/>
        </p:nvSpPr>
        <p:spPr>
          <a:xfrm>
            <a:off x="548640" y="1554480"/>
            <a:ext cx="5211720" cy="2331360"/>
          </a:xfrm>
          <a:prstGeom prst="roundRect">
            <a:avLst>
              <a:gd name="adj" fmla="val 3000"/>
            </a:avLst>
          </a:prstGeom>
          <a:solidFill>
            <a:srgbClr val="0E142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4" name="Oval 364"/>
          <p:cNvSpPr/>
          <p:nvPr/>
        </p:nvSpPr>
        <p:spPr>
          <a:xfrm>
            <a:off x="713160" y="1700640"/>
            <a:ext cx="100080" cy="10008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5" name="Oval 365"/>
          <p:cNvSpPr/>
          <p:nvPr/>
        </p:nvSpPr>
        <p:spPr>
          <a:xfrm>
            <a:off x="914400" y="1700640"/>
            <a:ext cx="100080" cy="100080"/>
          </a:xfrm>
          <a:prstGeom prst="ellipse">
            <a:avLst/>
          </a:prstGeom>
          <a:solidFill>
            <a:srgbClr val="F9C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6" name="Oval 366"/>
          <p:cNvSpPr/>
          <p:nvPr/>
        </p:nvSpPr>
        <p:spPr>
          <a:xfrm>
            <a:off x="1115640" y="1700640"/>
            <a:ext cx="100080" cy="10008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7" name="TextBox 367"/>
          <p:cNvSpPr/>
          <p:nvPr/>
        </p:nvSpPr>
        <p:spPr>
          <a:xfrm>
            <a:off x="685800" y="1920240"/>
            <a:ext cx="4937400" cy="187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080" tIns="0" rIns="6408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plt.bar(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x,                      # Category Name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height,                 # Bar Height / Value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color="Color Name",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width=value,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label="Label Name"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48" name="Table 368"/>
          <p:cNvGraphicFramePr/>
          <p:nvPr/>
        </p:nvGraphicFramePr>
        <p:xfrm>
          <a:off x="5989320" y="1554480"/>
          <a:ext cx="5714640" cy="2743200"/>
        </p:xfrm>
        <a:graphic>
          <a:graphicData uri="http://schemas.openxmlformats.org/drawingml/2006/table">
            <a:tbl>
              <a:tblPr/>
              <a:tblGrid>
                <a:gridCol w="2423160"/>
                <a:gridCol w="3291840"/>
              </a:tblGrid>
              <a:tr h="4572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Parameter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Meaning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</a:tr>
              <a:tr h="4572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x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Category names / positions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Height / value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Values represented by the bars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</a:tr>
              <a:tr h="4572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color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Bar color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width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Width of each bar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</a:tr>
              <a:tr h="4572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label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Name used in the legend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Text 0"/>
          <p:cNvSpPr/>
          <p:nvPr/>
        </p:nvSpPr>
        <p:spPr>
          <a:xfrm>
            <a:off x="548640" y="384120"/>
            <a:ext cx="959904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03 · PYPLOT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1"/>
          <p:cNvSpPr/>
          <p:nvPr/>
        </p:nvSpPr>
        <p:spPr>
          <a:xfrm>
            <a:off x="548640" y="658440"/>
            <a:ext cx="10240920" cy="68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Bar Chart — Example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2"/>
          <p:cNvSpPr/>
          <p:nvPr/>
        </p:nvSpPr>
        <p:spPr>
          <a:xfrm>
            <a:off x="11323080" y="384120"/>
            <a:ext cx="381960" cy="381960"/>
          </a:xfrm>
          <a:prstGeom prst="roundRect">
            <a:avLst>
              <a:gd name="adj" fmla="val 28000"/>
            </a:avLst>
          </a:prstGeom>
          <a:solidFill>
            <a:srgbClr val="5755A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3"/>
          <p:cNvSpPr/>
          <p:nvPr/>
        </p:nvSpPr>
        <p:spPr>
          <a:xfrm>
            <a:off x="11445840" y="506880"/>
            <a:ext cx="258840" cy="258840"/>
          </a:xfrm>
          <a:prstGeom prst="roundRect">
            <a:avLst>
              <a:gd name="adj" fmla="val 26471"/>
            </a:avLst>
          </a:prstGeom>
          <a:solidFill>
            <a:srgbClr val="FCF8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4"/>
          <p:cNvSpPr/>
          <p:nvPr/>
        </p:nvSpPr>
        <p:spPr>
          <a:xfrm>
            <a:off x="11514960" y="576000"/>
            <a:ext cx="128520" cy="128520"/>
          </a:xfrm>
          <a:prstGeom prst="roundRect">
            <a:avLst>
              <a:gd name="adj" fmla="val 26471"/>
            </a:avLst>
          </a:prstGeom>
          <a:solidFill>
            <a:srgbClr val="38675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440" tIns="45000" rIns="644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5"/>
          <p:cNvSpPr/>
          <p:nvPr/>
        </p:nvSpPr>
        <p:spPr>
          <a:xfrm>
            <a:off x="457200" y="6473880"/>
            <a:ext cx="6855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Matplotlib: Data Visualization with Python  ·  GCN Course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6"/>
          <p:cNvSpPr/>
          <p:nvPr/>
        </p:nvSpPr>
        <p:spPr>
          <a:xfrm>
            <a:off x="11505960" y="6473880"/>
            <a:ext cx="5007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Rounded Rectangle 363"/>
          <p:cNvSpPr/>
          <p:nvPr/>
        </p:nvSpPr>
        <p:spPr>
          <a:xfrm>
            <a:off x="548640" y="1463040"/>
            <a:ext cx="5714640" cy="4937400"/>
          </a:xfrm>
          <a:prstGeom prst="roundRect">
            <a:avLst>
              <a:gd name="adj" fmla="val 3000"/>
            </a:avLst>
          </a:prstGeom>
          <a:solidFill>
            <a:srgbClr val="0E142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7" name="Oval 364"/>
          <p:cNvSpPr/>
          <p:nvPr/>
        </p:nvSpPr>
        <p:spPr>
          <a:xfrm>
            <a:off x="713160" y="1609200"/>
            <a:ext cx="100080" cy="10008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8" name="Oval 365"/>
          <p:cNvSpPr/>
          <p:nvPr/>
        </p:nvSpPr>
        <p:spPr>
          <a:xfrm>
            <a:off x="914400" y="1609200"/>
            <a:ext cx="100080" cy="100080"/>
          </a:xfrm>
          <a:prstGeom prst="ellipse">
            <a:avLst/>
          </a:prstGeom>
          <a:solidFill>
            <a:srgbClr val="F9C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9" name="Oval 366"/>
          <p:cNvSpPr/>
          <p:nvPr/>
        </p:nvSpPr>
        <p:spPr>
          <a:xfrm>
            <a:off x="1115640" y="1609200"/>
            <a:ext cx="100080" cy="10008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0" name="TextBox 367"/>
          <p:cNvSpPr/>
          <p:nvPr/>
        </p:nvSpPr>
        <p:spPr>
          <a:xfrm>
            <a:off x="685800" y="1828800"/>
            <a:ext cx="5440320" cy="32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080" tIns="0" rIns="6408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products = ["Laptop", "Phone", "Tablet", "Headphones", "Keyboard"]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sales_2026 = [120, 200, 150, 180, 100]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br>
              <a:rPr sz="1300"/>
            </a:b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plt.bar(products, sales_2026, color="#B81D53", label="Sales 2026")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br>
              <a:rPr sz="1300"/>
            </a:b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plt.xlabel("Product", color="#333333")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plt.ylabel("Sales", color="#333333")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plt.title("Product Sale Comparison", fontweight="bold", pad=15, color="#3A3C3A")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br>
              <a:rPr sz="1300"/>
            </a:b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plt.legend()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plt.tight_layout()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plt.show()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Rounded Rectangle 368"/>
          <p:cNvSpPr/>
          <p:nvPr/>
        </p:nvSpPr>
        <p:spPr>
          <a:xfrm>
            <a:off x="6446520" y="1463040"/>
            <a:ext cx="5211720" cy="228564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C8C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262" name="Table 370"/>
          <p:cNvGraphicFramePr/>
          <p:nvPr/>
        </p:nvGraphicFramePr>
        <p:xfrm>
          <a:off x="6446520" y="3886200"/>
          <a:ext cx="5171040" cy="2354760"/>
        </p:xfrm>
        <a:graphic>
          <a:graphicData uri="http://schemas.openxmlformats.org/drawingml/2006/table">
            <a:tbl>
              <a:tblPr/>
              <a:tblGrid>
                <a:gridCol w="2131920"/>
                <a:gridCol w="3039120"/>
              </a:tblGrid>
              <a:tr h="37656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Parameter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Meaning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</a:tr>
              <a:tr h="37656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color="orange" / "blue"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Bar color of each series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032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label="Sales 2026"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Legend name of the series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</a:tr>
              <a:tr h="40032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plt.xticks(x, products)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Product names under the positions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032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plt.legend()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Shows the legend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</a:tr>
              <a:tr h="40032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plt.xlabel / ylabel / title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Axis text and chart heading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63" name="Picture 1"/>
          <p:cNvPicPr/>
          <p:nvPr/>
        </p:nvPicPr>
        <p:blipFill>
          <a:blip r:embed="rId1"/>
          <a:stretch/>
        </p:blipFill>
        <p:spPr>
          <a:xfrm>
            <a:off x="6642720" y="1617840"/>
            <a:ext cx="4725000" cy="2086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Text 0"/>
          <p:cNvSpPr/>
          <p:nvPr/>
        </p:nvSpPr>
        <p:spPr>
          <a:xfrm>
            <a:off x="548640" y="384120"/>
            <a:ext cx="959904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03 · PYPLOT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"/>
          <p:cNvSpPr/>
          <p:nvPr/>
        </p:nvSpPr>
        <p:spPr>
          <a:xfrm>
            <a:off x="548640" y="658440"/>
            <a:ext cx="10240920" cy="68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Pie Chart — plt.pie() Syntax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2"/>
          <p:cNvSpPr/>
          <p:nvPr/>
        </p:nvSpPr>
        <p:spPr>
          <a:xfrm>
            <a:off x="11323080" y="384120"/>
            <a:ext cx="381960" cy="381960"/>
          </a:xfrm>
          <a:prstGeom prst="roundRect">
            <a:avLst>
              <a:gd name="adj" fmla="val 28000"/>
            </a:avLst>
          </a:prstGeom>
          <a:solidFill>
            <a:srgbClr val="5755A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3"/>
          <p:cNvSpPr/>
          <p:nvPr/>
        </p:nvSpPr>
        <p:spPr>
          <a:xfrm>
            <a:off x="11445840" y="506880"/>
            <a:ext cx="258840" cy="258840"/>
          </a:xfrm>
          <a:prstGeom prst="roundRect">
            <a:avLst>
              <a:gd name="adj" fmla="val 26471"/>
            </a:avLst>
          </a:prstGeom>
          <a:solidFill>
            <a:srgbClr val="FCF8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4"/>
          <p:cNvSpPr/>
          <p:nvPr/>
        </p:nvSpPr>
        <p:spPr>
          <a:xfrm>
            <a:off x="11514960" y="576000"/>
            <a:ext cx="128520" cy="128520"/>
          </a:xfrm>
          <a:prstGeom prst="roundRect">
            <a:avLst>
              <a:gd name="adj" fmla="val 26471"/>
            </a:avLst>
          </a:prstGeom>
          <a:solidFill>
            <a:srgbClr val="38675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440" tIns="45000" rIns="644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5"/>
          <p:cNvSpPr/>
          <p:nvPr/>
        </p:nvSpPr>
        <p:spPr>
          <a:xfrm>
            <a:off x="457200" y="6473880"/>
            <a:ext cx="6855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Matplotlib: Data Visualization with Python  ·  GCN Course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6"/>
          <p:cNvSpPr/>
          <p:nvPr/>
        </p:nvSpPr>
        <p:spPr>
          <a:xfrm>
            <a:off x="11505960" y="6473880"/>
            <a:ext cx="5007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Rounded Rectangle 363"/>
          <p:cNvSpPr/>
          <p:nvPr/>
        </p:nvSpPr>
        <p:spPr>
          <a:xfrm>
            <a:off x="548640" y="1554480"/>
            <a:ext cx="5211720" cy="2102760"/>
          </a:xfrm>
          <a:prstGeom prst="roundRect">
            <a:avLst>
              <a:gd name="adj" fmla="val 3000"/>
            </a:avLst>
          </a:prstGeom>
          <a:solidFill>
            <a:srgbClr val="0E142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2" name="Oval 364"/>
          <p:cNvSpPr/>
          <p:nvPr/>
        </p:nvSpPr>
        <p:spPr>
          <a:xfrm>
            <a:off x="713160" y="1700640"/>
            <a:ext cx="100080" cy="10008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3" name="Oval 365"/>
          <p:cNvSpPr/>
          <p:nvPr/>
        </p:nvSpPr>
        <p:spPr>
          <a:xfrm>
            <a:off x="914400" y="1700640"/>
            <a:ext cx="100080" cy="100080"/>
          </a:xfrm>
          <a:prstGeom prst="ellipse">
            <a:avLst/>
          </a:prstGeom>
          <a:solidFill>
            <a:srgbClr val="F9C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4" name="Oval 366"/>
          <p:cNvSpPr/>
          <p:nvPr/>
        </p:nvSpPr>
        <p:spPr>
          <a:xfrm>
            <a:off x="1115640" y="1700640"/>
            <a:ext cx="100080" cy="10008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5" name="TextBox 367"/>
          <p:cNvSpPr/>
          <p:nvPr/>
        </p:nvSpPr>
        <p:spPr>
          <a:xfrm>
            <a:off x="685800" y="1920240"/>
            <a:ext cx="493740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080" tIns="0" rIns="6408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plt.pie(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values,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labels=labels_list,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colors=color_list,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autopct="%1.1f%%"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76" name="Table 368"/>
          <p:cNvGraphicFramePr/>
          <p:nvPr/>
        </p:nvGraphicFramePr>
        <p:xfrm>
          <a:off x="5989320" y="1554480"/>
          <a:ext cx="5714640" cy="2286000"/>
        </p:xfrm>
        <a:graphic>
          <a:graphicData uri="http://schemas.openxmlformats.org/drawingml/2006/table">
            <a:tbl>
              <a:tblPr/>
              <a:tblGrid>
                <a:gridCol w="2423160"/>
                <a:gridCol w="3291840"/>
              </a:tblGrid>
              <a:tr h="4572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Parameter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Meaning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</a:tr>
              <a:tr h="4572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values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Numbers represented by each slice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labels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Names of the slices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</a:tr>
              <a:tr h="4572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colors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Colors of the slices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autopct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Shows the percentage on each slice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Text 0"/>
          <p:cNvSpPr/>
          <p:nvPr/>
        </p:nvSpPr>
        <p:spPr>
          <a:xfrm>
            <a:off x="548640" y="384120"/>
            <a:ext cx="959904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03 · PYPLOT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1"/>
          <p:cNvSpPr/>
          <p:nvPr/>
        </p:nvSpPr>
        <p:spPr>
          <a:xfrm>
            <a:off x="548640" y="658440"/>
            <a:ext cx="10240920" cy="68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Pie Chart — Example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2"/>
          <p:cNvSpPr/>
          <p:nvPr/>
        </p:nvSpPr>
        <p:spPr>
          <a:xfrm>
            <a:off x="11323080" y="384120"/>
            <a:ext cx="381960" cy="381960"/>
          </a:xfrm>
          <a:prstGeom prst="roundRect">
            <a:avLst>
              <a:gd name="adj" fmla="val 28000"/>
            </a:avLst>
          </a:prstGeom>
          <a:solidFill>
            <a:srgbClr val="5755A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3"/>
          <p:cNvSpPr/>
          <p:nvPr/>
        </p:nvSpPr>
        <p:spPr>
          <a:xfrm>
            <a:off x="11445840" y="506880"/>
            <a:ext cx="258840" cy="258840"/>
          </a:xfrm>
          <a:prstGeom prst="roundRect">
            <a:avLst>
              <a:gd name="adj" fmla="val 26471"/>
            </a:avLst>
          </a:prstGeom>
          <a:solidFill>
            <a:srgbClr val="FCF8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4"/>
          <p:cNvSpPr/>
          <p:nvPr/>
        </p:nvSpPr>
        <p:spPr>
          <a:xfrm>
            <a:off x="11514960" y="576000"/>
            <a:ext cx="128520" cy="128520"/>
          </a:xfrm>
          <a:prstGeom prst="roundRect">
            <a:avLst>
              <a:gd name="adj" fmla="val 26471"/>
            </a:avLst>
          </a:prstGeom>
          <a:solidFill>
            <a:srgbClr val="38675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440" tIns="45000" rIns="644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5"/>
          <p:cNvSpPr/>
          <p:nvPr/>
        </p:nvSpPr>
        <p:spPr>
          <a:xfrm>
            <a:off x="457200" y="6473880"/>
            <a:ext cx="6855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Matplotlib: Data Visualization with Python  ·  GCN Course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6"/>
          <p:cNvSpPr/>
          <p:nvPr/>
        </p:nvSpPr>
        <p:spPr>
          <a:xfrm>
            <a:off x="11505960" y="6473880"/>
            <a:ext cx="5007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Rounded Rectangle 363"/>
          <p:cNvSpPr/>
          <p:nvPr/>
        </p:nvSpPr>
        <p:spPr>
          <a:xfrm>
            <a:off x="548640" y="1463040"/>
            <a:ext cx="5714640" cy="4937400"/>
          </a:xfrm>
          <a:prstGeom prst="roundRect">
            <a:avLst>
              <a:gd name="adj" fmla="val 3000"/>
            </a:avLst>
          </a:prstGeom>
          <a:solidFill>
            <a:srgbClr val="0E142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5" name="Oval 364"/>
          <p:cNvSpPr/>
          <p:nvPr/>
        </p:nvSpPr>
        <p:spPr>
          <a:xfrm>
            <a:off x="713160" y="1609200"/>
            <a:ext cx="100080" cy="10008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6" name="Oval 365"/>
          <p:cNvSpPr/>
          <p:nvPr/>
        </p:nvSpPr>
        <p:spPr>
          <a:xfrm>
            <a:off x="914400" y="1609200"/>
            <a:ext cx="100080" cy="100080"/>
          </a:xfrm>
          <a:prstGeom prst="ellipse">
            <a:avLst/>
          </a:prstGeom>
          <a:solidFill>
            <a:srgbClr val="F9C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7" name="Oval 366"/>
          <p:cNvSpPr/>
          <p:nvPr/>
        </p:nvSpPr>
        <p:spPr>
          <a:xfrm>
            <a:off x="1115640" y="1609200"/>
            <a:ext cx="100080" cy="10008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8" name="TextBox 367"/>
          <p:cNvSpPr/>
          <p:nvPr/>
        </p:nvSpPr>
        <p:spPr>
          <a:xfrm>
            <a:off x="685800" y="1828800"/>
            <a:ext cx="5440320" cy="448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080" tIns="0" rIns="6408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regions = ["North", "South", "East", "West"]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revenue = [3000, 2000, 1500, 1000]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plt.pie(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revenue,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labels=regions,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autopct="%1.1f%%",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colors=["teal", "skyblue", "lightgreen", "coral"]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plt.show()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Rounded Rectangle 368"/>
          <p:cNvSpPr/>
          <p:nvPr/>
        </p:nvSpPr>
        <p:spPr>
          <a:xfrm>
            <a:off x="6446520" y="1463040"/>
            <a:ext cx="5211720" cy="228564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C8C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90" name="Picture 369" descr="pie.png"/>
          <p:cNvPicPr/>
          <p:nvPr/>
        </p:nvPicPr>
        <p:blipFill>
          <a:blip r:embed="rId1"/>
          <a:stretch/>
        </p:blipFill>
        <p:spPr>
          <a:xfrm>
            <a:off x="7064280" y="1554480"/>
            <a:ext cx="3976560" cy="210276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291" name="Table 370"/>
          <p:cNvGraphicFramePr/>
          <p:nvPr/>
        </p:nvGraphicFramePr>
        <p:xfrm>
          <a:off x="6446520" y="3886200"/>
          <a:ext cx="5211720" cy="1728000"/>
        </p:xfrm>
        <a:graphic>
          <a:graphicData uri="http://schemas.openxmlformats.org/drawingml/2006/table">
            <a:tbl>
              <a:tblPr/>
              <a:tblGrid>
                <a:gridCol w="2148840"/>
                <a:gridCol w="3063240"/>
              </a:tblGrid>
              <a:tr h="2466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Parameter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Meaning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</a:tr>
              <a:tr h="2466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regions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Names of the four slices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6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revenue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Value of each slice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</a:tr>
              <a:tr h="2466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labels=regions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Writes each name beside its slice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6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autopct="%1.1f%%"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Percentage with 1 decimal place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</a:tr>
              <a:tr h="2466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colors=["teal", ...]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One color per slice, in order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6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plt.show()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Displays the figure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Text 0"/>
          <p:cNvSpPr/>
          <p:nvPr/>
        </p:nvSpPr>
        <p:spPr>
          <a:xfrm>
            <a:off x="548640" y="384120"/>
            <a:ext cx="959904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03 · PYPLOT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1"/>
          <p:cNvSpPr/>
          <p:nvPr/>
        </p:nvSpPr>
        <p:spPr>
          <a:xfrm>
            <a:off x="548640" y="658440"/>
            <a:ext cx="10240920" cy="68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Histogram — plt.hist() Syntax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2"/>
          <p:cNvSpPr/>
          <p:nvPr/>
        </p:nvSpPr>
        <p:spPr>
          <a:xfrm>
            <a:off x="11323080" y="384120"/>
            <a:ext cx="381960" cy="381960"/>
          </a:xfrm>
          <a:prstGeom prst="roundRect">
            <a:avLst>
              <a:gd name="adj" fmla="val 28000"/>
            </a:avLst>
          </a:prstGeom>
          <a:solidFill>
            <a:srgbClr val="5755A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3"/>
          <p:cNvSpPr/>
          <p:nvPr/>
        </p:nvSpPr>
        <p:spPr>
          <a:xfrm>
            <a:off x="11445840" y="506880"/>
            <a:ext cx="258840" cy="258840"/>
          </a:xfrm>
          <a:prstGeom prst="roundRect">
            <a:avLst>
              <a:gd name="adj" fmla="val 26471"/>
            </a:avLst>
          </a:prstGeom>
          <a:solidFill>
            <a:srgbClr val="FCF8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4"/>
          <p:cNvSpPr/>
          <p:nvPr/>
        </p:nvSpPr>
        <p:spPr>
          <a:xfrm>
            <a:off x="11514960" y="576000"/>
            <a:ext cx="128520" cy="128520"/>
          </a:xfrm>
          <a:prstGeom prst="roundRect">
            <a:avLst>
              <a:gd name="adj" fmla="val 26471"/>
            </a:avLst>
          </a:prstGeom>
          <a:solidFill>
            <a:srgbClr val="38675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440" tIns="45000" rIns="644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5"/>
          <p:cNvSpPr/>
          <p:nvPr/>
        </p:nvSpPr>
        <p:spPr>
          <a:xfrm>
            <a:off x="457200" y="6473880"/>
            <a:ext cx="6855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Matplotlib: Data Visualization with Python  ·  GCN Course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6"/>
          <p:cNvSpPr/>
          <p:nvPr/>
        </p:nvSpPr>
        <p:spPr>
          <a:xfrm>
            <a:off x="11505960" y="6473880"/>
            <a:ext cx="5007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Rounded Rectangle 363"/>
          <p:cNvSpPr/>
          <p:nvPr/>
        </p:nvSpPr>
        <p:spPr>
          <a:xfrm>
            <a:off x="548640" y="1554480"/>
            <a:ext cx="5211720" cy="2102760"/>
          </a:xfrm>
          <a:prstGeom prst="roundRect">
            <a:avLst>
              <a:gd name="adj" fmla="val 3000"/>
            </a:avLst>
          </a:prstGeom>
          <a:solidFill>
            <a:srgbClr val="0E142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0" name="Oval 364"/>
          <p:cNvSpPr/>
          <p:nvPr/>
        </p:nvSpPr>
        <p:spPr>
          <a:xfrm>
            <a:off x="713160" y="1700640"/>
            <a:ext cx="100080" cy="10008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1" name="Oval 365"/>
          <p:cNvSpPr/>
          <p:nvPr/>
        </p:nvSpPr>
        <p:spPr>
          <a:xfrm>
            <a:off x="914400" y="1700640"/>
            <a:ext cx="100080" cy="100080"/>
          </a:xfrm>
          <a:prstGeom prst="ellipse">
            <a:avLst/>
          </a:prstGeom>
          <a:solidFill>
            <a:srgbClr val="F9C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2" name="Oval 366"/>
          <p:cNvSpPr/>
          <p:nvPr/>
        </p:nvSpPr>
        <p:spPr>
          <a:xfrm>
            <a:off x="1115640" y="1700640"/>
            <a:ext cx="100080" cy="10008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3" name="TextBox 367"/>
          <p:cNvSpPr/>
          <p:nvPr/>
        </p:nvSpPr>
        <p:spPr>
          <a:xfrm>
            <a:off x="685800" y="1920240"/>
            <a:ext cx="493740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080" tIns="0" rIns="6408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plt.hist(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data,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bins=number_of_bins,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color="color_name",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edgecolor="black"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04" name="Table 368"/>
          <p:cNvGraphicFramePr/>
          <p:nvPr/>
        </p:nvGraphicFramePr>
        <p:xfrm>
          <a:off x="5989320" y="1554480"/>
          <a:ext cx="5714640" cy="2286000"/>
        </p:xfrm>
        <a:graphic>
          <a:graphicData uri="http://schemas.openxmlformats.org/drawingml/2006/table">
            <a:tbl>
              <a:tblPr/>
              <a:tblGrid>
                <a:gridCol w="2423160"/>
                <a:gridCol w="3291840"/>
              </a:tblGrid>
              <a:tr h="4572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Parameter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Meaning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</a:tr>
              <a:tr h="4572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data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Numbers distributed into bins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bins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Number of intervals / groups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</a:tr>
              <a:tr h="4572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color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Color of the bars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edgecolor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Color of each bar's border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Text 0"/>
          <p:cNvSpPr/>
          <p:nvPr/>
        </p:nvSpPr>
        <p:spPr>
          <a:xfrm>
            <a:off x="548640" y="384120"/>
            <a:ext cx="959904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03 · PYPLOT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1"/>
          <p:cNvSpPr/>
          <p:nvPr/>
        </p:nvSpPr>
        <p:spPr>
          <a:xfrm>
            <a:off x="548640" y="658440"/>
            <a:ext cx="10240920" cy="68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Histogram — Example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2"/>
          <p:cNvSpPr/>
          <p:nvPr/>
        </p:nvSpPr>
        <p:spPr>
          <a:xfrm>
            <a:off x="11323080" y="384120"/>
            <a:ext cx="381960" cy="381960"/>
          </a:xfrm>
          <a:prstGeom prst="roundRect">
            <a:avLst>
              <a:gd name="adj" fmla="val 28000"/>
            </a:avLst>
          </a:prstGeom>
          <a:solidFill>
            <a:srgbClr val="5755A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3"/>
          <p:cNvSpPr/>
          <p:nvPr/>
        </p:nvSpPr>
        <p:spPr>
          <a:xfrm>
            <a:off x="11445840" y="506880"/>
            <a:ext cx="258840" cy="258840"/>
          </a:xfrm>
          <a:prstGeom prst="roundRect">
            <a:avLst>
              <a:gd name="adj" fmla="val 26471"/>
            </a:avLst>
          </a:prstGeom>
          <a:solidFill>
            <a:srgbClr val="FCF8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4"/>
          <p:cNvSpPr/>
          <p:nvPr/>
        </p:nvSpPr>
        <p:spPr>
          <a:xfrm>
            <a:off x="11514960" y="576000"/>
            <a:ext cx="128520" cy="128520"/>
          </a:xfrm>
          <a:prstGeom prst="roundRect">
            <a:avLst>
              <a:gd name="adj" fmla="val 26471"/>
            </a:avLst>
          </a:prstGeom>
          <a:solidFill>
            <a:srgbClr val="38675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440" tIns="45000" rIns="644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5"/>
          <p:cNvSpPr/>
          <p:nvPr/>
        </p:nvSpPr>
        <p:spPr>
          <a:xfrm>
            <a:off x="457200" y="6473880"/>
            <a:ext cx="6855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Matplotlib: Data Visualization with Python  ·  GCN Course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6"/>
          <p:cNvSpPr/>
          <p:nvPr/>
        </p:nvSpPr>
        <p:spPr>
          <a:xfrm>
            <a:off x="11505960" y="6473880"/>
            <a:ext cx="5007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Rounded Rectangle 363"/>
          <p:cNvSpPr/>
          <p:nvPr/>
        </p:nvSpPr>
        <p:spPr>
          <a:xfrm>
            <a:off x="548640" y="1463040"/>
            <a:ext cx="5714640" cy="4937400"/>
          </a:xfrm>
          <a:prstGeom prst="roundRect">
            <a:avLst>
              <a:gd name="adj" fmla="val 3000"/>
            </a:avLst>
          </a:prstGeom>
          <a:solidFill>
            <a:srgbClr val="0E142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3" name="Oval 364"/>
          <p:cNvSpPr/>
          <p:nvPr/>
        </p:nvSpPr>
        <p:spPr>
          <a:xfrm>
            <a:off x="713160" y="1609200"/>
            <a:ext cx="100080" cy="10008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4" name="Oval 365"/>
          <p:cNvSpPr/>
          <p:nvPr/>
        </p:nvSpPr>
        <p:spPr>
          <a:xfrm>
            <a:off x="914400" y="1609200"/>
            <a:ext cx="100080" cy="100080"/>
          </a:xfrm>
          <a:prstGeom prst="ellipse">
            <a:avLst/>
          </a:prstGeom>
          <a:solidFill>
            <a:srgbClr val="F9C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5" name="Oval 366"/>
          <p:cNvSpPr/>
          <p:nvPr/>
        </p:nvSpPr>
        <p:spPr>
          <a:xfrm>
            <a:off x="1115640" y="1609200"/>
            <a:ext cx="100080" cy="10008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6" name="TextBox 367"/>
          <p:cNvSpPr/>
          <p:nvPr/>
        </p:nvSpPr>
        <p:spPr>
          <a:xfrm>
            <a:off x="685800" y="1828800"/>
            <a:ext cx="5440320" cy="448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080" tIns="0" rIns="6408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scores = [45, 52, 58, 61, 63, 67, 69, 70, 72, 74,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      75, 77, 79, 81, 83, 85, 87, 89, 92, 95]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plt.hist(scores, bins=5, color="orange", edgecolor="black")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plt.xlabel("Scores")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plt.ylabel("Number of Students")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plt.title("Score Distribution of Students")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plt.show()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Rounded Rectangle 368"/>
          <p:cNvSpPr/>
          <p:nvPr/>
        </p:nvSpPr>
        <p:spPr>
          <a:xfrm>
            <a:off x="6446520" y="1463040"/>
            <a:ext cx="5211720" cy="228564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C8C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18" name="Picture 369" descr="hist.png"/>
          <p:cNvPicPr/>
          <p:nvPr/>
        </p:nvPicPr>
        <p:blipFill>
          <a:blip r:embed="rId1"/>
          <a:stretch/>
        </p:blipFill>
        <p:spPr>
          <a:xfrm>
            <a:off x="6583680" y="1577520"/>
            <a:ext cx="4937400" cy="205704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319" name="Table 370"/>
          <p:cNvGraphicFramePr/>
          <p:nvPr/>
        </p:nvGraphicFramePr>
        <p:xfrm>
          <a:off x="6446520" y="3886200"/>
          <a:ext cx="5211720" cy="1974600"/>
        </p:xfrm>
        <a:graphic>
          <a:graphicData uri="http://schemas.openxmlformats.org/drawingml/2006/table">
            <a:tbl>
              <a:tblPr/>
              <a:tblGrid>
                <a:gridCol w="2148840"/>
                <a:gridCol w="3063240"/>
              </a:tblGrid>
              <a:tr h="2466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Parameter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Meaning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</a:tr>
              <a:tr h="2466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scores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20 student scores to distribute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6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bins=5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Groups the scores into 5 intervals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</a:tr>
              <a:tr h="2466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color="orange"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Fill color of the bars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6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edgecolor="black"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Border color of each bar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</a:tr>
              <a:tr h="2466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plt.xlabel("Scores")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Text under the X-axis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6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plt.ylabel("...")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Text along the Y-axis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</a:tr>
              <a:tr h="2466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plt.title("...")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Heading of the chart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Text 0"/>
          <p:cNvSpPr/>
          <p:nvPr/>
        </p:nvSpPr>
        <p:spPr>
          <a:xfrm>
            <a:off x="548640" y="384120"/>
            <a:ext cx="959904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03 · PYPLOT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1"/>
          <p:cNvSpPr/>
          <p:nvPr/>
        </p:nvSpPr>
        <p:spPr>
          <a:xfrm>
            <a:off x="548640" y="658440"/>
            <a:ext cx="10240920" cy="68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Scatter Plot — plt.scatter() Syntax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2"/>
          <p:cNvSpPr/>
          <p:nvPr/>
        </p:nvSpPr>
        <p:spPr>
          <a:xfrm>
            <a:off x="11323080" y="384120"/>
            <a:ext cx="381960" cy="381960"/>
          </a:xfrm>
          <a:prstGeom prst="roundRect">
            <a:avLst>
              <a:gd name="adj" fmla="val 28000"/>
            </a:avLst>
          </a:prstGeom>
          <a:solidFill>
            <a:srgbClr val="5755A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3"/>
          <p:cNvSpPr/>
          <p:nvPr/>
        </p:nvSpPr>
        <p:spPr>
          <a:xfrm>
            <a:off x="11445840" y="506880"/>
            <a:ext cx="258840" cy="258840"/>
          </a:xfrm>
          <a:prstGeom prst="roundRect">
            <a:avLst>
              <a:gd name="adj" fmla="val 26471"/>
            </a:avLst>
          </a:prstGeom>
          <a:solidFill>
            <a:srgbClr val="FCF8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4"/>
          <p:cNvSpPr/>
          <p:nvPr/>
        </p:nvSpPr>
        <p:spPr>
          <a:xfrm>
            <a:off x="11514960" y="576000"/>
            <a:ext cx="128520" cy="128520"/>
          </a:xfrm>
          <a:prstGeom prst="roundRect">
            <a:avLst>
              <a:gd name="adj" fmla="val 26471"/>
            </a:avLst>
          </a:prstGeom>
          <a:solidFill>
            <a:srgbClr val="38675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440" tIns="45000" rIns="644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5"/>
          <p:cNvSpPr/>
          <p:nvPr/>
        </p:nvSpPr>
        <p:spPr>
          <a:xfrm>
            <a:off x="457200" y="6473880"/>
            <a:ext cx="6855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Matplotlib: Data Visualization with Python  ·  GCN Course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6"/>
          <p:cNvSpPr/>
          <p:nvPr/>
        </p:nvSpPr>
        <p:spPr>
          <a:xfrm>
            <a:off x="11505960" y="6473880"/>
            <a:ext cx="5007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Rounded Rectangle 363"/>
          <p:cNvSpPr/>
          <p:nvPr/>
        </p:nvSpPr>
        <p:spPr>
          <a:xfrm>
            <a:off x="548640" y="1554480"/>
            <a:ext cx="5211720" cy="2331360"/>
          </a:xfrm>
          <a:prstGeom prst="roundRect">
            <a:avLst>
              <a:gd name="adj" fmla="val 3000"/>
            </a:avLst>
          </a:prstGeom>
          <a:solidFill>
            <a:srgbClr val="0E142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8" name="Oval 364"/>
          <p:cNvSpPr/>
          <p:nvPr/>
        </p:nvSpPr>
        <p:spPr>
          <a:xfrm>
            <a:off x="713160" y="1700640"/>
            <a:ext cx="100080" cy="10008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9" name="Oval 365"/>
          <p:cNvSpPr/>
          <p:nvPr/>
        </p:nvSpPr>
        <p:spPr>
          <a:xfrm>
            <a:off x="914400" y="1700640"/>
            <a:ext cx="100080" cy="100080"/>
          </a:xfrm>
          <a:prstGeom prst="ellipse">
            <a:avLst/>
          </a:prstGeom>
          <a:solidFill>
            <a:srgbClr val="F9C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0" name="Oval 366"/>
          <p:cNvSpPr/>
          <p:nvPr/>
        </p:nvSpPr>
        <p:spPr>
          <a:xfrm>
            <a:off x="1115640" y="1700640"/>
            <a:ext cx="100080" cy="10008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1" name="TextBox 367"/>
          <p:cNvSpPr/>
          <p:nvPr/>
        </p:nvSpPr>
        <p:spPr>
          <a:xfrm>
            <a:off x="685800" y="1920240"/>
            <a:ext cx="4937400" cy="187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080" tIns="0" rIns="6408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plt.scatter(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x,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y,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color="color_name",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marker="style",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label="label name"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32" name="Table 368"/>
          <p:cNvGraphicFramePr/>
          <p:nvPr/>
        </p:nvGraphicFramePr>
        <p:xfrm>
          <a:off x="5989320" y="1554480"/>
          <a:ext cx="5714640" cy="2743200"/>
        </p:xfrm>
        <a:graphic>
          <a:graphicData uri="http://schemas.openxmlformats.org/drawingml/2006/table">
            <a:tbl>
              <a:tblPr/>
              <a:tblGrid>
                <a:gridCol w="2423160"/>
                <a:gridCol w="3291840"/>
              </a:tblGrid>
              <a:tr h="4572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Parameter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Meaning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</a:tr>
              <a:tr h="4572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x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Data for the X-axis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y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Data for the Y-axis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</a:tr>
              <a:tr h="4572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color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Color of the points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marker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Shape / style of the points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</a:tr>
              <a:tr h="4572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label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Name used in the legend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Text 0"/>
          <p:cNvSpPr/>
          <p:nvPr/>
        </p:nvSpPr>
        <p:spPr>
          <a:xfrm>
            <a:off x="548640" y="384120"/>
            <a:ext cx="959904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03 · PYPLOT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1"/>
          <p:cNvSpPr/>
          <p:nvPr/>
        </p:nvSpPr>
        <p:spPr>
          <a:xfrm>
            <a:off x="548640" y="658440"/>
            <a:ext cx="10240920" cy="68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Scatter Plot — Example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2"/>
          <p:cNvSpPr/>
          <p:nvPr/>
        </p:nvSpPr>
        <p:spPr>
          <a:xfrm>
            <a:off x="11323080" y="384120"/>
            <a:ext cx="381960" cy="381960"/>
          </a:xfrm>
          <a:prstGeom prst="roundRect">
            <a:avLst>
              <a:gd name="adj" fmla="val 28000"/>
            </a:avLst>
          </a:prstGeom>
          <a:solidFill>
            <a:srgbClr val="5755A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3"/>
          <p:cNvSpPr/>
          <p:nvPr/>
        </p:nvSpPr>
        <p:spPr>
          <a:xfrm>
            <a:off x="11445840" y="506880"/>
            <a:ext cx="258840" cy="258840"/>
          </a:xfrm>
          <a:prstGeom prst="roundRect">
            <a:avLst>
              <a:gd name="adj" fmla="val 26471"/>
            </a:avLst>
          </a:prstGeom>
          <a:solidFill>
            <a:srgbClr val="FCF8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Shape 4"/>
          <p:cNvSpPr/>
          <p:nvPr/>
        </p:nvSpPr>
        <p:spPr>
          <a:xfrm>
            <a:off x="11514960" y="576000"/>
            <a:ext cx="128520" cy="128520"/>
          </a:xfrm>
          <a:prstGeom prst="roundRect">
            <a:avLst>
              <a:gd name="adj" fmla="val 26471"/>
            </a:avLst>
          </a:prstGeom>
          <a:solidFill>
            <a:srgbClr val="38675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440" tIns="45000" rIns="644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5"/>
          <p:cNvSpPr/>
          <p:nvPr/>
        </p:nvSpPr>
        <p:spPr>
          <a:xfrm>
            <a:off x="457200" y="6473880"/>
            <a:ext cx="6855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Matplotlib: Data Visualization with Python  ·  GCN Course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6"/>
          <p:cNvSpPr/>
          <p:nvPr/>
        </p:nvSpPr>
        <p:spPr>
          <a:xfrm>
            <a:off x="11505960" y="6473880"/>
            <a:ext cx="5007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Rounded Rectangle 363"/>
          <p:cNvSpPr/>
          <p:nvPr/>
        </p:nvSpPr>
        <p:spPr>
          <a:xfrm>
            <a:off x="548640" y="1463040"/>
            <a:ext cx="5714640" cy="4937400"/>
          </a:xfrm>
          <a:prstGeom prst="roundRect">
            <a:avLst>
              <a:gd name="adj" fmla="val 3000"/>
            </a:avLst>
          </a:prstGeom>
          <a:solidFill>
            <a:srgbClr val="0E142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1" name="Oval 364"/>
          <p:cNvSpPr/>
          <p:nvPr/>
        </p:nvSpPr>
        <p:spPr>
          <a:xfrm>
            <a:off x="713160" y="1609200"/>
            <a:ext cx="100080" cy="10008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2" name="Oval 365"/>
          <p:cNvSpPr/>
          <p:nvPr/>
        </p:nvSpPr>
        <p:spPr>
          <a:xfrm>
            <a:off x="914400" y="1609200"/>
            <a:ext cx="100080" cy="100080"/>
          </a:xfrm>
          <a:prstGeom prst="ellipse">
            <a:avLst/>
          </a:prstGeom>
          <a:solidFill>
            <a:srgbClr val="F9C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3" name="Oval 366"/>
          <p:cNvSpPr/>
          <p:nvPr/>
        </p:nvSpPr>
        <p:spPr>
          <a:xfrm>
            <a:off x="1115640" y="1609200"/>
            <a:ext cx="100080" cy="10008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4" name="TextBox 367"/>
          <p:cNvSpPr/>
          <p:nvPr/>
        </p:nvSpPr>
        <p:spPr>
          <a:xfrm>
            <a:off x="685800" y="1828800"/>
            <a:ext cx="5440320" cy="448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080" tIns="0" rIns="6408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hours_studied = [1, 2, 3, 4, 5, 6, 7, 8]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exam_scores = [45, 52, 58, 65, 70, 76, 84, 91]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social_media_hours = [6, 5.5, 5, 4.5, 4, 3.5, 3, 2.5]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social_media_scores = [45, 48, 52, 58, 62, 68, 75, 82]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plt.scatter(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hours_studied,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exam_scores,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color="green",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marker="^",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label="Hours Studied vs Exam Scores"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plt.scatter(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social_media_hours,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social_media_scores,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color="red",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marker="x",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label="Social Media Use vs Exam Scores"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plt.xlabel("Hours")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plt.ylabel("Exam Scores")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plt.legend(loc="best")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plt.title("Study &amp; Social Media Use vs Exam Scores")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plt.grid()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plt.show()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Rounded Rectangle 368"/>
          <p:cNvSpPr/>
          <p:nvPr/>
        </p:nvSpPr>
        <p:spPr>
          <a:xfrm>
            <a:off x="6446520" y="1463040"/>
            <a:ext cx="5211720" cy="228564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C8C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46" name="Picture 369" descr="scatter.png"/>
          <p:cNvPicPr/>
          <p:nvPr/>
        </p:nvPicPr>
        <p:blipFill>
          <a:blip r:embed="rId1"/>
          <a:stretch/>
        </p:blipFill>
        <p:spPr>
          <a:xfrm>
            <a:off x="6583680" y="1577520"/>
            <a:ext cx="4937400" cy="205704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347" name="Table 370"/>
          <p:cNvGraphicFramePr/>
          <p:nvPr/>
        </p:nvGraphicFramePr>
        <p:xfrm>
          <a:off x="6446520" y="3886200"/>
          <a:ext cx="5211720" cy="2221560"/>
        </p:xfrm>
        <a:graphic>
          <a:graphicData uri="http://schemas.openxmlformats.org/drawingml/2006/table">
            <a:tbl>
              <a:tblPr/>
              <a:tblGrid>
                <a:gridCol w="2148840"/>
                <a:gridCol w="3063240"/>
              </a:tblGrid>
              <a:tr h="2466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Parameter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Meaning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</a:tr>
              <a:tr h="2466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hours_studied, exam_scores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X and Y values of the first set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6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social_media_hours / _scores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X and Y values of the second set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</a:tr>
              <a:tr h="2466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color="green" / "red"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Color of each set of points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6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marker="^" / "x"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Triangle and cross-shaped points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</a:tr>
              <a:tr h="2466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label=...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Legend name of each set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6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plt.legend(loc="best")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Legend placed where it fits best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</a:tr>
              <a:tr h="2466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plt.grid()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Turns the grid on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6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plt.xlabel / ylabel / title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Axis text and chart heading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Shape 0"/>
          <p:cNvSpPr/>
          <p:nvPr/>
        </p:nvSpPr>
        <p:spPr>
          <a:xfrm>
            <a:off x="9692640" y="-1463040"/>
            <a:ext cx="3838320" cy="3838320"/>
          </a:xfrm>
          <a:prstGeom prst="ellipse">
            <a:avLst/>
          </a:prstGeom>
          <a:solidFill>
            <a:srgbClr val="26275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1"/>
          <p:cNvSpPr/>
          <p:nvPr/>
        </p:nvSpPr>
        <p:spPr>
          <a:xfrm>
            <a:off x="-1280160" y="4754880"/>
            <a:ext cx="3106800" cy="3106800"/>
          </a:xfrm>
          <a:prstGeom prst="ellipse">
            <a:avLst/>
          </a:prstGeom>
          <a:solidFill>
            <a:srgbClr val="11362E">
              <a:alpha val="5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2"/>
          <p:cNvSpPr/>
          <p:nvPr/>
        </p:nvSpPr>
        <p:spPr>
          <a:xfrm>
            <a:off x="640080" y="548640"/>
            <a:ext cx="455040" cy="455040"/>
          </a:xfrm>
          <a:prstGeom prst="roundRect">
            <a:avLst>
              <a:gd name="adj" fmla="val 28000"/>
            </a:avLst>
          </a:prstGeom>
          <a:solidFill>
            <a:srgbClr val="818C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3"/>
          <p:cNvSpPr/>
          <p:nvPr/>
        </p:nvSpPr>
        <p:spPr>
          <a:xfrm>
            <a:off x="786240" y="694800"/>
            <a:ext cx="308880" cy="308880"/>
          </a:xfrm>
          <a:prstGeom prst="roundRect">
            <a:avLst>
              <a:gd name="adj" fmla="val 26471"/>
            </a:avLst>
          </a:prstGeom>
          <a:solidFill>
            <a:srgbClr val="0B0F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Shape 4"/>
          <p:cNvSpPr/>
          <p:nvPr/>
        </p:nvSpPr>
        <p:spPr>
          <a:xfrm>
            <a:off x="868680" y="777240"/>
            <a:ext cx="153360" cy="153360"/>
          </a:xfrm>
          <a:prstGeom prst="roundRect">
            <a:avLst>
              <a:gd name="adj" fmla="val 26471"/>
            </a:avLst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6680" tIns="45000" rIns="7668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5"/>
          <p:cNvSpPr/>
          <p:nvPr/>
        </p:nvSpPr>
        <p:spPr>
          <a:xfrm>
            <a:off x="640080" y="2331720"/>
            <a:ext cx="91418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300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05 · SUBPLOTS &amp; OO API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6"/>
          <p:cNvSpPr/>
          <p:nvPr/>
        </p:nvSpPr>
        <p:spPr>
          <a:xfrm>
            <a:off x="640080" y="2743200"/>
            <a:ext cx="10330560" cy="136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pc="-51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Subplots &amp; the Object-Oriented API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7"/>
          <p:cNvSpPr/>
          <p:nvPr/>
        </p:nvSpPr>
        <p:spPr>
          <a:xfrm>
            <a:off x="640080" y="3931920"/>
            <a:ext cx="9690480" cy="72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Combining multiple charts in one Figure, and the more explicit way of writing Matplotlib code used throughout real projects.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8"/>
          <p:cNvSpPr/>
          <p:nvPr/>
        </p:nvSpPr>
        <p:spPr>
          <a:xfrm>
            <a:off x="11505960" y="6473880"/>
            <a:ext cx="5007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25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Text 0"/>
          <p:cNvSpPr/>
          <p:nvPr/>
        </p:nvSpPr>
        <p:spPr>
          <a:xfrm>
            <a:off x="548640" y="384120"/>
            <a:ext cx="959904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05 · SUBPLOTS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1"/>
          <p:cNvSpPr/>
          <p:nvPr/>
        </p:nvSpPr>
        <p:spPr>
          <a:xfrm>
            <a:off x="548640" y="658440"/>
            <a:ext cx="10240920" cy="68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Subplots — plt.subplot() Syntax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Shape 2"/>
          <p:cNvSpPr/>
          <p:nvPr/>
        </p:nvSpPr>
        <p:spPr>
          <a:xfrm>
            <a:off x="11323080" y="384120"/>
            <a:ext cx="381960" cy="381960"/>
          </a:xfrm>
          <a:prstGeom prst="roundRect">
            <a:avLst>
              <a:gd name="adj" fmla="val 28000"/>
            </a:avLst>
          </a:prstGeom>
          <a:solidFill>
            <a:srgbClr val="5755A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3"/>
          <p:cNvSpPr/>
          <p:nvPr/>
        </p:nvSpPr>
        <p:spPr>
          <a:xfrm>
            <a:off x="11445840" y="506880"/>
            <a:ext cx="258840" cy="258840"/>
          </a:xfrm>
          <a:prstGeom prst="roundRect">
            <a:avLst>
              <a:gd name="adj" fmla="val 26471"/>
            </a:avLst>
          </a:prstGeom>
          <a:solidFill>
            <a:srgbClr val="FCF8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Shape 4"/>
          <p:cNvSpPr/>
          <p:nvPr/>
        </p:nvSpPr>
        <p:spPr>
          <a:xfrm>
            <a:off x="11514960" y="576000"/>
            <a:ext cx="128520" cy="128520"/>
          </a:xfrm>
          <a:prstGeom prst="roundRect">
            <a:avLst>
              <a:gd name="adj" fmla="val 26471"/>
            </a:avLst>
          </a:prstGeom>
          <a:solidFill>
            <a:srgbClr val="38675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440" tIns="45000" rIns="644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5"/>
          <p:cNvSpPr/>
          <p:nvPr/>
        </p:nvSpPr>
        <p:spPr>
          <a:xfrm>
            <a:off x="457200" y="6473880"/>
            <a:ext cx="6855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Matplotlib: Data Visualization with Python  ·  GCN Course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6"/>
          <p:cNvSpPr/>
          <p:nvPr/>
        </p:nvSpPr>
        <p:spPr>
          <a:xfrm>
            <a:off x="11505960" y="6473880"/>
            <a:ext cx="5007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Rounded Rectangle 363"/>
          <p:cNvSpPr/>
          <p:nvPr/>
        </p:nvSpPr>
        <p:spPr>
          <a:xfrm>
            <a:off x="548640" y="1554480"/>
            <a:ext cx="5211720" cy="1874160"/>
          </a:xfrm>
          <a:prstGeom prst="roundRect">
            <a:avLst>
              <a:gd name="adj" fmla="val 3000"/>
            </a:avLst>
          </a:prstGeom>
          <a:solidFill>
            <a:srgbClr val="0E142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5" name="Oval 364"/>
          <p:cNvSpPr/>
          <p:nvPr/>
        </p:nvSpPr>
        <p:spPr>
          <a:xfrm>
            <a:off x="713160" y="1700640"/>
            <a:ext cx="100080" cy="10008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6" name="Oval 365"/>
          <p:cNvSpPr/>
          <p:nvPr/>
        </p:nvSpPr>
        <p:spPr>
          <a:xfrm>
            <a:off x="914400" y="1700640"/>
            <a:ext cx="100080" cy="100080"/>
          </a:xfrm>
          <a:prstGeom prst="ellipse">
            <a:avLst/>
          </a:prstGeom>
          <a:solidFill>
            <a:srgbClr val="F9C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7" name="Oval 366"/>
          <p:cNvSpPr/>
          <p:nvPr/>
        </p:nvSpPr>
        <p:spPr>
          <a:xfrm>
            <a:off x="1115640" y="1700640"/>
            <a:ext cx="100080" cy="10008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8" name="TextBox 367"/>
          <p:cNvSpPr/>
          <p:nvPr/>
        </p:nvSpPr>
        <p:spPr>
          <a:xfrm>
            <a:off x="685800" y="1920240"/>
            <a:ext cx="493740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080" tIns="0" rIns="6408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plt.subplot(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nrows,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ncolumns,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index # Here indexing is not 0-based. It is 1-based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69" name="Table 368"/>
          <p:cNvGraphicFramePr/>
          <p:nvPr/>
        </p:nvGraphicFramePr>
        <p:xfrm>
          <a:off x="5989320" y="1554480"/>
          <a:ext cx="5714640" cy="1828800"/>
        </p:xfrm>
        <a:graphic>
          <a:graphicData uri="http://schemas.openxmlformats.org/drawingml/2006/table">
            <a:tbl>
              <a:tblPr/>
              <a:tblGrid>
                <a:gridCol w="2423160"/>
                <a:gridCol w="3291840"/>
              </a:tblGrid>
              <a:tr h="4572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Parameter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Meaning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</a:tr>
              <a:tr h="4572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nrows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Number of rows in the grid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ncolumns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Number of columns in the grid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</a:tr>
              <a:tr h="4572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index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Panel number — 1-based, not 0-based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Text 0"/>
          <p:cNvSpPr/>
          <p:nvPr/>
        </p:nvSpPr>
        <p:spPr>
          <a:xfrm>
            <a:off x="548640" y="384120"/>
            <a:ext cx="959904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05 · SUBPLOTS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1"/>
          <p:cNvSpPr/>
          <p:nvPr/>
        </p:nvSpPr>
        <p:spPr>
          <a:xfrm>
            <a:off x="548640" y="658440"/>
            <a:ext cx="10240920" cy="68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Subplots — plt.subplot() Example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2"/>
          <p:cNvSpPr/>
          <p:nvPr/>
        </p:nvSpPr>
        <p:spPr>
          <a:xfrm>
            <a:off x="11323080" y="384120"/>
            <a:ext cx="381960" cy="381960"/>
          </a:xfrm>
          <a:prstGeom prst="roundRect">
            <a:avLst>
              <a:gd name="adj" fmla="val 28000"/>
            </a:avLst>
          </a:prstGeom>
          <a:solidFill>
            <a:srgbClr val="5755A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Shape 3"/>
          <p:cNvSpPr/>
          <p:nvPr/>
        </p:nvSpPr>
        <p:spPr>
          <a:xfrm>
            <a:off x="11445840" y="506880"/>
            <a:ext cx="258840" cy="258840"/>
          </a:xfrm>
          <a:prstGeom prst="roundRect">
            <a:avLst>
              <a:gd name="adj" fmla="val 26471"/>
            </a:avLst>
          </a:prstGeom>
          <a:solidFill>
            <a:srgbClr val="FCF8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Shape 4"/>
          <p:cNvSpPr/>
          <p:nvPr/>
        </p:nvSpPr>
        <p:spPr>
          <a:xfrm>
            <a:off x="11514960" y="576000"/>
            <a:ext cx="128520" cy="128520"/>
          </a:xfrm>
          <a:prstGeom prst="roundRect">
            <a:avLst>
              <a:gd name="adj" fmla="val 26471"/>
            </a:avLst>
          </a:prstGeom>
          <a:solidFill>
            <a:srgbClr val="38675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440" tIns="45000" rIns="644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5"/>
          <p:cNvSpPr/>
          <p:nvPr/>
        </p:nvSpPr>
        <p:spPr>
          <a:xfrm>
            <a:off x="457200" y="6473880"/>
            <a:ext cx="6855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Matplotlib: Data Visualization with Python  ·  GCN Course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6"/>
          <p:cNvSpPr/>
          <p:nvPr/>
        </p:nvSpPr>
        <p:spPr>
          <a:xfrm>
            <a:off x="11505960" y="6473880"/>
            <a:ext cx="5007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Rounded Rectangle 363"/>
          <p:cNvSpPr/>
          <p:nvPr/>
        </p:nvSpPr>
        <p:spPr>
          <a:xfrm>
            <a:off x="548640" y="1463040"/>
            <a:ext cx="5714640" cy="4937400"/>
          </a:xfrm>
          <a:prstGeom prst="roundRect">
            <a:avLst>
              <a:gd name="adj" fmla="val 3000"/>
            </a:avLst>
          </a:prstGeom>
          <a:solidFill>
            <a:srgbClr val="0E142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8" name="Oval 364"/>
          <p:cNvSpPr/>
          <p:nvPr/>
        </p:nvSpPr>
        <p:spPr>
          <a:xfrm>
            <a:off x="713160" y="1609200"/>
            <a:ext cx="100080" cy="10008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9" name="Oval 365"/>
          <p:cNvSpPr/>
          <p:nvPr/>
        </p:nvSpPr>
        <p:spPr>
          <a:xfrm>
            <a:off x="914400" y="1609200"/>
            <a:ext cx="100080" cy="100080"/>
          </a:xfrm>
          <a:prstGeom prst="ellipse">
            <a:avLst/>
          </a:prstGeom>
          <a:solidFill>
            <a:srgbClr val="F9C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0" name="Oval 366"/>
          <p:cNvSpPr/>
          <p:nvPr/>
        </p:nvSpPr>
        <p:spPr>
          <a:xfrm>
            <a:off x="1115640" y="1609200"/>
            <a:ext cx="100080" cy="10008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1" name="TextBox 367"/>
          <p:cNvSpPr/>
          <p:nvPr/>
        </p:nvSpPr>
        <p:spPr>
          <a:xfrm>
            <a:off x="708480" y="1828800"/>
            <a:ext cx="2574360" cy="336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080" tIns="0" rIns="6408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plt.subplot(1, 2, 1)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plt.plot(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languages,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repositories,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color="red",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marker="o",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label="Repositories"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plt.xticks(rotation=45, ha="right")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plt.legend()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plt.title("Programming Languages")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plt.subplot(1, 2, 2)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Rounded Rectangle 368"/>
          <p:cNvSpPr/>
          <p:nvPr/>
        </p:nvSpPr>
        <p:spPr>
          <a:xfrm>
            <a:off x="6446520" y="1463040"/>
            <a:ext cx="5211720" cy="228564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C8C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83" name="Picture 369" descr="subplot.png"/>
          <p:cNvPicPr/>
          <p:nvPr/>
        </p:nvPicPr>
        <p:blipFill>
          <a:blip r:embed="rId1"/>
          <a:stretch/>
        </p:blipFill>
        <p:spPr>
          <a:xfrm>
            <a:off x="6659280" y="1554480"/>
            <a:ext cx="4786200" cy="210276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384" name="Table 370"/>
          <p:cNvGraphicFramePr/>
          <p:nvPr/>
        </p:nvGraphicFramePr>
        <p:xfrm>
          <a:off x="6446520" y="3886200"/>
          <a:ext cx="5211720" cy="2468520"/>
        </p:xfrm>
        <a:graphic>
          <a:graphicData uri="http://schemas.openxmlformats.org/drawingml/2006/table">
            <a:tbl>
              <a:tblPr/>
              <a:tblGrid>
                <a:gridCol w="2148840"/>
                <a:gridCol w="3063240"/>
              </a:tblGrid>
              <a:tr h="2466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Parameter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Meaning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</a:tr>
              <a:tr h="2466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np.arange(len(languages))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Positions 0–5, one per language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6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plt.subplot(1, 2, 1)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1 row, 2 columns — first panel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</a:tr>
              <a:tr h="2466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plt.subplot(1, 2, 2)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Same grid — second panel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6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linestyle="-."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Dash-dot line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</a:tr>
              <a:tr h="2466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width = 0.4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Width of each bar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6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x1 + width/2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Shifts the bars right of each position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</a:tr>
              <a:tr h="2466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rotation=45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Rotates tick labels by 45°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6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ha="right"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Aligns rotated labels to their ticks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</a:tr>
              <a:tr h="2466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# plt.tight_layout()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Optional: auto-fixes spacing (commented out)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5" name="TextBox 1"/>
          <p:cNvSpPr/>
          <p:nvPr/>
        </p:nvSpPr>
        <p:spPr>
          <a:xfrm>
            <a:off x="3517560" y="1863000"/>
            <a:ext cx="2574360" cy="292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080" tIns="0" rIns="6408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plt.bar(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languages,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repositories,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color="blue",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label="Repositories"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plt.xticks(rotation=45, ha="right")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plt.legend()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plt.title("Repositories byLanguage")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plt.tight_layout()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plt.show()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Text 0"/>
          <p:cNvSpPr/>
          <p:nvPr/>
        </p:nvSpPr>
        <p:spPr>
          <a:xfrm>
            <a:off x="548640" y="384120"/>
            <a:ext cx="959904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05 · SUBPLOTS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1"/>
          <p:cNvSpPr/>
          <p:nvPr/>
        </p:nvSpPr>
        <p:spPr>
          <a:xfrm>
            <a:off x="548640" y="658440"/>
            <a:ext cx="10240920" cy="68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Subplots — plt.subplots() Syntax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Shape 2"/>
          <p:cNvSpPr/>
          <p:nvPr/>
        </p:nvSpPr>
        <p:spPr>
          <a:xfrm>
            <a:off x="11323080" y="384120"/>
            <a:ext cx="381960" cy="381960"/>
          </a:xfrm>
          <a:prstGeom prst="roundRect">
            <a:avLst>
              <a:gd name="adj" fmla="val 28000"/>
            </a:avLst>
          </a:prstGeom>
          <a:solidFill>
            <a:srgbClr val="5755A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Shape 3"/>
          <p:cNvSpPr/>
          <p:nvPr/>
        </p:nvSpPr>
        <p:spPr>
          <a:xfrm>
            <a:off x="11445840" y="506880"/>
            <a:ext cx="258840" cy="258840"/>
          </a:xfrm>
          <a:prstGeom prst="roundRect">
            <a:avLst>
              <a:gd name="adj" fmla="val 26471"/>
            </a:avLst>
          </a:prstGeom>
          <a:solidFill>
            <a:srgbClr val="FCF8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Shape 4"/>
          <p:cNvSpPr/>
          <p:nvPr/>
        </p:nvSpPr>
        <p:spPr>
          <a:xfrm>
            <a:off x="11514960" y="576000"/>
            <a:ext cx="128520" cy="128520"/>
          </a:xfrm>
          <a:prstGeom prst="roundRect">
            <a:avLst>
              <a:gd name="adj" fmla="val 26471"/>
            </a:avLst>
          </a:prstGeom>
          <a:solidFill>
            <a:srgbClr val="38675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440" tIns="45000" rIns="644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5"/>
          <p:cNvSpPr/>
          <p:nvPr/>
        </p:nvSpPr>
        <p:spPr>
          <a:xfrm>
            <a:off x="457200" y="6473880"/>
            <a:ext cx="6855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Matplotlib: Data Visualization with Python  ·  GCN Course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6"/>
          <p:cNvSpPr/>
          <p:nvPr/>
        </p:nvSpPr>
        <p:spPr>
          <a:xfrm>
            <a:off x="11505960" y="6473880"/>
            <a:ext cx="5007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Rounded Rectangle 363"/>
          <p:cNvSpPr/>
          <p:nvPr/>
        </p:nvSpPr>
        <p:spPr>
          <a:xfrm>
            <a:off x="548640" y="1554480"/>
            <a:ext cx="5211720" cy="1874160"/>
          </a:xfrm>
          <a:prstGeom prst="roundRect">
            <a:avLst>
              <a:gd name="adj" fmla="val 3000"/>
            </a:avLst>
          </a:prstGeom>
          <a:solidFill>
            <a:srgbClr val="0E142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4" name="Oval 364"/>
          <p:cNvSpPr/>
          <p:nvPr/>
        </p:nvSpPr>
        <p:spPr>
          <a:xfrm>
            <a:off x="713160" y="1700640"/>
            <a:ext cx="100080" cy="10008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5" name="Oval 365"/>
          <p:cNvSpPr/>
          <p:nvPr/>
        </p:nvSpPr>
        <p:spPr>
          <a:xfrm>
            <a:off x="914400" y="1700640"/>
            <a:ext cx="100080" cy="100080"/>
          </a:xfrm>
          <a:prstGeom prst="ellipse">
            <a:avLst/>
          </a:prstGeom>
          <a:solidFill>
            <a:srgbClr val="F9C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6" name="Oval 366"/>
          <p:cNvSpPr/>
          <p:nvPr/>
        </p:nvSpPr>
        <p:spPr>
          <a:xfrm>
            <a:off x="1115640" y="1700640"/>
            <a:ext cx="100080" cy="10008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7" name="TextBox 367"/>
          <p:cNvSpPr/>
          <p:nvPr/>
        </p:nvSpPr>
        <p:spPr>
          <a:xfrm>
            <a:off x="685800" y="1920240"/>
            <a:ext cx="493740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080" tIns="0" rIns="6408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fig, ax = plt.subplots(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nrows,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ncolumns,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figsize=(width,height) # Tuple: But this is optional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98" name="Table 368"/>
          <p:cNvGraphicFramePr/>
          <p:nvPr/>
        </p:nvGraphicFramePr>
        <p:xfrm>
          <a:off x="5989320" y="1554480"/>
          <a:ext cx="5714640" cy="2743200"/>
        </p:xfrm>
        <a:graphic>
          <a:graphicData uri="http://schemas.openxmlformats.org/drawingml/2006/table">
            <a:tbl>
              <a:tblPr/>
              <a:tblGrid>
                <a:gridCol w="2423160"/>
                <a:gridCol w="3291840"/>
              </a:tblGrid>
              <a:tr h="4572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Parameter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Meaning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</a:tr>
              <a:tr h="4572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fig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The whole Figure (canvas)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ax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The Axes — one panel per grid cell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</a:tr>
              <a:tr h="4572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nrows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Number of rows in the grid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ncolumns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Number of columns in the grid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</a:tr>
              <a:tr h="4572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figsize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Optional (width, height) tuple of the Figure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Text 0"/>
          <p:cNvSpPr/>
          <p:nvPr/>
        </p:nvSpPr>
        <p:spPr>
          <a:xfrm>
            <a:off x="548640" y="384120"/>
            <a:ext cx="959904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05 · SUBPLOTS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1"/>
          <p:cNvSpPr/>
          <p:nvPr/>
        </p:nvSpPr>
        <p:spPr>
          <a:xfrm>
            <a:off x="548640" y="658440"/>
            <a:ext cx="10240920" cy="68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Subplots — plt.subplots() Example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Shape 2"/>
          <p:cNvSpPr/>
          <p:nvPr/>
        </p:nvSpPr>
        <p:spPr>
          <a:xfrm>
            <a:off x="11323080" y="384120"/>
            <a:ext cx="381960" cy="381960"/>
          </a:xfrm>
          <a:prstGeom prst="roundRect">
            <a:avLst>
              <a:gd name="adj" fmla="val 28000"/>
            </a:avLst>
          </a:prstGeom>
          <a:solidFill>
            <a:srgbClr val="5755A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2" name="Shape 3"/>
          <p:cNvSpPr/>
          <p:nvPr/>
        </p:nvSpPr>
        <p:spPr>
          <a:xfrm>
            <a:off x="11445840" y="506880"/>
            <a:ext cx="258840" cy="258840"/>
          </a:xfrm>
          <a:prstGeom prst="roundRect">
            <a:avLst>
              <a:gd name="adj" fmla="val 26471"/>
            </a:avLst>
          </a:prstGeom>
          <a:solidFill>
            <a:srgbClr val="FCF8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Shape 4"/>
          <p:cNvSpPr/>
          <p:nvPr/>
        </p:nvSpPr>
        <p:spPr>
          <a:xfrm>
            <a:off x="11514960" y="576000"/>
            <a:ext cx="128520" cy="128520"/>
          </a:xfrm>
          <a:prstGeom prst="roundRect">
            <a:avLst>
              <a:gd name="adj" fmla="val 26471"/>
            </a:avLst>
          </a:prstGeom>
          <a:solidFill>
            <a:srgbClr val="38675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440" tIns="45000" rIns="644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 5"/>
          <p:cNvSpPr/>
          <p:nvPr/>
        </p:nvSpPr>
        <p:spPr>
          <a:xfrm>
            <a:off x="457200" y="6473880"/>
            <a:ext cx="6855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Matplotlib: Data Visualization with Python  ·  GCN Course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6"/>
          <p:cNvSpPr/>
          <p:nvPr/>
        </p:nvSpPr>
        <p:spPr>
          <a:xfrm>
            <a:off x="11505960" y="6473880"/>
            <a:ext cx="5007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Rounded Rectangle 363"/>
          <p:cNvSpPr/>
          <p:nvPr/>
        </p:nvSpPr>
        <p:spPr>
          <a:xfrm>
            <a:off x="548640" y="1463040"/>
            <a:ext cx="5714640" cy="4937400"/>
          </a:xfrm>
          <a:prstGeom prst="roundRect">
            <a:avLst>
              <a:gd name="adj" fmla="val 3000"/>
            </a:avLst>
          </a:prstGeom>
          <a:solidFill>
            <a:srgbClr val="0E142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7" name="Oval 364"/>
          <p:cNvSpPr/>
          <p:nvPr/>
        </p:nvSpPr>
        <p:spPr>
          <a:xfrm>
            <a:off x="713160" y="1609200"/>
            <a:ext cx="100080" cy="10008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8" name="Oval 365"/>
          <p:cNvSpPr/>
          <p:nvPr/>
        </p:nvSpPr>
        <p:spPr>
          <a:xfrm>
            <a:off x="914400" y="1609200"/>
            <a:ext cx="100080" cy="100080"/>
          </a:xfrm>
          <a:prstGeom prst="ellipse">
            <a:avLst/>
          </a:prstGeom>
          <a:solidFill>
            <a:srgbClr val="F9C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9" name="Oval 366"/>
          <p:cNvSpPr/>
          <p:nvPr/>
        </p:nvSpPr>
        <p:spPr>
          <a:xfrm>
            <a:off x="1115640" y="1609200"/>
            <a:ext cx="100080" cy="10008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0" name="TextBox 367"/>
          <p:cNvSpPr/>
          <p:nvPr/>
        </p:nvSpPr>
        <p:spPr>
          <a:xfrm>
            <a:off x="708840" y="1828800"/>
            <a:ext cx="3477600" cy="450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080" tIns="0" rIns="6408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/>
                </a:solidFill>
                <a:effectLst/>
                <a:highlight>
                  <a:srgbClr val="292A2B"/>
                </a:highlight>
                <a:uFillTx/>
                <a:latin typeface="Calibri"/>
                <a:ea typeface="Calibri"/>
              </a:rPr>
              <a:t>languages = ["Go", "Python", "Rust", "JavaScript", "C++", "Java"]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/>
                </a:solidFill>
                <a:effectLst/>
                <a:highlight>
                  <a:srgbClr val="292A2B"/>
                </a:highlight>
                <a:uFillTx/>
                <a:latin typeface="Calibri"/>
                <a:ea typeface="Calibri"/>
              </a:rPr>
              <a:t>repositories = [350, 850, 280, 720, 480, 610]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/>
                </a:solidFill>
                <a:effectLst/>
                <a:highlight>
                  <a:srgbClr val="292A2B"/>
                </a:highlight>
                <a:uFillTx/>
                <a:latin typeface="Calibri"/>
                <a:ea typeface="Calibri"/>
              </a:rPr>
              <a:t>fig, ax = plt.subplots(1, 2, figsize=(10, 5))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/>
                </a:solidFill>
                <a:effectLst/>
                <a:highlight>
                  <a:srgbClr val="292A2B"/>
                </a:highlight>
                <a:uFillTx/>
                <a:latin typeface="Calibri"/>
                <a:ea typeface="Calibri"/>
              </a:rPr>
              <a:t>ax[0].plot(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/>
                </a:solidFill>
                <a:effectLst/>
                <a:highlight>
                  <a:srgbClr val="292A2B"/>
                </a:highlight>
                <a:uFillTx/>
                <a:latin typeface="Calibri"/>
                <a:ea typeface="Calibri"/>
              </a:rPr>
              <a:t>languages,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/>
                </a:solidFill>
                <a:effectLst/>
                <a:highlight>
                  <a:srgbClr val="292A2B"/>
                </a:highlight>
                <a:uFillTx/>
                <a:latin typeface="Calibri"/>
                <a:ea typeface="Calibri"/>
              </a:rPr>
              <a:t>repositories,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/>
                </a:solidFill>
                <a:effectLst/>
                <a:highlight>
                  <a:srgbClr val="292A2B"/>
                </a:highlight>
                <a:uFillTx/>
                <a:latin typeface="Calibri"/>
                <a:ea typeface="Calibri"/>
              </a:rPr>
              <a:t>color="green",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/>
                </a:solidFill>
                <a:effectLst/>
                <a:highlight>
                  <a:srgbClr val="292A2B"/>
                </a:highlight>
                <a:uFillTx/>
                <a:latin typeface="Calibri"/>
                <a:ea typeface="Calibri"/>
              </a:rPr>
              <a:t>marker="o",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/>
                </a:solidFill>
                <a:effectLst/>
                <a:highlight>
                  <a:srgbClr val="292A2B"/>
                </a:highlight>
                <a:uFillTx/>
                <a:latin typeface="Calibri"/>
                <a:ea typeface="Calibri"/>
              </a:rPr>
              <a:t>label="Repositories"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/>
                </a:solidFill>
                <a:effectLst/>
                <a:highlight>
                  <a:srgbClr val="292A2B"/>
                </a:highlight>
                <a:uFillTx/>
                <a:latin typeface="Calibri"/>
                <a:ea typeface="Calibri"/>
              </a:rPr>
              <a:t>)</a:t>
            </a:r>
            <a:br>
              <a:rPr sz="1100"/>
            </a:b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/>
                </a:solidFill>
                <a:effectLst/>
                <a:highlight>
                  <a:srgbClr val="292A2B"/>
                </a:highlight>
                <a:uFillTx/>
                <a:latin typeface="Calibri"/>
                <a:ea typeface="Calibri"/>
              </a:rPr>
              <a:t>ax[0].set_title("Line Graph")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/>
                </a:solidFill>
                <a:effectLst/>
                <a:highlight>
                  <a:srgbClr val="292A2B"/>
                </a:highlight>
                <a:uFillTx/>
                <a:latin typeface="Calibri"/>
                <a:ea typeface="Calibri"/>
              </a:rPr>
              <a:t>ax[0].set_xticklabels(languages, rotation=45, ha="right")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/>
                </a:solidFill>
                <a:effectLst/>
                <a:highlight>
                  <a:srgbClr val="292A2B"/>
                </a:highlight>
                <a:uFillTx/>
                <a:latin typeface="Calibri"/>
                <a:ea typeface="Calibri"/>
              </a:rPr>
              <a:t>ax[0].legend()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/>
                </a:solidFill>
                <a:effectLst/>
                <a:highlight>
                  <a:srgbClr val="292A2B"/>
                </a:highlight>
                <a:uFillTx/>
                <a:latin typeface="Calibri"/>
                <a:ea typeface="Calibri"/>
              </a:rPr>
              <a:t>ax[1].bar(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/>
                </a:solidFill>
                <a:effectLst/>
                <a:highlight>
                  <a:srgbClr val="292A2B"/>
                </a:highlight>
                <a:uFillTx/>
                <a:latin typeface="Calibri"/>
                <a:ea typeface="Calibri"/>
              </a:rPr>
              <a:t>languages,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/>
                </a:solidFill>
                <a:effectLst/>
                <a:highlight>
                  <a:srgbClr val="292A2B"/>
                </a:highlight>
                <a:uFillTx/>
                <a:latin typeface="Calibri"/>
                <a:ea typeface="Calibri"/>
              </a:rPr>
              <a:t>repositories,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/>
                </a:solidFill>
                <a:effectLst/>
                <a:highlight>
                  <a:srgbClr val="292A2B"/>
                </a:highlight>
                <a:uFillTx/>
                <a:latin typeface="Calibri"/>
                <a:ea typeface="Calibri"/>
              </a:rPr>
              <a:t>color="teal",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/>
                </a:solidFill>
                <a:effectLst/>
                <a:highlight>
                  <a:srgbClr val="292A2B"/>
                </a:highlight>
                <a:uFillTx/>
                <a:latin typeface="Calibri"/>
                <a:ea typeface="Calibri"/>
              </a:rPr>
              <a:t>label="Repositories"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/>
                </a:solidFill>
                <a:effectLst/>
                <a:highlight>
                  <a:srgbClr val="292A2B"/>
                </a:highlight>
                <a:uFillTx/>
                <a:latin typeface="Calibri"/>
                <a:ea typeface="Calibri"/>
              </a:rPr>
              <a:t>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Rounded Rectangle 368"/>
          <p:cNvSpPr/>
          <p:nvPr/>
        </p:nvSpPr>
        <p:spPr>
          <a:xfrm>
            <a:off x="6446520" y="1463040"/>
            <a:ext cx="5211720" cy="228564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C8C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412" name="Picture 369" descr="subplots.png"/>
          <p:cNvPicPr/>
          <p:nvPr/>
        </p:nvPicPr>
        <p:blipFill>
          <a:blip r:embed="rId1"/>
          <a:stretch/>
        </p:blipFill>
        <p:spPr>
          <a:xfrm>
            <a:off x="6659280" y="1554480"/>
            <a:ext cx="4786200" cy="210276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413" name="Table 370"/>
          <p:cNvGraphicFramePr/>
          <p:nvPr/>
        </p:nvGraphicFramePr>
        <p:xfrm>
          <a:off x="6446520" y="3886200"/>
          <a:ext cx="5211720" cy="2221560"/>
        </p:xfrm>
        <a:graphic>
          <a:graphicData uri="http://schemas.openxmlformats.org/drawingml/2006/table">
            <a:tbl>
              <a:tblPr/>
              <a:tblGrid>
                <a:gridCol w="2148840"/>
                <a:gridCol w="3063240"/>
              </a:tblGrid>
              <a:tr h="2466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Parameter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Meaning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</a:tr>
              <a:tr h="2466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fig, ax = plt.subplots(...)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Creates one Figure and its Axes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6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1, 2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1 row and 2 columns of Axes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</a:tr>
              <a:tr h="2466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figsize=(10, 5)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Figure is 10 in wide and 5 in tall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6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ax[0] / ax[1]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First / second Axes (0-based index)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</a:tr>
              <a:tr h="2466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ax[0].plot(...)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Line graph drawn on the first Axes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6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ax[1].bar(...)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Bar chart drawn on the second Axes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</a:tr>
              <a:tr h="2466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set_title("...")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Heading of that Axes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6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plt.tight_layout()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Auto-fixes spacing between panels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</a:tr>
            </a:tbl>
          </a:graphicData>
        </a:graphic>
      </p:graphicFrame>
      <p:sp>
        <p:nvSpPr>
          <p:cNvPr id="414" name="TextBox 1"/>
          <p:cNvSpPr/>
          <p:nvPr/>
        </p:nvSpPr>
        <p:spPr>
          <a:xfrm>
            <a:off x="4057200" y="1828800"/>
            <a:ext cx="2184480" cy="152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080" tIns="0" rIns="6408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/>
                </a:solidFill>
                <a:effectLst/>
                <a:highlight>
                  <a:srgbClr val="292A2B"/>
                </a:highlight>
                <a:uFillTx/>
                <a:latin typeface="Calibri"/>
                <a:ea typeface="Calibri"/>
              </a:rPr>
              <a:t>ax[1].set_title("Bar Chart")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/>
                </a:solidFill>
                <a:effectLst/>
                <a:highlight>
                  <a:srgbClr val="292A2B"/>
                </a:highlight>
                <a:uFillTx/>
                <a:latin typeface="Calibri"/>
                <a:ea typeface="Calibri"/>
              </a:rPr>
              <a:t>ax[1].set_xticklabels(languages, rotation=45, ha="right")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/>
                </a:solidFill>
                <a:effectLst/>
                <a:highlight>
                  <a:srgbClr val="292A2B"/>
                </a:highlight>
                <a:uFillTx/>
                <a:latin typeface="Calibri"/>
                <a:ea typeface="Calibri"/>
              </a:rPr>
              <a:t>ax[1].legend()</a:t>
            </a:r>
            <a:br>
              <a:rPr sz="1100"/>
            </a:b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/>
                </a:solidFill>
                <a:effectLst/>
                <a:highlight>
                  <a:srgbClr val="292A2B"/>
                </a:highlight>
                <a:uFillTx/>
                <a:latin typeface="Calibri"/>
                <a:ea typeface="Calibri"/>
              </a:rPr>
              <a:t>plt.tight_layout()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lt1"/>
                </a:solidFill>
                <a:effectLst/>
                <a:highlight>
                  <a:srgbClr val="292A2B"/>
                </a:highlight>
                <a:uFillTx/>
                <a:latin typeface="Calibri"/>
                <a:ea typeface="Calibri"/>
              </a:rPr>
              <a:t>plt.show()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Text 0"/>
          <p:cNvSpPr/>
          <p:nvPr/>
        </p:nvSpPr>
        <p:spPr>
          <a:xfrm>
            <a:off x="548640" y="384120"/>
            <a:ext cx="959904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05 · OBJECT-ORIENTED API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1"/>
          <p:cNvSpPr/>
          <p:nvPr/>
        </p:nvSpPr>
        <p:spPr>
          <a:xfrm>
            <a:off x="548640" y="658440"/>
            <a:ext cx="10239120" cy="68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Two Ways to Write Matplotlib Code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Shape 2"/>
          <p:cNvSpPr/>
          <p:nvPr/>
        </p:nvSpPr>
        <p:spPr>
          <a:xfrm>
            <a:off x="11323080" y="384120"/>
            <a:ext cx="381960" cy="381960"/>
          </a:xfrm>
          <a:prstGeom prst="roundRect">
            <a:avLst>
              <a:gd name="adj" fmla="val 28000"/>
            </a:avLst>
          </a:prstGeom>
          <a:solidFill>
            <a:srgbClr val="5755A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Shape 3"/>
          <p:cNvSpPr/>
          <p:nvPr/>
        </p:nvSpPr>
        <p:spPr>
          <a:xfrm>
            <a:off x="11445840" y="506880"/>
            <a:ext cx="258840" cy="258840"/>
          </a:xfrm>
          <a:prstGeom prst="roundRect">
            <a:avLst>
              <a:gd name="adj" fmla="val 26471"/>
            </a:avLst>
          </a:prstGeom>
          <a:solidFill>
            <a:srgbClr val="FCF8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Shape 4"/>
          <p:cNvSpPr/>
          <p:nvPr/>
        </p:nvSpPr>
        <p:spPr>
          <a:xfrm>
            <a:off x="11514960" y="576000"/>
            <a:ext cx="128520" cy="128520"/>
          </a:xfrm>
          <a:prstGeom prst="roundRect">
            <a:avLst>
              <a:gd name="adj" fmla="val 26471"/>
            </a:avLst>
          </a:prstGeom>
          <a:solidFill>
            <a:srgbClr val="38675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440" tIns="45000" rIns="644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5"/>
          <p:cNvSpPr/>
          <p:nvPr/>
        </p:nvSpPr>
        <p:spPr>
          <a:xfrm>
            <a:off x="457200" y="6473880"/>
            <a:ext cx="6855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Matplotlib: Data Visualization with Python  ·  GCN Course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Shape 6"/>
          <p:cNvSpPr/>
          <p:nvPr/>
        </p:nvSpPr>
        <p:spPr>
          <a:xfrm>
            <a:off x="548640" y="1737360"/>
            <a:ext cx="5209920" cy="39297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Shape 7"/>
          <p:cNvSpPr/>
          <p:nvPr/>
        </p:nvSpPr>
        <p:spPr>
          <a:xfrm>
            <a:off x="777240" y="1938600"/>
            <a:ext cx="1460880" cy="29052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8"/>
          <p:cNvSpPr/>
          <p:nvPr/>
        </p:nvSpPr>
        <p:spPr>
          <a:xfrm>
            <a:off x="777240" y="1938600"/>
            <a:ext cx="146088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2019"/>
                </a:solidFill>
                <a:effectLst/>
                <a:uFillTx/>
                <a:latin typeface="Plus Jakarta Sans"/>
                <a:ea typeface="Plus Jakarta Sans"/>
              </a:rPr>
              <a:t>PYPLOT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Shape 9"/>
          <p:cNvSpPr/>
          <p:nvPr/>
        </p:nvSpPr>
        <p:spPr>
          <a:xfrm>
            <a:off x="777240" y="2514600"/>
            <a:ext cx="4752720" cy="1827000"/>
          </a:xfrm>
          <a:prstGeom prst="roundRect">
            <a:avLst>
              <a:gd name="adj" fmla="val 6486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Shape 10"/>
          <p:cNvSpPr/>
          <p:nvPr/>
        </p:nvSpPr>
        <p:spPr>
          <a:xfrm>
            <a:off x="941760" y="2660760"/>
            <a:ext cx="98280" cy="982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9320" tIns="26280" rIns="4932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Shape 11"/>
          <p:cNvSpPr/>
          <p:nvPr/>
        </p:nvSpPr>
        <p:spPr>
          <a:xfrm>
            <a:off x="1143000" y="2660760"/>
            <a:ext cx="98280" cy="982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9320" tIns="26280" rIns="4932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Shape 12"/>
          <p:cNvSpPr/>
          <p:nvPr/>
        </p:nvSpPr>
        <p:spPr>
          <a:xfrm>
            <a:off x="1344240" y="2660760"/>
            <a:ext cx="98280" cy="982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9320" tIns="26280" rIns="4932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13"/>
          <p:cNvSpPr/>
          <p:nvPr/>
        </p:nvSpPr>
        <p:spPr>
          <a:xfrm>
            <a:off x="978480" y="2898720"/>
            <a:ext cx="4350240" cy="11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plt.plot(x, y)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plt.title("Sales")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plt.xlabel("Month")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plt.legend()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 14"/>
          <p:cNvSpPr/>
          <p:nvPr/>
        </p:nvSpPr>
        <p:spPr>
          <a:xfrm>
            <a:off x="777240" y="4343400"/>
            <a:ext cx="475272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Implicit:</a:t>
            </a:r>
            <a:r>
              <a:rPr lang="en-US" sz="12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  Matplotlib tracks "the current" figure and axes for you. Quick for a single chart.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Shape 15"/>
          <p:cNvSpPr/>
          <p:nvPr/>
        </p:nvSpPr>
        <p:spPr>
          <a:xfrm>
            <a:off x="6217920" y="1737360"/>
            <a:ext cx="5209920" cy="39297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Shape 16"/>
          <p:cNvSpPr/>
          <p:nvPr/>
        </p:nvSpPr>
        <p:spPr>
          <a:xfrm>
            <a:off x="6446520" y="1938600"/>
            <a:ext cx="1826640" cy="29052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17"/>
          <p:cNvSpPr/>
          <p:nvPr/>
        </p:nvSpPr>
        <p:spPr>
          <a:xfrm>
            <a:off x="6446520" y="1938600"/>
            <a:ext cx="182664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31F71"/>
                </a:solidFill>
                <a:effectLst/>
                <a:uFillTx/>
                <a:latin typeface="Plus Jakarta Sans"/>
                <a:ea typeface="Plus Jakarta Sans"/>
              </a:rPr>
              <a:t>OBJECT-ORIENTED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Shape 18"/>
          <p:cNvSpPr/>
          <p:nvPr/>
        </p:nvSpPr>
        <p:spPr>
          <a:xfrm>
            <a:off x="6446520" y="2514600"/>
            <a:ext cx="4752720" cy="1827000"/>
          </a:xfrm>
          <a:prstGeom prst="roundRect">
            <a:avLst>
              <a:gd name="adj" fmla="val 6486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Shape 19"/>
          <p:cNvSpPr/>
          <p:nvPr/>
        </p:nvSpPr>
        <p:spPr>
          <a:xfrm>
            <a:off x="6611040" y="2660760"/>
            <a:ext cx="98280" cy="982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9320" tIns="26280" rIns="4932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Shape 20"/>
          <p:cNvSpPr/>
          <p:nvPr/>
        </p:nvSpPr>
        <p:spPr>
          <a:xfrm>
            <a:off x="6812280" y="2660760"/>
            <a:ext cx="98280" cy="982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9320" tIns="26280" rIns="4932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Shape 21"/>
          <p:cNvSpPr/>
          <p:nvPr/>
        </p:nvSpPr>
        <p:spPr>
          <a:xfrm>
            <a:off x="7013520" y="2660760"/>
            <a:ext cx="98280" cy="982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9320" tIns="26280" rIns="4932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22"/>
          <p:cNvSpPr/>
          <p:nvPr/>
        </p:nvSpPr>
        <p:spPr>
          <a:xfrm>
            <a:off x="6647760" y="2898720"/>
            <a:ext cx="4350240" cy="11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fig, ax = plt.subplots()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ax.plot(x, y)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ax.set_title("Sales")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ax.set_xlabel("Month")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ax.legend()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23"/>
          <p:cNvSpPr/>
          <p:nvPr/>
        </p:nvSpPr>
        <p:spPr>
          <a:xfrm>
            <a:off x="6446520" y="4343400"/>
            <a:ext cx="475272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Explicit:</a:t>
            </a:r>
            <a:r>
              <a:rPr lang="en-US" sz="12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 you name exactly which Axes you're drawing on. Scales cleanly to subplots and reusable functions.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 24"/>
          <p:cNvSpPr/>
          <p:nvPr/>
        </p:nvSpPr>
        <p:spPr>
          <a:xfrm>
            <a:off x="11505960" y="6473880"/>
            <a:ext cx="5007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Text 0"/>
          <p:cNvSpPr/>
          <p:nvPr/>
        </p:nvSpPr>
        <p:spPr>
          <a:xfrm>
            <a:off x="548640" y="384120"/>
            <a:ext cx="959904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06 · SAVING PLOTS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 1"/>
          <p:cNvSpPr/>
          <p:nvPr/>
        </p:nvSpPr>
        <p:spPr>
          <a:xfrm>
            <a:off x="548640" y="658440"/>
            <a:ext cx="10240920" cy="68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Saving Plots — plt.savefig() Syntax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Shape 2"/>
          <p:cNvSpPr/>
          <p:nvPr/>
        </p:nvSpPr>
        <p:spPr>
          <a:xfrm>
            <a:off x="11323080" y="384120"/>
            <a:ext cx="381960" cy="381960"/>
          </a:xfrm>
          <a:prstGeom prst="roundRect">
            <a:avLst>
              <a:gd name="adj" fmla="val 28000"/>
            </a:avLst>
          </a:prstGeom>
          <a:solidFill>
            <a:srgbClr val="5755A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3" name="Shape 3"/>
          <p:cNvSpPr/>
          <p:nvPr/>
        </p:nvSpPr>
        <p:spPr>
          <a:xfrm>
            <a:off x="11445840" y="506880"/>
            <a:ext cx="258840" cy="258840"/>
          </a:xfrm>
          <a:prstGeom prst="roundRect">
            <a:avLst>
              <a:gd name="adj" fmla="val 26471"/>
            </a:avLst>
          </a:prstGeom>
          <a:solidFill>
            <a:srgbClr val="FCF8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Shape 4"/>
          <p:cNvSpPr/>
          <p:nvPr/>
        </p:nvSpPr>
        <p:spPr>
          <a:xfrm>
            <a:off x="11514960" y="576000"/>
            <a:ext cx="128520" cy="128520"/>
          </a:xfrm>
          <a:prstGeom prst="roundRect">
            <a:avLst>
              <a:gd name="adj" fmla="val 26471"/>
            </a:avLst>
          </a:prstGeom>
          <a:solidFill>
            <a:srgbClr val="38675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440" tIns="45000" rIns="644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 5"/>
          <p:cNvSpPr/>
          <p:nvPr/>
        </p:nvSpPr>
        <p:spPr>
          <a:xfrm>
            <a:off x="457200" y="6473880"/>
            <a:ext cx="6855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Matplotlib: Data Visualization with Python  ·  GCN Course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 6"/>
          <p:cNvSpPr/>
          <p:nvPr/>
        </p:nvSpPr>
        <p:spPr>
          <a:xfrm>
            <a:off x="11505960" y="6473880"/>
            <a:ext cx="5007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Rounded Rectangle 363"/>
          <p:cNvSpPr/>
          <p:nvPr/>
        </p:nvSpPr>
        <p:spPr>
          <a:xfrm>
            <a:off x="548640" y="1554480"/>
            <a:ext cx="5211720" cy="1874160"/>
          </a:xfrm>
          <a:prstGeom prst="roundRect">
            <a:avLst>
              <a:gd name="adj" fmla="val 3000"/>
            </a:avLst>
          </a:prstGeom>
          <a:solidFill>
            <a:srgbClr val="0E142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8" name="Oval 364"/>
          <p:cNvSpPr/>
          <p:nvPr/>
        </p:nvSpPr>
        <p:spPr>
          <a:xfrm>
            <a:off x="713160" y="1700640"/>
            <a:ext cx="100080" cy="10008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9" name="Oval 365"/>
          <p:cNvSpPr/>
          <p:nvPr/>
        </p:nvSpPr>
        <p:spPr>
          <a:xfrm>
            <a:off x="914400" y="1700640"/>
            <a:ext cx="100080" cy="100080"/>
          </a:xfrm>
          <a:prstGeom prst="ellipse">
            <a:avLst/>
          </a:prstGeom>
          <a:solidFill>
            <a:srgbClr val="F9C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0" name="Oval 366"/>
          <p:cNvSpPr/>
          <p:nvPr/>
        </p:nvSpPr>
        <p:spPr>
          <a:xfrm>
            <a:off x="1115640" y="1700640"/>
            <a:ext cx="100080" cy="10008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1" name="TextBox 367"/>
          <p:cNvSpPr/>
          <p:nvPr/>
        </p:nvSpPr>
        <p:spPr>
          <a:xfrm>
            <a:off x="685800" y="1920240"/>
            <a:ext cx="493740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080" tIns="0" rIns="6408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savefig(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"filename.file_extension",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dpi=value,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bbox_inches="inches value"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52" name="Table 368"/>
          <p:cNvGraphicFramePr/>
          <p:nvPr/>
        </p:nvGraphicFramePr>
        <p:xfrm>
          <a:off x="5989320" y="1554480"/>
          <a:ext cx="5714640" cy="1828800"/>
        </p:xfrm>
        <a:graphic>
          <a:graphicData uri="http://schemas.openxmlformats.org/drawingml/2006/table">
            <a:tbl>
              <a:tblPr/>
              <a:tblGrid>
                <a:gridCol w="2423160"/>
                <a:gridCol w="3291840"/>
              </a:tblGrid>
              <a:tr h="4572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Parameter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Meaning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</a:tr>
              <a:tr h="4572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filename.file_extension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File name + format, e.g. .png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dpi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Resolution in dots per inch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</a:tr>
              <a:tr h="4572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bbox_inches</a:t>
                      </a:r>
                      <a:endParaRPr lang="en-US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Area of the figure that is saved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Text 0"/>
          <p:cNvSpPr/>
          <p:nvPr/>
        </p:nvSpPr>
        <p:spPr>
          <a:xfrm>
            <a:off x="548640" y="384120"/>
            <a:ext cx="959904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06 · SAVING PLOTS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1"/>
          <p:cNvSpPr/>
          <p:nvPr/>
        </p:nvSpPr>
        <p:spPr>
          <a:xfrm>
            <a:off x="548640" y="658440"/>
            <a:ext cx="10240920" cy="68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Saving Plots — Example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Shape 2"/>
          <p:cNvSpPr/>
          <p:nvPr/>
        </p:nvSpPr>
        <p:spPr>
          <a:xfrm>
            <a:off x="11323080" y="384120"/>
            <a:ext cx="381960" cy="381960"/>
          </a:xfrm>
          <a:prstGeom prst="roundRect">
            <a:avLst>
              <a:gd name="adj" fmla="val 28000"/>
            </a:avLst>
          </a:prstGeom>
          <a:solidFill>
            <a:srgbClr val="5755A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6" name="Shape 3"/>
          <p:cNvSpPr/>
          <p:nvPr/>
        </p:nvSpPr>
        <p:spPr>
          <a:xfrm>
            <a:off x="11445840" y="506880"/>
            <a:ext cx="258840" cy="258840"/>
          </a:xfrm>
          <a:prstGeom prst="roundRect">
            <a:avLst>
              <a:gd name="adj" fmla="val 26471"/>
            </a:avLst>
          </a:prstGeom>
          <a:solidFill>
            <a:srgbClr val="FCF8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Shape 4"/>
          <p:cNvSpPr/>
          <p:nvPr/>
        </p:nvSpPr>
        <p:spPr>
          <a:xfrm>
            <a:off x="11514960" y="576000"/>
            <a:ext cx="128520" cy="128520"/>
          </a:xfrm>
          <a:prstGeom prst="roundRect">
            <a:avLst>
              <a:gd name="adj" fmla="val 26471"/>
            </a:avLst>
          </a:prstGeom>
          <a:solidFill>
            <a:srgbClr val="38675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440" tIns="45000" rIns="644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 5"/>
          <p:cNvSpPr/>
          <p:nvPr/>
        </p:nvSpPr>
        <p:spPr>
          <a:xfrm>
            <a:off x="457200" y="6473880"/>
            <a:ext cx="6855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Matplotlib: Data Visualization with Python  ·  GCN Course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 6"/>
          <p:cNvSpPr/>
          <p:nvPr/>
        </p:nvSpPr>
        <p:spPr>
          <a:xfrm>
            <a:off x="11505960" y="6473880"/>
            <a:ext cx="5007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Rounded Rectangle 363"/>
          <p:cNvSpPr/>
          <p:nvPr/>
        </p:nvSpPr>
        <p:spPr>
          <a:xfrm>
            <a:off x="548640" y="1463040"/>
            <a:ext cx="5714640" cy="4937400"/>
          </a:xfrm>
          <a:prstGeom prst="roundRect">
            <a:avLst>
              <a:gd name="adj" fmla="val 3000"/>
            </a:avLst>
          </a:prstGeom>
          <a:solidFill>
            <a:srgbClr val="0E1420"/>
          </a:solidFill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1" name="Oval 364"/>
          <p:cNvSpPr/>
          <p:nvPr/>
        </p:nvSpPr>
        <p:spPr>
          <a:xfrm>
            <a:off x="713160" y="1609200"/>
            <a:ext cx="100080" cy="10008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2" name="Oval 365"/>
          <p:cNvSpPr/>
          <p:nvPr/>
        </p:nvSpPr>
        <p:spPr>
          <a:xfrm>
            <a:off x="914400" y="1609200"/>
            <a:ext cx="100080" cy="100080"/>
          </a:xfrm>
          <a:prstGeom prst="ellipse">
            <a:avLst/>
          </a:prstGeom>
          <a:solidFill>
            <a:srgbClr val="F9C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3" name="Oval 366"/>
          <p:cNvSpPr/>
          <p:nvPr/>
        </p:nvSpPr>
        <p:spPr>
          <a:xfrm>
            <a:off x="1115640" y="1609200"/>
            <a:ext cx="100080" cy="10008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6280" rIns="90000" bIns="26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4" name="TextBox 367"/>
          <p:cNvSpPr/>
          <p:nvPr/>
        </p:nvSpPr>
        <p:spPr>
          <a:xfrm>
            <a:off x="685800" y="1828800"/>
            <a:ext cx="5440320" cy="448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080" tIns="0" rIns="64080" bIns="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import matplotlib.pyplot as plt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import numpy as np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languages = ["Go", "Python", "Rust", "JavaScript", "C++", "Java"]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repositories = [350, 850, 280, 720, 480, 610]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width = 0.4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x1 = np.arange(len(languages))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plt.plot(x1, repositories, color="red", linewidth=3,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     linestyle=":", marker="o", label="Repositories")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plt.title("Programming Languages")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plt.legend()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plt.xlabel("Languages")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plt.ylabel("Repositories")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plt.xticks(x1, languages, rotation=45, ha="right")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plt.yticks([0, 500, 1000, 1500],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       ['Zero', 'Low', 'Medium', 'High'])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plt.tight_layout()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plt.savefig(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"./outputs/line_graph_high_quality.png",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dpi=5000,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    bbox_inches="tight"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F1F5F9"/>
                </a:solidFill>
                <a:effectLst/>
                <a:uFillTx/>
                <a:latin typeface="Consolas"/>
              </a:rPr>
              <a:t>plt.show()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Rounded Rectangle 368"/>
          <p:cNvSpPr/>
          <p:nvPr/>
        </p:nvSpPr>
        <p:spPr>
          <a:xfrm>
            <a:off x="6446520" y="1463040"/>
            <a:ext cx="5211720" cy="228564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C8C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466" name="Picture 369" descr="saving.png"/>
          <p:cNvPicPr/>
          <p:nvPr/>
        </p:nvPicPr>
        <p:blipFill>
          <a:blip r:embed="rId1"/>
          <a:stretch/>
        </p:blipFill>
        <p:spPr>
          <a:xfrm>
            <a:off x="6659280" y="1554480"/>
            <a:ext cx="4786200" cy="210276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467" name="Table 370"/>
          <p:cNvGraphicFramePr/>
          <p:nvPr/>
        </p:nvGraphicFramePr>
        <p:xfrm>
          <a:off x="6446520" y="3886200"/>
          <a:ext cx="5211720" cy="1974600"/>
        </p:xfrm>
        <a:graphic>
          <a:graphicData uri="http://schemas.openxmlformats.org/drawingml/2006/table">
            <a:tbl>
              <a:tblPr/>
              <a:tblGrid>
                <a:gridCol w="2148840"/>
                <a:gridCol w="3063240"/>
              </a:tblGrid>
              <a:tr h="2466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Parameter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</a:rPr>
                        <a:t>Meaning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</a:tr>
              <a:tr h="2466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rotation=45, ha="right"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Tilts labels 45°, aligned to ticks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6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plt.yticks([0, 500, ...], [...])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Text labels replace the Y numbers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</a:tr>
              <a:tr h="2466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plt.tight_layout()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Fixes spacing before saving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6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"./outputs/line_graph...png"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Folder, name and format of the saved file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</a:tr>
              <a:tr h="2466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dpi=5000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Very high resolution (5000 dots per inch)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6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bbox_inches="tight"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Crops extra whitespace around the plot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4F1FA"/>
                    </a:solidFill>
                  </a:tcPr>
                </a:tc>
              </a:tr>
              <a:tr h="246600"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8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</a:rPr>
                        <a:t>plt.show()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82080" tIns="27360" rIns="82080" bIns="27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9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Plus Jakarta Sans"/>
                        </a:rPr>
                        <a:t>Displays the figure</a:t>
                      </a:r>
                      <a:endParaRPr lang="en-US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82080" marR="82080" marT="27360" marB="273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Text 0"/>
          <p:cNvSpPr/>
          <p:nvPr/>
        </p:nvSpPr>
        <p:spPr>
          <a:xfrm>
            <a:off x="548640" y="384120"/>
            <a:ext cx="9599040" cy="2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07 · USEFUL EXTRAS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 1"/>
          <p:cNvSpPr/>
          <p:nvPr/>
        </p:nvSpPr>
        <p:spPr>
          <a:xfrm>
            <a:off x="548640" y="658440"/>
            <a:ext cx="10239120" cy="68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A Few More Tools You'll Reach For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Shape 2"/>
          <p:cNvSpPr/>
          <p:nvPr/>
        </p:nvSpPr>
        <p:spPr>
          <a:xfrm>
            <a:off x="11323080" y="384120"/>
            <a:ext cx="381960" cy="381960"/>
          </a:xfrm>
          <a:prstGeom prst="roundRect">
            <a:avLst>
              <a:gd name="adj" fmla="val 28000"/>
            </a:avLst>
          </a:prstGeom>
          <a:solidFill>
            <a:srgbClr val="5755A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1" name="Shape 3"/>
          <p:cNvSpPr/>
          <p:nvPr/>
        </p:nvSpPr>
        <p:spPr>
          <a:xfrm>
            <a:off x="11445840" y="506880"/>
            <a:ext cx="258840" cy="258840"/>
          </a:xfrm>
          <a:prstGeom prst="roundRect">
            <a:avLst>
              <a:gd name="adj" fmla="val 26471"/>
            </a:avLst>
          </a:prstGeom>
          <a:solidFill>
            <a:srgbClr val="FCF8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Shape 4"/>
          <p:cNvSpPr/>
          <p:nvPr/>
        </p:nvSpPr>
        <p:spPr>
          <a:xfrm>
            <a:off x="11514960" y="576000"/>
            <a:ext cx="128520" cy="128520"/>
          </a:xfrm>
          <a:prstGeom prst="roundRect">
            <a:avLst>
              <a:gd name="adj" fmla="val 26471"/>
            </a:avLst>
          </a:prstGeom>
          <a:solidFill>
            <a:srgbClr val="38675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4440" tIns="45000" rIns="6444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5"/>
          <p:cNvSpPr/>
          <p:nvPr/>
        </p:nvSpPr>
        <p:spPr>
          <a:xfrm>
            <a:off x="457200" y="6473880"/>
            <a:ext cx="685584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Matplotlib: Data Visualization with Python  ·  GCN Course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74" name="Table 0"/>
          <p:cNvGraphicFramePr/>
          <p:nvPr/>
        </p:nvGraphicFramePr>
        <p:xfrm>
          <a:off x="548640" y="1691640"/>
          <a:ext cx="11109240" cy="3918600"/>
        </p:xfrm>
        <a:graphic>
          <a:graphicData uri="http://schemas.openxmlformats.org/drawingml/2006/table">
            <a:tbl>
              <a:tblPr/>
              <a:tblGrid>
                <a:gridCol w="3555000"/>
                <a:gridCol w="7554600"/>
              </a:tblGrid>
              <a:tr h="5598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Parameter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Meaning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</a:tr>
              <a:tr h="5598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figsize=(w, h)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Sets the Figure's size, in inches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98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dpi=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Controls image resolution/sharpness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98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plt.savefig("file.png", dpi=300)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Exports the current figure to a file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98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plt.xlim() / plt.ylim()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Fixes the visible axis range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98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plt.xticks() / plt.yticks()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Sets custom tick positions and labels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98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antarell"/>
                          <a:ea typeface="Consolas"/>
                        </a:rPr>
                        <a:t>plt.tight_layout()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Automatically fixes spacing so labels don't overlap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75" name="Text 6"/>
          <p:cNvSpPr/>
          <p:nvPr/>
        </p:nvSpPr>
        <p:spPr>
          <a:xfrm>
            <a:off x="11505960" y="6473880"/>
            <a:ext cx="5007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Shape 0"/>
          <p:cNvSpPr/>
          <p:nvPr/>
        </p:nvSpPr>
        <p:spPr>
          <a:xfrm>
            <a:off x="-1828800" y="-1828800"/>
            <a:ext cx="4569840" cy="4569840"/>
          </a:xfrm>
          <a:prstGeom prst="ellipse">
            <a:avLst/>
          </a:prstGeom>
          <a:solidFill>
            <a:srgbClr val="26275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7" name="Shape 1"/>
          <p:cNvSpPr/>
          <p:nvPr/>
        </p:nvSpPr>
        <p:spPr>
          <a:xfrm>
            <a:off x="9601200" y="4114800"/>
            <a:ext cx="4112640" cy="4112640"/>
          </a:xfrm>
          <a:prstGeom prst="ellipse">
            <a:avLst/>
          </a:prstGeom>
          <a:solidFill>
            <a:srgbClr val="4C112D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8" name="Shape 2"/>
          <p:cNvSpPr/>
          <p:nvPr/>
        </p:nvSpPr>
        <p:spPr>
          <a:xfrm>
            <a:off x="5821560" y="2331720"/>
            <a:ext cx="546480" cy="546480"/>
          </a:xfrm>
          <a:prstGeom prst="roundRect">
            <a:avLst>
              <a:gd name="adj" fmla="val 28000"/>
            </a:avLst>
          </a:prstGeom>
          <a:solidFill>
            <a:srgbClr val="818C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9" name="Shape 3"/>
          <p:cNvSpPr/>
          <p:nvPr/>
        </p:nvSpPr>
        <p:spPr>
          <a:xfrm>
            <a:off x="5997240" y="2507400"/>
            <a:ext cx="370800" cy="370800"/>
          </a:xfrm>
          <a:prstGeom prst="roundRect">
            <a:avLst>
              <a:gd name="adj" fmla="val 26471"/>
            </a:avLst>
          </a:prstGeom>
          <a:solidFill>
            <a:srgbClr val="0B0F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0" name="Shape 4"/>
          <p:cNvSpPr/>
          <p:nvPr/>
        </p:nvSpPr>
        <p:spPr>
          <a:xfrm>
            <a:off x="6095880" y="2606040"/>
            <a:ext cx="184320" cy="184320"/>
          </a:xfrm>
          <a:prstGeom prst="roundRect">
            <a:avLst>
              <a:gd name="adj" fmla="val 26471"/>
            </a:avLst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 5"/>
          <p:cNvSpPr/>
          <p:nvPr/>
        </p:nvSpPr>
        <p:spPr>
          <a:xfrm>
            <a:off x="0" y="3108960"/>
            <a:ext cx="1218960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Thank You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 6"/>
          <p:cNvSpPr/>
          <p:nvPr/>
        </p:nvSpPr>
        <p:spPr>
          <a:xfrm>
            <a:off x="0" y="3840480"/>
            <a:ext cx="1218960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2DD4BF"/>
                </a:solidFill>
                <a:effectLst/>
                <a:uFillTx/>
                <a:latin typeface="Hanken Grotesk"/>
                <a:ea typeface="Hanken Grotesk"/>
              </a:rPr>
              <a:t>Questions?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 7"/>
          <p:cNvSpPr/>
          <p:nvPr/>
        </p:nvSpPr>
        <p:spPr>
          <a:xfrm>
            <a:off x="0" y="4480560"/>
            <a:ext cx="1218960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Matplotlib: Data Visualization with Python  ·  GCN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8"/>
          <p:cNvSpPr/>
          <p:nvPr/>
        </p:nvSpPr>
        <p:spPr>
          <a:xfrm>
            <a:off x="11505960" y="6473880"/>
            <a:ext cx="50076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269</TotalTime>
  <Application>LibreOffice/26.2.6.3$Linux_X86_64 LibreOffice_project/620$Build-3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2026-09-23T19:15:53Z</dcterms:created>
  <dc:creator>PptxGenJS</dc:creator>
  <dc:description/>
  <dc:language>en-US</dc:language>
  <cp:lastModifiedBy/>
  <dcterms:modified xsi:type="dcterms:W3CDTF">2026-09-25T03:18:18Z</dcterms:modified>
  <cp:revision>227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Widescreen</vt:lpwstr>
  </property>
  <property fmtid="{D5CDD505-2E9C-101B-9397-08002B2CF9AE}" pid="4" name="Slides">
    <vt:i4>31</vt:i4>
  </property>
</Properties>
</file>