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1" r:id="rId14"/>
    <p:sldId id="273" r:id="rId15"/>
    <p:sldId id="275" r:id="rId16"/>
    <p:sldId id="277" r:id="rId17"/>
    <p:sldId id="278" r:id="rId18"/>
    <p:sldId id="280" r:id="rId19"/>
    <p:sldId id="282" r:id="rId20"/>
    <p:sldId id="283" r:id="rId21"/>
    <p:sldId id="285" r:id="rId22"/>
    <p:sldId id="286" r:id="rId2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B47D8F-4070-464E-982D-053F0319D381}" v="16" dt="2026-10-01T12:43:50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DFE47E9-D064-44D2-BD8D-2ED89FD052A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BDFFD9-E5C1-449D-B8F8-6F076D814F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6494888-D6E9-4793-A122-777589D8EB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2345BFD-EA81-42C7-8A67-F71DCF0F93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2BD6792-2798-49DB-9091-C610E9EC2C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240" cy="308376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C76A323-D24B-42E0-B48A-28B186A1DF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389981-2A12-4DC4-B9A5-F9D0AE6ECF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DF796B-D1BB-4B46-B8C9-0E91AC5695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E8B794-4C60-4012-A0DD-D573EC84D5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A78F02-1367-4029-A640-A7B9FCDB80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24C0B1-61FF-4C29-89C1-13EF86E754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6B8325-1E1A-4474-8472-F12A975D51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2194560"/>
            <a:ext cx="5483880" cy="548388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2011680" y="4206240"/>
            <a:ext cx="4203720" cy="420372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943600" y="5212080"/>
            <a:ext cx="1460520" cy="1460520"/>
          </a:xfrm>
          <a:prstGeom prst="ellipse">
            <a:avLst/>
          </a:prstGeom>
          <a:solidFill>
            <a:srgbClr val="4C112D">
              <a:alpha val="5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685800" y="548640"/>
            <a:ext cx="546120" cy="546120"/>
          </a:xfrm>
          <a:prstGeom prst="roundRect">
            <a:avLst>
              <a:gd name="adj" fmla="val 28000"/>
            </a:avLst>
          </a:prstGeom>
          <a:solidFill>
            <a:srgbClr val="818C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861480" y="724320"/>
            <a:ext cx="370440" cy="370440"/>
          </a:xfrm>
          <a:prstGeom prst="roundRect">
            <a:avLst>
              <a:gd name="adj" fmla="val 26471"/>
            </a:avLst>
          </a:prstGeom>
          <a:solidFill>
            <a:srgbClr val="0B0F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960120" y="822960"/>
            <a:ext cx="183960" cy="183960"/>
          </a:xfrm>
          <a:prstGeom prst="roundRect">
            <a:avLst>
              <a:gd name="adj" fmla="val 26471"/>
            </a:avLst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713160" y="2331720"/>
            <a:ext cx="5118120" cy="290160"/>
          </a:xfrm>
          <a:prstGeom prst="roundRect">
            <a:avLst>
              <a:gd name="adj" fmla="val 50000"/>
            </a:avLst>
          </a:prstGeom>
          <a:solidFill>
            <a:srgbClr val="26275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13160" y="2331720"/>
            <a:ext cx="511812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GRAPH CONVOLUTIONAL NETWORKS (GCN)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658440" y="2788920"/>
            <a:ext cx="9598680" cy="127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0" b="1" u="none" strike="noStrike" spc="-99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Matplotlib</a:t>
            </a:r>
            <a:endParaRPr lang="en-US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713160" y="3794760"/>
            <a:ext cx="8684280" cy="6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D4BF"/>
                </a:solidFill>
                <a:effectLst/>
                <a:uFillTx/>
                <a:latin typeface="Bricolage Grotesque"/>
                <a:ea typeface="Bricolage Grotesque"/>
              </a:rPr>
              <a:t>Data Visualization with Python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13160" y="4434840"/>
            <a:ext cx="8044200" cy="6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 practical introduction to Pyplot, chart types, the Object-Oriented API, and Saving Plots.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Text 10">
            <a:extLst>
              <a:ext uri="{FF2B5EF4-FFF2-40B4-BE49-F238E27FC236}">
                <a16:creationId xmlns:a16="http://schemas.microsoft.com/office/drawing/2014/main" id="{E9F4995D-0420-F814-CE62-FC0159B2405D}"/>
              </a:ext>
            </a:extLst>
          </p:cNvPr>
          <p:cNvSpPr/>
          <p:nvPr/>
        </p:nvSpPr>
        <p:spPr>
          <a:xfrm>
            <a:off x="9379486" y="5833735"/>
            <a:ext cx="2812560" cy="6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500" dirty="0">
                <a:solidFill>
                  <a:srgbClr val="94A3B8"/>
                </a:solidFill>
                <a:latin typeface="Hanken Grotesk"/>
              </a:rPr>
              <a:t>Name: Hafiz Waseem Ahmed</a:t>
            </a:r>
          </a:p>
          <a:p>
            <a:pPr>
              <a:tabLst>
                <a:tab pos="0" algn="l"/>
              </a:tabLst>
            </a:pPr>
            <a:r>
              <a:rPr lang="en-US" sz="1500" dirty="0">
                <a:solidFill>
                  <a:srgbClr val="94A3B8"/>
                </a:solidFill>
                <a:latin typeface="Hanken Grotesk"/>
              </a:rPr>
              <a:t>Roll Number: 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548640" y="384120"/>
            <a:ext cx="95986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01 ·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548640" y="658440"/>
            <a:ext cx="10238760" cy="68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Matplotlib, and Why Does It Matter?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11323080" y="384120"/>
            <a:ext cx="381600" cy="38160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11445840" y="506880"/>
            <a:ext cx="258480" cy="25848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11514960" y="576000"/>
            <a:ext cx="128160" cy="12816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45000" rIns="6408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457200" y="6473880"/>
            <a:ext cx="68554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548640" y="1737360"/>
            <a:ext cx="11107440" cy="411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8600"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dirty="0">
                <a:solidFill>
                  <a:srgbClr val="1B1B20"/>
                </a:solidFill>
                <a:latin typeface="Hanken Grotesk"/>
                <a:cs typeface="Arial"/>
              </a:rPr>
              <a:t>Matplotlib is Python's foundational data visualization library — it turns numbers into charts: lines, bars, scatter plots, histograms, and more.</a:t>
            </a:r>
            <a:endParaRPr lang="en-US" sz="2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28600" indent="-228600"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dirty="0">
                <a:solidFill>
                  <a:srgbClr val="1B1B20"/>
                </a:solidFill>
                <a:latin typeface="Hanken Grotesk"/>
                <a:cs typeface="Arial"/>
              </a:rPr>
              <a:t>Why visualize at all? Raw numbers are hard to reason about; a well-made chart reveals patterns, trends, and outliers in seconds.</a:t>
            </a:r>
            <a:endParaRPr lang="en-US" sz="2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28600" indent="-228600"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dirty="0">
                <a:solidFill>
                  <a:srgbClr val="1B1B20"/>
                </a:solidFill>
                <a:latin typeface="Hanken Grotesk"/>
                <a:cs typeface="Arial"/>
              </a:rPr>
              <a:t>In Data Science, AI, and ML, Matplotlib shows up constantly — exploring a dataset, checking a model's training progress, comparing results, and building figures for reports and papers.</a:t>
            </a:r>
            <a:endParaRPr lang="en-US" sz="2400">
              <a:solidFill>
                <a:srgbClr val="000000"/>
              </a:solidFill>
              <a:latin typeface="Arial"/>
              <a:cs typeface="Arial"/>
            </a:endParaRPr>
          </a:p>
          <a:p>
            <a:pPr marL="228600" indent="-228600"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dirty="0">
                <a:solidFill>
                  <a:srgbClr val="1B1B20"/>
                </a:solidFill>
                <a:latin typeface="Hanken Grotesk"/>
                <a:cs typeface="Arial"/>
              </a:rPr>
              <a:t>It's also the foundation other libraries (like Seaborn) are built on top of — learning it well pays off across the whole ecosystem.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548640" y="384120"/>
            <a:ext cx="95986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01 ·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548640" y="658440"/>
            <a:ext cx="10238760" cy="68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Basic Visualization Workflow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11323080" y="384120"/>
            <a:ext cx="381600" cy="38160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11445840" y="506880"/>
            <a:ext cx="258480" cy="25848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11514960" y="576000"/>
            <a:ext cx="128160" cy="12816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45000" rIns="6408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457200" y="6473880"/>
            <a:ext cx="68554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343042" y="1828800"/>
            <a:ext cx="2684160" cy="411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595042" y="2011680"/>
            <a:ext cx="911880" cy="54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595042" y="2697480"/>
            <a:ext cx="223776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595042" y="3535560"/>
            <a:ext cx="2237760" cy="155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Lists, arrays, or DataFrame columns for X and 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3063695" y="1828800"/>
            <a:ext cx="180360" cy="301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1"/>
          <p:cNvSpPr/>
          <p:nvPr/>
        </p:nvSpPr>
        <p:spPr>
          <a:xfrm>
            <a:off x="3268440" y="1828800"/>
            <a:ext cx="2672640" cy="4111920"/>
          </a:xfrm>
          <a:prstGeom prst="roundRect">
            <a:avLst>
              <a:gd name="adj" fmla="val 4211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2"/>
          <p:cNvSpPr/>
          <p:nvPr/>
        </p:nvSpPr>
        <p:spPr>
          <a:xfrm>
            <a:off x="3520440" y="2011680"/>
            <a:ext cx="911880" cy="54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3"/>
          <p:cNvSpPr/>
          <p:nvPr/>
        </p:nvSpPr>
        <p:spPr>
          <a:xfrm>
            <a:off x="3520440" y="2697480"/>
            <a:ext cx="223776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Plot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3520440" y="3535560"/>
            <a:ext cx="2237760" cy="155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plt.plot() / bar() / scatter() / ... draws the chart.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5943600" y="1828800"/>
            <a:ext cx="180360" cy="301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6"/>
          <p:cNvSpPr/>
          <p:nvPr/>
        </p:nvSpPr>
        <p:spPr>
          <a:xfrm>
            <a:off x="6114960" y="1828800"/>
            <a:ext cx="2626560" cy="411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6309360" y="2011680"/>
            <a:ext cx="911880" cy="54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6309360" y="2697480"/>
            <a:ext cx="223776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Customize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9"/>
          <p:cNvSpPr/>
          <p:nvPr/>
        </p:nvSpPr>
        <p:spPr>
          <a:xfrm>
            <a:off x="6182280" y="3535560"/>
            <a:ext cx="2237760" cy="155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Titles, labels, legend, grid, color, style.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0"/>
          <p:cNvSpPr/>
          <p:nvPr/>
        </p:nvSpPr>
        <p:spPr>
          <a:xfrm>
            <a:off x="8732520" y="1828800"/>
            <a:ext cx="180360" cy="301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1"/>
          <p:cNvSpPr/>
          <p:nvPr/>
        </p:nvSpPr>
        <p:spPr>
          <a:xfrm>
            <a:off x="8937265" y="1828800"/>
            <a:ext cx="2661120" cy="4111920"/>
          </a:xfrm>
          <a:prstGeom prst="roundRect">
            <a:avLst>
              <a:gd name="adj" fmla="val 4211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2"/>
          <p:cNvSpPr/>
          <p:nvPr/>
        </p:nvSpPr>
        <p:spPr>
          <a:xfrm>
            <a:off x="9189265" y="2011680"/>
            <a:ext cx="911880" cy="54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3"/>
          <p:cNvSpPr/>
          <p:nvPr/>
        </p:nvSpPr>
        <p:spPr>
          <a:xfrm>
            <a:off x="9189265" y="2697480"/>
            <a:ext cx="223776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Show / Save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4"/>
          <p:cNvSpPr/>
          <p:nvPr/>
        </p:nvSpPr>
        <p:spPr>
          <a:xfrm>
            <a:off x="9154705" y="3431880"/>
            <a:ext cx="2237760" cy="155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plt.show() to view, plt.savefig() to export.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0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548640" y="384120"/>
            <a:ext cx="95986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01 ·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548640" y="658440"/>
            <a:ext cx="10240560" cy="68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Importing Pyplot &amp; Your First Plot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11323080" y="384120"/>
            <a:ext cx="381600" cy="38160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11445840" y="506880"/>
            <a:ext cx="258480" cy="25848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4"/>
          <p:cNvSpPr/>
          <p:nvPr/>
        </p:nvSpPr>
        <p:spPr>
          <a:xfrm>
            <a:off x="11514960" y="576000"/>
            <a:ext cx="128160" cy="12816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45000" rIns="6408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457200" y="6473880"/>
            <a:ext cx="68554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363"/>
          <p:cNvSpPr/>
          <p:nvPr/>
        </p:nvSpPr>
        <p:spPr>
          <a:xfrm>
            <a:off x="548640" y="1463040"/>
            <a:ext cx="5714280" cy="493704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Oval 364"/>
          <p:cNvSpPr/>
          <p:nvPr/>
        </p:nvSpPr>
        <p:spPr>
          <a:xfrm>
            <a:off x="713160" y="1609200"/>
            <a:ext cx="99720" cy="997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Oval 365"/>
          <p:cNvSpPr/>
          <p:nvPr/>
        </p:nvSpPr>
        <p:spPr>
          <a:xfrm>
            <a:off x="914400" y="1609200"/>
            <a:ext cx="99720" cy="9972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Oval 366"/>
          <p:cNvSpPr/>
          <p:nvPr/>
        </p:nvSpPr>
        <p:spPr>
          <a:xfrm>
            <a:off x="1115640" y="1609200"/>
            <a:ext cx="99720" cy="997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367"/>
          <p:cNvSpPr/>
          <p:nvPr/>
        </p:nvSpPr>
        <p:spPr>
          <a:xfrm>
            <a:off x="685800" y="1828800"/>
            <a:ext cx="5439960" cy="447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import matplotlib.pyplot as plt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x = [1, 2, 3, 4, 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y = [16, 40, 26, 50, 45]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plt.plot(x, y)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368"/>
          <p:cNvSpPr/>
          <p:nvPr/>
        </p:nvSpPr>
        <p:spPr>
          <a:xfrm>
            <a:off x="6446520" y="1463040"/>
            <a:ext cx="5211360" cy="228528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1" name="Picture 369" descr="first.png"/>
          <p:cNvPicPr/>
          <p:nvPr/>
        </p:nvPicPr>
        <p:blipFill>
          <a:blip r:embed="rId2"/>
          <a:stretch/>
        </p:blipFill>
        <p:spPr>
          <a:xfrm>
            <a:off x="6583680" y="1577520"/>
            <a:ext cx="4937040" cy="20566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02" name="Table 370"/>
          <p:cNvGraphicFramePr/>
          <p:nvPr/>
        </p:nvGraphicFramePr>
        <p:xfrm>
          <a:off x="6446520" y="3886200"/>
          <a:ext cx="5212080" cy="236952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import matplotlib.pyplot as plt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Loads Pyplot under the short name plt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x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Values plotted on the X-axis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y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Values plotted on the Y-axis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plt.plot(x, y)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Draws a line through the (x, y) points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plt.show()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Displays the figure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548640" y="384120"/>
            <a:ext cx="95986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01 ·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48640" y="658440"/>
            <a:ext cx="10240560" cy="68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Weekly Sales vs Expenses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11323080" y="384120"/>
            <a:ext cx="381600" cy="38160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11445840" y="506880"/>
            <a:ext cx="258480" cy="25848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11514960" y="576000"/>
            <a:ext cx="128160" cy="12816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45000" rIns="6408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457200" y="6473880"/>
            <a:ext cx="68554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363"/>
          <p:cNvSpPr/>
          <p:nvPr/>
        </p:nvSpPr>
        <p:spPr>
          <a:xfrm>
            <a:off x="548640" y="1463040"/>
            <a:ext cx="5714280" cy="493704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Oval 364"/>
          <p:cNvSpPr/>
          <p:nvPr/>
        </p:nvSpPr>
        <p:spPr>
          <a:xfrm>
            <a:off x="713160" y="1609200"/>
            <a:ext cx="99720" cy="997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Oval 365"/>
          <p:cNvSpPr/>
          <p:nvPr/>
        </p:nvSpPr>
        <p:spPr>
          <a:xfrm>
            <a:off x="914400" y="1609200"/>
            <a:ext cx="99720" cy="9972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Oval 366"/>
          <p:cNvSpPr/>
          <p:nvPr/>
        </p:nvSpPr>
        <p:spPr>
          <a:xfrm>
            <a:off x="1115640" y="1609200"/>
            <a:ext cx="99720" cy="997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367"/>
          <p:cNvSpPr/>
          <p:nvPr/>
        </p:nvSpPr>
        <p:spPr>
          <a:xfrm>
            <a:off x="685800" y="1828800"/>
            <a:ext cx="5439960" cy="447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days = ["Monday", "Tuesday", "Wednesday", "Thursday", "Friday"]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sales = [120, 150, 100, 180, 160]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expenses = [80, 100, 90, 120, 110]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plt.plot(days, sales, label="Sales")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plt.plot(days, expenses, label="Expenses")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plt.title("Weekly Sales vs Expenses")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plt.xlabel("Weekdays")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plt.ylabel("Amount")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plt.legend()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368"/>
          <p:cNvSpPr/>
          <p:nvPr/>
        </p:nvSpPr>
        <p:spPr>
          <a:xfrm>
            <a:off x="6446520" y="1463040"/>
            <a:ext cx="5211360" cy="228528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16" name="Table 370"/>
          <p:cNvGraphicFramePr/>
          <p:nvPr/>
        </p:nvGraphicFramePr>
        <p:xfrm>
          <a:off x="6446520" y="3886200"/>
          <a:ext cx="5212080" cy="2219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days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Category names on the X-axis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sales, expenses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Y-values of the two lines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label="Sales"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Name of the line in the legend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plt.title("...")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Heading of the chart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plt.xlabel("...")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Text describing the X-axis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plt.ylabel("...")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Text describing the Y-axis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plt.legend()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Shows the legend built from the labels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plt.show()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Displays the figure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17" name="Picture 1"/>
          <p:cNvPicPr/>
          <p:nvPr/>
        </p:nvPicPr>
        <p:blipFill>
          <a:blip r:embed="rId2"/>
          <a:stretch/>
        </p:blipFill>
        <p:spPr>
          <a:xfrm>
            <a:off x="6713280" y="1654560"/>
            <a:ext cx="4791600" cy="2081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9692640" y="-1463040"/>
            <a:ext cx="3837960" cy="383796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"/>
          <p:cNvSpPr/>
          <p:nvPr/>
        </p:nvSpPr>
        <p:spPr>
          <a:xfrm>
            <a:off x="-1280160" y="4754880"/>
            <a:ext cx="3106440" cy="310644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640080" y="548640"/>
            <a:ext cx="454680" cy="454680"/>
          </a:xfrm>
          <a:prstGeom prst="roundRect">
            <a:avLst>
              <a:gd name="adj" fmla="val 28000"/>
            </a:avLst>
          </a:prstGeom>
          <a:solidFill>
            <a:srgbClr val="818C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786240" y="694800"/>
            <a:ext cx="308520" cy="308520"/>
          </a:xfrm>
          <a:prstGeom prst="roundRect">
            <a:avLst>
              <a:gd name="adj" fmla="val 26471"/>
            </a:avLst>
          </a:prstGeom>
          <a:solidFill>
            <a:srgbClr val="0B0F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868680" y="777240"/>
            <a:ext cx="153000" cy="153000"/>
          </a:xfrm>
          <a:prstGeom prst="roundRect">
            <a:avLst>
              <a:gd name="adj" fmla="val 26471"/>
            </a:avLst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680" tIns="45000" rIns="7668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640080" y="2331720"/>
            <a:ext cx="914148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02 · FOUNDATIONS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640080" y="2743200"/>
            <a:ext cx="10330200" cy="136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 spc="-51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Essential Terminology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640080" y="3931920"/>
            <a:ext cx="9690120" cy="7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shared vocabulary we'll use for the rest of this talk.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48640" y="384120"/>
            <a:ext cx="95986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02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480240" y="669960"/>
            <a:ext cx="4734000" cy="67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Describing &amp; Labeling a Plot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11323080" y="384120"/>
            <a:ext cx="381600" cy="38160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11445840" y="506880"/>
            <a:ext cx="258480" cy="25848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11514960" y="576000"/>
            <a:ext cx="128160" cy="12816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45000" rIns="6408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457200" y="6473880"/>
            <a:ext cx="68554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548640" y="1600200"/>
            <a:ext cx="2665080" cy="20275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685800" y="1728360"/>
            <a:ext cx="308520" cy="30852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685800" y="1728360"/>
            <a:ext cx="308520" cy="30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1088280" y="1691640"/>
            <a:ext cx="1988640" cy="39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685800" y="2094120"/>
            <a:ext cx="2390760" cy="140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visual representation of data: a line, bar, scatter, etc.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3362760" y="1600200"/>
            <a:ext cx="2665080" cy="20275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2"/>
          <p:cNvSpPr/>
          <p:nvPr/>
        </p:nvSpPr>
        <p:spPr>
          <a:xfrm>
            <a:off x="3499920" y="1728360"/>
            <a:ext cx="308520" cy="30852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3499920" y="1728360"/>
            <a:ext cx="308520" cy="30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3902040" y="1691640"/>
            <a:ext cx="1988640" cy="39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</a:rPr>
              <a:t>Marker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3499920" y="2094120"/>
            <a:ext cx="2390760" cy="140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symbol at each data point: circle, triangle, x.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6"/>
          <p:cNvSpPr/>
          <p:nvPr/>
        </p:nvSpPr>
        <p:spPr>
          <a:xfrm>
            <a:off x="6176880" y="1600200"/>
            <a:ext cx="2665080" cy="20275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6314040" y="1728360"/>
            <a:ext cx="308520" cy="30852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8"/>
          <p:cNvSpPr/>
          <p:nvPr/>
        </p:nvSpPr>
        <p:spPr>
          <a:xfrm>
            <a:off x="6314040" y="1728360"/>
            <a:ext cx="308520" cy="30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9"/>
          <p:cNvSpPr/>
          <p:nvPr/>
        </p:nvSpPr>
        <p:spPr>
          <a:xfrm>
            <a:off x="6716160" y="1691640"/>
            <a:ext cx="1988640" cy="39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Line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6314040" y="2094120"/>
            <a:ext cx="2390760" cy="140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How a line looks: solid, dashed, dotted.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1"/>
          <p:cNvSpPr/>
          <p:nvPr/>
        </p:nvSpPr>
        <p:spPr>
          <a:xfrm>
            <a:off x="8991000" y="1600200"/>
            <a:ext cx="2665080" cy="20275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2"/>
          <p:cNvSpPr/>
          <p:nvPr/>
        </p:nvSpPr>
        <p:spPr>
          <a:xfrm>
            <a:off x="9128160" y="1728360"/>
            <a:ext cx="308520" cy="30852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3"/>
          <p:cNvSpPr/>
          <p:nvPr/>
        </p:nvSpPr>
        <p:spPr>
          <a:xfrm>
            <a:off x="9128160" y="1728360"/>
            <a:ext cx="308520" cy="30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4"/>
          <p:cNvSpPr/>
          <p:nvPr/>
        </p:nvSpPr>
        <p:spPr>
          <a:xfrm>
            <a:off x="9530280" y="1691640"/>
            <a:ext cx="1988640" cy="39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</a:rPr>
              <a:t>Color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5"/>
          <p:cNvSpPr/>
          <p:nvPr/>
        </p:nvSpPr>
        <p:spPr>
          <a:xfrm>
            <a:off x="9128160" y="2094120"/>
            <a:ext cx="2390760" cy="140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visual color of a line, bar, or marker.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6"/>
          <p:cNvSpPr/>
          <p:nvPr/>
        </p:nvSpPr>
        <p:spPr>
          <a:xfrm>
            <a:off x="548640" y="3776400"/>
            <a:ext cx="2665080" cy="20275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7"/>
          <p:cNvSpPr/>
          <p:nvPr/>
        </p:nvSpPr>
        <p:spPr>
          <a:xfrm>
            <a:off x="685800" y="3904560"/>
            <a:ext cx="308520" cy="30852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8"/>
          <p:cNvSpPr/>
          <p:nvPr/>
        </p:nvSpPr>
        <p:spPr>
          <a:xfrm>
            <a:off x="685800" y="3904560"/>
            <a:ext cx="308520" cy="30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9"/>
          <p:cNvSpPr/>
          <p:nvPr/>
        </p:nvSpPr>
        <p:spPr>
          <a:xfrm>
            <a:off x="1088280" y="3867840"/>
            <a:ext cx="1988640" cy="39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Label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0"/>
          <p:cNvSpPr/>
          <p:nvPr/>
        </p:nvSpPr>
        <p:spPr>
          <a:xfrm>
            <a:off x="685800" y="4270320"/>
            <a:ext cx="2390760" cy="140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Text describing a data series, axis, or point.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1"/>
          <p:cNvSpPr/>
          <p:nvPr/>
        </p:nvSpPr>
        <p:spPr>
          <a:xfrm>
            <a:off x="3362760" y="3776400"/>
            <a:ext cx="2665080" cy="20275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2"/>
          <p:cNvSpPr/>
          <p:nvPr/>
        </p:nvSpPr>
        <p:spPr>
          <a:xfrm>
            <a:off x="3499920" y="3904560"/>
            <a:ext cx="308520" cy="30852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3"/>
          <p:cNvSpPr/>
          <p:nvPr/>
        </p:nvSpPr>
        <p:spPr>
          <a:xfrm>
            <a:off x="3499920" y="3904560"/>
            <a:ext cx="308520" cy="30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4"/>
          <p:cNvSpPr/>
          <p:nvPr/>
        </p:nvSpPr>
        <p:spPr>
          <a:xfrm>
            <a:off x="3902040" y="3867840"/>
            <a:ext cx="1988640" cy="39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Title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5"/>
          <p:cNvSpPr/>
          <p:nvPr/>
        </p:nvSpPr>
        <p:spPr>
          <a:xfrm>
            <a:off x="3499920" y="4270320"/>
            <a:ext cx="2390760" cy="140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heading text that names the chart.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6"/>
          <p:cNvSpPr/>
          <p:nvPr/>
        </p:nvSpPr>
        <p:spPr>
          <a:xfrm>
            <a:off x="6176880" y="3776400"/>
            <a:ext cx="2665080" cy="20275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7"/>
          <p:cNvSpPr/>
          <p:nvPr/>
        </p:nvSpPr>
        <p:spPr>
          <a:xfrm>
            <a:off x="6314040" y="3904560"/>
            <a:ext cx="308520" cy="30852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8"/>
          <p:cNvSpPr/>
          <p:nvPr/>
        </p:nvSpPr>
        <p:spPr>
          <a:xfrm>
            <a:off x="6314040" y="3904560"/>
            <a:ext cx="308520" cy="30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9"/>
          <p:cNvSpPr/>
          <p:nvPr/>
        </p:nvSpPr>
        <p:spPr>
          <a:xfrm>
            <a:off x="6716160" y="3867840"/>
            <a:ext cx="1988640" cy="39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Legend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0"/>
          <p:cNvSpPr/>
          <p:nvPr/>
        </p:nvSpPr>
        <p:spPr>
          <a:xfrm>
            <a:off x="6314040" y="4270320"/>
            <a:ext cx="2390760" cy="140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key mapping colors/markers to what they represent.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1"/>
          <p:cNvSpPr/>
          <p:nvPr/>
        </p:nvSpPr>
        <p:spPr>
          <a:xfrm>
            <a:off x="8991000" y="3776400"/>
            <a:ext cx="2665080" cy="20275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42"/>
          <p:cNvSpPr/>
          <p:nvPr/>
        </p:nvSpPr>
        <p:spPr>
          <a:xfrm>
            <a:off x="9128160" y="3904560"/>
            <a:ext cx="308520" cy="30852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3"/>
          <p:cNvSpPr/>
          <p:nvPr/>
        </p:nvSpPr>
        <p:spPr>
          <a:xfrm>
            <a:off x="9128160" y="3904560"/>
            <a:ext cx="308520" cy="30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4"/>
          <p:cNvSpPr/>
          <p:nvPr/>
        </p:nvSpPr>
        <p:spPr>
          <a:xfrm>
            <a:off x="9530280" y="3867840"/>
            <a:ext cx="1988640" cy="39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Grid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5"/>
          <p:cNvSpPr/>
          <p:nvPr/>
        </p:nvSpPr>
        <p:spPr>
          <a:xfrm>
            <a:off x="9128160" y="4270320"/>
            <a:ext cx="2390760" cy="140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Light background lines that help read values.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6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548640" y="384120"/>
            <a:ext cx="95986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02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548640" y="658440"/>
            <a:ext cx="10238760" cy="68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Figure vs. Axes — Visualized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11323080" y="384120"/>
            <a:ext cx="381600" cy="38160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11445840" y="506880"/>
            <a:ext cx="258480" cy="25848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4"/>
          <p:cNvSpPr/>
          <p:nvPr/>
        </p:nvSpPr>
        <p:spPr>
          <a:xfrm>
            <a:off x="11514960" y="576000"/>
            <a:ext cx="128160" cy="12816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45000" rIns="6408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457200" y="6473880"/>
            <a:ext cx="68554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6"/>
          <p:cNvSpPr/>
          <p:nvPr/>
        </p:nvSpPr>
        <p:spPr>
          <a:xfrm>
            <a:off x="822960" y="1645920"/>
            <a:ext cx="5758200" cy="4203720"/>
          </a:xfrm>
          <a:prstGeom prst="roundRect">
            <a:avLst>
              <a:gd name="adj" fmla="val 3043"/>
            </a:avLst>
          </a:prstGeom>
          <a:solidFill>
            <a:srgbClr val="F0ECF4"/>
          </a:solidFill>
          <a:ln w="19050">
            <a:solidFill>
              <a:srgbClr val="5755A7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1005840" y="1755720"/>
            <a:ext cx="1826280" cy="31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Figure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8"/>
          <p:cNvSpPr/>
          <p:nvPr/>
        </p:nvSpPr>
        <p:spPr>
          <a:xfrm>
            <a:off x="1280160" y="2286000"/>
            <a:ext cx="4843800" cy="31978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1417320" y="2359080"/>
            <a:ext cx="18262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E185D"/>
                </a:solidFill>
                <a:effectLst/>
                <a:uFillTx/>
                <a:latin typeface="Bricolage Grotesque"/>
                <a:ea typeface="Bricolage Grotesque"/>
              </a:rPr>
              <a:t>Axes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0"/>
          <p:cNvSpPr/>
          <p:nvPr/>
        </p:nvSpPr>
        <p:spPr>
          <a:xfrm>
            <a:off x="1645920" y="5029200"/>
            <a:ext cx="41148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1"/>
          <p:cNvSpPr/>
          <p:nvPr/>
        </p:nvSpPr>
        <p:spPr>
          <a:xfrm>
            <a:off x="1645920" y="2743200"/>
            <a:ext cx="360" cy="228600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2"/>
          <p:cNvSpPr/>
          <p:nvPr/>
        </p:nvSpPr>
        <p:spPr>
          <a:xfrm>
            <a:off x="5120640" y="5102280"/>
            <a:ext cx="9118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X-axis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3"/>
          <p:cNvSpPr/>
          <p:nvPr/>
        </p:nvSpPr>
        <p:spPr>
          <a:xfrm>
            <a:off x="1371600" y="2743200"/>
            <a:ext cx="54612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Y-axis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Image 0" descr="/home/claude/uni/charts/subplots_two.png"/>
          <p:cNvPicPr/>
          <p:nvPr/>
        </p:nvPicPr>
        <p:blipFill>
          <a:blip r:embed="rId3"/>
          <a:stretch/>
        </p:blipFill>
        <p:spPr>
          <a:xfrm>
            <a:off x="2103120" y="3063240"/>
            <a:ext cx="3380760" cy="164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 14"/>
          <p:cNvSpPr/>
          <p:nvPr/>
        </p:nvSpPr>
        <p:spPr>
          <a:xfrm>
            <a:off x="6903720" y="1783080"/>
            <a:ext cx="456948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Figure is the whole canvas — the entire window or saved image file.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 Axes is one plot area living inside that Figure — it holds the X-axis, Y-axis, title, legend, and data.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One Figure can contain many Axes — that's exactly what Subplots are (coming up shortly).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plt.plot(), plt.title(), etc. call quietly targets "the current Axes" of "the current Figure."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5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9692640" y="-1463040"/>
            <a:ext cx="3837960" cy="383796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"/>
          <p:cNvSpPr/>
          <p:nvPr/>
        </p:nvSpPr>
        <p:spPr>
          <a:xfrm>
            <a:off x="-1280160" y="4754880"/>
            <a:ext cx="3106440" cy="310644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"/>
          <p:cNvSpPr/>
          <p:nvPr/>
        </p:nvSpPr>
        <p:spPr>
          <a:xfrm>
            <a:off x="640080" y="548640"/>
            <a:ext cx="454680" cy="454680"/>
          </a:xfrm>
          <a:prstGeom prst="roundRect">
            <a:avLst>
              <a:gd name="adj" fmla="val 28000"/>
            </a:avLst>
          </a:prstGeom>
          <a:solidFill>
            <a:srgbClr val="818C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"/>
          <p:cNvSpPr/>
          <p:nvPr/>
        </p:nvSpPr>
        <p:spPr>
          <a:xfrm>
            <a:off x="786240" y="694800"/>
            <a:ext cx="308520" cy="308520"/>
          </a:xfrm>
          <a:prstGeom prst="roundRect">
            <a:avLst>
              <a:gd name="adj" fmla="val 26471"/>
            </a:avLst>
          </a:prstGeom>
          <a:solidFill>
            <a:srgbClr val="0B0F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4"/>
          <p:cNvSpPr/>
          <p:nvPr/>
        </p:nvSpPr>
        <p:spPr>
          <a:xfrm>
            <a:off x="868680" y="777240"/>
            <a:ext cx="153000" cy="153000"/>
          </a:xfrm>
          <a:prstGeom prst="roundRect">
            <a:avLst>
              <a:gd name="adj" fmla="val 26471"/>
            </a:avLst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680" tIns="45000" rIns="7668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640080" y="2331720"/>
            <a:ext cx="914148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640080" y="2743200"/>
            <a:ext cx="10330200" cy="136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 spc="-51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Pyplot — The Core of Matplotlib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640080" y="3931920"/>
            <a:ext cx="9690120" cy="7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Line, bar, pie, histogram, and scatter plots — each with its syntax, parameters, and a code example.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548640" y="384120"/>
            <a:ext cx="95986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548640" y="658440"/>
            <a:ext cx="10240560" cy="68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Line Plot — plt.plot()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"/>
          <p:cNvSpPr/>
          <p:nvPr/>
        </p:nvSpPr>
        <p:spPr>
          <a:xfrm>
            <a:off x="11323080" y="384120"/>
            <a:ext cx="381600" cy="38160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"/>
          <p:cNvSpPr/>
          <p:nvPr/>
        </p:nvSpPr>
        <p:spPr>
          <a:xfrm>
            <a:off x="11445840" y="506880"/>
            <a:ext cx="258480" cy="25848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11514960" y="576000"/>
            <a:ext cx="128160" cy="12816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45000" rIns="6408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457200" y="6473880"/>
            <a:ext cx="68554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363"/>
          <p:cNvSpPr/>
          <p:nvPr/>
        </p:nvSpPr>
        <p:spPr>
          <a:xfrm>
            <a:off x="548640" y="1554480"/>
            <a:ext cx="5211360" cy="27882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Oval 364"/>
          <p:cNvSpPr/>
          <p:nvPr/>
        </p:nvSpPr>
        <p:spPr>
          <a:xfrm>
            <a:off x="713160" y="1700640"/>
            <a:ext cx="99720" cy="997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Oval 365"/>
          <p:cNvSpPr/>
          <p:nvPr/>
        </p:nvSpPr>
        <p:spPr>
          <a:xfrm>
            <a:off x="914400" y="1700640"/>
            <a:ext cx="99720" cy="9972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Oval 366"/>
          <p:cNvSpPr/>
          <p:nvPr/>
        </p:nvSpPr>
        <p:spPr>
          <a:xfrm>
            <a:off x="1115640" y="1700640"/>
            <a:ext cx="99720" cy="997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367"/>
          <p:cNvSpPr/>
          <p:nvPr/>
        </p:nvSpPr>
        <p:spPr>
          <a:xfrm>
            <a:off x="685800" y="1920240"/>
            <a:ext cx="4937040" cy="233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x,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y,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color="color_name",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linestyle="line_style",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linewidth=value,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marker="marker_style",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label="label_name"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2" name="Table 368"/>
          <p:cNvGraphicFramePr/>
          <p:nvPr/>
        </p:nvGraphicFramePr>
        <p:xfrm>
          <a:off x="5989320" y="1554480"/>
          <a:ext cx="5715000" cy="36576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x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Data for the X-axis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Data for the Y-axis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 of the line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linestyle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Line style: ":", "--" or "-."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linewidth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Thickness of the line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marker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Symbol at each point: "o", "x", "^"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Name used in the legend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 0"/>
          <p:cNvSpPr/>
          <p:nvPr/>
        </p:nvSpPr>
        <p:spPr>
          <a:xfrm>
            <a:off x="548640" y="384120"/>
            <a:ext cx="95986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"/>
          <p:cNvSpPr/>
          <p:nvPr/>
        </p:nvSpPr>
        <p:spPr>
          <a:xfrm>
            <a:off x="548640" y="658440"/>
            <a:ext cx="10240560" cy="68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Grid Options — plt.grid()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"/>
          <p:cNvSpPr/>
          <p:nvPr/>
        </p:nvSpPr>
        <p:spPr>
          <a:xfrm>
            <a:off x="11323080" y="384120"/>
            <a:ext cx="381600" cy="38160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3"/>
          <p:cNvSpPr/>
          <p:nvPr/>
        </p:nvSpPr>
        <p:spPr>
          <a:xfrm>
            <a:off x="11445840" y="506880"/>
            <a:ext cx="258480" cy="25848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4"/>
          <p:cNvSpPr/>
          <p:nvPr/>
        </p:nvSpPr>
        <p:spPr>
          <a:xfrm>
            <a:off x="11514960" y="576000"/>
            <a:ext cx="128160" cy="12816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45000" rIns="6408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5"/>
          <p:cNvSpPr/>
          <p:nvPr/>
        </p:nvSpPr>
        <p:spPr>
          <a:xfrm>
            <a:off x="457200" y="6473880"/>
            <a:ext cx="68554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4651"/>
                </a:solidFill>
                <a:effectLst/>
                <a:uFillTx/>
                <a:latin typeface="Calibri"/>
                <a:ea typeface="Calibri"/>
              </a:rPr>
              <a:t>Matplotlib: Data Visualization with Python  ·  GCN Course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6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5" name="Table 363"/>
          <p:cNvGraphicFramePr/>
          <p:nvPr/>
        </p:nvGraphicFramePr>
        <p:xfrm>
          <a:off x="548640" y="1554480"/>
          <a:ext cx="11109960" cy="462528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Call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Turns the grid 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plt.grid(True)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Explicitly turns the grid 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plt.grid(False)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Turns the grid off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plt.grid(axis="y")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Horizontal grid lines only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plt.grid(axis="x")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Vertical grid lines only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plt.grid(axis="both")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Both horizontal and vertical grid lines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plt.grid(linestyle=":")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Changes the grid line style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plt.grid(linewidth=0.5)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Changes the grid line width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plt.grid(alpha=0.5)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Changes the grid transparency (0 to 1)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plt.grid(axis="both", linestyle=":", linewidth=4, alpha=0.7)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Combines several properties in one call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0"/>
          <p:cNvSpPr/>
          <p:nvPr/>
        </p:nvSpPr>
        <p:spPr>
          <a:xfrm>
            <a:off x="548640" y="384120"/>
            <a:ext cx="95986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"/>
          <p:cNvSpPr/>
          <p:nvPr/>
        </p:nvSpPr>
        <p:spPr>
          <a:xfrm>
            <a:off x="479520" y="669960"/>
            <a:ext cx="4560120" cy="67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Bar Chart — plt.bar()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"/>
          <p:cNvSpPr/>
          <p:nvPr/>
        </p:nvSpPr>
        <p:spPr>
          <a:xfrm>
            <a:off x="11323080" y="384120"/>
            <a:ext cx="381600" cy="38160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3"/>
          <p:cNvSpPr/>
          <p:nvPr/>
        </p:nvSpPr>
        <p:spPr>
          <a:xfrm>
            <a:off x="11445840" y="506880"/>
            <a:ext cx="258480" cy="25848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4"/>
          <p:cNvSpPr/>
          <p:nvPr/>
        </p:nvSpPr>
        <p:spPr>
          <a:xfrm>
            <a:off x="11514960" y="576000"/>
            <a:ext cx="128160" cy="12816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45000" rIns="6408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457200" y="6473880"/>
            <a:ext cx="68554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6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363"/>
          <p:cNvSpPr/>
          <p:nvPr/>
        </p:nvSpPr>
        <p:spPr>
          <a:xfrm>
            <a:off x="548640" y="1554480"/>
            <a:ext cx="5211360" cy="23310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Oval 364"/>
          <p:cNvSpPr/>
          <p:nvPr/>
        </p:nvSpPr>
        <p:spPr>
          <a:xfrm>
            <a:off x="713160" y="1700640"/>
            <a:ext cx="99720" cy="997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Oval 365"/>
          <p:cNvSpPr/>
          <p:nvPr/>
        </p:nvSpPr>
        <p:spPr>
          <a:xfrm>
            <a:off x="914400" y="1700640"/>
            <a:ext cx="99720" cy="9972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Oval 366"/>
          <p:cNvSpPr/>
          <p:nvPr/>
        </p:nvSpPr>
        <p:spPr>
          <a:xfrm>
            <a:off x="1115640" y="1700640"/>
            <a:ext cx="99720" cy="997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367"/>
          <p:cNvSpPr/>
          <p:nvPr/>
        </p:nvSpPr>
        <p:spPr>
          <a:xfrm>
            <a:off x="685800" y="1920240"/>
            <a:ext cx="4937040" cy="187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plt.bar(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x,                      # Category Name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height,                 # Bar Height / Value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color="Color Name",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width=value,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label="Label Name"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8" name="Table 368"/>
          <p:cNvGraphicFramePr/>
          <p:nvPr/>
        </p:nvGraphicFramePr>
        <p:xfrm>
          <a:off x="5989320" y="1554480"/>
          <a:ext cx="5715000" cy="27432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x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Category names / positions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Height / value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Values represented by the bars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Bar color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width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Width of each bar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Name used in the legend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/>
          <p:nvPr/>
        </p:nvSpPr>
        <p:spPr>
          <a:xfrm>
            <a:off x="548640" y="384120"/>
            <a:ext cx="95986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548640" y="658440"/>
            <a:ext cx="10240560" cy="68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Pie Chart — plt.pie()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"/>
          <p:cNvSpPr/>
          <p:nvPr/>
        </p:nvSpPr>
        <p:spPr>
          <a:xfrm>
            <a:off x="11323080" y="384120"/>
            <a:ext cx="381600" cy="38160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"/>
          <p:cNvSpPr/>
          <p:nvPr/>
        </p:nvSpPr>
        <p:spPr>
          <a:xfrm>
            <a:off x="11445840" y="506880"/>
            <a:ext cx="258480" cy="25848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4"/>
          <p:cNvSpPr/>
          <p:nvPr/>
        </p:nvSpPr>
        <p:spPr>
          <a:xfrm>
            <a:off x="11514960" y="576000"/>
            <a:ext cx="128160" cy="12816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45000" rIns="6408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457200" y="6473880"/>
            <a:ext cx="68554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6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ounded Rectangle 363"/>
          <p:cNvSpPr/>
          <p:nvPr/>
        </p:nvSpPr>
        <p:spPr>
          <a:xfrm>
            <a:off x="548640" y="1554480"/>
            <a:ext cx="5211360" cy="2102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Oval 364"/>
          <p:cNvSpPr/>
          <p:nvPr/>
        </p:nvSpPr>
        <p:spPr>
          <a:xfrm>
            <a:off x="713160" y="1700640"/>
            <a:ext cx="99720" cy="997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Oval 365"/>
          <p:cNvSpPr/>
          <p:nvPr/>
        </p:nvSpPr>
        <p:spPr>
          <a:xfrm>
            <a:off x="914400" y="1700640"/>
            <a:ext cx="99720" cy="9972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Oval 366"/>
          <p:cNvSpPr/>
          <p:nvPr/>
        </p:nvSpPr>
        <p:spPr>
          <a:xfrm>
            <a:off x="1115640" y="1700640"/>
            <a:ext cx="99720" cy="997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367"/>
          <p:cNvSpPr/>
          <p:nvPr/>
        </p:nvSpPr>
        <p:spPr>
          <a:xfrm>
            <a:off x="685800" y="1920240"/>
            <a:ext cx="4937040" cy="16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plt.pie(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values,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labels=labels_list,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colors=color_list,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autopct="%1.1f%%"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6" name="Table 368"/>
          <p:cNvGraphicFramePr/>
          <p:nvPr/>
        </p:nvGraphicFramePr>
        <p:xfrm>
          <a:off x="5989320" y="1554480"/>
          <a:ext cx="5715000" cy="22860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values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Numbers represented by each slice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Names of the slices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Colors of the slices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autopct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Shows the percentage on each slice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 0"/>
          <p:cNvSpPr/>
          <p:nvPr/>
        </p:nvSpPr>
        <p:spPr>
          <a:xfrm>
            <a:off x="548640" y="384120"/>
            <a:ext cx="95986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"/>
          <p:cNvSpPr/>
          <p:nvPr/>
        </p:nvSpPr>
        <p:spPr>
          <a:xfrm>
            <a:off x="548640" y="658440"/>
            <a:ext cx="10240560" cy="68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Histogram — plt.hist()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2"/>
          <p:cNvSpPr/>
          <p:nvPr/>
        </p:nvSpPr>
        <p:spPr>
          <a:xfrm>
            <a:off x="11323080" y="384120"/>
            <a:ext cx="381600" cy="38160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3"/>
          <p:cNvSpPr/>
          <p:nvPr/>
        </p:nvSpPr>
        <p:spPr>
          <a:xfrm>
            <a:off x="11445840" y="506880"/>
            <a:ext cx="258480" cy="25848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4"/>
          <p:cNvSpPr/>
          <p:nvPr/>
        </p:nvSpPr>
        <p:spPr>
          <a:xfrm>
            <a:off x="11514960" y="576000"/>
            <a:ext cx="128160" cy="12816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45000" rIns="6408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5"/>
          <p:cNvSpPr/>
          <p:nvPr/>
        </p:nvSpPr>
        <p:spPr>
          <a:xfrm>
            <a:off x="457200" y="6473880"/>
            <a:ext cx="68554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6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ounded Rectangle 363"/>
          <p:cNvSpPr/>
          <p:nvPr/>
        </p:nvSpPr>
        <p:spPr>
          <a:xfrm>
            <a:off x="548640" y="1554480"/>
            <a:ext cx="5211360" cy="2102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Oval 364"/>
          <p:cNvSpPr/>
          <p:nvPr/>
        </p:nvSpPr>
        <p:spPr>
          <a:xfrm>
            <a:off x="713160" y="1700640"/>
            <a:ext cx="99720" cy="997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Oval 365"/>
          <p:cNvSpPr/>
          <p:nvPr/>
        </p:nvSpPr>
        <p:spPr>
          <a:xfrm>
            <a:off x="914400" y="1700640"/>
            <a:ext cx="99720" cy="9972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Oval 366"/>
          <p:cNvSpPr/>
          <p:nvPr/>
        </p:nvSpPr>
        <p:spPr>
          <a:xfrm>
            <a:off x="1115640" y="1700640"/>
            <a:ext cx="99720" cy="997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367"/>
          <p:cNvSpPr/>
          <p:nvPr/>
        </p:nvSpPr>
        <p:spPr>
          <a:xfrm>
            <a:off x="685800" y="1920240"/>
            <a:ext cx="4937040" cy="16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plt.hist(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data,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bins=number_of_bins,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color="color_name",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edgecolor="black"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4" name="Table 368"/>
          <p:cNvGraphicFramePr/>
          <p:nvPr/>
        </p:nvGraphicFramePr>
        <p:xfrm>
          <a:off x="5989320" y="1554480"/>
          <a:ext cx="5715000" cy="22860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data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Numbers distributed into bins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bins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 of intervals / groups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 of the bars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edgecolor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 of each bar's border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0"/>
          <p:cNvSpPr/>
          <p:nvPr/>
        </p:nvSpPr>
        <p:spPr>
          <a:xfrm>
            <a:off x="548640" y="384120"/>
            <a:ext cx="95986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"/>
          <p:cNvSpPr/>
          <p:nvPr/>
        </p:nvSpPr>
        <p:spPr>
          <a:xfrm>
            <a:off x="548640" y="658440"/>
            <a:ext cx="10240560" cy="68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Scatter Plot — plt.scatter()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"/>
          <p:cNvSpPr/>
          <p:nvPr/>
        </p:nvSpPr>
        <p:spPr>
          <a:xfrm>
            <a:off x="11323080" y="384120"/>
            <a:ext cx="381600" cy="38160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3"/>
          <p:cNvSpPr/>
          <p:nvPr/>
        </p:nvSpPr>
        <p:spPr>
          <a:xfrm>
            <a:off x="11445840" y="506880"/>
            <a:ext cx="258480" cy="25848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4"/>
          <p:cNvSpPr/>
          <p:nvPr/>
        </p:nvSpPr>
        <p:spPr>
          <a:xfrm>
            <a:off x="11514960" y="576000"/>
            <a:ext cx="128160" cy="12816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45000" rIns="6408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5"/>
          <p:cNvSpPr/>
          <p:nvPr/>
        </p:nvSpPr>
        <p:spPr>
          <a:xfrm>
            <a:off x="457200" y="6473880"/>
            <a:ext cx="68554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6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ounded Rectangle 363"/>
          <p:cNvSpPr/>
          <p:nvPr/>
        </p:nvSpPr>
        <p:spPr>
          <a:xfrm>
            <a:off x="548640" y="1554480"/>
            <a:ext cx="5211360" cy="23310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Oval 364"/>
          <p:cNvSpPr/>
          <p:nvPr/>
        </p:nvSpPr>
        <p:spPr>
          <a:xfrm>
            <a:off x="713160" y="1700640"/>
            <a:ext cx="99720" cy="997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Oval 365"/>
          <p:cNvSpPr/>
          <p:nvPr/>
        </p:nvSpPr>
        <p:spPr>
          <a:xfrm>
            <a:off x="914400" y="1700640"/>
            <a:ext cx="99720" cy="9972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Oval 366"/>
          <p:cNvSpPr/>
          <p:nvPr/>
        </p:nvSpPr>
        <p:spPr>
          <a:xfrm>
            <a:off x="1115640" y="1700640"/>
            <a:ext cx="99720" cy="997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367"/>
          <p:cNvSpPr/>
          <p:nvPr/>
        </p:nvSpPr>
        <p:spPr>
          <a:xfrm>
            <a:off x="685800" y="1920240"/>
            <a:ext cx="4937040" cy="187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plt.scatter(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x,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y,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color="color_name",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marker="style",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label="label name"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2" name="Table 368"/>
          <p:cNvGraphicFramePr/>
          <p:nvPr/>
        </p:nvGraphicFramePr>
        <p:xfrm>
          <a:off x="5989320" y="1554480"/>
          <a:ext cx="5715000" cy="27432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x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Data for the X-axis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Data for the Y-axis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 of the points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marker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Shape / style of the points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Name used in the legend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0"/>
          <p:cNvSpPr/>
          <p:nvPr/>
        </p:nvSpPr>
        <p:spPr>
          <a:xfrm>
            <a:off x="9692640" y="-1463040"/>
            <a:ext cx="3837960" cy="383796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"/>
          <p:cNvSpPr/>
          <p:nvPr/>
        </p:nvSpPr>
        <p:spPr>
          <a:xfrm>
            <a:off x="-1280160" y="4754880"/>
            <a:ext cx="3106440" cy="310644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2"/>
          <p:cNvSpPr/>
          <p:nvPr/>
        </p:nvSpPr>
        <p:spPr>
          <a:xfrm>
            <a:off x="640080" y="548640"/>
            <a:ext cx="454680" cy="454680"/>
          </a:xfrm>
          <a:prstGeom prst="roundRect">
            <a:avLst>
              <a:gd name="adj" fmla="val 28000"/>
            </a:avLst>
          </a:prstGeom>
          <a:solidFill>
            <a:srgbClr val="818C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3"/>
          <p:cNvSpPr/>
          <p:nvPr/>
        </p:nvSpPr>
        <p:spPr>
          <a:xfrm>
            <a:off x="786240" y="694800"/>
            <a:ext cx="308520" cy="308520"/>
          </a:xfrm>
          <a:prstGeom prst="roundRect">
            <a:avLst>
              <a:gd name="adj" fmla="val 26471"/>
            </a:avLst>
          </a:prstGeom>
          <a:solidFill>
            <a:srgbClr val="0B0F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4"/>
          <p:cNvSpPr/>
          <p:nvPr/>
        </p:nvSpPr>
        <p:spPr>
          <a:xfrm>
            <a:off x="868680" y="777240"/>
            <a:ext cx="153000" cy="153000"/>
          </a:xfrm>
          <a:prstGeom prst="roundRect">
            <a:avLst>
              <a:gd name="adj" fmla="val 26471"/>
            </a:avLst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680" tIns="45000" rIns="7668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5"/>
          <p:cNvSpPr/>
          <p:nvPr/>
        </p:nvSpPr>
        <p:spPr>
          <a:xfrm>
            <a:off x="640080" y="2331720"/>
            <a:ext cx="914148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05 · SUBPLOTS &amp; OO API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6"/>
          <p:cNvSpPr/>
          <p:nvPr/>
        </p:nvSpPr>
        <p:spPr>
          <a:xfrm>
            <a:off x="640080" y="2743200"/>
            <a:ext cx="10330200" cy="136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 spc="-51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Subplots &amp; the Object-Oriented API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7"/>
          <p:cNvSpPr/>
          <p:nvPr/>
        </p:nvSpPr>
        <p:spPr>
          <a:xfrm>
            <a:off x="640080" y="3931920"/>
            <a:ext cx="9690120" cy="7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Combining multiple charts in one Figure, and the more explicit way of writing Matplotlib code used throughout real projects.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8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 0"/>
          <p:cNvSpPr/>
          <p:nvPr/>
        </p:nvSpPr>
        <p:spPr>
          <a:xfrm>
            <a:off x="548640" y="384120"/>
            <a:ext cx="95986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05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"/>
          <p:cNvSpPr/>
          <p:nvPr/>
        </p:nvSpPr>
        <p:spPr>
          <a:xfrm>
            <a:off x="548640" y="658440"/>
            <a:ext cx="10240560" cy="68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Subplots — plt.subplot()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2"/>
          <p:cNvSpPr/>
          <p:nvPr/>
        </p:nvSpPr>
        <p:spPr>
          <a:xfrm>
            <a:off x="11323080" y="384120"/>
            <a:ext cx="381600" cy="38160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3"/>
          <p:cNvSpPr/>
          <p:nvPr/>
        </p:nvSpPr>
        <p:spPr>
          <a:xfrm>
            <a:off x="11445840" y="506880"/>
            <a:ext cx="258480" cy="25848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4"/>
          <p:cNvSpPr/>
          <p:nvPr/>
        </p:nvSpPr>
        <p:spPr>
          <a:xfrm>
            <a:off x="11514960" y="576000"/>
            <a:ext cx="128160" cy="12816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45000" rIns="6408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5"/>
          <p:cNvSpPr/>
          <p:nvPr/>
        </p:nvSpPr>
        <p:spPr>
          <a:xfrm>
            <a:off x="457200" y="6473880"/>
            <a:ext cx="68554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6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ounded Rectangle 363"/>
          <p:cNvSpPr/>
          <p:nvPr/>
        </p:nvSpPr>
        <p:spPr>
          <a:xfrm>
            <a:off x="548640" y="1554480"/>
            <a:ext cx="5211360" cy="18738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Oval 364"/>
          <p:cNvSpPr/>
          <p:nvPr/>
        </p:nvSpPr>
        <p:spPr>
          <a:xfrm>
            <a:off x="713160" y="1700640"/>
            <a:ext cx="99720" cy="997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Oval 365"/>
          <p:cNvSpPr/>
          <p:nvPr/>
        </p:nvSpPr>
        <p:spPr>
          <a:xfrm>
            <a:off x="914400" y="1700640"/>
            <a:ext cx="99720" cy="9972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Oval 366"/>
          <p:cNvSpPr/>
          <p:nvPr/>
        </p:nvSpPr>
        <p:spPr>
          <a:xfrm>
            <a:off x="1115640" y="1700640"/>
            <a:ext cx="99720" cy="997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Box 367"/>
          <p:cNvSpPr/>
          <p:nvPr/>
        </p:nvSpPr>
        <p:spPr>
          <a:xfrm>
            <a:off x="685800" y="1920240"/>
            <a:ext cx="4937040" cy="14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plt.subplot(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nrows,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ncolumns,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index # Here indexing is not 0-based. It is 1-based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9" name="Table 368"/>
          <p:cNvGraphicFramePr/>
          <p:nvPr/>
        </p:nvGraphicFramePr>
        <p:xfrm>
          <a:off x="5989320" y="1554480"/>
          <a:ext cx="5715000" cy="18288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nrows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 of rows in the grid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ncolumns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 of columns in the grid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index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Panel number — 1-based, not 0-based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 0"/>
          <p:cNvSpPr/>
          <p:nvPr/>
        </p:nvSpPr>
        <p:spPr>
          <a:xfrm>
            <a:off x="548640" y="384120"/>
            <a:ext cx="95986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05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"/>
          <p:cNvSpPr/>
          <p:nvPr/>
        </p:nvSpPr>
        <p:spPr>
          <a:xfrm>
            <a:off x="548640" y="658440"/>
            <a:ext cx="10240560" cy="68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Subplots — plt.subplots()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"/>
          <p:cNvSpPr/>
          <p:nvPr/>
        </p:nvSpPr>
        <p:spPr>
          <a:xfrm>
            <a:off x="11323080" y="384120"/>
            <a:ext cx="381600" cy="38160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3"/>
          <p:cNvSpPr/>
          <p:nvPr/>
        </p:nvSpPr>
        <p:spPr>
          <a:xfrm>
            <a:off x="11445840" y="506880"/>
            <a:ext cx="258480" cy="25848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4"/>
          <p:cNvSpPr/>
          <p:nvPr/>
        </p:nvSpPr>
        <p:spPr>
          <a:xfrm>
            <a:off x="11514960" y="576000"/>
            <a:ext cx="128160" cy="12816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45000" rIns="6408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5"/>
          <p:cNvSpPr/>
          <p:nvPr/>
        </p:nvSpPr>
        <p:spPr>
          <a:xfrm>
            <a:off x="457200" y="6473880"/>
            <a:ext cx="68554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6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ounded Rectangle 363"/>
          <p:cNvSpPr/>
          <p:nvPr/>
        </p:nvSpPr>
        <p:spPr>
          <a:xfrm>
            <a:off x="548640" y="1554480"/>
            <a:ext cx="5211360" cy="18738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Oval 364"/>
          <p:cNvSpPr/>
          <p:nvPr/>
        </p:nvSpPr>
        <p:spPr>
          <a:xfrm>
            <a:off x="713160" y="1700640"/>
            <a:ext cx="99720" cy="997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Oval 365"/>
          <p:cNvSpPr/>
          <p:nvPr/>
        </p:nvSpPr>
        <p:spPr>
          <a:xfrm>
            <a:off x="914400" y="1700640"/>
            <a:ext cx="99720" cy="9972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6" name="Oval 366"/>
          <p:cNvSpPr/>
          <p:nvPr/>
        </p:nvSpPr>
        <p:spPr>
          <a:xfrm>
            <a:off x="1115640" y="1700640"/>
            <a:ext cx="99720" cy="997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367"/>
          <p:cNvSpPr/>
          <p:nvPr/>
        </p:nvSpPr>
        <p:spPr>
          <a:xfrm>
            <a:off x="685800" y="1920240"/>
            <a:ext cx="4937040" cy="14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fig, ax = plt.subplots(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nrows,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ncolumns,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figsize=(width,height) # Tuple: But this is optional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8" name="Table 368"/>
          <p:cNvGraphicFramePr/>
          <p:nvPr/>
        </p:nvGraphicFramePr>
        <p:xfrm>
          <a:off x="5989320" y="1554480"/>
          <a:ext cx="5715000" cy="27432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fig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The whole Figure (canvas)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ax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The Axes — one panel per grid cell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nrows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 of rows in the grid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ncolumns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 of columns in the grid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figsize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Optional (width, height) tuple of the Figure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ext 0"/>
          <p:cNvSpPr/>
          <p:nvPr/>
        </p:nvSpPr>
        <p:spPr>
          <a:xfrm>
            <a:off x="548640" y="384120"/>
            <a:ext cx="95986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05 · OBJECT-ORIENTED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"/>
          <p:cNvSpPr/>
          <p:nvPr/>
        </p:nvSpPr>
        <p:spPr>
          <a:xfrm>
            <a:off x="548640" y="658440"/>
            <a:ext cx="10238760" cy="68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Two Ways to Write Matplotlib Code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2"/>
          <p:cNvSpPr/>
          <p:nvPr/>
        </p:nvSpPr>
        <p:spPr>
          <a:xfrm>
            <a:off x="11323080" y="384120"/>
            <a:ext cx="381600" cy="38160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3"/>
          <p:cNvSpPr/>
          <p:nvPr/>
        </p:nvSpPr>
        <p:spPr>
          <a:xfrm>
            <a:off x="11445840" y="506880"/>
            <a:ext cx="258480" cy="25848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4"/>
          <p:cNvSpPr/>
          <p:nvPr/>
        </p:nvSpPr>
        <p:spPr>
          <a:xfrm>
            <a:off x="11514960" y="576000"/>
            <a:ext cx="128160" cy="12816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45000" rIns="6408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5"/>
          <p:cNvSpPr/>
          <p:nvPr/>
        </p:nvSpPr>
        <p:spPr>
          <a:xfrm>
            <a:off x="457200" y="6473880"/>
            <a:ext cx="68554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6"/>
          <p:cNvSpPr/>
          <p:nvPr/>
        </p:nvSpPr>
        <p:spPr>
          <a:xfrm>
            <a:off x="548640" y="1737360"/>
            <a:ext cx="5209560" cy="39294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7"/>
          <p:cNvSpPr/>
          <p:nvPr/>
        </p:nvSpPr>
        <p:spPr>
          <a:xfrm>
            <a:off x="777240" y="1938600"/>
            <a:ext cx="1460520" cy="2901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8"/>
          <p:cNvSpPr/>
          <p:nvPr/>
        </p:nvSpPr>
        <p:spPr>
          <a:xfrm>
            <a:off x="777240" y="1938600"/>
            <a:ext cx="146052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PYPLOT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9"/>
          <p:cNvSpPr/>
          <p:nvPr/>
        </p:nvSpPr>
        <p:spPr>
          <a:xfrm>
            <a:off x="777240" y="2514600"/>
            <a:ext cx="4752360" cy="1826640"/>
          </a:xfrm>
          <a:prstGeom prst="roundRect">
            <a:avLst>
              <a:gd name="adj" fmla="val 6486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0"/>
          <p:cNvSpPr/>
          <p:nvPr/>
        </p:nvSpPr>
        <p:spPr>
          <a:xfrm>
            <a:off x="941760" y="2660760"/>
            <a:ext cx="97920" cy="9792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8960" tIns="26280" rIns="4896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1"/>
          <p:cNvSpPr/>
          <p:nvPr/>
        </p:nvSpPr>
        <p:spPr>
          <a:xfrm>
            <a:off x="1143000" y="2660760"/>
            <a:ext cx="97920" cy="9792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8960" tIns="26280" rIns="4896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2"/>
          <p:cNvSpPr/>
          <p:nvPr/>
        </p:nvSpPr>
        <p:spPr>
          <a:xfrm>
            <a:off x="1344240" y="2660760"/>
            <a:ext cx="97920" cy="9792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8960" tIns="26280" rIns="4896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3"/>
          <p:cNvSpPr/>
          <p:nvPr/>
        </p:nvSpPr>
        <p:spPr>
          <a:xfrm>
            <a:off x="978480" y="2898720"/>
            <a:ext cx="4349880" cy="11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plt.plot(x, y)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plt.title("Sales")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plt.xlabel("Month")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plt.legend()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4"/>
          <p:cNvSpPr/>
          <p:nvPr/>
        </p:nvSpPr>
        <p:spPr>
          <a:xfrm>
            <a:off x="777240" y="4343400"/>
            <a:ext cx="4752360" cy="109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Implicit: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  Matplotlib tracks "the current" figure and axes for you. Quick for a single chart.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5"/>
          <p:cNvSpPr/>
          <p:nvPr/>
        </p:nvSpPr>
        <p:spPr>
          <a:xfrm>
            <a:off x="6217920" y="1737360"/>
            <a:ext cx="5209560" cy="39294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6"/>
          <p:cNvSpPr/>
          <p:nvPr/>
        </p:nvSpPr>
        <p:spPr>
          <a:xfrm>
            <a:off x="6446520" y="1938600"/>
            <a:ext cx="1826280" cy="2901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7"/>
          <p:cNvSpPr/>
          <p:nvPr/>
        </p:nvSpPr>
        <p:spPr>
          <a:xfrm>
            <a:off x="6446520" y="1938600"/>
            <a:ext cx="18262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OBJECT-ORIENTED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18"/>
          <p:cNvSpPr/>
          <p:nvPr/>
        </p:nvSpPr>
        <p:spPr>
          <a:xfrm>
            <a:off x="6446520" y="2514600"/>
            <a:ext cx="4752360" cy="1826640"/>
          </a:xfrm>
          <a:prstGeom prst="roundRect">
            <a:avLst>
              <a:gd name="adj" fmla="val 6486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9"/>
          <p:cNvSpPr/>
          <p:nvPr/>
        </p:nvSpPr>
        <p:spPr>
          <a:xfrm>
            <a:off x="6611040" y="2660760"/>
            <a:ext cx="97920" cy="9792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8960" tIns="26280" rIns="4896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20"/>
          <p:cNvSpPr/>
          <p:nvPr/>
        </p:nvSpPr>
        <p:spPr>
          <a:xfrm>
            <a:off x="6812280" y="2660760"/>
            <a:ext cx="97920" cy="9792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8960" tIns="26280" rIns="4896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21"/>
          <p:cNvSpPr/>
          <p:nvPr/>
        </p:nvSpPr>
        <p:spPr>
          <a:xfrm>
            <a:off x="7013520" y="2660760"/>
            <a:ext cx="97920" cy="9792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8960" tIns="26280" rIns="4896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2"/>
          <p:cNvSpPr/>
          <p:nvPr/>
        </p:nvSpPr>
        <p:spPr>
          <a:xfrm>
            <a:off x="6647760" y="2898720"/>
            <a:ext cx="4349880" cy="11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fig, ax = plt.subplots()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ax.plot(x, y)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ax.set_title("Sales")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ax.set_xlabel("Month")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ax.legend()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23"/>
          <p:cNvSpPr/>
          <p:nvPr/>
        </p:nvSpPr>
        <p:spPr>
          <a:xfrm>
            <a:off x="6446520" y="4343400"/>
            <a:ext cx="4752360" cy="109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Explicit: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 you name exactly which Axes you're drawing on. Scales cleanly to subplots and reusable functions.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24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 0"/>
          <p:cNvSpPr/>
          <p:nvPr/>
        </p:nvSpPr>
        <p:spPr>
          <a:xfrm>
            <a:off x="548640" y="384120"/>
            <a:ext cx="95986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06 · SAVING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"/>
          <p:cNvSpPr/>
          <p:nvPr/>
        </p:nvSpPr>
        <p:spPr>
          <a:xfrm>
            <a:off x="548640" y="658440"/>
            <a:ext cx="10240560" cy="68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Saving Plots — plt.savefig()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2"/>
          <p:cNvSpPr/>
          <p:nvPr/>
        </p:nvSpPr>
        <p:spPr>
          <a:xfrm>
            <a:off x="11323080" y="384120"/>
            <a:ext cx="381600" cy="38160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3"/>
          <p:cNvSpPr/>
          <p:nvPr/>
        </p:nvSpPr>
        <p:spPr>
          <a:xfrm>
            <a:off x="11445840" y="506880"/>
            <a:ext cx="258480" cy="25848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4"/>
          <p:cNvSpPr/>
          <p:nvPr/>
        </p:nvSpPr>
        <p:spPr>
          <a:xfrm>
            <a:off x="11514960" y="576000"/>
            <a:ext cx="128160" cy="12816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45000" rIns="6408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5"/>
          <p:cNvSpPr/>
          <p:nvPr/>
        </p:nvSpPr>
        <p:spPr>
          <a:xfrm>
            <a:off x="457200" y="6473880"/>
            <a:ext cx="68554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6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Rounded Rectangle 363"/>
          <p:cNvSpPr/>
          <p:nvPr/>
        </p:nvSpPr>
        <p:spPr>
          <a:xfrm>
            <a:off x="548640" y="1554480"/>
            <a:ext cx="5211360" cy="18738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Oval 364"/>
          <p:cNvSpPr/>
          <p:nvPr/>
        </p:nvSpPr>
        <p:spPr>
          <a:xfrm>
            <a:off x="713160" y="1700640"/>
            <a:ext cx="99720" cy="997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Oval 365"/>
          <p:cNvSpPr/>
          <p:nvPr/>
        </p:nvSpPr>
        <p:spPr>
          <a:xfrm>
            <a:off x="914400" y="1700640"/>
            <a:ext cx="99720" cy="9972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0" name="Oval 366"/>
          <p:cNvSpPr/>
          <p:nvPr/>
        </p:nvSpPr>
        <p:spPr>
          <a:xfrm>
            <a:off x="1115640" y="1700640"/>
            <a:ext cx="99720" cy="997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040" tIns="26280" rIns="5004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1" name="TextBox 367"/>
          <p:cNvSpPr/>
          <p:nvPr/>
        </p:nvSpPr>
        <p:spPr>
          <a:xfrm>
            <a:off x="685800" y="1920240"/>
            <a:ext cx="4937040" cy="14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savefig(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"filename.file_extension",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dpi=value,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bbox_inches="inches value"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52" name="Table 368"/>
          <p:cNvGraphicFramePr/>
          <p:nvPr/>
        </p:nvGraphicFramePr>
        <p:xfrm>
          <a:off x="5989320" y="1554480"/>
          <a:ext cx="5715000" cy="18288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filename.file_extension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File name + format, e.g. .png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dpi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Resolution in dots per inch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bbox_inches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Area of the figure that is saved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Text 0"/>
          <p:cNvSpPr/>
          <p:nvPr/>
        </p:nvSpPr>
        <p:spPr>
          <a:xfrm>
            <a:off x="548640" y="384120"/>
            <a:ext cx="959868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07 · USEFUL EXTRAS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"/>
          <p:cNvSpPr/>
          <p:nvPr/>
        </p:nvSpPr>
        <p:spPr>
          <a:xfrm>
            <a:off x="548640" y="658440"/>
            <a:ext cx="10238760" cy="68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Few More Tools You'll Reach For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2"/>
          <p:cNvSpPr/>
          <p:nvPr/>
        </p:nvSpPr>
        <p:spPr>
          <a:xfrm>
            <a:off x="11323080" y="384120"/>
            <a:ext cx="381600" cy="38160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3"/>
          <p:cNvSpPr/>
          <p:nvPr/>
        </p:nvSpPr>
        <p:spPr>
          <a:xfrm>
            <a:off x="11445840" y="506880"/>
            <a:ext cx="258480" cy="25848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4"/>
          <p:cNvSpPr/>
          <p:nvPr/>
        </p:nvSpPr>
        <p:spPr>
          <a:xfrm>
            <a:off x="11514960" y="576000"/>
            <a:ext cx="128160" cy="12816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45000" rIns="6408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5"/>
          <p:cNvSpPr/>
          <p:nvPr/>
        </p:nvSpPr>
        <p:spPr>
          <a:xfrm>
            <a:off x="457200" y="6473880"/>
            <a:ext cx="685548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74" name="Table 0"/>
          <p:cNvGraphicFramePr/>
          <p:nvPr/>
        </p:nvGraphicFramePr>
        <p:xfrm>
          <a:off x="548640" y="1691640"/>
          <a:ext cx="11109600" cy="3918600"/>
        </p:xfrm>
        <a:graphic>
          <a:graphicData uri="http://schemas.openxmlformats.org/drawingml/2006/table">
            <a:tbl>
              <a:tblPr/>
              <a:tblGrid>
                <a:gridCol w="355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9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figsize=(w, h)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Sets the Figure's size, in inches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dpi=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Controls image resolution/sharpness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plt.savefig("file.png", dpi=300)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Exports the current figure to a file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plt.xlim() / plt.ylim()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Fixes the visible axis range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plt.xticks() / plt.yticks()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Sets custom tick positions and labels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plt.tight_layout()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Automatically fixes spacing so labels don't overlap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5" name="Text 6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0"/>
          <p:cNvSpPr/>
          <p:nvPr/>
        </p:nvSpPr>
        <p:spPr>
          <a:xfrm>
            <a:off x="-1828800" y="-1828800"/>
            <a:ext cx="4569480" cy="456948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1"/>
          <p:cNvSpPr/>
          <p:nvPr/>
        </p:nvSpPr>
        <p:spPr>
          <a:xfrm>
            <a:off x="9601200" y="4114800"/>
            <a:ext cx="4112280" cy="4112280"/>
          </a:xfrm>
          <a:prstGeom prst="ellipse">
            <a:avLst/>
          </a:prstGeom>
          <a:solidFill>
            <a:srgbClr val="4C112D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2"/>
          <p:cNvSpPr/>
          <p:nvPr/>
        </p:nvSpPr>
        <p:spPr>
          <a:xfrm>
            <a:off x="5821560" y="2331720"/>
            <a:ext cx="546120" cy="546120"/>
          </a:xfrm>
          <a:prstGeom prst="roundRect">
            <a:avLst>
              <a:gd name="adj" fmla="val 28000"/>
            </a:avLst>
          </a:prstGeom>
          <a:solidFill>
            <a:srgbClr val="818C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3"/>
          <p:cNvSpPr/>
          <p:nvPr/>
        </p:nvSpPr>
        <p:spPr>
          <a:xfrm>
            <a:off x="5997240" y="2507400"/>
            <a:ext cx="370440" cy="370440"/>
          </a:xfrm>
          <a:prstGeom prst="roundRect">
            <a:avLst>
              <a:gd name="adj" fmla="val 26471"/>
            </a:avLst>
          </a:prstGeom>
          <a:solidFill>
            <a:srgbClr val="0B0F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4"/>
          <p:cNvSpPr/>
          <p:nvPr/>
        </p:nvSpPr>
        <p:spPr>
          <a:xfrm>
            <a:off x="6095880" y="2606040"/>
            <a:ext cx="183960" cy="183960"/>
          </a:xfrm>
          <a:prstGeom prst="roundRect">
            <a:avLst>
              <a:gd name="adj" fmla="val 26471"/>
            </a:avLst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5"/>
          <p:cNvSpPr/>
          <p:nvPr/>
        </p:nvSpPr>
        <p:spPr>
          <a:xfrm>
            <a:off x="0" y="3108960"/>
            <a:ext cx="12189240" cy="82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Thank You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6"/>
          <p:cNvSpPr/>
          <p:nvPr/>
        </p:nvSpPr>
        <p:spPr>
          <a:xfrm>
            <a:off x="0" y="3840480"/>
            <a:ext cx="12189240" cy="54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D4BF"/>
                </a:solidFill>
                <a:effectLst/>
                <a:uFillTx/>
                <a:latin typeface="Hanken Grotesk"/>
                <a:ea typeface="Hanken Grotesk"/>
              </a:rPr>
              <a:t>Questions?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7"/>
          <p:cNvSpPr/>
          <p:nvPr/>
        </p:nvSpPr>
        <p:spPr>
          <a:xfrm>
            <a:off x="0" y="4480560"/>
            <a:ext cx="1218924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8"/>
          <p:cNvSpPr/>
          <p:nvPr/>
        </p:nvSpPr>
        <p:spPr>
          <a:xfrm>
            <a:off x="11505960" y="6473880"/>
            <a:ext cx="5004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</TotalTime>
  <Words>0</Words>
  <Application>Microsoft Office PowerPoint</Application>
  <PresentationFormat>Widescreen</PresentationFormat>
  <Paragraphs>0</Paragraphs>
  <Slides>22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/>
  <cp:revision>268</cp:revision>
  <dcterms:created xsi:type="dcterms:W3CDTF">2026-09-23T19:15:53Z</dcterms:created>
  <dcterms:modified xsi:type="dcterms:W3CDTF">2026-10-01T12:44:01Z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31</vt:i4>
  </property>
</Properties>
</file>