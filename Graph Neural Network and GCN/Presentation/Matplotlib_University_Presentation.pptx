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B575F3-E38F-47AA-BF09-CE66AC8EC899}" v="78" dt="2026-09-25T03:51:42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78B46CA-FDC2-43AA-BB32-7427E121597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23659A7-E804-4BE5-8D6D-3F0618BDD6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876B94-C642-471B-BDF2-9A427C16A6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89F305-CD54-4339-9B83-FE4E2BDE9E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12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B48A34-CD37-4056-9F6A-E78A6420BE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D57988-44BC-4414-A55A-CB0B398DB4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600" cy="308412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03E200-E920-48F9-A6B8-97CAF1C353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62E6BB-1F81-4193-89C3-050EA81B18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FB6484-D41A-4EF4-B5A3-22E46BC1E4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CAA754-61C3-4279-ACE0-106499EBD1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983134-CAB7-4FB5-9F61-C34945C93D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5378DC-C543-4858-9C67-C1897ED2BC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826E03-1997-4A27-BEB8-474281C560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194560"/>
            <a:ext cx="5484240" cy="548424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2011680" y="4206240"/>
            <a:ext cx="4204080" cy="420408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943600" y="5212080"/>
            <a:ext cx="1460880" cy="1460880"/>
          </a:xfrm>
          <a:prstGeom prst="ellipse">
            <a:avLst/>
          </a:prstGeom>
          <a:solidFill>
            <a:srgbClr val="4C112D">
              <a:alpha val="5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685800" y="548640"/>
            <a:ext cx="546480" cy="54648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861480" y="724320"/>
            <a:ext cx="370800" cy="37080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960120" y="822960"/>
            <a:ext cx="184320" cy="18432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713160" y="2331720"/>
            <a:ext cx="5118480" cy="29052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13160" y="2331720"/>
            <a:ext cx="511848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GRAPH CONVOLUTIONAL NETWORKS (GCN)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58440" y="2788920"/>
            <a:ext cx="9599040" cy="12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0" b="1" u="none" strike="noStrike" spc="-99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Matplotlib</a:t>
            </a:r>
            <a:endParaRPr lang="en-US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13160" y="3794760"/>
            <a:ext cx="868464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D4BF"/>
                </a:solidFill>
                <a:effectLst/>
                <a:uFillTx/>
                <a:latin typeface="Bricolage Grotesque"/>
                <a:ea typeface="Bricolage Grotesque"/>
              </a:rPr>
              <a:t>Data Visualization with Python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13160" y="4434840"/>
            <a:ext cx="804456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 practical introduction to Pyplot, chart types, the Object-Oriented API, and Saving Plots.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PRESENTATION FLOW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548640" y="658440"/>
            <a:ext cx="102391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We'll Cover Today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548640" y="173736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713160" y="188352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713160" y="242316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Introduction to Matplotlib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9"/>
          <p:cNvSpPr/>
          <p:nvPr/>
        </p:nvSpPr>
        <p:spPr>
          <a:xfrm>
            <a:off x="3291840" y="173736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3456360" y="188352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3456360" y="242316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Essential Terminology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6035040" y="173736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6199560" y="188352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6199560" y="242316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Pyplot — Core Charts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8778240" y="173736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8942760" y="188352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7"/>
          <p:cNvSpPr/>
          <p:nvPr/>
        </p:nvSpPr>
        <p:spPr>
          <a:xfrm>
            <a:off x="8942760" y="242316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Practice Tasks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8"/>
          <p:cNvSpPr/>
          <p:nvPr/>
        </p:nvSpPr>
        <p:spPr>
          <a:xfrm>
            <a:off x="548640" y="384948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9"/>
          <p:cNvSpPr/>
          <p:nvPr/>
        </p:nvSpPr>
        <p:spPr>
          <a:xfrm>
            <a:off x="713160" y="399600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0"/>
          <p:cNvSpPr/>
          <p:nvPr/>
        </p:nvSpPr>
        <p:spPr>
          <a:xfrm>
            <a:off x="713160" y="453528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Subplots &amp; Object-Oriented API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1"/>
          <p:cNvSpPr/>
          <p:nvPr/>
        </p:nvSpPr>
        <p:spPr>
          <a:xfrm>
            <a:off x="3291840" y="384948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2"/>
          <p:cNvSpPr/>
          <p:nvPr/>
        </p:nvSpPr>
        <p:spPr>
          <a:xfrm>
            <a:off x="3456360" y="399600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3"/>
          <p:cNvSpPr/>
          <p:nvPr/>
        </p:nvSpPr>
        <p:spPr>
          <a:xfrm>
            <a:off x="3456360" y="453528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Saving Plots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4"/>
          <p:cNvSpPr/>
          <p:nvPr/>
        </p:nvSpPr>
        <p:spPr>
          <a:xfrm>
            <a:off x="6035040" y="384948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5"/>
          <p:cNvSpPr/>
          <p:nvPr/>
        </p:nvSpPr>
        <p:spPr>
          <a:xfrm>
            <a:off x="6199560" y="399600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07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6"/>
          <p:cNvSpPr/>
          <p:nvPr/>
        </p:nvSpPr>
        <p:spPr>
          <a:xfrm>
            <a:off x="6199560" y="453528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Useful Extras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7"/>
          <p:cNvSpPr/>
          <p:nvPr/>
        </p:nvSpPr>
        <p:spPr>
          <a:xfrm>
            <a:off x="8778240" y="384948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8"/>
          <p:cNvSpPr/>
          <p:nvPr/>
        </p:nvSpPr>
        <p:spPr>
          <a:xfrm>
            <a:off x="8942760" y="399600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08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9"/>
          <p:cNvSpPr/>
          <p:nvPr/>
        </p:nvSpPr>
        <p:spPr>
          <a:xfrm>
            <a:off x="8942760" y="453528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Q&amp;A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0"/>
          <p:cNvSpPr/>
          <p:nvPr/>
        </p:nvSpPr>
        <p:spPr>
          <a:xfrm>
            <a:off x="548640" y="5806440"/>
            <a:ext cx="11062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Target duration: 30–40 minutes.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1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01 ·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548640" y="658440"/>
            <a:ext cx="102391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Matplotlib, and Why Does It Matter?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548640" y="1737360"/>
            <a:ext cx="11107800" cy="41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Matplotlib is Python's foundational data visualization library — it turns numbers into charts: lines, bars, scatter plots, histograms, and more.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visualize at all? Raw numbers are hard to reason about; a well-made chart reveals patterns, trends, and outliers in seconds.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Data Science, AI, and ML, Matplotlib shows up constantly — exploring a dataset, checking a model's training progress, comparing results, and building figures for reports and papers.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It's also the foundation other libraries (like Seaborn) are built on top of — learning it well pays off across the whole ecosystem.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01 ·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548640" y="658440"/>
            <a:ext cx="102391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Basic Visualization Workflow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479520" y="1828800"/>
            <a:ext cx="2684520" cy="4112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731520" y="2011680"/>
            <a:ext cx="912240" cy="54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731520" y="2697480"/>
            <a:ext cx="2238120" cy="45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731520" y="3535560"/>
            <a:ext cx="2238120" cy="155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Lists, arrays, or DataFrame columns for X and 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3154680" y="1828800"/>
            <a:ext cx="180720" cy="301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3268440" y="1828800"/>
            <a:ext cx="2673000" cy="4112280"/>
          </a:xfrm>
          <a:prstGeom prst="roundRect">
            <a:avLst>
              <a:gd name="adj" fmla="val 4211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3520440" y="2011680"/>
            <a:ext cx="912240" cy="54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3520440" y="2697480"/>
            <a:ext cx="2238120" cy="45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Plot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3520440" y="3535560"/>
            <a:ext cx="2238120" cy="155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plt.plot() / bar() / scatter() / ... draws the chart.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5943600" y="1828800"/>
            <a:ext cx="180720" cy="301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6"/>
          <p:cNvSpPr/>
          <p:nvPr/>
        </p:nvSpPr>
        <p:spPr>
          <a:xfrm>
            <a:off x="6114960" y="1828800"/>
            <a:ext cx="2626920" cy="4112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6309360" y="2011680"/>
            <a:ext cx="912240" cy="54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6309360" y="2697480"/>
            <a:ext cx="2238120" cy="45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Customize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9"/>
          <p:cNvSpPr/>
          <p:nvPr/>
        </p:nvSpPr>
        <p:spPr>
          <a:xfrm>
            <a:off x="6182280" y="3535560"/>
            <a:ext cx="2238120" cy="155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Titles, labels, legend, grid, color, style.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0"/>
          <p:cNvSpPr/>
          <p:nvPr/>
        </p:nvSpPr>
        <p:spPr>
          <a:xfrm>
            <a:off x="8732520" y="1828800"/>
            <a:ext cx="180720" cy="301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1"/>
          <p:cNvSpPr/>
          <p:nvPr/>
        </p:nvSpPr>
        <p:spPr>
          <a:xfrm>
            <a:off x="8846280" y="1828800"/>
            <a:ext cx="2661480" cy="4112280"/>
          </a:xfrm>
          <a:prstGeom prst="roundRect">
            <a:avLst>
              <a:gd name="adj" fmla="val 4211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2"/>
          <p:cNvSpPr/>
          <p:nvPr/>
        </p:nvSpPr>
        <p:spPr>
          <a:xfrm>
            <a:off x="9098280" y="2011680"/>
            <a:ext cx="912240" cy="54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3"/>
          <p:cNvSpPr/>
          <p:nvPr/>
        </p:nvSpPr>
        <p:spPr>
          <a:xfrm>
            <a:off x="9098280" y="2697480"/>
            <a:ext cx="2238120" cy="45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Show / Save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4"/>
          <p:cNvSpPr/>
          <p:nvPr/>
        </p:nvSpPr>
        <p:spPr>
          <a:xfrm>
            <a:off x="9063720" y="3431880"/>
            <a:ext cx="2238120" cy="155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plt.show() to view, plt.savefig() to export.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01 ·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Importing Pyplot &amp; Your First Plot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367"/>
          <p:cNvSpPr/>
          <p:nvPr/>
        </p:nvSpPr>
        <p:spPr>
          <a:xfrm>
            <a:off x="685800" y="1828800"/>
            <a:ext cx="544032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import matplotlib.pyplot as plt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x = [1, 2, 3, 4, 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y = [16, 40, 26, 50, 45]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plt.plot(x, 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1" name="Picture 369" descr="first.png"/>
          <p:cNvPicPr/>
          <p:nvPr/>
        </p:nvPicPr>
        <p:blipFill>
          <a:blip r:embed="rId2"/>
          <a:stretch/>
        </p:blipFill>
        <p:spPr>
          <a:xfrm>
            <a:off x="6583680" y="1577520"/>
            <a:ext cx="4937400" cy="20570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02" name="Table 370"/>
          <p:cNvGraphicFramePr/>
          <p:nvPr/>
        </p:nvGraphicFramePr>
        <p:xfrm>
          <a:off x="6446520" y="3886200"/>
          <a:ext cx="5211720" cy="236952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import matplotlib.pyplot as plt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Loads Pyplot under the short name plt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x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Values plotted on the X-axis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y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Values plotted on the Y-axis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plt.plot(x, y)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Draws a line through the (x, y) points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plt.show()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Displays the figure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01 ·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Weekly Sales vs Expenses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367"/>
          <p:cNvSpPr/>
          <p:nvPr/>
        </p:nvSpPr>
        <p:spPr>
          <a:xfrm>
            <a:off x="685800" y="1828800"/>
            <a:ext cx="544032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days = ["Monday", "Tuesday", "Wednesday", "Thursday", "Friday"]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sales = [120, 150, 100, 180, 160]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expenses = [80, 100, 90, 120, 110]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plt.plot(days, sales, label="Sales")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plt.plot(days, expenses, label="Expenses")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plt.title("Weekly Sales vs Expenses")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plt.xlabel("Weekdays")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plt.ylabel("Amount")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plt.legend()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6" name="Table 370"/>
          <p:cNvGraphicFramePr/>
          <p:nvPr/>
        </p:nvGraphicFramePr>
        <p:xfrm>
          <a:off x="6446520" y="3886200"/>
          <a:ext cx="5211720" cy="22215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days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Category names on the X-axis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sales, expenses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Y-values of the two lines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label="Sales"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 of the line in the legend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plt.title("...")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Heading of the chart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plt.xlabel("...")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Text describing the X-axis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plt.ylabel("...")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Text describing the Y-axis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plt.legend()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Shows the legend built from the labels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plt.show()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Displays the figure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17" name="Picture 1"/>
          <p:cNvPicPr/>
          <p:nvPr/>
        </p:nvPicPr>
        <p:blipFill>
          <a:blip r:embed="rId2"/>
          <a:stretch/>
        </p:blipFill>
        <p:spPr>
          <a:xfrm>
            <a:off x="6713280" y="1654560"/>
            <a:ext cx="4791960" cy="2082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9692640" y="-1463040"/>
            <a:ext cx="3838320" cy="38383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"/>
          <p:cNvSpPr/>
          <p:nvPr/>
        </p:nvSpPr>
        <p:spPr>
          <a:xfrm>
            <a:off x="-1280160" y="4754880"/>
            <a:ext cx="3106800" cy="31068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640080" y="548640"/>
            <a:ext cx="455040" cy="45504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786240" y="694800"/>
            <a:ext cx="308880" cy="30888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868680" y="777240"/>
            <a:ext cx="153360" cy="15336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680" tIns="45000" rIns="7668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640080" y="2331720"/>
            <a:ext cx="9141840" cy="45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02 · FOUNDATIONS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640080" y="2743200"/>
            <a:ext cx="10330560" cy="13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 spc="-51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Essential Terminology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640080" y="3931920"/>
            <a:ext cx="9690480" cy="72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shared vocabulary we'll use for the rest of this talk.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02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80240" y="669960"/>
            <a:ext cx="4734360" cy="67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Describing &amp; Labeling a Plot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548640" y="16002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685800" y="17283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685800" y="17283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1088280" y="16916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685800" y="20941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visual representation of data: a line, bar, scatter, etc.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3362760" y="16002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3499920" y="17283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3499920" y="17283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3902040" y="16916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</a:rPr>
              <a:t>Marker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3499920" y="20941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symbol at each data point: circle, triangle, x.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6"/>
          <p:cNvSpPr/>
          <p:nvPr/>
        </p:nvSpPr>
        <p:spPr>
          <a:xfrm>
            <a:off x="6176880" y="16002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6314040" y="17283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6314040" y="17283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6716160" y="16916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6314040" y="20941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How a line looks: solid, dashed, dotted.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1"/>
          <p:cNvSpPr/>
          <p:nvPr/>
        </p:nvSpPr>
        <p:spPr>
          <a:xfrm>
            <a:off x="8991000" y="16002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2"/>
          <p:cNvSpPr/>
          <p:nvPr/>
        </p:nvSpPr>
        <p:spPr>
          <a:xfrm>
            <a:off x="9128160" y="17283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3"/>
          <p:cNvSpPr/>
          <p:nvPr/>
        </p:nvSpPr>
        <p:spPr>
          <a:xfrm>
            <a:off x="9128160" y="17283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4"/>
          <p:cNvSpPr/>
          <p:nvPr/>
        </p:nvSpPr>
        <p:spPr>
          <a:xfrm>
            <a:off x="9530280" y="16916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</a:rPr>
              <a:t>Color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5"/>
          <p:cNvSpPr/>
          <p:nvPr/>
        </p:nvSpPr>
        <p:spPr>
          <a:xfrm>
            <a:off x="9128160" y="20941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visual color of a line, bar, or marker.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6"/>
          <p:cNvSpPr/>
          <p:nvPr/>
        </p:nvSpPr>
        <p:spPr>
          <a:xfrm>
            <a:off x="548640" y="37764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7"/>
          <p:cNvSpPr/>
          <p:nvPr/>
        </p:nvSpPr>
        <p:spPr>
          <a:xfrm>
            <a:off x="685800" y="39045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8"/>
          <p:cNvSpPr/>
          <p:nvPr/>
        </p:nvSpPr>
        <p:spPr>
          <a:xfrm>
            <a:off x="685800" y="39045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9"/>
          <p:cNvSpPr/>
          <p:nvPr/>
        </p:nvSpPr>
        <p:spPr>
          <a:xfrm>
            <a:off x="1088280" y="38678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Label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0"/>
          <p:cNvSpPr/>
          <p:nvPr/>
        </p:nvSpPr>
        <p:spPr>
          <a:xfrm>
            <a:off x="685800" y="42703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Text describing a data series, axis, or point.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1"/>
          <p:cNvSpPr/>
          <p:nvPr/>
        </p:nvSpPr>
        <p:spPr>
          <a:xfrm>
            <a:off x="3362760" y="37764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2"/>
          <p:cNvSpPr/>
          <p:nvPr/>
        </p:nvSpPr>
        <p:spPr>
          <a:xfrm>
            <a:off x="3499920" y="39045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3"/>
          <p:cNvSpPr/>
          <p:nvPr/>
        </p:nvSpPr>
        <p:spPr>
          <a:xfrm>
            <a:off x="3499920" y="39045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4"/>
          <p:cNvSpPr/>
          <p:nvPr/>
        </p:nvSpPr>
        <p:spPr>
          <a:xfrm>
            <a:off x="3902040" y="38678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Title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5"/>
          <p:cNvSpPr/>
          <p:nvPr/>
        </p:nvSpPr>
        <p:spPr>
          <a:xfrm>
            <a:off x="3499920" y="42703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heading text that names the chart.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6"/>
          <p:cNvSpPr/>
          <p:nvPr/>
        </p:nvSpPr>
        <p:spPr>
          <a:xfrm>
            <a:off x="6176880" y="37764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7"/>
          <p:cNvSpPr/>
          <p:nvPr/>
        </p:nvSpPr>
        <p:spPr>
          <a:xfrm>
            <a:off x="6314040" y="39045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8"/>
          <p:cNvSpPr/>
          <p:nvPr/>
        </p:nvSpPr>
        <p:spPr>
          <a:xfrm>
            <a:off x="6314040" y="39045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9"/>
          <p:cNvSpPr/>
          <p:nvPr/>
        </p:nvSpPr>
        <p:spPr>
          <a:xfrm>
            <a:off x="6716160" y="38678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Legend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0"/>
          <p:cNvSpPr/>
          <p:nvPr/>
        </p:nvSpPr>
        <p:spPr>
          <a:xfrm>
            <a:off x="6314040" y="42703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key mapping colors/markers to what they represent.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1"/>
          <p:cNvSpPr/>
          <p:nvPr/>
        </p:nvSpPr>
        <p:spPr>
          <a:xfrm>
            <a:off x="8991000" y="37764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2"/>
          <p:cNvSpPr/>
          <p:nvPr/>
        </p:nvSpPr>
        <p:spPr>
          <a:xfrm>
            <a:off x="9128160" y="39045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3"/>
          <p:cNvSpPr/>
          <p:nvPr/>
        </p:nvSpPr>
        <p:spPr>
          <a:xfrm>
            <a:off x="9128160" y="39045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4"/>
          <p:cNvSpPr/>
          <p:nvPr/>
        </p:nvSpPr>
        <p:spPr>
          <a:xfrm>
            <a:off x="9530280" y="38678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5"/>
          <p:cNvSpPr/>
          <p:nvPr/>
        </p:nvSpPr>
        <p:spPr>
          <a:xfrm>
            <a:off x="9128160" y="42703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Light background lines that help read values.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02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548640" y="658440"/>
            <a:ext cx="102391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Figure vs. Axes — Visualized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6"/>
          <p:cNvSpPr/>
          <p:nvPr/>
        </p:nvSpPr>
        <p:spPr>
          <a:xfrm>
            <a:off x="822960" y="1645920"/>
            <a:ext cx="5758560" cy="4204080"/>
          </a:xfrm>
          <a:prstGeom prst="roundRect">
            <a:avLst>
              <a:gd name="adj" fmla="val 3043"/>
            </a:avLst>
          </a:prstGeom>
          <a:solidFill>
            <a:srgbClr val="F0ECF4"/>
          </a:solidFill>
          <a:ln w="19050">
            <a:solidFill>
              <a:srgbClr val="5755A7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1005840" y="1755720"/>
            <a:ext cx="1826640" cy="31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Figure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8"/>
          <p:cNvSpPr/>
          <p:nvPr/>
        </p:nvSpPr>
        <p:spPr>
          <a:xfrm>
            <a:off x="1280160" y="2286000"/>
            <a:ext cx="4844160" cy="31982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1417320" y="2359080"/>
            <a:ext cx="18266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E185D"/>
                </a:solidFill>
                <a:effectLst/>
                <a:uFillTx/>
                <a:latin typeface="Bricolage Grotesque"/>
                <a:ea typeface="Bricolage Grotesque"/>
              </a:rPr>
              <a:t>Axes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1645920" y="5029200"/>
            <a:ext cx="41148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1"/>
          <p:cNvSpPr/>
          <p:nvPr/>
        </p:nvSpPr>
        <p:spPr>
          <a:xfrm>
            <a:off x="1645920" y="2743200"/>
            <a:ext cx="360" cy="22860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5120640" y="5102280"/>
            <a:ext cx="9122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X-axis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1371600" y="2743200"/>
            <a:ext cx="54648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Y-axis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0" descr="/home/claude/uni/charts/subplots_two.png"/>
          <p:cNvPicPr/>
          <p:nvPr/>
        </p:nvPicPr>
        <p:blipFill>
          <a:blip r:embed="rId3"/>
          <a:stretch/>
        </p:blipFill>
        <p:spPr>
          <a:xfrm>
            <a:off x="2103120" y="3063240"/>
            <a:ext cx="3381120" cy="164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14"/>
          <p:cNvSpPr/>
          <p:nvPr/>
        </p:nvSpPr>
        <p:spPr>
          <a:xfrm>
            <a:off x="6903720" y="1783080"/>
            <a:ext cx="4569840" cy="392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Figure is the whole canvas — the entire window or saved image file.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 Axes is one plot area living inside that Figure — it holds the X-axis, Y-axis, title, legend, and data.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One Figure can contain many Axes — that's exactly what Subplots are (coming up shortly).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plt.plot(), plt.title(), etc. call quietly targets "the current Axes" of "the current Figure."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5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9692640" y="-1463040"/>
            <a:ext cx="3838320" cy="38383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"/>
          <p:cNvSpPr/>
          <p:nvPr/>
        </p:nvSpPr>
        <p:spPr>
          <a:xfrm>
            <a:off x="-1280160" y="4754880"/>
            <a:ext cx="3106800" cy="31068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"/>
          <p:cNvSpPr/>
          <p:nvPr/>
        </p:nvSpPr>
        <p:spPr>
          <a:xfrm>
            <a:off x="640080" y="548640"/>
            <a:ext cx="455040" cy="45504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"/>
          <p:cNvSpPr/>
          <p:nvPr/>
        </p:nvSpPr>
        <p:spPr>
          <a:xfrm>
            <a:off x="786240" y="694800"/>
            <a:ext cx="308880" cy="30888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4"/>
          <p:cNvSpPr/>
          <p:nvPr/>
        </p:nvSpPr>
        <p:spPr>
          <a:xfrm>
            <a:off x="868680" y="777240"/>
            <a:ext cx="153360" cy="15336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680" tIns="45000" rIns="7668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640080" y="2331720"/>
            <a:ext cx="9141840" cy="45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640080" y="2743200"/>
            <a:ext cx="10330560" cy="13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 spc="-51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Pyplot — The Core of Matplotlib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640080" y="3931920"/>
            <a:ext cx="9690480" cy="72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Line, bar, pie, histogram, and scatter plots — each with its syntax, parameters, and a code example.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 Plot — plt.plot()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363"/>
          <p:cNvSpPr/>
          <p:nvPr/>
        </p:nvSpPr>
        <p:spPr>
          <a:xfrm>
            <a:off x="548640" y="1554480"/>
            <a:ext cx="5211720" cy="27885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367"/>
          <p:cNvSpPr/>
          <p:nvPr/>
        </p:nvSpPr>
        <p:spPr>
          <a:xfrm>
            <a:off x="685800" y="1920240"/>
            <a:ext cx="4937400" cy="23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x,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y,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color="color_name",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linestyle="line_style",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linewidth=value,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marker="marker_style",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label="label_name"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2" name="Table 368"/>
          <p:cNvGraphicFramePr/>
          <p:nvPr/>
        </p:nvGraphicFramePr>
        <p:xfrm>
          <a:off x="5989320" y="1554480"/>
          <a:ext cx="5715000" cy="36576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Data for the X-axis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Data for the Y-axis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the line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linestyle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Line style: ":", "--" or "-."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linewidth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Thickness of the line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marker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Symbol at each point: "o", "x", "^"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 used in the legend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 Plot — Full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367"/>
          <p:cNvSpPr/>
          <p:nvPr/>
        </p:nvSpPr>
        <p:spPr>
          <a:xfrm>
            <a:off x="685800" y="1828800"/>
            <a:ext cx="5440320" cy="369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months = ["Jan", "Feb", "Mar", "Apr", "May", "Jun",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 "Jul", "Aug", "Sep", "Oct", "Nov", "Dec"]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sales = [120, 150, 130, 180, 200, 170,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220, 240, 210, 260, 280, 300]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expenses = [80, 90, 100, 110, 130, 120,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   140, 150, 135, 160, 170, 180]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plt.plot(months, sales, color="red", linestyle=":",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linewidth=2, marker="o", label="Sales")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plt.plot(months, expenses, color="blue", linestyle=":",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linewidth=2, marker="o", label="Expenses")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plt.title("Monthly Sales and Expenses Report")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plt.xlabel("Quarters")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plt.ylabel("Expenses and Sales")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plt.legend(loc="lower right")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plt.xticks([0, 3, 6, 9], ["Q1", "Q2", "Q3", "Q4"])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plt.yticks([50, 150, 250, 350],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  ["50-150", "150-250", "250-350", "350+"])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plt.ylim(0, 350)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plt.grid(axis="both", linestyle=":", linewidth=4, alpha=0.7)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368"/>
          <p:cNvSpPr/>
          <p:nvPr/>
        </p:nvSpPr>
        <p:spPr>
          <a:xfrm>
            <a:off x="6446520" y="1208880"/>
            <a:ext cx="5200200" cy="24818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26" name="Table 370"/>
          <p:cNvGraphicFramePr/>
          <p:nvPr/>
        </p:nvGraphicFramePr>
        <p:xfrm>
          <a:off x="6446520" y="3886200"/>
          <a:ext cx="5212080" cy="24660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color="red" / "blue"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each line and its markers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linestyle=":"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Dotted line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linewidth=2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Line thickness of 2 points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marker="o"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Circle at every data point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plt.legend(loc="lower right")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Legend in the lower-right corner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plt.xticks([0, 3, 6, 9], [...])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Tick positions + labels shown (Q1–Q4)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plt.yticks([50, ...], [...])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Y tick positions + range labels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plt.ylim(0, 350)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Y-axis runs from 0 to 350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plt.grid(...)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Grid options — see next slide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227" name="Picture 1"/>
          <p:cNvPicPr/>
          <p:nvPr/>
        </p:nvPicPr>
        <p:blipFill>
          <a:blip r:embed="rId2"/>
          <a:stretch/>
        </p:blipFill>
        <p:spPr>
          <a:xfrm>
            <a:off x="6600240" y="1342800"/>
            <a:ext cx="4914000" cy="2336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Grid Options — plt.grid()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4651"/>
                </a:solidFill>
                <a:effectLst/>
                <a:uFillTx/>
                <a:latin typeface="Calibri"/>
                <a:ea typeface="Calibri"/>
              </a:rPr>
              <a:t>Matplotlib: Data Visualization with Python  ·  GCN Course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5" name="Table 363"/>
          <p:cNvGraphicFramePr/>
          <p:nvPr/>
        </p:nvGraphicFramePr>
        <p:xfrm>
          <a:off x="548640" y="1554480"/>
          <a:ext cx="11109960" cy="462528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Call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Turns the grid 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plt.grid(True)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Explicitly turns the grid 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plt.grid(False)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Turns the grid off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plt.grid(axis="y")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Horizontal grid lines only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plt.grid(axis="x")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Vertical grid lines only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plt.grid(axis="both")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Both horizontal and vertical grid lines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plt.grid(linestyle=":")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Changes the grid line style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plt.grid(linewidth=0.5)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Changes the grid line width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plt.grid(alpha=0.5)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Changes the grid transparency (0 to 1)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plt.grid(axis="both", linestyle=":", linewidth=4, alpha=0.7)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Combines several properties in one call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"/>
          <p:cNvSpPr/>
          <p:nvPr/>
        </p:nvSpPr>
        <p:spPr>
          <a:xfrm>
            <a:off x="479520" y="669960"/>
            <a:ext cx="4560480" cy="67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Bar Chart — plt.bar()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363"/>
          <p:cNvSpPr/>
          <p:nvPr/>
        </p:nvSpPr>
        <p:spPr>
          <a:xfrm>
            <a:off x="548640" y="1554480"/>
            <a:ext cx="5211720" cy="23313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367"/>
          <p:cNvSpPr/>
          <p:nvPr/>
        </p:nvSpPr>
        <p:spPr>
          <a:xfrm>
            <a:off x="685800" y="1920240"/>
            <a:ext cx="4937400" cy="187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plt.bar(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x,                      # Category Name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height,                 # Bar Height / Value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color="Color Name",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width=value,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label="Label Name"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8" name="Table 368"/>
          <p:cNvGraphicFramePr/>
          <p:nvPr/>
        </p:nvGraphicFramePr>
        <p:xfrm>
          <a:off x="5989320" y="1554480"/>
          <a:ext cx="5715000" cy="27432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Category names / positions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Height / value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Values represented by the bars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Bar color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width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Width of each bar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 used in the legend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Bar Chart —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367"/>
          <p:cNvSpPr/>
          <p:nvPr/>
        </p:nvSpPr>
        <p:spPr>
          <a:xfrm>
            <a:off x="685800" y="1828800"/>
            <a:ext cx="5440320" cy="320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products = ["Laptop", "Phone", "Tablet", "Headphones", "Keyboard"]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sales_2026 = [120, 200, 150, 180, 100]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1300"/>
            </a:b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plt.bar(products, sales_2026, color="#B81D53", label="Sales 2026")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1300"/>
            </a:b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plt.xlabel("Product", color="#333333")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plt.ylabel("Sales", color="#333333")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plt.title("Product Sale Comparison", fontweight="bold", pad=15, color="#3A3C3A")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1300"/>
            </a:b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plt.legend()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plt.tight_layout()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62" name="Table 370"/>
          <p:cNvGraphicFramePr/>
          <p:nvPr/>
        </p:nvGraphicFramePr>
        <p:xfrm>
          <a:off x="6446520" y="3886200"/>
          <a:ext cx="5171040" cy="2354400"/>
        </p:xfrm>
        <a:graphic>
          <a:graphicData uri="http://schemas.openxmlformats.org/drawingml/2006/table">
            <a:tbl>
              <a:tblPr/>
              <a:tblGrid>
                <a:gridCol w="21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color="orange" / "blue"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Bar color of each series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label="Sales 2026"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Legend name of the series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plt.xticks(x, products)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Product names under the positions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plt.legend()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Shows the legend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plt.xlabel / ylabel / title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Axis text and chart heading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63" name="Picture 1"/>
          <p:cNvPicPr/>
          <p:nvPr/>
        </p:nvPicPr>
        <p:blipFill>
          <a:blip r:embed="rId2"/>
          <a:stretch/>
        </p:blipFill>
        <p:spPr>
          <a:xfrm>
            <a:off x="6642720" y="1617840"/>
            <a:ext cx="4725000" cy="2086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Pie Chart — plt.pie()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363"/>
          <p:cNvSpPr/>
          <p:nvPr/>
        </p:nvSpPr>
        <p:spPr>
          <a:xfrm>
            <a:off x="548640" y="1554480"/>
            <a:ext cx="5211720" cy="21027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367"/>
          <p:cNvSpPr/>
          <p:nvPr/>
        </p:nvSpPr>
        <p:spPr>
          <a:xfrm>
            <a:off x="685800" y="1920240"/>
            <a:ext cx="493740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plt.pie(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values,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labels=labels_list,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colors=color_list,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autopct="%1.1f%%"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6" name="Table 368"/>
          <p:cNvGraphicFramePr/>
          <p:nvPr/>
        </p:nvGraphicFramePr>
        <p:xfrm>
          <a:off x="5989320" y="1554480"/>
          <a:ext cx="5714640" cy="22860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values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Numbers represented by each slice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Names of the slices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Colors of the slices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autopct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Shows the percentage on each slice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Pie Chart —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367"/>
          <p:cNvSpPr/>
          <p:nvPr/>
        </p:nvSpPr>
        <p:spPr>
          <a:xfrm>
            <a:off x="685800" y="1828800"/>
            <a:ext cx="544032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regions = ["North", "South", "East", "West"]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revenue = [3000, 2000, 1500, 1000]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plt.pie(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revenue,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labels=regions,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autopct="%1.1f%%",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colors=["teal", "skyblue", "lightgreen", "coral"]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0" name="Picture 369" descr="pie.png"/>
          <p:cNvPicPr/>
          <p:nvPr/>
        </p:nvPicPr>
        <p:blipFill>
          <a:blip r:embed="rId2"/>
          <a:stretch/>
        </p:blipFill>
        <p:spPr>
          <a:xfrm>
            <a:off x="7064280" y="1554480"/>
            <a:ext cx="3976560" cy="21027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91" name="Table 370"/>
          <p:cNvGraphicFramePr/>
          <p:nvPr/>
        </p:nvGraphicFramePr>
        <p:xfrm>
          <a:off x="6446520" y="3886200"/>
          <a:ext cx="5211720" cy="17280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regions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Names of the four slices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revenue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Value of each slice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labels=regions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Writes each name beside its slice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autopct="%1.1f%%"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Percentage with 1 decimal place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colors=["teal", ...]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One color per slice, in order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plt.show()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Displays the figure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Histogram — plt.hist()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ounded Rectangle 363"/>
          <p:cNvSpPr/>
          <p:nvPr/>
        </p:nvSpPr>
        <p:spPr>
          <a:xfrm>
            <a:off x="548640" y="1554480"/>
            <a:ext cx="5211720" cy="21027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367"/>
          <p:cNvSpPr/>
          <p:nvPr/>
        </p:nvSpPr>
        <p:spPr>
          <a:xfrm>
            <a:off x="685800" y="1920240"/>
            <a:ext cx="493740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plt.hist(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data,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bins=number_of_bins,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color="color_name",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edgecolor="black"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4" name="Table 368"/>
          <p:cNvGraphicFramePr/>
          <p:nvPr/>
        </p:nvGraphicFramePr>
        <p:xfrm>
          <a:off x="5989320" y="1554480"/>
          <a:ext cx="5714640" cy="22860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data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Numbers distributed into bins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bins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intervals / groups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the bars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edgecolor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each bar's border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Histogram —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367"/>
          <p:cNvSpPr/>
          <p:nvPr/>
        </p:nvSpPr>
        <p:spPr>
          <a:xfrm>
            <a:off x="685800" y="1828800"/>
            <a:ext cx="544032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scores = [45, 52, 58, 61, 63, 67, 69, 70, 72, 74,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 75, 77, 79, 81, 83, 85, 87, 89, 92, 95]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plt.hist(scores, bins=5, color="orange", edgecolor="black")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plt.xlabel("Scores")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plt.ylabel("Number of Students")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plt.title("Score Distribution of Students")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8" name="Picture 369" descr="hist.png"/>
          <p:cNvPicPr/>
          <p:nvPr/>
        </p:nvPicPr>
        <p:blipFill>
          <a:blip r:embed="rId2"/>
          <a:stretch/>
        </p:blipFill>
        <p:spPr>
          <a:xfrm>
            <a:off x="6583680" y="1577520"/>
            <a:ext cx="4937400" cy="20570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319" name="Table 370"/>
          <p:cNvGraphicFramePr/>
          <p:nvPr/>
        </p:nvGraphicFramePr>
        <p:xfrm>
          <a:off x="6446520" y="3886200"/>
          <a:ext cx="5211720" cy="19746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scores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20 student scores to distribute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bins=5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Groups the scores into 5 intervals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color="orange"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Fill color of the bars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edgecolor="black"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Border color of each bar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plt.xlabel("Scores")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Text under the X-axis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plt.ylabel("...")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Text along the Y-axis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plt.title("...")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Heading of the chart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Scatter Plot — plt.scatter()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363"/>
          <p:cNvSpPr/>
          <p:nvPr/>
        </p:nvSpPr>
        <p:spPr>
          <a:xfrm>
            <a:off x="548640" y="1554480"/>
            <a:ext cx="5211720" cy="23313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367"/>
          <p:cNvSpPr/>
          <p:nvPr/>
        </p:nvSpPr>
        <p:spPr>
          <a:xfrm>
            <a:off x="685800" y="1920240"/>
            <a:ext cx="4937400" cy="187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plt.scatter(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x,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y,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color="color_name",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marker="style",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label="label name"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2" name="Table 368"/>
          <p:cNvGraphicFramePr/>
          <p:nvPr/>
        </p:nvGraphicFramePr>
        <p:xfrm>
          <a:off x="5989320" y="1554480"/>
          <a:ext cx="5714640" cy="27432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Data for the X-axis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Data for the Y-axis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the points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marker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Shape / style of the points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 used in the legend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Scatter Plot —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367"/>
          <p:cNvSpPr/>
          <p:nvPr/>
        </p:nvSpPr>
        <p:spPr>
          <a:xfrm>
            <a:off x="685800" y="1828800"/>
            <a:ext cx="544032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hours_studied = [1, 2, 3, 4, 5, 6, 7, 8]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exam_scores = [45, 52, 58, 65, 70, 76, 84, 91]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social_media_hours = [6, 5.5, 5, 4.5, 4, 3.5, 3, 2.5]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social_media_scores = [45, 48, 52, 58, 62, 68, 75, 82]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plt.scatter(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hours_studied,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exam_scores,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color="green",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marker="^",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label="Hours Studied vs Exam Scores"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plt.scatter(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social_media_hours,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social_media_scores,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color="red",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marker="x",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label="Social Media Use vs Exam Scores"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plt.xlabel("Hours")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plt.ylabel("Exam Scores")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plt.legend(loc="best")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plt.title("Study &amp; Social Media Use vs Exam Scores")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plt.grid()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46" name="Picture 369" descr="scatter.png"/>
          <p:cNvPicPr/>
          <p:nvPr/>
        </p:nvPicPr>
        <p:blipFill>
          <a:blip r:embed="rId2"/>
          <a:stretch/>
        </p:blipFill>
        <p:spPr>
          <a:xfrm>
            <a:off x="6583680" y="1577520"/>
            <a:ext cx="4937400" cy="20570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347" name="Table 370"/>
          <p:cNvGraphicFramePr/>
          <p:nvPr/>
        </p:nvGraphicFramePr>
        <p:xfrm>
          <a:off x="6446520" y="3886200"/>
          <a:ext cx="5211720" cy="22215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hours_studied, exam_scores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X and Y values of the first set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social_media_hours / _scores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X and Y values of the second set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color="green" / "red"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each set of points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marker="^" / "x"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Triangle and cross-shaped points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label=...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Legend name of each set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plt.legend(loc="best")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Legend placed where it fits best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Turns the grid on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plt.xlabel / ylabel / title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Axis text and chart heading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0"/>
          <p:cNvSpPr/>
          <p:nvPr/>
        </p:nvSpPr>
        <p:spPr>
          <a:xfrm>
            <a:off x="9692640" y="-1463040"/>
            <a:ext cx="3838320" cy="38383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"/>
          <p:cNvSpPr/>
          <p:nvPr/>
        </p:nvSpPr>
        <p:spPr>
          <a:xfrm>
            <a:off x="-1280160" y="4754880"/>
            <a:ext cx="3106800" cy="31068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"/>
          <p:cNvSpPr/>
          <p:nvPr/>
        </p:nvSpPr>
        <p:spPr>
          <a:xfrm>
            <a:off x="640080" y="548640"/>
            <a:ext cx="455040" cy="45504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"/>
          <p:cNvSpPr/>
          <p:nvPr/>
        </p:nvSpPr>
        <p:spPr>
          <a:xfrm>
            <a:off x="786240" y="694800"/>
            <a:ext cx="308880" cy="30888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4"/>
          <p:cNvSpPr/>
          <p:nvPr/>
        </p:nvSpPr>
        <p:spPr>
          <a:xfrm>
            <a:off x="868680" y="777240"/>
            <a:ext cx="153360" cy="15336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680" tIns="45000" rIns="7668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5"/>
          <p:cNvSpPr/>
          <p:nvPr/>
        </p:nvSpPr>
        <p:spPr>
          <a:xfrm>
            <a:off x="640080" y="2331720"/>
            <a:ext cx="9141840" cy="45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05 · SUBPLOTS &amp; OO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6"/>
          <p:cNvSpPr/>
          <p:nvPr/>
        </p:nvSpPr>
        <p:spPr>
          <a:xfrm>
            <a:off x="640080" y="2743200"/>
            <a:ext cx="10330560" cy="13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 spc="-51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Subplots &amp; the Object-Oriented API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7"/>
          <p:cNvSpPr/>
          <p:nvPr/>
        </p:nvSpPr>
        <p:spPr>
          <a:xfrm>
            <a:off x="640080" y="3931920"/>
            <a:ext cx="9690480" cy="72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Combining multiple charts in one Figure, and the more explicit way of writing Matplotlib code used throughout real projects.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8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05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Subplots — plt.subplot()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ounded Rectangle 363"/>
          <p:cNvSpPr/>
          <p:nvPr/>
        </p:nvSpPr>
        <p:spPr>
          <a:xfrm>
            <a:off x="548640" y="1554480"/>
            <a:ext cx="5211720" cy="18741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367"/>
          <p:cNvSpPr/>
          <p:nvPr/>
        </p:nvSpPr>
        <p:spPr>
          <a:xfrm>
            <a:off x="685800" y="1920240"/>
            <a:ext cx="493740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plt.subplot(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nrows,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ncolumns,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index # Here indexing is not 0-based. It is 1-based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9" name="Table 368"/>
          <p:cNvGraphicFramePr/>
          <p:nvPr/>
        </p:nvGraphicFramePr>
        <p:xfrm>
          <a:off x="5989320" y="1554480"/>
          <a:ext cx="5714640" cy="18288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nrows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rows in the grid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ncolumns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columns in the grid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index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Panel number — 1-based, not 0-based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05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Subplots — plt.subplot()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367"/>
          <p:cNvSpPr/>
          <p:nvPr/>
        </p:nvSpPr>
        <p:spPr>
          <a:xfrm>
            <a:off x="708480" y="1828800"/>
            <a:ext cx="2574360" cy="47243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plt.subplot</a:t>
            </a: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(1, 2, 1)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plt.plot</a:t>
            </a: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languages,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repositories,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color="red",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marker="o",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label="Repositories"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plt.xticks</a:t>
            </a: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(rotation=45, ha="right")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plt.legend</a:t>
            </a: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plt.title</a:t>
            </a: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("Programming Languages")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plt.subplot</a:t>
            </a: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(1, 2, 2)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100" dirty="0">
              <a:solidFill>
                <a:srgbClr val="F1F5F9"/>
              </a:solidFill>
              <a:latin typeface="Consolas"/>
            </a:endParaRPr>
          </a:p>
          <a:p>
            <a:r>
              <a:rPr lang="en-US" sz="1100" dirty="0" err="1">
                <a:solidFill>
                  <a:srgbClr val="F1F5F9"/>
                </a:solidFill>
                <a:latin typeface="Consolas"/>
              </a:rPr>
              <a:t>plt.bar</a:t>
            </a:r>
            <a:r>
              <a:rPr lang="en-US" sz="1100" dirty="0">
                <a:solidFill>
                  <a:srgbClr val="F1F5F9"/>
                </a:solidFill>
                <a:latin typeface="Consolas"/>
              </a:rPr>
              <a:t>(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F1F5F9"/>
                </a:solidFill>
                <a:latin typeface="Consolas"/>
              </a:rPr>
              <a:t>languages,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F1F5F9"/>
                </a:solidFill>
                <a:latin typeface="Consolas"/>
              </a:rPr>
              <a:t>repositories,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F1F5F9"/>
                </a:solidFill>
                <a:latin typeface="Consolas"/>
              </a:rPr>
              <a:t>color="blue",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F1F5F9"/>
                </a:solidFill>
                <a:latin typeface="Consolas"/>
              </a:rPr>
              <a:t>label="Repositories"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F1F5F9"/>
                </a:solidFill>
                <a:latin typeface="Consolas"/>
              </a:rPr>
              <a:t>)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 dirty="0">
              <a:solidFill>
                <a:srgbClr val="F1F5F9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endParaRPr lang="en-US"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82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83" name="Picture 369" descr="subplot.png"/>
          <p:cNvPicPr/>
          <p:nvPr/>
        </p:nvPicPr>
        <p:blipFill>
          <a:blip r:embed="rId2"/>
          <a:stretch/>
        </p:blipFill>
        <p:spPr>
          <a:xfrm>
            <a:off x="6659280" y="1554480"/>
            <a:ext cx="4786200" cy="21027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384" name="Table 370"/>
          <p:cNvGraphicFramePr/>
          <p:nvPr>
            <p:extLst>
              <p:ext uri="{D42A27DB-BD31-4B8C-83A1-F6EECF244321}">
                <p14:modId xmlns:p14="http://schemas.microsoft.com/office/powerpoint/2010/main" val="2942125606"/>
              </p:ext>
            </p:extLst>
          </p:nvPr>
        </p:nvGraphicFramePr>
        <p:xfrm>
          <a:off x="6446520" y="3886200"/>
          <a:ext cx="5212080" cy="1820793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59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 dirty="0" err="1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plt.subplot</a:t>
                      </a:r>
                      <a:r>
                        <a:rPr lang="en-US" sz="800" b="1" u="none" strike="noStrike" dirty="0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(1, 2, 1)</a:t>
                      </a:r>
                      <a:endParaRPr lang="en-US" sz="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 cap="flat" cmpd="sng" algn="ctr">
                      <a:solidFill>
                        <a:srgbClr val="C8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C8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 dirty="0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1 row, 2 columns — first panel</a:t>
                      </a:r>
                      <a:endParaRPr lang="en-US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 cap="flat" cmpd="sng" algn="ctr">
                      <a:solidFill>
                        <a:srgbClr val="C8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 cap="flat" cmpd="sng" algn="ctr">
                      <a:solidFill>
                        <a:srgbClr val="C8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 dirty="0" err="1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plt.subplot</a:t>
                      </a:r>
                      <a:r>
                        <a:rPr lang="en-US" sz="800" b="1" u="none" strike="noStrike" dirty="0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(1, 2, 2)</a:t>
                      </a:r>
                      <a:endParaRPr lang="en-US" sz="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 dirty="0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Same grid — second panel</a:t>
                      </a:r>
                      <a:endParaRPr lang="en-US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19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 dirty="0" err="1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linestyle</a:t>
                      </a:r>
                      <a:r>
                        <a:rPr lang="en-US" sz="800" b="1" u="none" strike="noStrike" dirty="0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="-."</a:t>
                      </a:r>
                      <a:endParaRPr lang="en-US" sz="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 dirty="0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Dash-dot line</a:t>
                      </a:r>
                      <a:endParaRPr lang="en-US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 dirty="0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rotation=45</a:t>
                      </a:r>
                      <a:endParaRPr lang="en-US" sz="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 cap="flat" cmpd="sng" algn="ctr">
                      <a:solidFill>
                        <a:srgbClr val="C8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C8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 dirty="0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Rotates tick labels by 45°</a:t>
                      </a:r>
                      <a:endParaRPr lang="en-US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 cap="flat" cmpd="sng" algn="ctr">
                      <a:solidFill>
                        <a:srgbClr val="C8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 cap="flat" cmpd="sng" algn="ctr">
                      <a:solidFill>
                        <a:srgbClr val="C8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 dirty="0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ha="right"</a:t>
                      </a:r>
                      <a:endParaRPr lang="en-US" sz="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 dirty="0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Aligns rotated labels to their ticks</a:t>
                      </a:r>
                      <a:endParaRPr lang="en-US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 dirty="0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# </a:t>
                      </a:r>
                      <a:r>
                        <a:rPr lang="en-US" sz="800" b="1" u="none" strike="noStrike" dirty="0" err="1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plt.tight_layout</a:t>
                      </a:r>
                      <a:r>
                        <a:rPr lang="en-US" sz="800" b="1" u="none" strike="noStrike" dirty="0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()</a:t>
                      </a:r>
                      <a:endParaRPr lang="en-US" sz="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 dirty="0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Optional: auto-fixes spacing (commented out)</a:t>
                      </a:r>
                      <a:endParaRPr lang="en-US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85" name="TextBox 1"/>
          <p:cNvSpPr/>
          <p:nvPr/>
        </p:nvSpPr>
        <p:spPr>
          <a:xfrm>
            <a:off x="3517560" y="1863000"/>
            <a:ext cx="2574360" cy="1908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plt.xticks</a:t>
            </a: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(rotation=45, ha="right")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plt.legend</a:t>
            </a: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plt.title</a:t>
            </a: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("Repositories </a:t>
            </a:r>
            <a:r>
              <a:rPr lang="en-US" sz="110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byLanguage</a:t>
            </a: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")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plt.tight_layout</a:t>
            </a: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plt.show</a:t>
            </a:r>
            <a:r>
              <a:rPr lang="en-US" sz="110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05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Subplots — plt.subplots()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ounded Rectangle 363"/>
          <p:cNvSpPr/>
          <p:nvPr/>
        </p:nvSpPr>
        <p:spPr>
          <a:xfrm>
            <a:off x="548640" y="1554480"/>
            <a:ext cx="5211720" cy="18741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367"/>
          <p:cNvSpPr/>
          <p:nvPr/>
        </p:nvSpPr>
        <p:spPr>
          <a:xfrm>
            <a:off x="685800" y="1920240"/>
            <a:ext cx="493740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fig, ax = plt.subplots(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nrows,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ncolumns,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figsize=(width,height) # Tuple: But this is optional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8" name="Table 368"/>
          <p:cNvGraphicFramePr/>
          <p:nvPr/>
        </p:nvGraphicFramePr>
        <p:xfrm>
          <a:off x="5989320" y="1554480"/>
          <a:ext cx="5715000" cy="27432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fig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The whole Figure (canvas)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ax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The Axes — one panel per grid cell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nrows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rows in the grid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ncolumns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columns in the grid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figsize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Optional (width, height) tuple of the Figure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05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Subplots — plt.subplots()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TextBox 367"/>
          <p:cNvSpPr/>
          <p:nvPr/>
        </p:nvSpPr>
        <p:spPr>
          <a:xfrm>
            <a:off x="708840" y="1828800"/>
            <a:ext cx="3477600" cy="450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languages = ["Go", "Python", "Rust", "JavaScript", "C++", "Java"]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repositories = [350, 850, 280, 720, 480, 610]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fig, ax = plt.subplots(1, 2, figsize=(10, 5))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ax[0].plot(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languages,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repositories,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color="green",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marker="o",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label="Repositories"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)</a:t>
            </a:r>
            <a:br>
              <a:rPr sz="1100"/>
            </a:b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ax[0].set_title("Line Graph")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ax[0].set_xticklabels(languages, rotation=45, ha="right")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ax[0].legend()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ax[1].bar(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languages,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repositories,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color="teal",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label="Repositories"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12" name="Picture 369" descr="subplots.png"/>
          <p:cNvPicPr/>
          <p:nvPr/>
        </p:nvPicPr>
        <p:blipFill>
          <a:blip r:embed="rId2"/>
          <a:stretch/>
        </p:blipFill>
        <p:spPr>
          <a:xfrm>
            <a:off x="6659280" y="1554480"/>
            <a:ext cx="4786200" cy="21027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413" name="Table 370"/>
          <p:cNvGraphicFramePr/>
          <p:nvPr/>
        </p:nvGraphicFramePr>
        <p:xfrm>
          <a:off x="6446520" y="3886200"/>
          <a:ext cx="5212080" cy="2219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fig, ax = plt.subplots(...)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Creates one Figure and its Axes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1, 2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1 row and 2 columns of Axes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figsize=(10, 5)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Figure is 10 in wide and 5 in tall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ax[0] / ax[1]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First / second Axes (0-based index)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ax[0].plot(...)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Line graph drawn on the first Axes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ax[1].bar(...)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Bar chart drawn on the second Axes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set_title("...")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Heading of that Axes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plt.tight_layout()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Auto-fixes spacing between panels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14" name="TextBox 1"/>
          <p:cNvSpPr/>
          <p:nvPr/>
        </p:nvSpPr>
        <p:spPr>
          <a:xfrm>
            <a:off x="4057200" y="1828800"/>
            <a:ext cx="2184480" cy="152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ax[1].set_title("Bar Chart")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ax[1].set_xticklabels(languages, rotation=45, ha="right")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ax[1].legend()</a:t>
            </a:r>
            <a:br>
              <a:rPr sz="1100"/>
            </a:b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plt.tight_layout()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plt.show()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05 · OBJECT-ORIENTED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"/>
          <p:cNvSpPr/>
          <p:nvPr/>
        </p:nvSpPr>
        <p:spPr>
          <a:xfrm>
            <a:off x="548640" y="658440"/>
            <a:ext cx="102391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Two Ways to Write Matplotlib Code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6"/>
          <p:cNvSpPr/>
          <p:nvPr/>
        </p:nvSpPr>
        <p:spPr>
          <a:xfrm>
            <a:off x="548640" y="1737360"/>
            <a:ext cx="5209920" cy="39297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7"/>
          <p:cNvSpPr/>
          <p:nvPr/>
        </p:nvSpPr>
        <p:spPr>
          <a:xfrm>
            <a:off x="777240" y="1938600"/>
            <a:ext cx="1460880" cy="2905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8"/>
          <p:cNvSpPr/>
          <p:nvPr/>
        </p:nvSpPr>
        <p:spPr>
          <a:xfrm>
            <a:off x="777240" y="1938600"/>
            <a:ext cx="146088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PYPLOT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9"/>
          <p:cNvSpPr/>
          <p:nvPr/>
        </p:nvSpPr>
        <p:spPr>
          <a:xfrm>
            <a:off x="777240" y="2514600"/>
            <a:ext cx="4752720" cy="1827000"/>
          </a:xfrm>
          <a:prstGeom prst="roundRect">
            <a:avLst>
              <a:gd name="adj" fmla="val 6486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0"/>
          <p:cNvSpPr/>
          <p:nvPr/>
        </p:nvSpPr>
        <p:spPr>
          <a:xfrm>
            <a:off x="941760" y="2660760"/>
            <a:ext cx="98280" cy="982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320" tIns="26280" rIns="4932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1"/>
          <p:cNvSpPr/>
          <p:nvPr/>
        </p:nvSpPr>
        <p:spPr>
          <a:xfrm>
            <a:off x="1143000" y="2660760"/>
            <a:ext cx="98280" cy="982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320" tIns="26280" rIns="4932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2"/>
          <p:cNvSpPr/>
          <p:nvPr/>
        </p:nvSpPr>
        <p:spPr>
          <a:xfrm>
            <a:off x="1344240" y="2660760"/>
            <a:ext cx="98280" cy="982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320" tIns="26280" rIns="4932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3"/>
          <p:cNvSpPr/>
          <p:nvPr/>
        </p:nvSpPr>
        <p:spPr>
          <a:xfrm>
            <a:off x="978480" y="2898720"/>
            <a:ext cx="4350240" cy="115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plt.plot(x, 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plt.title("Sales")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plt.xlabel("Month")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plt.legend()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4"/>
          <p:cNvSpPr/>
          <p:nvPr/>
        </p:nvSpPr>
        <p:spPr>
          <a:xfrm>
            <a:off x="777240" y="4343400"/>
            <a:ext cx="475272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Implicit: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  Matplotlib tracks "the current" figure and axes for you. Quick for a single chart.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5"/>
          <p:cNvSpPr/>
          <p:nvPr/>
        </p:nvSpPr>
        <p:spPr>
          <a:xfrm>
            <a:off x="6217920" y="1737360"/>
            <a:ext cx="5209920" cy="39297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6"/>
          <p:cNvSpPr/>
          <p:nvPr/>
        </p:nvSpPr>
        <p:spPr>
          <a:xfrm>
            <a:off x="6446520" y="1938600"/>
            <a:ext cx="1826640" cy="2905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7"/>
          <p:cNvSpPr/>
          <p:nvPr/>
        </p:nvSpPr>
        <p:spPr>
          <a:xfrm>
            <a:off x="6446520" y="1938600"/>
            <a:ext cx="18266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OBJECT-ORIENTED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8"/>
          <p:cNvSpPr/>
          <p:nvPr/>
        </p:nvSpPr>
        <p:spPr>
          <a:xfrm>
            <a:off x="6446520" y="2514600"/>
            <a:ext cx="4752720" cy="1827000"/>
          </a:xfrm>
          <a:prstGeom prst="roundRect">
            <a:avLst>
              <a:gd name="adj" fmla="val 6486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9"/>
          <p:cNvSpPr/>
          <p:nvPr/>
        </p:nvSpPr>
        <p:spPr>
          <a:xfrm>
            <a:off x="6611040" y="2660760"/>
            <a:ext cx="98280" cy="982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320" tIns="26280" rIns="4932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20"/>
          <p:cNvSpPr/>
          <p:nvPr/>
        </p:nvSpPr>
        <p:spPr>
          <a:xfrm>
            <a:off x="6812280" y="2660760"/>
            <a:ext cx="98280" cy="982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320" tIns="26280" rIns="4932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21"/>
          <p:cNvSpPr/>
          <p:nvPr/>
        </p:nvSpPr>
        <p:spPr>
          <a:xfrm>
            <a:off x="7013520" y="2660760"/>
            <a:ext cx="98280" cy="982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320" tIns="26280" rIns="4932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2"/>
          <p:cNvSpPr/>
          <p:nvPr/>
        </p:nvSpPr>
        <p:spPr>
          <a:xfrm>
            <a:off x="6647760" y="2898720"/>
            <a:ext cx="4350240" cy="115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fig, ax = plt.subplots()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ax.plot(x, 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ax.set_title("Sales")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ax.set_xlabel("Month")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ax.legend()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23"/>
          <p:cNvSpPr/>
          <p:nvPr/>
        </p:nvSpPr>
        <p:spPr>
          <a:xfrm>
            <a:off x="6446520" y="4343400"/>
            <a:ext cx="475272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Explicit: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 you name exactly which Axes you're drawing on. Scales cleanly to subplots and reusable functions.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4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06 · SAVING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Saving Plots — plt.savefig()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Rounded Rectangle 363"/>
          <p:cNvSpPr/>
          <p:nvPr/>
        </p:nvSpPr>
        <p:spPr>
          <a:xfrm>
            <a:off x="548640" y="1554480"/>
            <a:ext cx="5211720" cy="18741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0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Box 367"/>
          <p:cNvSpPr/>
          <p:nvPr/>
        </p:nvSpPr>
        <p:spPr>
          <a:xfrm>
            <a:off x="685800" y="1920240"/>
            <a:ext cx="493740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savefig(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"filename.file_extension",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dpi=value,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bbox_inches="inches value"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2" name="Table 368"/>
          <p:cNvGraphicFramePr/>
          <p:nvPr/>
        </p:nvGraphicFramePr>
        <p:xfrm>
          <a:off x="5989320" y="1554480"/>
          <a:ext cx="5715000" cy="18288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filename.file_extension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File name + format, e.g. .png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dpi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Resolution in dots per inch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bbox_inches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Area of the figure that is saved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06 · SAVING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Saving Plots —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1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3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Box 367"/>
          <p:cNvSpPr/>
          <p:nvPr/>
        </p:nvSpPr>
        <p:spPr>
          <a:xfrm>
            <a:off x="685800" y="1828800"/>
            <a:ext cx="5440320" cy="40395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080" tIns="0" rIns="6408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import </a:t>
            </a: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matplotlib.pyplot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 as </a:t>
            </a: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</a:t>
            </a:r>
            <a:endParaRPr lang="en-US" sz="1050" b="0" u="none" strike="noStrike" dirty="0" err="1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import </a:t>
            </a: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numpy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 as np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languages = ["Go", "Python", "Rust", "JavaScript", "C++", "Java"]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repositories = [350, 850, 280, 720, 480, 610]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width = 0.4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x1 = </a:t>
            </a: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np.arange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</a:t>
            </a: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len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(languages))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plt.plot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(x1, repositories, color="red", linewidth=3,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         </a:t>
            </a: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linestyle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=":", marker="o", label="Repositories")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plt.title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("Programming Languages")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plt.legend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plt.xlabel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("Languages")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plt.ylabel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("Repositories")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plt.xticks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(x1, languages, rotation=45, ha="right")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plt.yticks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([0, 500, 1000, 1500],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           ['Zero', 'Low', 'Medium', 'High'])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plt.tight_layout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plt.savefig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    "./outputs/line_graph_high_quality.png",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dpi=</a:t>
            </a:r>
            <a:r>
              <a:rPr lang="en-US" sz="1050">
                <a:solidFill>
                  <a:srgbClr val="F1F5F9"/>
                </a:solidFill>
                <a:latin typeface="Consolas"/>
              </a:rPr>
              <a:t>500</a:t>
            </a: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    </a:t>
            </a: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bbox_inches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="tight"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 dirty="0" err="1">
                <a:solidFill>
                  <a:srgbClr val="F1F5F9"/>
                </a:solidFill>
                <a:effectLst/>
                <a:uFillTx/>
                <a:latin typeface="Consolas"/>
              </a:rPr>
              <a:t>plt.show</a:t>
            </a:r>
            <a:r>
              <a:rPr lang="en-US" sz="1050" b="0" u="none" strike="noStrike" dirty="0">
                <a:solidFill>
                  <a:srgbClr val="F1F5F9"/>
                </a:solidFill>
                <a:effectLst/>
                <a:uFillTx/>
                <a:latin typeface="Consolas"/>
              </a:rPr>
              <a:t>()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6" name="Picture 369" descr="saving.png"/>
          <p:cNvPicPr/>
          <p:nvPr/>
        </p:nvPicPr>
        <p:blipFill>
          <a:blip r:embed="rId2"/>
          <a:stretch/>
        </p:blipFill>
        <p:spPr>
          <a:xfrm>
            <a:off x="6659280" y="1554480"/>
            <a:ext cx="4786200" cy="21027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467" name="Table 370"/>
          <p:cNvGraphicFramePr/>
          <p:nvPr/>
        </p:nvGraphicFramePr>
        <p:xfrm>
          <a:off x="6446520" y="3886200"/>
          <a:ext cx="5212080" cy="19728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rotation=45, ha="right"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Tilts labels 45°, aligned to ticks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plt.yticks([0, 500, ...], [...])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Text labels replace the Y numbers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plt.tight_layout()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Fixes spacing before saving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"./outputs/line_graph...png"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Folder, name and format of the saved file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dpi=5000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Very high resolution (5000 dots per inch)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bbox_inches="tight"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Crops extra whitespace around the plot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plt.show()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Displays the figure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82080" marR="82080" marT="27360" marB="273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07 · USEFUL EXTRAS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"/>
          <p:cNvSpPr/>
          <p:nvPr/>
        </p:nvSpPr>
        <p:spPr>
          <a:xfrm>
            <a:off x="548640" y="658440"/>
            <a:ext cx="1023912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spc="-31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Few More Tools You'll Reach For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4440" tIns="45000" rIns="6444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4" name="Table 0"/>
          <p:cNvGraphicFramePr/>
          <p:nvPr/>
        </p:nvGraphicFramePr>
        <p:xfrm>
          <a:off x="548640" y="1691640"/>
          <a:ext cx="11109600" cy="3918600"/>
        </p:xfrm>
        <a:graphic>
          <a:graphicData uri="http://schemas.openxmlformats.org/drawingml/2006/table">
            <a:tbl>
              <a:tblPr/>
              <a:tblGrid>
                <a:gridCol w="355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9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figsize=(w, h)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Sets the Figure's size, in inches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dpi=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Controls image resolution/sharpness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plt.savefig("file.png", dpi=300)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Exports the current figure to a file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plt.xlim() / plt.ylim()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Fixes the visible axis range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plt.xticks() / plt.yticks()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Sets custom tick positions and labels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plt.tight_layout()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Automatically fixes spacing so labels don't overlap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5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0"/>
          <p:cNvSpPr/>
          <p:nvPr/>
        </p:nvSpPr>
        <p:spPr>
          <a:xfrm>
            <a:off x="-1828800" y="-1828800"/>
            <a:ext cx="4569840" cy="456984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"/>
          <p:cNvSpPr/>
          <p:nvPr/>
        </p:nvSpPr>
        <p:spPr>
          <a:xfrm>
            <a:off x="9601200" y="4114800"/>
            <a:ext cx="4112640" cy="4112640"/>
          </a:xfrm>
          <a:prstGeom prst="ellipse">
            <a:avLst/>
          </a:prstGeom>
          <a:solidFill>
            <a:srgbClr val="4C112D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2"/>
          <p:cNvSpPr/>
          <p:nvPr/>
        </p:nvSpPr>
        <p:spPr>
          <a:xfrm>
            <a:off x="5821560" y="2331720"/>
            <a:ext cx="546480" cy="54648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3"/>
          <p:cNvSpPr/>
          <p:nvPr/>
        </p:nvSpPr>
        <p:spPr>
          <a:xfrm>
            <a:off x="5997240" y="2507400"/>
            <a:ext cx="370800" cy="37080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4"/>
          <p:cNvSpPr/>
          <p:nvPr/>
        </p:nvSpPr>
        <p:spPr>
          <a:xfrm>
            <a:off x="6095880" y="2606040"/>
            <a:ext cx="184320" cy="18432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5"/>
          <p:cNvSpPr/>
          <p:nvPr/>
        </p:nvSpPr>
        <p:spPr>
          <a:xfrm>
            <a:off x="0" y="3108960"/>
            <a:ext cx="1218960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Thank You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6"/>
          <p:cNvSpPr/>
          <p:nvPr/>
        </p:nvSpPr>
        <p:spPr>
          <a:xfrm>
            <a:off x="0" y="3840480"/>
            <a:ext cx="12189600" cy="54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D4BF"/>
                </a:solidFill>
                <a:effectLst/>
                <a:uFillTx/>
                <a:latin typeface="Hanken Grotesk"/>
                <a:ea typeface="Hanken Grotesk"/>
              </a:rPr>
              <a:t>Questions?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7"/>
          <p:cNvSpPr/>
          <p:nvPr/>
        </p:nvSpPr>
        <p:spPr>
          <a:xfrm>
            <a:off x="0" y="4480560"/>
            <a:ext cx="12189600" cy="45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8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</TotalTime>
  <Words>0</Words>
  <Application>Microsoft Office PowerPoint</Application>
  <PresentationFormat>Widescreen</PresentationFormat>
  <Paragraphs>0</Paragraphs>
  <Slides>31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/>
  <cp:revision>245</cp:revision>
  <dcterms:created xsi:type="dcterms:W3CDTF">2026-09-23T19:15:53Z</dcterms:created>
  <dcterms:modified xsi:type="dcterms:W3CDTF">2026-09-25T03:52:10Z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31</vt:i4>
  </property>
</Properties>
</file>