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2"/>
  </p:notesMasterIdLst>
  <p:sldIdLst>
    <p:sldId id="256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85" r:id="rId30"/>
    <p:sldId id="286" r:id="rId31"/>
  </p:sldIdLst>
  <p:sldSz cx="12192000" cy="6858000"/>
  <p:notesSz cx="6858000" cy="12192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BE579ED-71A1-4E6F-A585-FA8E9A3AACCA}" v="1" dt="2026-09-25T05:50:02.495"/>
    <p1510:client id="{DC9AD048-1254-4D40-9160-5926AC59EA26}" v="49" dt="2026-09-25T05:54:32.90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Relationship Id="rId37" Type="http://schemas.microsoft.com/office/2015/10/relationships/revisionInfo" Target="revisionInfo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533520" y="764280"/>
            <a:ext cx="6704640" cy="3771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defTabSz="914400">
              <a:lnSpc>
                <a:spcPct val="9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move the slide</a:t>
            </a: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FDFE47E9-D064-44D2-BD8D-2ED89FD052AC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‹#›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3225" cy="3084513"/>
          </a:xfrm>
          <a:prstGeom prst="rect">
            <a:avLst/>
          </a:prstGeom>
          <a:ln w="0">
            <a:noFill/>
          </a:ln>
        </p:spPr>
      </p:sp>
      <p:sp>
        <p:nvSpPr>
          <p:cNvPr id="48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7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BBDFFD9-E5C1-449D-B8F8-6F076D814F3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49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3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6494888-D6E9-4793-A122-777589D8EBC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49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6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2345BFD-EA81-42C7-8A67-F71DCF0F930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49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9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2BD6792-2798-49DB-9091-C610E9EC2C7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6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240" cy="3083760"/>
          </a:xfrm>
          <a:prstGeom prst="rect">
            <a:avLst/>
          </a:prstGeom>
          <a:ln w="0">
            <a:noFill/>
          </a:ln>
        </p:spPr>
      </p:sp>
      <p:sp>
        <p:nvSpPr>
          <p:cNvPr id="50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2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C76A323-D24B-42E0-B48A-28B186A1DF8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7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50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5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3389981-2A12-4DC4-B9A5-F9D0AE6ECF1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50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8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5DF796B-D1BB-4B46-B8C9-0E91AC56957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51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1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1E8B794-4C60-4012-A0DD-D573EC84D5E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51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4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1A78F02-1367-4029-A640-A7B9FCDB80E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26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51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7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024C0B1-61FF-4C29-89C1-13EF86E7549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51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0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96B8325-1E1A-4474-8472-F12A975D510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30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228600" indent="-22860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</a:p>
          <a:p>
            <a:pPr marL="864000" lvl="1" indent="-32400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</a:p>
          <a:p>
            <a:pPr marL="1296000" lvl="2" indent="-2880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</a:p>
          <a:p>
            <a:pPr marL="1728000" lvl="3" indent="-21600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</a:p>
          <a:p>
            <a:pPr marL="2160000" lvl="4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</a:p>
          <a:p>
            <a:pPr marL="2592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</a:p>
          <a:p>
            <a:pPr marL="30240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8778240" y="-2194560"/>
            <a:ext cx="5483880" cy="5483880"/>
          </a:xfrm>
          <a:prstGeom prst="ellipse">
            <a:avLst/>
          </a:prstGeom>
          <a:solidFill>
            <a:srgbClr val="262758">
              <a:alpha val="45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" name="Shape 1"/>
          <p:cNvSpPr/>
          <p:nvPr/>
        </p:nvSpPr>
        <p:spPr>
          <a:xfrm>
            <a:off x="-2011680" y="4206240"/>
            <a:ext cx="4203720" cy="4203720"/>
          </a:xfrm>
          <a:prstGeom prst="ellipse">
            <a:avLst/>
          </a:prstGeom>
          <a:solidFill>
            <a:srgbClr val="11362E">
              <a:alpha val="55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" name="Shape 2"/>
          <p:cNvSpPr/>
          <p:nvPr/>
        </p:nvSpPr>
        <p:spPr>
          <a:xfrm>
            <a:off x="5943600" y="5212080"/>
            <a:ext cx="1460520" cy="1460520"/>
          </a:xfrm>
          <a:prstGeom prst="ellipse">
            <a:avLst/>
          </a:prstGeom>
          <a:solidFill>
            <a:srgbClr val="4C112D">
              <a:alpha val="55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" name="Shape 3"/>
          <p:cNvSpPr/>
          <p:nvPr/>
        </p:nvSpPr>
        <p:spPr>
          <a:xfrm>
            <a:off x="685800" y="548640"/>
            <a:ext cx="546120" cy="546120"/>
          </a:xfrm>
          <a:prstGeom prst="roundRect">
            <a:avLst>
              <a:gd name="adj" fmla="val 28000"/>
            </a:avLst>
          </a:prstGeom>
          <a:solidFill>
            <a:srgbClr val="818CF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" name="Shape 4"/>
          <p:cNvSpPr/>
          <p:nvPr/>
        </p:nvSpPr>
        <p:spPr>
          <a:xfrm>
            <a:off x="861480" y="724320"/>
            <a:ext cx="370440" cy="370440"/>
          </a:xfrm>
          <a:prstGeom prst="roundRect">
            <a:avLst>
              <a:gd name="adj" fmla="val 26471"/>
            </a:avLst>
          </a:prstGeom>
          <a:solidFill>
            <a:srgbClr val="0B0F1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" name="Shape 5"/>
          <p:cNvSpPr/>
          <p:nvPr/>
        </p:nvSpPr>
        <p:spPr>
          <a:xfrm>
            <a:off x="960120" y="822960"/>
            <a:ext cx="183960" cy="183960"/>
          </a:xfrm>
          <a:prstGeom prst="roundRect">
            <a:avLst>
              <a:gd name="adj" fmla="val 26471"/>
            </a:avLst>
          </a:prstGeom>
          <a:solidFill>
            <a:srgbClr val="2DD4B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Shape 6"/>
          <p:cNvSpPr/>
          <p:nvPr/>
        </p:nvSpPr>
        <p:spPr>
          <a:xfrm>
            <a:off x="713160" y="2331720"/>
            <a:ext cx="5118120" cy="290160"/>
          </a:xfrm>
          <a:prstGeom prst="roundRect">
            <a:avLst>
              <a:gd name="adj" fmla="val 50000"/>
            </a:avLst>
          </a:prstGeom>
          <a:solidFill>
            <a:srgbClr val="26275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" name="Text 7"/>
          <p:cNvSpPr/>
          <p:nvPr/>
        </p:nvSpPr>
        <p:spPr>
          <a:xfrm>
            <a:off x="713160" y="2331720"/>
            <a:ext cx="5118120" cy="290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E0E7FF"/>
                </a:solidFill>
                <a:effectLst/>
                <a:uFillTx/>
                <a:latin typeface="Plus Jakarta Sans"/>
                <a:ea typeface="Plus Jakarta Sans"/>
              </a:rPr>
              <a:t>GRAPH CONVOLUTIONAL NETWORKS (GCN)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8"/>
          <p:cNvSpPr/>
          <p:nvPr/>
        </p:nvSpPr>
        <p:spPr>
          <a:xfrm>
            <a:off x="658440" y="2788920"/>
            <a:ext cx="9598680" cy="1277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800" b="1" u="none" strike="noStrike" spc="-99">
                <a:solidFill>
                  <a:srgbClr val="F1F5F9"/>
                </a:solidFill>
                <a:effectLst/>
                <a:uFillTx/>
                <a:latin typeface="Bricolage Grotesque"/>
                <a:ea typeface="Bricolage Grotesque"/>
              </a:rPr>
              <a:t>Matplotlib</a:t>
            </a:r>
            <a:endParaRPr lang="en-US" sz="5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" name="Text 9"/>
          <p:cNvSpPr/>
          <p:nvPr/>
        </p:nvSpPr>
        <p:spPr>
          <a:xfrm>
            <a:off x="713160" y="3794760"/>
            <a:ext cx="8684280" cy="637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2DD4BF"/>
                </a:solidFill>
                <a:effectLst/>
                <a:uFillTx/>
                <a:latin typeface="Bricolage Grotesque"/>
                <a:ea typeface="Bricolage Grotesque"/>
              </a:rPr>
              <a:t>Data Visualization with Python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10"/>
          <p:cNvSpPr/>
          <p:nvPr/>
        </p:nvSpPr>
        <p:spPr>
          <a:xfrm>
            <a:off x="713160" y="4434840"/>
            <a:ext cx="8044200" cy="637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94A3B8"/>
                </a:solidFill>
                <a:effectLst/>
                <a:uFillTx/>
                <a:latin typeface="Hanken Grotesk"/>
                <a:ea typeface="Hanken Grotesk"/>
              </a:rPr>
              <a:t>A practical introduction to Pyplot, chart types, the Object-Oriented API, and Saving Plots.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11"/>
          <p:cNvSpPr/>
          <p:nvPr/>
        </p:nvSpPr>
        <p:spPr>
          <a:xfrm>
            <a:off x="11505960" y="6473880"/>
            <a:ext cx="500400" cy="271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4651"/>
                </a:solidFill>
                <a:effectLst/>
                <a:uFillTx/>
                <a:latin typeface="Plus Jakarta Sans"/>
                <a:ea typeface="Plus Jakarta Sans"/>
              </a:rPr>
              <a:t>01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" name="Text 10">
            <a:extLst>
              <a:ext uri="{FF2B5EF4-FFF2-40B4-BE49-F238E27FC236}">
                <a16:creationId xmlns:a16="http://schemas.microsoft.com/office/drawing/2014/main" id="{E9F4995D-0420-F814-CE62-FC0159B2405D}"/>
              </a:ext>
            </a:extLst>
          </p:cNvPr>
          <p:cNvSpPr/>
          <p:nvPr/>
        </p:nvSpPr>
        <p:spPr>
          <a:xfrm>
            <a:off x="9379486" y="5833735"/>
            <a:ext cx="2812560" cy="637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tabLst>
                <a:tab pos="0" algn="l"/>
              </a:tabLst>
            </a:pPr>
            <a:r>
              <a:rPr lang="en-US" sz="1500" dirty="0">
                <a:solidFill>
                  <a:srgbClr val="94A3B8"/>
                </a:solidFill>
                <a:latin typeface="Hanken Grotesk"/>
              </a:rPr>
              <a:t>Name: Hafiz Waseem Ahmed</a:t>
            </a:r>
          </a:p>
          <a:p>
            <a:pPr>
              <a:tabLst>
                <a:tab pos="0" algn="l"/>
              </a:tabLst>
            </a:pPr>
            <a:r>
              <a:rPr lang="en-US" sz="1500" dirty="0">
                <a:solidFill>
                  <a:srgbClr val="94A3B8"/>
                </a:solidFill>
                <a:latin typeface="Hanken Grotesk"/>
              </a:rPr>
              <a:t>Roll Number: 13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p15="http://schemas.microsoft.com/office/powerpoint/2012/main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Text 0"/>
          <p:cNvSpPr/>
          <p:nvPr/>
        </p:nvSpPr>
        <p:spPr>
          <a:xfrm>
            <a:off x="548640" y="384120"/>
            <a:ext cx="9598680" cy="290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 spc="201">
                <a:solidFill>
                  <a:srgbClr val="5755A7"/>
                </a:solidFill>
                <a:effectLst/>
                <a:uFillTx/>
                <a:latin typeface="Plus Jakarta Sans"/>
                <a:ea typeface="Plus Jakarta Sans"/>
              </a:rPr>
              <a:t>01 · INTRODUCTION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Text 1"/>
          <p:cNvSpPr/>
          <p:nvPr/>
        </p:nvSpPr>
        <p:spPr>
          <a:xfrm>
            <a:off x="548640" y="658440"/>
            <a:ext cx="10238760" cy="683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 spc="-31">
                <a:solidFill>
                  <a:srgbClr val="1B1B20"/>
                </a:solidFill>
                <a:effectLst/>
                <a:uFillTx/>
                <a:latin typeface="Bricolage Grotesque"/>
                <a:ea typeface="Bricolage Grotesque"/>
              </a:rPr>
              <a:t>What Is Matplotlib, and Why Does It Matter?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Shape 2"/>
          <p:cNvSpPr/>
          <p:nvPr/>
        </p:nvSpPr>
        <p:spPr>
          <a:xfrm>
            <a:off x="11323080" y="384120"/>
            <a:ext cx="381600" cy="381600"/>
          </a:xfrm>
          <a:prstGeom prst="roundRect">
            <a:avLst>
              <a:gd name="adj" fmla="val 28000"/>
            </a:avLst>
          </a:prstGeom>
          <a:solidFill>
            <a:srgbClr val="5755A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" name="Shape 3"/>
          <p:cNvSpPr/>
          <p:nvPr/>
        </p:nvSpPr>
        <p:spPr>
          <a:xfrm>
            <a:off x="11445840" y="506880"/>
            <a:ext cx="258480" cy="258480"/>
          </a:xfrm>
          <a:prstGeom prst="roundRect">
            <a:avLst>
              <a:gd name="adj" fmla="val 26471"/>
            </a:avLst>
          </a:prstGeom>
          <a:solidFill>
            <a:srgbClr val="FCF8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Shape 4"/>
          <p:cNvSpPr/>
          <p:nvPr/>
        </p:nvSpPr>
        <p:spPr>
          <a:xfrm>
            <a:off x="11514960" y="576000"/>
            <a:ext cx="128160" cy="128160"/>
          </a:xfrm>
          <a:prstGeom prst="roundRect">
            <a:avLst>
              <a:gd name="adj" fmla="val 26471"/>
            </a:avLst>
          </a:prstGeom>
          <a:solidFill>
            <a:srgbClr val="386759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4080" tIns="45000" rIns="6408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" name="Text 5"/>
          <p:cNvSpPr/>
          <p:nvPr/>
        </p:nvSpPr>
        <p:spPr>
          <a:xfrm>
            <a:off x="457200" y="6473880"/>
            <a:ext cx="6855480" cy="271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4651"/>
                </a:solidFill>
                <a:effectLst/>
                <a:uFillTx/>
                <a:latin typeface="Plus Jakarta Sans"/>
                <a:ea typeface="Plus Jakarta Sans"/>
              </a:rPr>
              <a:t>Matplotlib: Data Visualization with Python  ·  GCN Course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Text 6"/>
          <p:cNvSpPr/>
          <p:nvPr/>
        </p:nvSpPr>
        <p:spPr>
          <a:xfrm>
            <a:off x="548640" y="1737360"/>
            <a:ext cx="11107440" cy="4112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228600" indent="-228600" defTabSz="914400">
              <a:lnSpc>
                <a:spcPct val="100000"/>
              </a:lnSpc>
              <a:spcAft>
                <a:spcPts val="1599"/>
              </a:spcAft>
              <a:buClr>
                <a:srgbClr val="1B1B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Matplotlib is Python's foundational data visualization library — it turns numbers into charts: lines, bars, scatter plots, histograms, and more.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spcAft>
                <a:spcPts val="1599"/>
              </a:spcAft>
              <a:buClr>
                <a:srgbClr val="1B1B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Why visualize at all? Raw numbers are hard to reason about; a well-made chart reveals patterns, trends, and outliers in seconds.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spcAft>
                <a:spcPts val="1599"/>
              </a:spcAft>
              <a:buClr>
                <a:srgbClr val="1B1B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In Data Science, AI, and ML, Matplotlib shows up constantly — exploring a dataset, checking a model's training progress, comparing results, and building figures for reports and papers.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spcAft>
                <a:spcPts val="1599"/>
              </a:spcAft>
              <a:buClr>
                <a:srgbClr val="1B1B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It's also the foundation other libraries (like Seaborn) are built on top of — learning it well pays off across the whole ecosystem.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Text 7"/>
          <p:cNvSpPr/>
          <p:nvPr/>
        </p:nvSpPr>
        <p:spPr>
          <a:xfrm>
            <a:off x="11505960" y="6473880"/>
            <a:ext cx="500400" cy="271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4651"/>
                </a:solidFill>
                <a:effectLst/>
                <a:uFillTx/>
                <a:latin typeface="Plus Jakarta Sans"/>
                <a:ea typeface="Plus Jakarta Sans"/>
              </a:rPr>
              <a:t>02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p15="http://schemas.microsoft.com/office/powerpoint/2012/main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Text 0"/>
          <p:cNvSpPr/>
          <p:nvPr/>
        </p:nvSpPr>
        <p:spPr>
          <a:xfrm>
            <a:off x="548640" y="384120"/>
            <a:ext cx="9598680" cy="290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 spc="201">
                <a:solidFill>
                  <a:srgbClr val="5755A7"/>
                </a:solidFill>
                <a:effectLst/>
                <a:uFillTx/>
                <a:latin typeface="Plus Jakarta Sans"/>
                <a:ea typeface="Plus Jakarta Sans"/>
              </a:rPr>
              <a:t>01 · INTRODUCTION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 1"/>
          <p:cNvSpPr/>
          <p:nvPr/>
        </p:nvSpPr>
        <p:spPr>
          <a:xfrm>
            <a:off x="548640" y="658440"/>
            <a:ext cx="10238760" cy="683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 spc="-31">
                <a:solidFill>
                  <a:srgbClr val="1B1B20"/>
                </a:solidFill>
                <a:effectLst/>
                <a:uFillTx/>
                <a:latin typeface="Bricolage Grotesque"/>
                <a:ea typeface="Bricolage Grotesque"/>
              </a:rPr>
              <a:t>The Basic Visualization Workflow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Shape 2"/>
          <p:cNvSpPr/>
          <p:nvPr/>
        </p:nvSpPr>
        <p:spPr>
          <a:xfrm>
            <a:off x="11323080" y="384120"/>
            <a:ext cx="381600" cy="381600"/>
          </a:xfrm>
          <a:prstGeom prst="roundRect">
            <a:avLst>
              <a:gd name="adj" fmla="val 28000"/>
            </a:avLst>
          </a:prstGeom>
          <a:solidFill>
            <a:srgbClr val="5755A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" name="Shape 3"/>
          <p:cNvSpPr/>
          <p:nvPr/>
        </p:nvSpPr>
        <p:spPr>
          <a:xfrm>
            <a:off x="11445840" y="506880"/>
            <a:ext cx="258480" cy="258480"/>
          </a:xfrm>
          <a:prstGeom prst="roundRect">
            <a:avLst>
              <a:gd name="adj" fmla="val 26471"/>
            </a:avLst>
          </a:prstGeom>
          <a:solidFill>
            <a:srgbClr val="FCF8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Shape 4"/>
          <p:cNvSpPr/>
          <p:nvPr/>
        </p:nvSpPr>
        <p:spPr>
          <a:xfrm>
            <a:off x="11514960" y="576000"/>
            <a:ext cx="128160" cy="128160"/>
          </a:xfrm>
          <a:prstGeom prst="roundRect">
            <a:avLst>
              <a:gd name="adj" fmla="val 26471"/>
            </a:avLst>
          </a:prstGeom>
          <a:solidFill>
            <a:srgbClr val="386759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4080" tIns="45000" rIns="6408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5"/>
          <p:cNvSpPr/>
          <p:nvPr/>
        </p:nvSpPr>
        <p:spPr>
          <a:xfrm>
            <a:off x="457200" y="6473880"/>
            <a:ext cx="6855480" cy="271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4651"/>
                </a:solidFill>
                <a:effectLst/>
                <a:uFillTx/>
                <a:latin typeface="Plus Jakarta Sans"/>
                <a:ea typeface="Plus Jakarta Sans"/>
              </a:rPr>
              <a:t>Matplotlib: Data Visualization with Python  ·  GCN Course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Shape 6"/>
          <p:cNvSpPr/>
          <p:nvPr/>
        </p:nvSpPr>
        <p:spPr>
          <a:xfrm>
            <a:off x="343042" y="1828800"/>
            <a:ext cx="2684160" cy="411192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C8C5D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 7"/>
          <p:cNvSpPr/>
          <p:nvPr/>
        </p:nvSpPr>
        <p:spPr>
          <a:xfrm>
            <a:off x="595042" y="2011680"/>
            <a:ext cx="911880" cy="546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8C8AE0"/>
                </a:solidFill>
                <a:effectLst/>
                <a:uFillTx/>
                <a:latin typeface="Bricolage Grotesque"/>
                <a:ea typeface="Bricolage Grotesque"/>
              </a:rPr>
              <a:t>1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 8"/>
          <p:cNvSpPr/>
          <p:nvPr/>
        </p:nvSpPr>
        <p:spPr>
          <a:xfrm>
            <a:off x="595042" y="2697480"/>
            <a:ext cx="2237760" cy="454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B1B20"/>
                </a:solidFill>
                <a:effectLst/>
                <a:uFillTx/>
                <a:latin typeface="Bricolage Grotesque"/>
                <a:ea typeface="Bricolage Grotesque"/>
              </a:rPr>
              <a:t>Data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 9"/>
          <p:cNvSpPr/>
          <p:nvPr/>
        </p:nvSpPr>
        <p:spPr>
          <a:xfrm>
            <a:off x="595042" y="3535560"/>
            <a:ext cx="2237760" cy="1551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0" u="none" strike="noStrike">
                <a:solidFill>
                  <a:srgbClr val="474651"/>
                </a:solidFill>
                <a:effectLst/>
                <a:uFillTx/>
                <a:latin typeface="Hanken Grotesk"/>
                <a:ea typeface="Hanken Grotesk"/>
              </a:rPr>
              <a:t>Lists, arrays, or DataFrame columns for X and Y.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 10"/>
          <p:cNvSpPr/>
          <p:nvPr/>
        </p:nvSpPr>
        <p:spPr>
          <a:xfrm>
            <a:off x="3063695" y="1828800"/>
            <a:ext cx="180360" cy="3015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5755A7"/>
                </a:solidFill>
                <a:effectLst/>
                <a:uFillTx/>
                <a:latin typeface="Calibri"/>
              </a:rPr>
              <a:t>→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Shape 11"/>
          <p:cNvSpPr/>
          <p:nvPr/>
        </p:nvSpPr>
        <p:spPr>
          <a:xfrm>
            <a:off x="3268440" y="1828800"/>
            <a:ext cx="2672640" cy="4111920"/>
          </a:xfrm>
          <a:prstGeom prst="roundRect">
            <a:avLst>
              <a:gd name="adj" fmla="val 4211"/>
            </a:avLst>
          </a:prstGeom>
          <a:solidFill>
            <a:srgbClr val="8C8AE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" name="Text 12"/>
          <p:cNvSpPr/>
          <p:nvPr/>
        </p:nvSpPr>
        <p:spPr>
          <a:xfrm>
            <a:off x="3520440" y="2011680"/>
            <a:ext cx="911880" cy="546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231F71"/>
                </a:solidFill>
                <a:effectLst/>
                <a:uFillTx/>
                <a:latin typeface="Bricolage Grotesque"/>
                <a:ea typeface="Bricolage Grotesque"/>
              </a:rPr>
              <a:t>2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 13"/>
          <p:cNvSpPr/>
          <p:nvPr/>
        </p:nvSpPr>
        <p:spPr>
          <a:xfrm>
            <a:off x="3520440" y="2697480"/>
            <a:ext cx="2237760" cy="454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231F71"/>
                </a:solidFill>
                <a:effectLst/>
                <a:uFillTx/>
                <a:latin typeface="Bricolage Grotesque"/>
                <a:ea typeface="Bricolage Grotesque"/>
              </a:rPr>
              <a:t>Plot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 14"/>
          <p:cNvSpPr/>
          <p:nvPr/>
        </p:nvSpPr>
        <p:spPr>
          <a:xfrm>
            <a:off x="3520440" y="3535560"/>
            <a:ext cx="2237760" cy="1551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0" u="none" strike="noStrike">
                <a:solidFill>
                  <a:srgbClr val="231F71"/>
                </a:solidFill>
                <a:effectLst/>
                <a:uFillTx/>
                <a:latin typeface="Hanken Grotesk"/>
                <a:ea typeface="Hanken Grotesk"/>
              </a:rPr>
              <a:t>plt.plot() / bar() / scatter() / ... draws the chart.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 15"/>
          <p:cNvSpPr/>
          <p:nvPr/>
        </p:nvSpPr>
        <p:spPr>
          <a:xfrm>
            <a:off x="5943600" y="1828800"/>
            <a:ext cx="180360" cy="3015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5755A7"/>
                </a:solidFill>
                <a:effectLst/>
                <a:uFillTx/>
                <a:latin typeface="Calibri"/>
              </a:rPr>
              <a:t>→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Shape 16"/>
          <p:cNvSpPr/>
          <p:nvPr/>
        </p:nvSpPr>
        <p:spPr>
          <a:xfrm>
            <a:off x="6114960" y="1828800"/>
            <a:ext cx="2626560" cy="411192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C8C5D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 17"/>
          <p:cNvSpPr/>
          <p:nvPr/>
        </p:nvSpPr>
        <p:spPr>
          <a:xfrm>
            <a:off x="6309360" y="2011680"/>
            <a:ext cx="911880" cy="546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8C8AE0"/>
                </a:solidFill>
                <a:effectLst/>
                <a:uFillTx/>
                <a:latin typeface="Bricolage Grotesque"/>
                <a:ea typeface="Bricolage Grotesque"/>
              </a:rPr>
              <a:t>3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Text 18"/>
          <p:cNvSpPr/>
          <p:nvPr/>
        </p:nvSpPr>
        <p:spPr>
          <a:xfrm>
            <a:off x="6309360" y="2697480"/>
            <a:ext cx="2237760" cy="454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B1B20"/>
                </a:solidFill>
                <a:effectLst/>
                <a:uFillTx/>
                <a:latin typeface="Bricolage Grotesque"/>
                <a:ea typeface="Bricolage Grotesque"/>
              </a:rPr>
              <a:t>Customize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 19"/>
          <p:cNvSpPr/>
          <p:nvPr/>
        </p:nvSpPr>
        <p:spPr>
          <a:xfrm>
            <a:off x="6182280" y="3535560"/>
            <a:ext cx="2237760" cy="1551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0" u="none" strike="noStrike">
                <a:solidFill>
                  <a:srgbClr val="474651"/>
                </a:solidFill>
                <a:effectLst/>
                <a:uFillTx/>
                <a:latin typeface="Hanken Grotesk"/>
                <a:ea typeface="Hanken Grotesk"/>
              </a:rPr>
              <a:t>Titles, labels, legend, grid, color, style.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 20"/>
          <p:cNvSpPr/>
          <p:nvPr/>
        </p:nvSpPr>
        <p:spPr>
          <a:xfrm>
            <a:off x="8732520" y="1828800"/>
            <a:ext cx="180360" cy="3015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5755A7"/>
                </a:solidFill>
                <a:effectLst/>
                <a:uFillTx/>
                <a:latin typeface="Calibri"/>
              </a:rPr>
              <a:t>→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Shape 21"/>
          <p:cNvSpPr/>
          <p:nvPr/>
        </p:nvSpPr>
        <p:spPr>
          <a:xfrm>
            <a:off x="8937265" y="1828800"/>
            <a:ext cx="2661120" cy="4111920"/>
          </a:xfrm>
          <a:prstGeom prst="roundRect">
            <a:avLst>
              <a:gd name="adj" fmla="val 4211"/>
            </a:avLst>
          </a:prstGeom>
          <a:solidFill>
            <a:srgbClr val="8C8AE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" name="Text 22"/>
          <p:cNvSpPr/>
          <p:nvPr/>
        </p:nvSpPr>
        <p:spPr>
          <a:xfrm>
            <a:off x="9189265" y="2011680"/>
            <a:ext cx="911880" cy="546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231F71"/>
                </a:solidFill>
                <a:effectLst/>
                <a:uFillTx/>
                <a:latin typeface="Bricolage Grotesque"/>
                <a:ea typeface="Bricolage Grotesque"/>
              </a:rPr>
              <a:t>4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 23"/>
          <p:cNvSpPr/>
          <p:nvPr/>
        </p:nvSpPr>
        <p:spPr>
          <a:xfrm>
            <a:off x="9189265" y="2697480"/>
            <a:ext cx="2237760" cy="454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231F71"/>
                </a:solidFill>
                <a:effectLst/>
                <a:uFillTx/>
                <a:latin typeface="Bricolage Grotesque"/>
                <a:ea typeface="Bricolage Grotesque"/>
              </a:rPr>
              <a:t>Show / Save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 24"/>
          <p:cNvSpPr/>
          <p:nvPr/>
        </p:nvSpPr>
        <p:spPr>
          <a:xfrm>
            <a:off x="9154705" y="3431880"/>
            <a:ext cx="2237760" cy="1551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0" u="none" strike="noStrike">
                <a:solidFill>
                  <a:srgbClr val="231F71"/>
                </a:solidFill>
                <a:effectLst/>
                <a:uFillTx/>
                <a:latin typeface="Hanken Grotesk"/>
                <a:ea typeface="Hanken Grotesk"/>
              </a:rPr>
              <a:t>plt.show() to view, plt.savefig() to export.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 30"/>
          <p:cNvSpPr/>
          <p:nvPr/>
        </p:nvSpPr>
        <p:spPr>
          <a:xfrm>
            <a:off x="11505960" y="6473880"/>
            <a:ext cx="500400" cy="271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4651"/>
                </a:solidFill>
                <a:effectLst/>
                <a:uFillTx/>
                <a:latin typeface="Plus Jakarta Sans"/>
                <a:ea typeface="Plus Jakarta Sans"/>
              </a:rPr>
              <a:t>03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p15="http://schemas.microsoft.com/office/powerpoint/2012/main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Text 0"/>
          <p:cNvSpPr/>
          <p:nvPr/>
        </p:nvSpPr>
        <p:spPr>
          <a:xfrm>
            <a:off x="548640" y="384120"/>
            <a:ext cx="9598680" cy="290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 spc="201">
                <a:solidFill>
                  <a:srgbClr val="5755A7"/>
                </a:solidFill>
                <a:effectLst/>
                <a:uFillTx/>
                <a:latin typeface="Plus Jakarta Sans"/>
                <a:ea typeface="Plus Jakarta Sans"/>
              </a:rPr>
              <a:t>01 · INTRODUCTION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Text 1"/>
          <p:cNvSpPr/>
          <p:nvPr/>
        </p:nvSpPr>
        <p:spPr>
          <a:xfrm>
            <a:off x="548640" y="658440"/>
            <a:ext cx="10240560" cy="683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 spc="-31">
                <a:solidFill>
                  <a:srgbClr val="1B1B20"/>
                </a:solidFill>
                <a:effectLst/>
                <a:uFillTx/>
                <a:latin typeface="Bricolage Grotesque"/>
                <a:ea typeface="Bricolage Grotesque"/>
              </a:rPr>
              <a:t>Importing Pyplot &amp; Your First Plot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Shape 2"/>
          <p:cNvSpPr/>
          <p:nvPr/>
        </p:nvSpPr>
        <p:spPr>
          <a:xfrm>
            <a:off x="11323080" y="384120"/>
            <a:ext cx="381600" cy="381600"/>
          </a:xfrm>
          <a:prstGeom prst="roundRect">
            <a:avLst>
              <a:gd name="adj" fmla="val 28000"/>
            </a:avLst>
          </a:prstGeom>
          <a:solidFill>
            <a:srgbClr val="5755A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" name="Shape 3"/>
          <p:cNvSpPr/>
          <p:nvPr/>
        </p:nvSpPr>
        <p:spPr>
          <a:xfrm>
            <a:off x="11445840" y="506880"/>
            <a:ext cx="258480" cy="258480"/>
          </a:xfrm>
          <a:prstGeom prst="roundRect">
            <a:avLst>
              <a:gd name="adj" fmla="val 26471"/>
            </a:avLst>
          </a:prstGeom>
          <a:solidFill>
            <a:srgbClr val="FCF8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Shape 4"/>
          <p:cNvSpPr/>
          <p:nvPr/>
        </p:nvSpPr>
        <p:spPr>
          <a:xfrm>
            <a:off x="11514960" y="576000"/>
            <a:ext cx="128160" cy="128160"/>
          </a:xfrm>
          <a:prstGeom prst="roundRect">
            <a:avLst>
              <a:gd name="adj" fmla="val 26471"/>
            </a:avLst>
          </a:prstGeom>
          <a:solidFill>
            <a:srgbClr val="386759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4080" tIns="45000" rIns="6408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" name="Text 5"/>
          <p:cNvSpPr/>
          <p:nvPr/>
        </p:nvSpPr>
        <p:spPr>
          <a:xfrm>
            <a:off x="457200" y="6473880"/>
            <a:ext cx="6855480" cy="271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4651"/>
                </a:solidFill>
                <a:effectLst/>
                <a:uFillTx/>
                <a:latin typeface="Plus Jakarta Sans"/>
                <a:ea typeface="Plus Jakarta Sans"/>
              </a:rPr>
              <a:t>Matplotlib: Data Visualization with Python  ·  GCN Course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Text 6"/>
          <p:cNvSpPr/>
          <p:nvPr/>
        </p:nvSpPr>
        <p:spPr>
          <a:xfrm>
            <a:off x="11505960" y="6473880"/>
            <a:ext cx="500400" cy="271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4651"/>
                </a:solidFill>
                <a:effectLst/>
                <a:uFillTx/>
                <a:latin typeface="Plus Jakarta Sans"/>
                <a:ea typeface="Plus Jakarta Sans"/>
              </a:rPr>
              <a:t>04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Rounded Rectangle 363"/>
          <p:cNvSpPr/>
          <p:nvPr/>
        </p:nvSpPr>
        <p:spPr>
          <a:xfrm>
            <a:off x="548640" y="1463040"/>
            <a:ext cx="5714280" cy="4937040"/>
          </a:xfrm>
          <a:prstGeom prst="roundRect">
            <a:avLst>
              <a:gd name="adj" fmla="val 3000"/>
            </a:avLst>
          </a:prstGeom>
          <a:solidFill>
            <a:srgbClr val="0E1420"/>
          </a:solidFill>
          <a:ln w="952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6" name="Oval 364"/>
          <p:cNvSpPr/>
          <p:nvPr/>
        </p:nvSpPr>
        <p:spPr>
          <a:xfrm>
            <a:off x="713160" y="1609200"/>
            <a:ext cx="99720" cy="99720"/>
          </a:xfrm>
          <a:prstGeom prst="ellipse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0040" tIns="26280" rIns="50040" bIns="262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7" name="Oval 365"/>
          <p:cNvSpPr/>
          <p:nvPr/>
        </p:nvSpPr>
        <p:spPr>
          <a:xfrm>
            <a:off x="914400" y="1609200"/>
            <a:ext cx="99720" cy="99720"/>
          </a:xfrm>
          <a:prstGeom prst="ellipse">
            <a:avLst/>
          </a:prstGeom>
          <a:solidFill>
            <a:srgbClr val="F9C6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0040" tIns="26280" rIns="50040" bIns="262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8" name="Oval 366"/>
          <p:cNvSpPr/>
          <p:nvPr/>
        </p:nvSpPr>
        <p:spPr>
          <a:xfrm>
            <a:off x="1115640" y="1609200"/>
            <a:ext cx="99720" cy="99720"/>
          </a:xfrm>
          <a:prstGeom prst="ellipse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0040" tIns="26280" rIns="50040" bIns="262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9" name="TextBox 367"/>
          <p:cNvSpPr/>
          <p:nvPr/>
        </p:nvSpPr>
        <p:spPr>
          <a:xfrm>
            <a:off x="685800" y="1828800"/>
            <a:ext cx="5439960" cy="4479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4080" tIns="0" rIns="64080" bIns="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130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import matplotlib.pyplot as plt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30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30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x = [1, 2, 3, 4, 5]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30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y = [16, 40, 26, 50, 45]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30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30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plt.plot(x, y)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30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plt.show()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Rounded Rectangle 368"/>
          <p:cNvSpPr/>
          <p:nvPr/>
        </p:nvSpPr>
        <p:spPr>
          <a:xfrm>
            <a:off x="6446520" y="1463040"/>
            <a:ext cx="5211360" cy="228528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 w="9525">
            <a:solidFill>
              <a:srgbClr val="C8C5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01" name="Picture 369" descr="first.png"/>
          <p:cNvPicPr/>
          <p:nvPr/>
        </p:nvPicPr>
        <p:blipFill>
          <a:blip r:embed="rId2"/>
          <a:stretch/>
        </p:blipFill>
        <p:spPr>
          <a:xfrm>
            <a:off x="6583680" y="1577520"/>
            <a:ext cx="4937040" cy="2056680"/>
          </a:xfrm>
          <a:prstGeom prst="rect">
            <a:avLst/>
          </a:prstGeom>
          <a:noFill/>
          <a:ln w="0">
            <a:noFill/>
          </a:ln>
        </p:spPr>
      </p:pic>
      <p:graphicFrame>
        <p:nvGraphicFramePr>
          <p:cNvPr id="102" name="Table 370"/>
          <p:cNvGraphicFramePr/>
          <p:nvPr/>
        </p:nvGraphicFramePr>
        <p:xfrm>
          <a:off x="6446520" y="3886200"/>
          <a:ext cx="5212080" cy="2369520"/>
        </p:xfrm>
        <a:graphic>
          <a:graphicData uri="http://schemas.openxmlformats.org/drawingml/2006/table">
            <a:tbl>
              <a:tblPr/>
              <a:tblGrid>
                <a:gridCol w="2148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9492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9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Plus Jakarta Sans"/>
                        </a:rPr>
                        <a:t>Parameter</a:t>
                      </a:r>
                      <a:endParaRPr lang="en-US" sz="9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5755A7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9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Plus Jakarta Sans"/>
                        </a:rPr>
                        <a:t>Meaning</a:t>
                      </a:r>
                      <a:endParaRPr lang="en-US" sz="9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5755A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492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800" b="1" u="none" strike="noStrike">
                          <a:solidFill>
                            <a:srgbClr val="5755A7"/>
                          </a:solidFill>
                          <a:effectLst/>
                          <a:uFillTx/>
                          <a:latin typeface="Consolas"/>
                        </a:rPr>
                        <a:t>import matplotlib.pyplot as plt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1B1B20"/>
                          </a:solidFill>
                          <a:effectLst/>
                          <a:uFillTx/>
                          <a:latin typeface="Plus Jakarta Sans"/>
                        </a:rPr>
                        <a:t>Loads Pyplot under the short name plt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492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800" b="1" u="none" strike="noStrike">
                          <a:solidFill>
                            <a:srgbClr val="5755A7"/>
                          </a:solidFill>
                          <a:effectLst/>
                          <a:uFillTx/>
                          <a:latin typeface="Consolas"/>
                        </a:rPr>
                        <a:t>x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4F1FA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1B1B20"/>
                          </a:solidFill>
                          <a:effectLst/>
                          <a:uFillTx/>
                          <a:latin typeface="Plus Jakarta Sans"/>
                        </a:rPr>
                        <a:t>Values plotted on the X-axis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4F1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492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800" b="1" u="none" strike="noStrike">
                          <a:solidFill>
                            <a:srgbClr val="5755A7"/>
                          </a:solidFill>
                          <a:effectLst/>
                          <a:uFillTx/>
                          <a:latin typeface="Consolas"/>
                        </a:rPr>
                        <a:t>y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1B1B20"/>
                          </a:solidFill>
                          <a:effectLst/>
                          <a:uFillTx/>
                          <a:latin typeface="Plus Jakarta Sans"/>
                        </a:rPr>
                        <a:t>Values plotted on the Y-axis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492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800" b="1" u="none" strike="noStrike">
                          <a:solidFill>
                            <a:srgbClr val="5755A7"/>
                          </a:solidFill>
                          <a:effectLst/>
                          <a:uFillTx/>
                          <a:latin typeface="Consolas"/>
                        </a:rPr>
                        <a:t>plt.plot(x, y)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4F1FA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1B1B20"/>
                          </a:solidFill>
                          <a:effectLst/>
                          <a:uFillTx/>
                          <a:latin typeface="Plus Jakarta Sans"/>
                        </a:rPr>
                        <a:t>Draws a line through the (x, y) points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4F1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492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800" b="1" u="none" strike="noStrike">
                          <a:solidFill>
                            <a:srgbClr val="5755A7"/>
                          </a:solidFill>
                          <a:effectLst/>
                          <a:uFillTx/>
                          <a:latin typeface="Consolas"/>
                        </a:rPr>
                        <a:t>plt.show()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1B1B20"/>
                          </a:solidFill>
                          <a:effectLst/>
                          <a:uFillTx/>
                          <a:latin typeface="Plus Jakarta Sans"/>
                        </a:rPr>
                        <a:t>Displays the figure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p15="http://schemas.microsoft.com/office/powerpoint/2012/main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Text 0"/>
          <p:cNvSpPr/>
          <p:nvPr/>
        </p:nvSpPr>
        <p:spPr>
          <a:xfrm>
            <a:off x="548640" y="384120"/>
            <a:ext cx="9598680" cy="290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 spc="201">
                <a:solidFill>
                  <a:srgbClr val="5755A7"/>
                </a:solidFill>
                <a:effectLst/>
                <a:uFillTx/>
                <a:latin typeface="Plus Jakarta Sans"/>
                <a:ea typeface="Plus Jakarta Sans"/>
              </a:rPr>
              <a:t>01 · INTRODUCTION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Text 1"/>
          <p:cNvSpPr/>
          <p:nvPr/>
        </p:nvSpPr>
        <p:spPr>
          <a:xfrm>
            <a:off x="548640" y="658440"/>
            <a:ext cx="10240560" cy="683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 spc="-31">
                <a:solidFill>
                  <a:srgbClr val="1B1B20"/>
                </a:solidFill>
                <a:effectLst/>
                <a:uFillTx/>
                <a:latin typeface="Bricolage Grotesque"/>
                <a:ea typeface="Bricolage Grotesque"/>
              </a:rPr>
              <a:t>Weekly Sales vs Expenses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Shape 2"/>
          <p:cNvSpPr/>
          <p:nvPr/>
        </p:nvSpPr>
        <p:spPr>
          <a:xfrm>
            <a:off x="11323080" y="384120"/>
            <a:ext cx="381600" cy="381600"/>
          </a:xfrm>
          <a:prstGeom prst="roundRect">
            <a:avLst>
              <a:gd name="adj" fmla="val 28000"/>
            </a:avLst>
          </a:prstGeom>
          <a:solidFill>
            <a:srgbClr val="5755A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" name="Shape 3"/>
          <p:cNvSpPr/>
          <p:nvPr/>
        </p:nvSpPr>
        <p:spPr>
          <a:xfrm>
            <a:off x="11445840" y="506880"/>
            <a:ext cx="258480" cy="258480"/>
          </a:xfrm>
          <a:prstGeom prst="roundRect">
            <a:avLst>
              <a:gd name="adj" fmla="val 26471"/>
            </a:avLst>
          </a:prstGeom>
          <a:solidFill>
            <a:srgbClr val="FCF8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Shape 4"/>
          <p:cNvSpPr/>
          <p:nvPr/>
        </p:nvSpPr>
        <p:spPr>
          <a:xfrm>
            <a:off x="11514960" y="576000"/>
            <a:ext cx="128160" cy="128160"/>
          </a:xfrm>
          <a:prstGeom prst="roundRect">
            <a:avLst>
              <a:gd name="adj" fmla="val 26471"/>
            </a:avLst>
          </a:prstGeom>
          <a:solidFill>
            <a:srgbClr val="386759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4080" tIns="45000" rIns="6408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" name="Text 5"/>
          <p:cNvSpPr/>
          <p:nvPr/>
        </p:nvSpPr>
        <p:spPr>
          <a:xfrm>
            <a:off x="457200" y="6473880"/>
            <a:ext cx="6855480" cy="271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4651"/>
                </a:solidFill>
                <a:effectLst/>
                <a:uFillTx/>
                <a:latin typeface="Plus Jakarta Sans"/>
                <a:ea typeface="Plus Jakarta Sans"/>
              </a:rPr>
              <a:t>Matplotlib: Data Visualization with Python  ·  GCN Course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 6"/>
          <p:cNvSpPr/>
          <p:nvPr/>
        </p:nvSpPr>
        <p:spPr>
          <a:xfrm>
            <a:off x="11505960" y="6473880"/>
            <a:ext cx="500400" cy="271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4651"/>
                </a:solidFill>
                <a:effectLst/>
                <a:uFillTx/>
                <a:latin typeface="Plus Jakarta Sans"/>
                <a:ea typeface="Plus Jakarta Sans"/>
              </a:rPr>
              <a:t>05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Rounded Rectangle 363"/>
          <p:cNvSpPr/>
          <p:nvPr/>
        </p:nvSpPr>
        <p:spPr>
          <a:xfrm>
            <a:off x="548640" y="1463040"/>
            <a:ext cx="5714280" cy="4937040"/>
          </a:xfrm>
          <a:prstGeom prst="roundRect">
            <a:avLst>
              <a:gd name="adj" fmla="val 3000"/>
            </a:avLst>
          </a:prstGeom>
          <a:solidFill>
            <a:srgbClr val="0E1420"/>
          </a:solidFill>
          <a:ln w="952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1" name="Oval 364"/>
          <p:cNvSpPr/>
          <p:nvPr/>
        </p:nvSpPr>
        <p:spPr>
          <a:xfrm>
            <a:off x="713160" y="1609200"/>
            <a:ext cx="99720" cy="99720"/>
          </a:xfrm>
          <a:prstGeom prst="ellipse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0040" tIns="26280" rIns="50040" bIns="262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2" name="Oval 365"/>
          <p:cNvSpPr/>
          <p:nvPr/>
        </p:nvSpPr>
        <p:spPr>
          <a:xfrm>
            <a:off x="914400" y="1609200"/>
            <a:ext cx="99720" cy="99720"/>
          </a:xfrm>
          <a:prstGeom prst="ellipse">
            <a:avLst/>
          </a:prstGeom>
          <a:solidFill>
            <a:srgbClr val="F9C6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0040" tIns="26280" rIns="50040" bIns="262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3" name="Oval 366"/>
          <p:cNvSpPr/>
          <p:nvPr/>
        </p:nvSpPr>
        <p:spPr>
          <a:xfrm>
            <a:off x="1115640" y="1609200"/>
            <a:ext cx="99720" cy="99720"/>
          </a:xfrm>
          <a:prstGeom prst="ellipse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0040" tIns="26280" rIns="50040" bIns="262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4" name="TextBox 367"/>
          <p:cNvSpPr/>
          <p:nvPr/>
        </p:nvSpPr>
        <p:spPr>
          <a:xfrm>
            <a:off x="685800" y="1828800"/>
            <a:ext cx="5439960" cy="4479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4080" tIns="0" rIns="64080" bIns="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105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days = ["Monday", "Tuesday", "Wednesday", "Thursday", "Friday"]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05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 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05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sales = [120, 150, 100, 180, 160]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05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expenses = [80, 100, 90, 120, 110]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05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 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05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plt.plot(days, sales, label="Sales")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05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plt.plot(days, expenses, label="Expenses")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05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 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05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plt.title("Weekly Sales vs Expenses")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05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plt.xlabel("Weekdays")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05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plt.ylabel("Amount")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05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 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05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plt.legend()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05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 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05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plt.show()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Rounded Rectangle 368"/>
          <p:cNvSpPr/>
          <p:nvPr/>
        </p:nvSpPr>
        <p:spPr>
          <a:xfrm>
            <a:off x="6446520" y="1463040"/>
            <a:ext cx="5211360" cy="228528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 w="9525">
            <a:solidFill>
              <a:srgbClr val="C8C5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graphicFrame>
        <p:nvGraphicFramePr>
          <p:cNvPr id="116" name="Table 370"/>
          <p:cNvGraphicFramePr/>
          <p:nvPr/>
        </p:nvGraphicFramePr>
        <p:xfrm>
          <a:off x="6446520" y="3886200"/>
          <a:ext cx="5212080" cy="2219400"/>
        </p:xfrm>
        <a:graphic>
          <a:graphicData uri="http://schemas.openxmlformats.org/drawingml/2006/table">
            <a:tbl>
              <a:tblPr/>
              <a:tblGrid>
                <a:gridCol w="2148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46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9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Plus Jakarta Sans"/>
                        </a:rPr>
                        <a:t>Parameter</a:t>
                      </a:r>
                      <a:endParaRPr lang="en-US" sz="9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5755A7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9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Plus Jakarta Sans"/>
                        </a:rPr>
                        <a:t>Meaning</a:t>
                      </a:r>
                      <a:endParaRPr lang="en-US" sz="9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5755A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800" b="1" u="none" strike="noStrike">
                          <a:solidFill>
                            <a:srgbClr val="5755A7"/>
                          </a:solidFill>
                          <a:effectLst/>
                          <a:uFillTx/>
                          <a:latin typeface="Consolas"/>
                        </a:rPr>
                        <a:t>days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1B1B20"/>
                          </a:solidFill>
                          <a:effectLst/>
                          <a:uFillTx/>
                          <a:latin typeface="Plus Jakarta Sans"/>
                        </a:rPr>
                        <a:t>Category names on the X-axis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800" b="1" u="none" strike="noStrike">
                          <a:solidFill>
                            <a:srgbClr val="5755A7"/>
                          </a:solidFill>
                          <a:effectLst/>
                          <a:uFillTx/>
                          <a:latin typeface="Consolas"/>
                        </a:rPr>
                        <a:t>sales, expenses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4F1FA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1B1B20"/>
                          </a:solidFill>
                          <a:effectLst/>
                          <a:uFillTx/>
                          <a:latin typeface="Plus Jakarta Sans"/>
                        </a:rPr>
                        <a:t>Y-values of the two lines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4F1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800" b="1" u="none" strike="noStrike">
                          <a:solidFill>
                            <a:srgbClr val="5755A7"/>
                          </a:solidFill>
                          <a:effectLst/>
                          <a:uFillTx/>
                          <a:latin typeface="Consolas"/>
                        </a:rPr>
                        <a:t>label="Sales"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1B1B20"/>
                          </a:solidFill>
                          <a:effectLst/>
                          <a:uFillTx/>
                          <a:latin typeface="Plus Jakarta Sans"/>
                        </a:rPr>
                        <a:t>Name of the line in the legend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800" b="1" u="none" strike="noStrike">
                          <a:solidFill>
                            <a:srgbClr val="5755A7"/>
                          </a:solidFill>
                          <a:effectLst/>
                          <a:uFillTx/>
                          <a:latin typeface="Consolas"/>
                        </a:rPr>
                        <a:t>plt.title("...")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4F1FA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1B1B20"/>
                          </a:solidFill>
                          <a:effectLst/>
                          <a:uFillTx/>
                          <a:latin typeface="Plus Jakarta Sans"/>
                        </a:rPr>
                        <a:t>Heading of the chart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4F1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800" b="1" u="none" strike="noStrike">
                          <a:solidFill>
                            <a:srgbClr val="5755A7"/>
                          </a:solidFill>
                          <a:effectLst/>
                          <a:uFillTx/>
                          <a:latin typeface="Consolas"/>
                        </a:rPr>
                        <a:t>plt.xlabel("...")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1B1B20"/>
                          </a:solidFill>
                          <a:effectLst/>
                          <a:uFillTx/>
                          <a:latin typeface="Plus Jakarta Sans"/>
                        </a:rPr>
                        <a:t>Text describing the X-axis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6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800" b="1" u="none" strike="noStrike">
                          <a:solidFill>
                            <a:srgbClr val="5755A7"/>
                          </a:solidFill>
                          <a:effectLst/>
                          <a:uFillTx/>
                          <a:latin typeface="Consolas"/>
                        </a:rPr>
                        <a:t>plt.ylabel("...")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4F1FA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1B1B20"/>
                          </a:solidFill>
                          <a:effectLst/>
                          <a:uFillTx/>
                          <a:latin typeface="Plus Jakarta Sans"/>
                        </a:rPr>
                        <a:t>Text describing the Y-axis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4F1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6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800" b="1" u="none" strike="noStrike">
                          <a:solidFill>
                            <a:srgbClr val="5755A7"/>
                          </a:solidFill>
                          <a:effectLst/>
                          <a:uFillTx/>
                          <a:latin typeface="Consolas"/>
                        </a:rPr>
                        <a:t>plt.legend()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1B1B20"/>
                          </a:solidFill>
                          <a:effectLst/>
                          <a:uFillTx/>
                          <a:latin typeface="Plus Jakarta Sans"/>
                        </a:rPr>
                        <a:t>Shows the legend built from the labels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6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800" b="1" u="none" strike="noStrike">
                          <a:solidFill>
                            <a:srgbClr val="5755A7"/>
                          </a:solidFill>
                          <a:effectLst/>
                          <a:uFillTx/>
                          <a:latin typeface="Consolas"/>
                        </a:rPr>
                        <a:t>plt.show()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4F1FA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1B1B20"/>
                          </a:solidFill>
                          <a:effectLst/>
                          <a:uFillTx/>
                          <a:latin typeface="Plus Jakarta Sans"/>
                        </a:rPr>
                        <a:t>Displays the figure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4F1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pic>
        <p:nvPicPr>
          <p:cNvPr id="117" name="Picture 1"/>
          <p:cNvPicPr/>
          <p:nvPr/>
        </p:nvPicPr>
        <p:blipFill>
          <a:blip r:embed="rId2"/>
          <a:stretch/>
        </p:blipFill>
        <p:spPr>
          <a:xfrm>
            <a:off x="6713280" y="1654560"/>
            <a:ext cx="4791600" cy="208188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p15="http://schemas.microsoft.com/office/powerpoint/2012/main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Shape 0"/>
          <p:cNvSpPr/>
          <p:nvPr/>
        </p:nvSpPr>
        <p:spPr>
          <a:xfrm>
            <a:off x="9692640" y="-1463040"/>
            <a:ext cx="3837960" cy="3837960"/>
          </a:xfrm>
          <a:prstGeom prst="ellipse">
            <a:avLst/>
          </a:prstGeom>
          <a:solidFill>
            <a:srgbClr val="262758">
              <a:alpha val="45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" name="Shape 1"/>
          <p:cNvSpPr/>
          <p:nvPr/>
        </p:nvSpPr>
        <p:spPr>
          <a:xfrm>
            <a:off x="-1280160" y="4754880"/>
            <a:ext cx="3106440" cy="3106440"/>
          </a:xfrm>
          <a:prstGeom prst="ellipse">
            <a:avLst/>
          </a:prstGeom>
          <a:solidFill>
            <a:srgbClr val="11362E">
              <a:alpha val="55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" name="Shape 2"/>
          <p:cNvSpPr/>
          <p:nvPr/>
        </p:nvSpPr>
        <p:spPr>
          <a:xfrm>
            <a:off x="640080" y="548640"/>
            <a:ext cx="454680" cy="454680"/>
          </a:xfrm>
          <a:prstGeom prst="roundRect">
            <a:avLst>
              <a:gd name="adj" fmla="val 28000"/>
            </a:avLst>
          </a:prstGeom>
          <a:solidFill>
            <a:srgbClr val="818CF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" name="Shape 3"/>
          <p:cNvSpPr/>
          <p:nvPr/>
        </p:nvSpPr>
        <p:spPr>
          <a:xfrm>
            <a:off x="786240" y="694800"/>
            <a:ext cx="308520" cy="308520"/>
          </a:xfrm>
          <a:prstGeom prst="roundRect">
            <a:avLst>
              <a:gd name="adj" fmla="val 26471"/>
            </a:avLst>
          </a:prstGeom>
          <a:solidFill>
            <a:srgbClr val="0B0F1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" name="Shape 4"/>
          <p:cNvSpPr/>
          <p:nvPr/>
        </p:nvSpPr>
        <p:spPr>
          <a:xfrm>
            <a:off x="868680" y="777240"/>
            <a:ext cx="153000" cy="153000"/>
          </a:xfrm>
          <a:prstGeom prst="roundRect">
            <a:avLst>
              <a:gd name="adj" fmla="val 26471"/>
            </a:avLst>
          </a:prstGeom>
          <a:solidFill>
            <a:srgbClr val="2DD4B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680" tIns="45000" rIns="7668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Text 5"/>
          <p:cNvSpPr/>
          <p:nvPr/>
        </p:nvSpPr>
        <p:spPr>
          <a:xfrm>
            <a:off x="640080" y="2331720"/>
            <a:ext cx="9141480" cy="454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 spc="300">
                <a:solidFill>
                  <a:srgbClr val="2DD4BF"/>
                </a:solidFill>
                <a:effectLst/>
                <a:uFillTx/>
                <a:latin typeface="Plus Jakarta Sans"/>
                <a:ea typeface="Plus Jakarta Sans"/>
              </a:rPr>
              <a:t>02 · FOUNDATIONS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4" name="Text 6"/>
          <p:cNvSpPr/>
          <p:nvPr/>
        </p:nvSpPr>
        <p:spPr>
          <a:xfrm>
            <a:off x="640080" y="2743200"/>
            <a:ext cx="10330200" cy="1369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800" b="1" u="none" strike="noStrike" spc="-51">
                <a:solidFill>
                  <a:srgbClr val="F1F5F9"/>
                </a:solidFill>
                <a:effectLst/>
                <a:uFillTx/>
                <a:latin typeface="Bricolage Grotesque"/>
                <a:ea typeface="Bricolage Grotesque"/>
              </a:rPr>
              <a:t>Essential Terminology</a:t>
            </a:r>
            <a:endParaRPr lang="en-US" sz="3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 7"/>
          <p:cNvSpPr/>
          <p:nvPr/>
        </p:nvSpPr>
        <p:spPr>
          <a:xfrm>
            <a:off x="640080" y="3931920"/>
            <a:ext cx="9690120" cy="729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94A3B8"/>
                </a:solidFill>
                <a:effectLst/>
                <a:uFillTx/>
                <a:latin typeface="Hanken Grotesk"/>
                <a:ea typeface="Hanken Grotesk"/>
              </a:rPr>
              <a:t>The shared vocabulary we'll use for the rest of this talk.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" name="Text 8"/>
          <p:cNvSpPr/>
          <p:nvPr/>
        </p:nvSpPr>
        <p:spPr>
          <a:xfrm>
            <a:off x="11505960" y="6473880"/>
            <a:ext cx="500400" cy="271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94A3B8"/>
                </a:solidFill>
                <a:effectLst/>
                <a:uFillTx/>
                <a:latin typeface="Plus Jakarta Sans"/>
                <a:ea typeface="Plus Jakarta Sans"/>
              </a:rPr>
              <a:t>06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p15="http://schemas.microsoft.com/office/powerpoint/2012/main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Text 0"/>
          <p:cNvSpPr/>
          <p:nvPr/>
        </p:nvSpPr>
        <p:spPr>
          <a:xfrm>
            <a:off x="548640" y="384120"/>
            <a:ext cx="9598680" cy="290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 spc="201">
                <a:solidFill>
                  <a:srgbClr val="5755A7"/>
                </a:solidFill>
                <a:effectLst/>
                <a:uFillTx/>
                <a:latin typeface="Plus Jakarta Sans"/>
                <a:ea typeface="Plus Jakarta Sans"/>
              </a:rPr>
              <a:t>02 · TERMINOLOGY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Text 1"/>
          <p:cNvSpPr/>
          <p:nvPr/>
        </p:nvSpPr>
        <p:spPr>
          <a:xfrm>
            <a:off x="480240" y="669960"/>
            <a:ext cx="4734000" cy="671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 spc="-31">
                <a:solidFill>
                  <a:srgbClr val="1B1B20"/>
                </a:solidFill>
                <a:effectLst/>
                <a:uFillTx/>
                <a:latin typeface="Bricolage Grotesque"/>
                <a:ea typeface="Bricolage Grotesque"/>
              </a:rPr>
              <a:t>Describing &amp; Labeling a Plot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Shape 2"/>
          <p:cNvSpPr/>
          <p:nvPr/>
        </p:nvSpPr>
        <p:spPr>
          <a:xfrm>
            <a:off x="11323080" y="384120"/>
            <a:ext cx="381600" cy="381600"/>
          </a:xfrm>
          <a:prstGeom prst="roundRect">
            <a:avLst>
              <a:gd name="adj" fmla="val 28000"/>
            </a:avLst>
          </a:prstGeom>
          <a:solidFill>
            <a:srgbClr val="5755A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" name="Shape 3"/>
          <p:cNvSpPr/>
          <p:nvPr/>
        </p:nvSpPr>
        <p:spPr>
          <a:xfrm>
            <a:off x="11445840" y="506880"/>
            <a:ext cx="258480" cy="258480"/>
          </a:xfrm>
          <a:prstGeom prst="roundRect">
            <a:avLst>
              <a:gd name="adj" fmla="val 26471"/>
            </a:avLst>
          </a:prstGeom>
          <a:solidFill>
            <a:srgbClr val="FCF8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Shape 4"/>
          <p:cNvSpPr/>
          <p:nvPr/>
        </p:nvSpPr>
        <p:spPr>
          <a:xfrm>
            <a:off x="11514960" y="576000"/>
            <a:ext cx="128160" cy="128160"/>
          </a:xfrm>
          <a:prstGeom prst="roundRect">
            <a:avLst>
              <a:gd name="adj" fmla="val 26471"/>
            </a:avLst>
          </a:prstGeom>
          <a:solidFill>
            <a:srgbClr val="386759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4080" tIns="45000" rIns="6408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" name="Text 5"/>
          <p:cNvSpPr/>
          <p:nvPr/>
        </p:nvSpPr>
        <p:spPr>
          <a:xfrm>
            <a:off x="457200" y="6473880"/>
            <a:ext cx="6855480" cy="271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4651"/>
                </a:solidFill>
                <a:effectLst/>
                <a:uFillTx/>
                <a:latin typeface="Plus Jakarta Sans"/>
                <a:ea typeface="Plus Jakarta Sans"/>
              </a:rPr>
              <a:t>Matplotlib: Data Visualization with Python  ·  GCN Course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Shape 6"/>
          <p:cNvSpPr/>
          <p:nvPr/>
        </p:nvSpPr>
        <p:spPr>
          <a:xfrm>
            <a:off x="548640" y="1600200"/>
            <a:ext cx="2665080" cy="2027520"/>
          </a:xfrm>
          <a:prstGeom prst="roundRect">
            <a:avLst>
              <a:gd name="adj" fmla="val 4054"/>
            </a:avLst>
          </a:prstGeom>
          <a:solidFill>
            <a:srgbClr val="FFFFFF"/>
          </a:solidFill>
          <a:ln w="9525">
            <a:solidFill>
              <a:srgbClr val="C8C5D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Shape 7"/>
          <p:cNvSpPr/>
          <p:nvPr/>
        </p:nvSpPr>
        <p:spPr>
          <a:xfrm>
            <a:off x="685800" y="1728360"/>
            <a:ext cx="308520" cy="308520"/>
          </a:xfrm>
          <a:prstGeom prst="roundRect">
            <a:avLst>
              <a:gd name="adj" fmla="val 50000"/>
            </a:avLst>
          </a:prstGeom>
          <a:solidFill>
            <a:srgbClr val="8C8AE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" name="Text 8"/>
          <p:cNvSpPr/>
          <p:nvPr/>
        </p:nvSpPr>
        <p:spPr>
          <a:xfrm>
            <a:off x="685800" y="1728360"/>
            <a:ext cx="308520" cy="308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231F71"/>
                </a:solidFill>
                <a:effectLst/>
                <a:uFillTx/>
                <a:latin typeface="Bricolage Grotesque"/>
                <a:ea typeface="Bricolage Grotesque"/>
              </a:rPr>
              <a:t>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Text 9"/>
          <p:cNvSpPr/>
          <p:nvPr/>
        </p:nvSpPr>
        <p:spPr>
          <a:xfrm>
            <a:off x="1088280" y="1691640"/>
            <a:ext cx="1988640" cy="399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B1B20"/>
                </a:solidFill>
                <a:effectLst/>
                <a:uFillTx/>
                <a:latin typeface="Bricolage Grotesque"/>
                <a:ea typeface="Bricolage Grotesque"/>
              </a:rPr>
              <a:t>Plot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 10"/>
          <p:cNvSpPr/>
          <p:nvPr/>
        </p:nvSpPr>
        <p:spPr>
          <a:xfrm>
            <a:off x="685800" y="2094120"/>
            <a:ext cx="2390760" cy="1405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474651"/>
                </a:solidFill>
                <a:effectLst/>
                <a:uFillTx/>
                <a:latin typeface="Hanken Grotesk"/>
                <a:ea typeface="Hanken Grotesk"/>
              </a:rPr>
              <a:t>A visual representation of data: a line, bar, scatter, etc.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Shape 11"/>
          <p:cNvSpPr/>
          <p:nvPr/>
        </p:nvSpPr>
        <p:spPr>
          <a:xfrm>
            <a:off x="3362760" y="1600200"/>
            <a:ext cx="2665080" cy="2027520"/>
          </a:xfrm>
          <a:prstGeom prst="roundRect">
            <a:avLst>
              <a:gd name="adj" fmla="val 4054"/>
            </a:avLst>
          </a:prstGeom>
          <a:solidFill>
            <a:srgbClr val="FFFFFF"/>
          </a:solidFill>
          <a:ln w="9525">
            <a:solidFill>
              <a:srgbClr val="C8C5D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Shape 12"/>
          <p:cNvSpPr/>
          <p:nvPr/>
        </p:nvSpPr>
        <p:spPr>
          <a:xfrm>
            <a:off x="3499920" y="1728360"/>
            <a:ext cx="308520" cy="308520"/>
          </a:xfrm>
          <a:prstGeom prst="roundRect">
            <a:avLst>
              <a:gd name="adj" fmla="val 50000"/>
            </a:avLst>
          </a:prstGeom>
          <a:solidFill>
            <a:srgbClr val="8C8AE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" name="Text 13"/>
          <p:cNvSpPr/>
          <p:nvPr/>
        </p:nvSpPr>
        <p:spPr>
          <a:xfrm>
            <a:off x="3499920" y="1728360"/>
            <a:ext cx="308520" cy="308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231F71"/>
                </a:solidFill>
                <a:effectLst/>
                <a:uFillTx/>
                <a:latin typeface="Bricolage Grotesque"/>
                <a:ea typeface="Bricolage Grotesque"/>
              </a:rPr>
              <a:t>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Text 14"/>
          <p:cNvSpPr/>
          <p:nvPr/>
        </p:nvSpPr>
        <p:spPr>
          <a:xfrm>
            <a:off x="3902040" y="1691640"/>
            <a:ext cx="1988640" cy="399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B1B20"/>
                </a:solidFill>
                <a:effectLst/>
                <a:uFillTx/>
                <a:latin typeface="Bricolage Grotesque"/>
              </a:rPr>
              <a:t>Marker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Text 15"/>
          <p:cNvSpPr/>
          <p:nvPr/>
        </p:nvSpPr>
        <p:spPr>
          <a:xfrm>
            <a:off x="3499920" y="2094120"/>
            <a:ext cx="2390760" cy="1405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474651"/>
                </a:solidFill>
                <a:effectLst/>
                <a:uFillTx/>
                <a:latin typeface="Hanken Grotesk"/>
                <a:ea typeface="Hanken Grotesk"/>
              </a:rPr>
              <a:t>The symbol at each data point: circle, triangle, x.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Shape 16"/>
          <p:cNvSpPr/>
          <p:nvPr/>
        </p:nvSpPr>
        <p:spPr>
          <a:xfrm>
            <a:off x="6176880" y="1600200"/>
            <a:ext cx="2665080" cy="2027520"/>
          </a:xfrm>
          <a:prstGeom prst="roundRect">
            <a:avLst>
              <a:gd name="adj" fmla="val 4054"/>
            </a:avLst>
          </a:prstGeom>
          <a:solidFill>
            <a:srgbClr val="FFFFFF"/>
          </a:solidFill>
          <a:ln w="9525">
            <a:solidFill>
              <a:srgbClr val="C8C5D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Shape 17"/>
          <p:cNvSpPr/>
          <p:nvPr/>
        </p:nvSpPr>
        <p:spPr>
          <a:xfrm>
            <a:off x="6314040" y="1728360"/>
            <a:ext cx="308520" cy="308520"/>
          </a:xfrm>
          <a:prstGeom prst="roundRect">
            <a:avLst>
              <a:gd name="adj" fmla="val 50000"/>
            </a:avLst>
          </a:prstGeom>
          <a:solidFill>
            <a:srgbClr val="8C8AE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" name="Text 18"/>
          <p:cNvSpPr/>
          <p:nvPr/>
        </p:nvSpPr>
        <p:spPr>
          <a:xfrm>
            <a:off x="6314040" y="1728360"/>
            <a:ext cx="308520" cy="308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231F71"/>
                </a:solidFill>
                <a:effectLst/>
                <a:uFillTx/>
                <a:latin typeface="Bricolage Grotesque"/>
                <a:ea typeface="Bricolage Grotesque"/>
              </a:rPr>
              <a:t>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 19"/>
          <p:cNvSpPr/>
          <p:nvPr/>
        </p:nvSpPr>
        <p:spPr>
          <a:xfrm>
            <a:off x="6716160" y="1691640"/>
            <a:ext cx="1988640" cy="399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B1B20"/>
                </a:solidFill>
                <a:effectLst/>
                <a:uFillTx/>
                <a:latin typeface="Bricolage Grotesque"/>
                <a:ea typeface="Bricolage Grotesque"/>
              </a:rPr>
              <a:t>Line Style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Text 20"/>
          <p:cNvSpPr/>
          <p:nvPr/>
        </p:nvSpPr>
        <p:spPr>
          <a:xfrm>
            <a:off x="6314040" y="2094120"/>
            <a:ext cx="2390760" cy="1405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474651"/>
                </a:solidFill>
                <a:effectLst/>
                <a:uFillTx/>
                <a:latin typeface="Hanken Grotesk"/>
                <a:ea typeface="Hanken Grotesk"/>
              </a:rPr>
              <a:t>How a line looks: solid, dashed, dotted.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Shape 21"/>
          <p:cNvSpPr/>
          <p:nvPr/>
        </p:nvSpPr>
        <p:spPr>
          <a:xfrm>
            <a:off x="8991000" y="1600200"/>
            <a:ext cx="2665080" cy="2027520"/>
          </a:xfrm>
          <a:prstGeom prst="roundRect">
            <a:avLst>
              <a:gd name="adj" fmla="val 4054"/>
            </a:avLst>
          </a:prstGeom>
          <a:solidFill>
            <a:srgbClr val="FFFFFF"/>
          </a:solidFill>
          <a:ln w="9525">
            <a:solidFill>
              <a:srgbClr val="C8C5D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Shape 22"/>
          <p:cNvSpPr/>
          <p:nvPr/>
        </p:nvSpPr>
        <p:spPr>
          <a:xfrm>
            <a:off x="9128160" y="1728360"/>
            <a:ext cx="308520" cy="308520"/>
          </a:xfrm>
          <a:prstGeom prst="roundRect">
            <a:avLst>
              <a:gd name="adj" fmla="val 50000"/>
            </a:avLst>
          </a:prstGeom>
          <a:solidFill>
            <a:srgbClr val="8C8AE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" name="Text 23"/>
          <p:cNvSpPr/>
          <p:nvPr/>
        </p:nvSpPr>
        <p:spPr>
          <a:xfrm>
            <a:off x="9128160" y="1728360"/>
            <a:ext cx="308520" cy="308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231F71"/>
                </a:solidFill>
                <a:effectLst/>
                <a:uFillTx/>
                <a:latin typeface="Bricolage Grotesque"/>
                <a:ea typeface="Bricolage Grotesque"/>
              </a:rPr>
              <a:t>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Text 24"/>
          <p:cNvSpPr/>
          <p:nvPr/>
        </p:nvSpPr>
        <p:spPr>
          <a:xfrm>
            <a:off x="9530280" y="1691640"/>
            <a:ext cx="1988640" cy="399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B1B20"/>
                </a:solidFill>
                <a:effectLst/>
                <a:uFillTx/>
                <a:latin typeface="Bricolage Grotesque"/>
              </a:rPr>
              <a:t>Color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Text 25"/>
          <p:cNvSpPr/>
          <p:nvPr/>
        </p:nvSpPr>
        <p:spPr>
          <a:xfrm>
            <a:off x="9128160" y="2094120"/>
            <a:ext cx="2390760" cy="1405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474651"/>
                </a:solidFill>
                <a:effectLst/>
                <a:uFillTx/>
                <a:latin typeface="Hanken Grotesk"/>
                <a:ea typeface="Hanken Grotesk"/>
              </a:rPr>
              <a:t>The visual color of a line, bar, or marker.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Shape 26"/>
          <p:cNvSpPr/>
          <p:nvPr/>
        </p:nvSpPr>
        <p:spPr>
          <a:xfrm>
            <a:off x="548640" y="3776400"/>
            <a:ext cx="2665080" cy="2027520"/>
          </a:xfrm>
          <a:prstGeom prst="roundRect">
            <a:avLst>
              <a:gd name="adj" fmla="val 4054"/>
            </a:avLst>
          </a:prstGeom>
          <a:solidFill>
            <a:srgbClr val="FFFFFF"/>
          </a:solidFill>
          <a:ln w="9525">
            <a:solidFill>
              <a:srgbClr val="C8C5D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Shape 27"/>
          <p:cNvSpPr/>
          <p:nvPr/>
        </p:nvSpPr>
        <p:spPr>
          <a:xfrm>
            <a:off x="685800" y="3904560"/>
            <a:ext cx="308520" cy="308520"/>
          </a:xfrm>
          <a:prstGeom prst="roundRect">
            <a:avLst>
              <a:gd name="adj" fmla="val 50000"/>
            </a:avLst>
          </a:prstGeom>
          <a:solidFill>
            <a:srgbClr val="8C8AE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" name="Text 28"/>
          <p:cNvSpPr/>
          <p:nvPr/>
        </p:nvSpPr>
        <p:spPr>
          <a:xfrm>
            <a:off x="685800" y="3904560"/>
            <a:ext cx="308520" cy="308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231F71"/>
                </a:solidFill>
                <a:effectLst/>
                <a:uFillTx/>
                <a:latin typeface="Bricolage Grotesque"/>
                <a:ea typeface="Bricolage Grotesque"/>
              </a:rPr>
              <a:t>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Text 29"/>
          <p:cNvSpPr/>
          <p:nvPr/>
        </p:nvSpPr>
        <p:spPr>
          <a:xfrm>
            <a:off x="1088280" y="3867840"/>
            <a:ext cx="1988640" cy="399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B1B20"/>
                </a:solidFill>
                <a:effectLst/>
                <a:uFillTx/>
                <a:latin typeface="Bricolage Grotesque"/>
                <a:ea typeface="Bricolage Grotesque"/>
              </a:rPr>
              <a:t>Label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Text 30"/>
          <p:cNvSpPr/>
          <p:nvPr/>
        </p:nvSpPr>
        <p:spPr>
          <a:xfrm>
            <a:off x="685800" y="4270320"/>
            <a:ext cx="2390760" cy="1405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474651"/>
                </a:solidFill>
                <a:effectLst/>
                <a:uFillTx/>
                <a:latin typeface="Hanken Grotesk"/>
                <a:ea typeface="Hanken Grotesk"/>
              </a:rPr>
              <a:t>Text describing a data series, axis, or point.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Shape 31"/>
          <p:cNvSpPr/>
          <p:nvPr/>
        </p:nvSpPr>
        <p:spPr>
          <a:xfrm>
            <a:off x="3362760" y="3776400"/>
            <a:ext cx="2665080" cy="2027520"/>
          </a:xfrm>
          <a:prstGeom prst="roundRect">
            <a:avLst>
              <a:gd name="adj" fmla="val 4054"/>
            </a:avLst>
          </a:prstGeom>
          <a:solidFill>
            <a:srgbClr val="FFFFFF"/>
          </a:solidFill>
          <a:ln w="9525">
            <a:solidFill>
              <a:srgbClr val="C8C5D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Shape 32"/>
          <p:cNvSpPr/>
          <p:nvPr/>
        </p:nvSpPr>
        <p:spPr>
          <a:xfrm>
            <a:off x="3499920" y="3904560"/>
            <a:ext cx="308520" cy="308520"/>
          </a:xfrm>
          <a:prstGeom prst="roundRect">
            <a:avLst>
              <a:gd name="adj" fmla="val 50000"/>
            </a:avLst>
          </a:prstGeom>
          <a:solidFill>
            <a:srgbClr val="8C8AE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" name="Text 33"/>
          <p:cNvSpPr/>
          <p:nvPr/>
        </p:nvSpPr>
        <p:spPr>
          <a:xfrm>
            <a:off x="3499920" y="3904560"/>
            <a:ext cx="308520" cy="308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231F71"/>
                </a:solidFill>
                <a:effectLst/>
                <a:uFillTx/>
                <a:latin typeface="Bricolage Grotesque"/>
                <a:ea typeface="Bricolage Grotesque"/>
              </a:rPr>
              <a:t>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Text 34"/>
          <p:cNvSpPr/>
          <p:nvPr/>
        </p:nvSpPr>
        <p:spPr>
          <a:xfrm>
            <a:off x="3902040" y="3867840"/>
            <a:ext cx="1988640" cy="399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B1B20"/>
                </a:solidFill>
                <a:effectLst/>
                <a:uFillTx/>
                <a:latin typeface="Bricolage Grotesque"/>
                <a:ea typeface="Bricolage Grotesque"/>
              </a:rPr>
              <a:t>Title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Text 35"/>
          <p:cNvSpPr/>
          <p:nvPr/>
        </p:nvSpPr>
        <p:spPr>
          <a:xfrm>
            <a:off x="3499920" y="4270320"/>
            <a:ext cx="2390760" cy="1405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474651"/>
                </a:solidFill>
                <a:effectLst/>
                <a:uFillTx/>
                <a:latin typeface="Hanken Grotesk"/>
                <a:ea typeface="Hanken Grotesk"/>
              </a:rPr>
              <a:t>The heading text that names the chart.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Shape 36"/>
          <p:cNvSpPr/>
          <p:nvPr/>
        </p:nvSpPr>
        <p:spPr>
          <a:xfrm>
            <a:off x="6176880" y="3776400"/>
            <a:ext cx="2665080" cy="2027520"/>
          </a:xfrm>
          <a:prstGeom prst="roundRect">
            <a:avLst>
              <a:gd name="adj" fmla="val 4054"/>
            </a:avLst>
          </a:prstGeom>
          <a:solidFill>
            <a:srgbClr val="FFFFFF"/>
          </a:solidFill>
          <a:ln w="9525">
            <a:solidFill>
              <a:srgbClr val="C8C5D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Shape 37"/>
          <p:cNvSpPr/>
          <p:nvPr/>
        </p:nvSpPr>
        <p:spPr>
          <a:xfrm>
            <a:off x="6314040" y="3904560"/>
            <a:ext cx="308520" cy="308520"/>
          </a:xfrm>
          <a:prstGeom prst="roundRect">
            <a:avLst>
              <a:gd name="adj" fmla="val 50000"/>
            </a:avLst>
          </a:prstGeom>
          <a:solidFill>
            <a:srgbClr val="8C8AE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" name="Text 38"/>
          <p:cNvSpPr/>
          <p:nvPr/>
        </p:nvSpPr>
        <p:spPr>
          <a:xfrm>
            <a:off x="6314040" y="3904560"/>
            <a:ext cx="308520" cy="308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231F71"/>
                </a:solidFill>
                <a:effectLst/>
                <a:uFillTx/>
                <a:latin typeface="Bricolage Grotesque"/>
                <a:ea typeface="Bricolage Grotesque"/>
              </a:rPr>
              <a:t>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Text 39"/>
          <p:cNvSpPr/>
          <p:nvPr/>
        </p:nvSpPr>
        <p:spPr>
          <a:xfrm>
            <a:off x="6716160" y="3867840"/>
            <a:ext cx="1988640" cy="399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B1B20"/>
                </a:solidFill>
                <a:effectLst/>
                <a:uFillTx/>
                <a:latin typeface="Bricolage Grotesque"/>
                <a:ea typeface="Bricolage Grotesque"/>
              </a:rPr>
              <a:t>Legend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 40"/>
          <p:cNvSpPr/>
          <p:nvPr/>
        </p:nvSpPr>
        <p:spPr>
          <a:xfrm>
            <a:off x="6314040" y="4270320"/>
            <a:ext cx="2390760" cy="1405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474651"/>
                </a:solidFill>
                <a:effectLst/>
                <a:uFillTx/>
                <a:latin typeface="Hanken Grotesk"/>
                <a:ea typeface="Hanken Grotesk"/>
              </a:rPr>
              <a:t>A key mapping colors/markers to what they represent.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Shape 41"/>
          <p:cNvSpPr/>
          <p:nvPr/>
        </p:nvSpPr>
        <p:spPr>
          <a:xfrm>
            <a:off x="8991000" y="3776400"/>
            <a:ext cx="2665080" cy="2027520"/>
          </a:xfrm>
          <a:prstGeom prst="roundRect">
            <a:avLst>
              <a:gd name="adj" fmla="val 4054"/>
            </a:avLst>
          </a:prstGeom>
          <a:solidFill>
            <a:srgbClr val="FFFFFF"/>
          </a:solidFill>
          <a:ln w="9525">
            <a:solidFill>
              <a:srgbClr val="C8C5D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Shape 42"/>
          <p:cNvSpPr/>
          <p:nvPr/>
        </p:nvSpPr>
        <p:spPr>
          <a:xfrm>
            <a:off x="9128160" y="3904560"/>
            <a:ext cx="308520" cy="308520"/>
          </a:xfrm>
          <a:prstGeom prst="roundRect">
            <a:avLst>
              <a:gd name="adj" fmla="val 50000"/>
            </a:avLst>
          </a:prstGeom>
          <a:solidFill>
            <a:srgbClr val="8C8AE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" name="Text 43"/>
          <p:cNvSpPr/>
          <p:nvPr/>
        </p:nvSpPr>
        <p:spPr>
          <a:xfrm>
            <a:off x="9128160" y="3904560"/>
            <a:ext cx="308520" cy="308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231F71"/>
                </a:solidFill>
                <a:effectLst/>
                <a:uFillTx/>
                <a:latin typeface="Bricolage Grotesque"/>
                <a:ea typeface="Bricolage Grotesque"/>
              </a:rPr>
              <a:t>8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Text 44"/>
          <p:cNvSpPr/>
          <p:nvPr/>
        </p:nvSpPr>
        <p:spPr>
          <a:xfrm>
            <a:off x="9530280" y="3867840"/>
            <a:ext cx="1988640" cy="399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B1B20"/>
                </a:solidFill>
                <a:effectLst/>
                <a:uFillTx/>
                <a:latin typeface="Bricolage Grotesque"/>
                <a:ea typeface="Bricolage Grotesque"/>
              </a:rPr>
              <a:t>Grid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Text 45"/>
          <p:cNvSpPr/>
          <p:nvPr/>
        </p:nvSpPr>
        <p:spPr>
          <a:xfrm>
            <a:off x="9128160" y="4270320"/>
            <a:ext cx="2390760" cy="1405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474651"/>
                </a:solidFill>
                <a:effectLst/>
                <a:uFillTx/>
                <a:latin typeface="Hanken Grotesk"/>
                <a:ea typeface="Hanken Grotesk"/>
              </a:rPr>
              <a:t>Light background lines that help read values.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Text 46"/>
          <p:cNvSpPr/>
          <p:nvPr/>
        </p:nvSpPr>
        <p:spPr>
          <a:xfrm>
            <a:off x="11505960" y="6473880"/>
            <a:ext cx="500400" cy="271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4651"/>
                </a:solidFill>
                <a:effectLst/>
                <a:uFillTx/>
                <a:latin typeface="Plus Jakarta Sans"/>
                <a:ea typeface="Plus Jakarta Sans"/>
              </a:rPr>
              <a:t>07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p15="http://schemas.microsoft.com/office/powerpoint/2012/main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Text 0"/>
          <p:cNvSpPr/>
          <p:nvPr/>
        </p:nvSpPr>
        <p:spPr>
          <a:xfrm>
            <a:off x="548640" y="384120"/>
            <a:ext cx="9598680" cy="290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 spc="201">
                <a:solidFill>
                  <a:srgbClr val="5755A7"/>
                </a:solidFill>
                <a:effectLst/>
                <a:uFillTx/>
                <a:latin typeface="Plus Jakarta Sans"/>
                <a:ea typeface="Plus Jakarta Sans"/>
              </a:rPr>
              <a:t>02 · TERMINOLOGY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Text 1"/>
          <p:cNvSpPr/>
          <p:nvPr/>
        </p:nvSpPr>
        <p:spPr>
          <a:xfrm>
            <a:off x="548640" y="658440"/>
            <a:ext cx="10238760" cy="683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 spc="-31">
                <a:solidFill>
                  <a:srgbClr val="1B1B20"/>
                </a:solidFill>
                <a:effectLst/>
                <a:uFillTx/>
                <a:latin typeface="Bricolage Grotesque"/>
                <a:ea typeface="Bricolage Grotesque"/>
              </a:rPr>
              <a:t>Figure vs. Axes — Visualized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Shape 2"/>
          <p:cNvSpPr/>
          <p:nvPr/>
        </p:nvSpPr>
        <p:spPr>
          <a:xfrm>
            <a:off x="11323080" y="384120"/>
            <a:ext cx="381600" cy="381600"/>
          </a:xfrm>
          <a:prstGeom prst="roundRect">
            <a:avLst>
              <a:gd name="adj" fmla="val 28000"/>
            </a:avLst>
          </a:prstGeom>
          <a:solidFill>
            <a:srgbClr val="5755A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" name="Shape 3"/>
          <p:cNvSpPr/>
          <p:nvPr/>
        </p:nvSpPr>
        <p:spPr>
          <a:xfrm>
            <a:off x="11445840" y="506880"/>
            <a:ext cx="258480" cy="258480"/>
          </a:xfrm>
          <a:prstGeom prst="roundRect">
            <a:avLst>
              <a:gd name="adj" fmla="val 26471"/>
            </a:avLst>
          </a:prstGeom>
          <a:solidFill>
            <a:srgbClr val="FCF8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Shape 4"/>
          <p:cNvSpPr/>
          <p:nvPr/>
        </p:nvSpPr>
        <p:spPr>
          <a:xfrm>
            <a:off x="11514960" y="576000"/>
            <a:ext cx="128160" cy="128160"/>
          </a:xfrm>
          <a:prstGeom prst="roundRect">
            <a:avLst>
              <a:gd name="adj" fmla="val 26471"/>
            </a:avLst>
          </a:prstGeom>
          <a:solidFill>
            <a:srgbClr val="386759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4080" tIns="45000" rIns="6408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" name="Text 5"/>
          <p:cNvSpPr/>
          <p:nvPr/>
        </p:nvSpPr>
        <p:spPr>
          <a:xfrm>
            <a:off x="457200" y="6473880"/>
            <a:ext cx="6855480" cy="271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4651"/>
                </a:solidFill>
                <a:effectLst/>
                <a:uFillTx/>
                <a:latin typeface="Plus Jakarta Sans"/>
                <a:ea typeface="Plus Jakarta Sans"/>
              </a:rPr>
              <a:t>Matplotlib: Data Visualization with Python  ·  GCN Course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Shape 6"/>
          <p:cNvSpPr/>
          <p:nvPr/>
        </p:nvSpPr>
        <p:spPr>
          <a:xfrm>
            <a:off x="822960" y="1645920"/>
            <a:ext cx="5758200" cy="4203720"/>
          </a:xfrm>
          <a:prstGeom prst="roundRect">
            <a:avLst>
              <a:gd name="adj" fmla="val 3043"/>
            </a:avLst>
          </a:prstGeom>
          <a:solidFill>
            <a:srgbClr val="F0ECF4"/>
          </a:solidFill>
          <a:ln w="19050">
            <a:solidFill>
              <a:srgbClr val="5755A7"/>
            </a:solidFill>
            <a:prstDash val="dash"/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Text 7"/>
          <p:cNvSpPr/>
          <p:nvPr/>
        </p:nvSpPr>
        <p:spPr>
          <a:xfrm>
            <a:off x="1005840" y="1755720"/>
            <a:ext cx="1826280" cy="317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5755A7"/>
                </a:solidFill>
                <a:effectLst/>
                <a:uFillTx/>
                <a:latin typeface="Bricolage Grotesque"/>
                <a:ea typeface="Bricolage Grotesque"/>
              </a:rPr>
              <a:t>Figure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Shape 8"/>
          <p:cNvSpPr/>
          <p:nvPr/>
        </p:nvSpPr>
        <p:spPr>
          <a:xfrm>
            <a:off x="1280160" y="2286000"/>
            <a:ext cx="4843800" cy="3197880"/>
          </a:xfrm>
          <a:prstGeom prst="roundRect">
            <a:avLst>
              <a:gd name="adj" fmla="val 1714"/>
            </a:avLst>
          </a:prstGeom>
          <a:solidFill>
            <a:srgbClr val="FFFFFF"/>
          </a:solidFill>
          <a:ln w="12700">
            <a:solidFill>
              <a:srgbClr val="C8C5D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Text 9"/>
          <p:cNvSpPr/>
          <p:nvPr/>
        </p:nvSpPr>
        <p:spPr>
          <a:xfrm>
            <a:off x="1417320" y="2359080"/>
            <a:ext cx="1826280" cy="271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BE185D"/>
                </a:solidFill>
                <a:effectLst/>
                <a:uFillTx/>
                <a:latin typeface="Bricolage Grotesque"/>
                <a:ea typeface="Bricolage Grotesque"/>
              </a:rPr>
              <a:t>Axes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Shape 10"/>
          <p:cNvSpPr/>
          <p:nvPr/>
        </p:nvSpPr>
        <p:spPr>
          <a:xfrm>
            <a:off x="1645920" y="5029200"/>
            <a:ext cx="4114800" cy="360"/>
          </a:xfrm>
          <a:prstGeom prst="line">
            <a:avLst/>
          </a:prstGeom>
          <a:ln w="19050">
            <a:solidFill>
              <a:srgbClr val="47465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Shape 11"/>
          <p:cNvSpPr/>
          <p:nvPr/>
        </p:nvSpPr>
        <p:spPr>
          <a:xfrm>
            <a:off x="1645920" y="2743200"/>
            <a:ext cx="360" cy="2286000"/>
          </a:xfrm>
          <a:prstGeom prst="line">
            <a:avLst/>
          </a:prstGeom>
          <a:ln w="19050">
            <a:solidFill>
              <a:srgbClr val="47465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45000" rIns="0" bIns="4500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Text 12"/>
          <p:cNvSpPr/>
          <p:nvPr/>
        </p:nvSpPr>
        <p:spPr>
          <a:xfrm>
            <a:off x="5120640" y="5102280"/>
            <a:ext cx="911880" cy="271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4651"/>
                </a:solidFill>
                <a:effectLst/>
                <a:uFillTx/>
                <a:latin typeface="Hanken Grotesk"/>
                <a:ea typeface="Hanken Grotesk"/>
              </a:rPr>
              <a:t>X-axis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Text 13"/>
          <p:cNvSpPr/>
          <p:nvPr/>
        </p:nvSpPr>
        <p:spPr>
          <a:xfrm>
            <a:off x="1371600" y="2743200"/>
            <a:ext cx="546120" cy="271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4651"/>
                </a:solidFill>
                <a:effectLst/>
                <a:uFillTx/>
                <a:latin typeface="Hanken Grotesk"/>
                <a:ea typeface="Hanken Grotesk"/>
              </a:rPr>
              <a:t>Y-axis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88" name="Image 0" descr="/home/claude/uni/charts/subplots_two.png"/>
          <p:cNvPicPr/>
          <p:nvPr/>
        </p:nvPicPr>
        <p:blipFill>
          <a:blip r:embed="rId3"/>
          <a:stretch/>
        </p:blipFill>
        <p:spPr>
          <a:xfrm>
            <a:off x="2103120" y="3063240"/>
            <a:ext cx="3380760" cy="1643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9" name="Text 14"/>
          <p:cNvSpPr/>
          <p:nvPr/>
        </p:nvSpPr>
        <p:spPr>
          <a:xfrm>
            <a:off x="6903720" y="1783080"/>
            <a:ext cx="4569480" cy="3929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228600" indent="-228600" defTabSz="914400">
              <a:lnSpc>
                <a:spcPct val="100000"/>
              </a:lnSpc>
              <a:spcAft>
                <a:spcPts val="1301"/>
              </a:spcAft>
              <a:buClr>
                <a:srgbClr val="1B1B20"/>
              </a:buClr>
              <a:buFont typeface="Symbol" charset="2"/>
              <a:buChar char=""/>
            </a:pPr>
            <a:r>
              <a:rPr lang="en-US" sz="125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A Figure is the whole canvas — the entire window or saved image file.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spcAft>
                <a:spcPts val="1301"/>
              </a:spcAft>
              <a:buClr>
                <a:srgbClr val="1B1B20"/>
              </a:buClr>
              <a:buFont typeface="Symbol" charset="2"/>
              <a:buChar char=""/>
            </a:pPr>
            <a:r>
              <a:rPr lang="en-US" sz="125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An Axes is one plot area living inside that Figure — it holds the X-axis, Y-axis, title, legend, and data.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spcAft>
                <a:spcPts val="1301"/>
              </a:spcAft>
              <a:buClr>
                <a:srgbClr val="1B1B20"/>
              </a:buClr>
              <a:buFont typeface="Symbol" charset="2"/>
              <a:buChar char=""/>
            </a:pPr>
            <a:r>
              <a:rPr lang="en-US" sz="125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One Figure can contain many Axes — that's exactly what Subplots are (coming up shortly).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spcAft>
                <a:spcPts val="1301"/>
              </a:spcAft>
              <a:buClr>
                <a:srgbClr val="1B1B20"/>
              </a:buClr>
              <a:buFont typeface="Symbol" charset="2"/>
              <a:buChar char=""/>
            </a:pPr>
            <a:r>
              <a:rPr lang="en-US" sz="125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Every plt.plot(), plt.title(), etc. call quietly targets "the current Axes" of "the current Figure."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Text 15"/>
          <p:cNvSpPr/>
          <p:nvPr/>
        </p:nvSpPr>
        <p:spPr>
          <a:xfrm>
            <a:off x="11505960" y="6473880"/>
            <a:ext cx="500400" cy="271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4651"/>
                </a:solidFill>
                <a:effectLst/>
                <a:uFillTx/>
                <a:latin typeface="Plus Jakarta Sans"/>
                <a:ea typeface="Plus Jakarta Sans"/>
              </a:rPr>
              <a:t>08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p15="http://schemas.microsoft.com/office/powerpoint/2012/main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Shape 0"/>
          <p:cNvSpPr/>
          <p:nvPr/>
        </p:nvSpPr>
        <p:spPr>
          <a:xfrm>
            <a:off x="9692640" y="-1463040"/>
            <a:ext cx="3837960" cy="3837960"/>
          </a:xfrm>
          <a:prstGeom prst="ellipse">
            <a:avLst/>
          </a:prstGeom>
          <a:solidFill>
            <a:srgbClr val="262758">
              <a:alpha val="45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" name="Shape 1"/>
          <p:cNvSpPr/>
          <p:nvPr/>
        </p:nvSpPr>
        <p:spPr>
          <a:xfrm>
            <a:off x="-1280160" y="4754880"/>
            <a:ext cx="3106440" cy="3106440"/>
          </a:xfrm>
          <a:prstGeom prst="ellipse">
            <a:avLst/>
          </a:prstGeom>
          <a:solidFill>
            <a:srgbClr val="11362E">
              <a:alpha val="55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3" name="Shape 2"/>
          <p:cNvSpPr/>
          <p:nvPr/>
        </p:nvSpPr>
        <p:spPr>
          <a:xfrm>
            <a:off x="640080" y="548640"/>
            <a:ext cx="454680" cy="454680"/>
          </a:xfrm>
          <a:prstGeom prst="roundRect">
            <a:avLst>
              <a:gd name="adj" fmla="val 28000"/>
            </a:avLst>
          </a:prstGeom>
          <a:solidFill>
            <a:srgbClr val="818CF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" name="Shape 3"/>
          <p:cNvSpPr/>
          <p:nvPr/>
        </p:nvSpPr>
        <p:spPr>
          <a:xfrm>
            <a:off x="786240" y="694800"/>
            <a:ext cx="308520" cy="308520"/>
          </a:xfrm>
          <a:prstGeom prst="roundRect">
            <a:avLst>
              <a:gd name="adj" fmla="val 26471"/>
            </a:avLst>
          </a:prstGeom>
          <a:solidFill>
            <a:srgbClr val="0B0F1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" name="Shape 4"/>
          <p:cNvSpPr/>
          <p:nvPr/>
        </p:nvSpPr>
        <p:spPr>
          <a:xfrm>
            <a:off x="868680" y="777240"/>
            <a:ext cx="153000" cy="153000"/>
          </a:xfrm>
          <a:prstGeom prst="roundRect">
            <a:avLst>
              <a:gd name="adj" fmla="val 26471"/>
            </a:avLst>
          </a:prstGeom>
          <a:solidFill>
            <a:srgbClr val="2DD4B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680" tIns="45000" rIns="7668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Text 5"/>
          <p:cNvSpPr/>
          <p:nvPr/>
        </p:nvSpPr>
        <p:spPr>
          <a:xfrm>
            <a:off x="640080" y="2331720"/>
            <a:ext cx="9141480" cy="454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 spc="300">
                <a:solidFill>
                  <a:srgbClr val="2DD4BF"/>
                </a:solidFill>
                <a:effectLst/>
                <a:uFillTx/>
                <a:latin typeface="Plus Jakarta Sans"/>
                <a:ea typeface="Plus Jakarta Sans"/>
              </a:rPr>
              <a:t>03 · PYPLOT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" name="Text 6"/>
          <p:cNvSpPr/>
          <p:nvPr/>
        </p:nvSpPr>
        <p:spPr>
          <a:xfrm>
            <a:off x="640080" y="2743200"/>
            <a:ext cx="10330200" cy="1369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800" b="1" u="none" strike="noStrike" spc="-51">
                <a:solidFill>
                  <a:srgbClr val="F1F5F9"/>
                </a:solidFill>
                <a:effectLst/>
                <a:uFillTx/>
                <a:latin typeface="Bricolage Grotesque"/>
                <a:ea typeface="Bricolage Grotesque"/>
              </a:rPr>
              <a:t>Pyplot — The Core of Matplotlib</a:t>
            </a:r>
            <a:endParaRPr lang="en-US" sz="3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8" name="Text 7"/>
          <p:cNvSpPr/>
          <p:nvPr/>
        </p:nvSpPr>
        <p:spPr>
          <a:xfrm>
            <a:off x="640080" y="3931920"/>
            <a:ext cx="9690120" cy="729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94A3B8"/>
                </a:solidFill>
                <a:effectLst/>
                <a:uFillTx/>
                <a:latin typeface="Hanken Grotesk"/>
                <a:ea typeface="Hanken Grotesk"/>
              </a:rPr>
              <a:t>Line, bar, pie, histogram, and scatter plots — each with its syntax, parameters, and a code example.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" name="Text 8"/>
          <p:cNvSpPr/>
          <p:nvPr/>
        </p:nvSpPr>
        <p:spPr>
          <a:xfrm>
            <a:off x="11505960" y="6473880"/>
            <a:ext cx="500400" cy="271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94A3B8"/>
                </a:solidFill>
                <a:effectLst/>
                <a:uFillTx/>
                <a:latin typeface="Plus Jakarta Sans"/>
                <a:ea typeface="Plus Jakarta Sans"/>
              </a:rPr>
              <a:t>09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p15="http://schemas.microsoft.com/office/powerpoint/2012/main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Text 0"/>
          <p:cNvSpPr/>
          <p:nvPr/>
        </p:nvSpPr>
        <p:spPr>
          <a:xfrm>
            <a:off x="548640" y="384120"/>
            <a:ext cx="9598680" cy="290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 spc="201">
                <a:solidFill>
                  <a:srgbClr val="5755A7"/>
                </a:solidFill>
                <a:effectLst/>
                <a:uFillTx/>
                <a:latin typeface="Plus Jakarta Sans"/>
                <a:ea typeface="Plus Jakarta Sans"/>
              </a:rPr>
              <a:t>03 · PYPLOT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Text 1"/>
          <p:cNvSpPr/>
          <p:nvPr/>
        </p:nvSpPr>
        <p:spPr>
          <a:xfrm>
            <a:off x="548640" y="658440"/>
            <a:ext cx="10240560" cy="683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 spc="-31">
                <a:solidFill>
                  <a:srgbClr val="1B1B20"/>
                </a:solidFill>
                <a:effectLst/>
                <a:uFillTx/>
                <a:latin typeface="Bricolage Grotesque"/>
                <a:ea typeface="Bricolage Grotesque"/>
              </a:rPr>
              <a:t>Line Plot — plt.plot() Syntax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Shape 2"/>
          <p:cNvSpPr/>
          <p:nvPr/>
        </p:nvSpPr>
        <p:spPr>
          <a:xfrm>
            <a:off x="11323080" y="384120"/>
            <a:ext cx="381600" cy="381600"/>
          </a:xfrm>
          <a:prstGeom prst="roundRect">
            <a:avLst>
              <a:gd name="adj" fmla="val 28000"/>
            </a:avLst>
          </a:prstGeom>
          <a:solidFill>
            <a:srgbClr val="5755A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" name="Shape 3"/>
          <p:cNvSpPr/>
          <p:nvPr/>
        </p:nvSpPr>
        <p:spPr>
          <a:xfrm>
            <a:off x="11445840" y="506880"/>
            <a:ext cx="258480" cy="258480"/>
          </a:xfrm>
          <a:prstGeom prst="roundRect">
            <a:avLst>
              <a:gd name="adj" fmla="val 26471"/>
            </a:avLst>
          </a:prstGeom>
          <a:solidFill>
            <a:srgbClr val="FCF8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Shape 4"/>
          <p:cNvSpPr/>
          <p:nvPr/>
        </p:nvSpPr>
        <p:spPr>
          <a:xfrm>
            <a:off x="11514960" y="576000"/>
            <a:ext cx="128160" cy="128160"/>
          </a:xfrm>
          <a:prstGeom prst="roundRect">
            <a:avLst>
              <a:gd name="adj" fmla="val 26471"/>
            </a:avLst>
          </a:prstGeom>
          <a:solidFill>
            <a:srgbClr val="386759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4080" tIns="45000" rIns="6408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" name="Text 5"/>
          <p:cNvSpPr/>
          <p:nvPr/>
        </p:nvSpPr>
        <p:spPr>
          <a:xfrm>
            <a:off x="457200" y="6473880"/>
            <a:ext cx="6855480" cy="271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4651"/>
                </a:solidFill>
                <a:effectLst/>
                <a:uFillTx/>
                <a:latin typeface="Plus Jakarta Sans"/>
                <a:ea typeface="Plus Jakarta Sans"/>
              </a:rPr>
              <a:t>Matplotlib: Data Visualization with Python  ·  GCN Course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Text 6"/>
          <p:cNvSpPr/>
          <p:nvPr/>
        </p:nvSpPr>
        <p:spPr>
          <a:xfrm>
            <a:off x="11505960" y="6473880"/>
            <a:ext cx="500400" cy="271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4651"/>
                </a:solidFill>
                <a:effectLst/>
                <a:uFillTx/>
                <a:latin typeface="Plus Jakarta Sans"/>
                <a:ea typeface="Plus Jakarta Sans"/>
              </a:rPr>
              <a:t>10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Rounded Rectangle 363"/>
          <p:cNvSpPr/>
          <p:nvPr/>
        </p:nvSpPr>
        <p:spPr>
          <a:xfrm>
            <a:off x="548640" y="1554480"/>
            <a:ext cx="5211360" cy="2788200"/>
          </a:xfrm>
          <a:prstGeom prst="roundRect">
            <a:avLst>
              <a:gd name="adj" fmla="val 3000"/>
            </a:avLst>
          </a:prstGeom>
          <a:solidFill>
            <a:srgbClr val="0E1420"/>
          </a:solidFill>
          <a:ln w="952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8" name="Oval 364"/>
          <p:cNvSpPr/>
          <p:nvPr/>
        </p:nvSpPr>
        <p:spPr>
          <a:xfrm>
            <a:off x="713160" y="1700640"/>
            <a:ext cx="99720" cy="99720"/>
          </a:xfrm>
          <a:prstGeom prst="ellipse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0040" tIns="26280" rIns="50040" bIns="262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9" name="Oval 365"/>
          <p:cNvSpPr/>
          <p:nvPr/>
        </p:nvSpPr>
        <p:spPr>
          <a:xfrm>
            <a:off x="914400" y="1700640"/>
            <a:ext cx="99720" cy="99720"/>
          </a:xfrm>
          <a:prstGeom prst="ellipse">
            <a:avLst/>
          </a:prstGeom>
          <a:solidFill>
            <a:srgbClr val="F9C6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0040" tIns="26280" rIns="50040" bIns="262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0" name="Oval 366"/>
          <p:cNvSpPr/>
          <p:nvPr/>
        </p:nvSpPr>
        <p:spPr>
          <a:xfrm>
            <a:off x="1115640" y="1700640"/>
            <a:ext cx="99720" cy="99720"/>
          </a:xfrm>
          <a:prstGeom prst="ellipse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0040" tIns="26280" rIns="50040" bIns="262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1" name="TextBox 367"/>
          <p:cNvSpPr/>
          <p:nvPr/>
        </p:nvSpPr>
        <p:spPr>
          <a:xfrm>
            <a:off x="685800" y="1920240"/>
            <a:ext cx="4937040" cy="2331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4080" tIns="0" rIns="64080" bIns="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130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plt.plot(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30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    x,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30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    y,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30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    color="color_name",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30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    linestyle="line_style",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30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    linewidth=value,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30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    marker="marker_style",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30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    label="label_name"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30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12" name="Table 368"/>
          <p:cNvGraphicFramePr/>
          <p:nvPr/>
        </p:nvGraphicFramePr>
        <p:xfrm>
          <a:off x="5989320" y="1554480"/>
          <a:ext cx="5715000" cy="3657600"/>
        </p:xfrm>
        <a:graphic>
          <a:graphicData uri="http://schemas.openxmlformats.org/drawingml/2006/table">
            <a:tbl>
              <a:tblPr/>
              <a:tblGrid>
                <a:gridCol w="2423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91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Plus Jakarta Sans"/>
                        </a:rPr>
                        <a:t>Parameter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5755A7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Plus Jakarta Sans"/>
                        </a:rPr>
                        <a:t>Meaning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5755A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5755A7"/>
                          </a:solidFill>
                          <a:effectLst/>
                          <a:uFillTx/>
                          <a:latin typeface="Consolas"/>
                        </a:rPr>
                        <a:t>x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1B1B20"/>
                          </a:solidFill>
                          <a:effectLst/>
                          <a:uFillTx/>
                          <a:latin typeface="Plus Jakarta Sans"/>
                        </a:rPr>
                        <a:t>Data for the X-axis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5755A7"/>
                          </a:solidFill>
                          <a:effectLst/>
                          <a:uFillTx/>
                          <a:latin typeface="Consolas"/>
                        </a:rPr>
                        <a:t>y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4F1FA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1B1B20"/>
                          </a:solidFill>
                          <a:effectLst/>
                          <a:uFillTx/>
                          <a:latin typeface="Plus Jakarta Sans"/>
                        </a:rPr>
                        <a:t>Data for the Y-axis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4F1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5755A7"/>
                          </a:solidFill>
                          <a:effectLst/>
                          <a:uFillTx/>
                          <a:latin typeface="Consolas"/>
                        </a:rPr>
                        <a:t>color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1B1B20"/>
                          </a:solidFill>
                          <a:effectLst/>
                          <a:uFillTx/>
                          <a:latin typeface="Plus Jakarta Sans"/>
                        </a:rPr>
                        <a:t>Color of the line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5755A7"/>
                          </a:solidFill>
                          <a:effectLst/>
                          <a:uFillTx/>
                          <a:latin typeface="Consolas"/>
                        </a:rPr>
                        <a:t>linestyle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4F1FA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1B1B20"/>
                          </a:solidFill>
                          <a:effectLst/>
                          <a:uFillTx/>
                          <a:latin typeface="Plus Jakarta Sans"/>
                        </a:rPr>
                        <a:t>Line style: ":", "--" or "-."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4F1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5755A7"/>
                          </a:solidFill>
                          <a:effectLst/>
                          <a:uFillTx/>
                          <a:latin typeface="Consolas"/>
                        </a:rPr>
                        <a:t>linewidth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1B1B20"/>
                          </a:solidFill>
                          <a:effectLst/>
                          <a:uFillTx/>
                          <a:latin typeface="Plus Jakarta Sans"/>
                        </a:rPr>
                        <a:t>Thickness of the line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5755A7"/>
                          </a:solidFill>
                          <a:effectLst/>
                          <a:uFillTx/>
                          <a:latin typeface="Consolas"/>
                        </a:rPr>
                        <a:t>marker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4F1FA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1B1B20"/>
                          </a:solidFill>
                          <a:effectLst/>
                          <a:uFillTx/>
                          <a:latin typeface="Plus Jakarta Sans"/>
                        </a:rPr>
                        <a:t>Symbol at each point: "o", "x", "^"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4F1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5755A7"/>
                          </a:solidFill>
                          <a:effectLst/>
                          <a:uFillTx/>
                          <a:latin typeface="Consolas"/>
                        </a:rPr>
                        <a:t>label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1B1B20"/>
                          </a:solidFill>
                          <a:effectLst/>
                          <a:uFillTx/>
                          <a:latin typeface="Plus Jakarta Sans"/>
                        </a:rPr>
                        <a:t>Name used in the legend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p15="http://schemas.microsoft.com/office/powerpoint/2012/main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Text 0"/>
          <p:cNvSpPr/>
          <p:nvPr/>
        </p:nvSpPr>
        <p:spPr>
          <a:xfrm>
            <a:off x="548640" y="384120"/>
            <a:ext cx="9598680" cy="290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 spc="201">
                <a:solidFill>
                  <a:srgbClr val="5755A7"/>
                </a:solidFill>
                <a:effectLst/>
                <a:uFillTx/>
                <a:latin typeface="Plus Jakarta Sans"/>
                <a:ea typeface="Plus Jakarta Sans"/>
              </a:rPr>
              <a:t>03 · PYPLOT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Text 1"/>
          <p:cNvSpPr/>
          <p:nvPr/>
        </p:nvSpPr>
        <p:spPr>
          <a:xfrm>
            <a:off x="548640" y="658440"/>
            <a:ext cx="10240560" cy="683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 spc="-31">
                <a:solidFill>
                  <a:srgbClr val="1B1B20"/>
                </a:solidFill>
                <a:effectLst/>
                <a:uFillTx/>
                <a:latin typeface="Bricolage Grotesque"/>
                <a:ea typeface="Bricolage Grotesque"/>
              </a:rPr>
              <a:t>Line Plot — Full Example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Shape 2"/>
          <p:cNvSpPr/>
          <p:nvPr/>
        </p:nvSpPr>
        <p:spPr>
          <a:xfrm>
            <a:off x="11323080" y="384120"/>
            <a:ext cx="381600" cy="381600"/>
          </a:xfrm>
          <a:prstGeom prst="roundRect">
            <a:avLst>
              <a:gd name="adj" fmla="val 28000"/>
            </a:avLst>
          </a:prstGeom>
          <a:solidFill>
            <a:srgbClr val="5755A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" name="Shape 3"/>
          <p:cNvSpPr/>
          <p:nvPr/>
        </p:nvSpPr>
        <p:spPr>
          <a:xfrm>
            <a:off x="11445840" y="506880"/>
            <a:ext cx="258480" cy="258480"/>
          </a:xfrm>
          <a:prstGeom prst="roundRect">
            <a:avLst>
              <a:gd name="adj" fmla="val 26471"/>
            </a:avLst>
          </a:prstGeom>
          <a:solidFill>
            <a:srgbClr val="FCF8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Shape 4"/>
          <p:cNvSpPr/>
          <p:nvPr/>
        </p:nvSpPr>
        <p:spPr>
          <a:xfrm>
            <a:off x="11514960" y="576000"/>
            <a:ext cx="128160" cy="128160"/>
          </a:xfrm>
          <a:prstGeom prst="roundRect">
            <a:avLst>
              <a:gd name="adj" fmla="val 26471"/>
            </a:avLst>
          </a:prstGeom>
          <a:solidFill>
            <a:srgbClr val="386759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4080" tIns="45000" rIns="6408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" name="Text 5"/>
          <p:cNvSpPr/>
          <p:nvPr/>
        </p:nvSpPr>
        <p:spPr>
          <a:xfrm>
            <a:off x="457200" y="6473880"/>
            <a:ext cx="6855480" cy="271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4651"/>
                </a:solidFill>
                <a:effectLst/>
                <a:uFillTx/>
                <a:latin typeface="Plus Jakarta Sans"/>
                <a:ea typeface="Plus Jakarta Sans"/>
              </a:rPr>
              <a:t>Matplotlib: Data Visualization with Python  ·  GCN Course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Text 6"/>
          <p:cNvSpPr/>
          <p:nvPr/>
        </p:nvSpPr>
        <p:spPr>
          <a:xfrm>
            <a:off x="11505960" y="6473880"/>
            <a:ext cx="500400" cy="271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4651"/>
                </a:solidFill>
                <a:effectLst/>
                <a:uFillTx/>
                <a:latin typeface="Plus Jakarta Sans"/>
                <a:ea typeface="Plus Jakarta Sans"/>
              </a:rPr>
              <a:t>11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Rounded Rectangle 363"/>
          <p:cNvSpPr/>
          <p:nvPr/>
        </p:nvSpPr>
        <p:spPr>
          <a:xfrm>
            <a:off x="548640" y="1463040"/>
            <a:ext cx="5714280" cy="4937040"/>
          </a:xfrm>
          <a:prstGeom prst="roundRect">
            <a:avLst>
              <a:gd name="adj" fmla="val 3000"/>
            </a:avLst>
          </a:prstGeom>
          <a:solidFill>
            <a:srgbClr val="0E1420"/>
          </a:solidFill>
          <a:ln w="952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1" name="Oval 364"/>
          <p:cNvSpPr/>
          <p:nvPr/>
        </p:nvSpPr>
        <p:spPr>
          <a:xfrm>
            <a:off x="713160" y="1609200"/>
            <a:ext cx="99720" cy="99720"/>
          </a:xfrm>
          <a:prstGeom prst="ellipse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0040" tIns="26280" rIns="50040" bIns="262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2" name="Oval 365"/>
          <p:cNvSpPr/>
          <p:nvPr/>
        </p:nvSpPr>
        <p:spPr>
          <a:xfrm>
            <a:off x="914400" y="1609200"/>
            <a:ext cx="99720" cy="99720"/>
          </a:xfrm>
          <a:prstGeom prst="ellipse">
            <a:avLst/>
          </a:prstGeom>
          <a:solidFill>
            <a:srgbClr val="F9C6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0040" tIns="26280" rIns="50040" bIns="262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3" name="Oval 366"/>
          <p:cNvSpPr/>
          <p:nvPr/>
        </p:nvSpPr>
        <p:spPr>
          <a:xfrm>
            <a:off x="1115640" y="1609200"/>
            <a:ext cx="99720" cy="99720"/>
          </a:xfrm>
          <a:prstGeom prst="ellipse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0040" tIns="26280" rIns="50040" bIns="262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4" name="TextBox 367"/>
          <p:cNvSpPr/>
          <p:nvPr/>
        </p:nvSpPr>
        <p:spPr>
          <a:xfrm>
            <a:off x="685800" y="1828800"/>
            <a:ext cx="5439960" cy="369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4080" tIns="0" rIns="64080" bIns="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months = ["Jan", "Feb", "Mar", "Apr", "May", "Jun",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          "Jul", "Aug", "Sep", "Oct", "Nov", "Dec"]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sales = [120, 150, 130, 180, 200, 170,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         220, 240, 210, 260, 280, 300]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expenses = [80, 90, 100, 110, 130, 120,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            140, 150, 135, 160, 170, 180]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 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plt.plot(months, sales, color="red", linestyle=":",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         linewidth=2, marker="o", label="Sales")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plt.plot(months, expenses, color="blue", linestyle=":",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         linewidth=2, marker="o", label="Expenses")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 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plt.title("Monthly Sales and Expenses Report")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plt.xlabel("Quarters")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plt.ylabel("Expenses and Sales")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plt.legend(loc="lower right")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 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plt.xticks([0, 3, 6, 9], ["Q1", "Q2", "Q3", "Q4"])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plt.yticks([50, 150, 250, 350],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           ["50-150", "150-250", "250-350", "350+"])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plt.ylim(0, 350)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 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plt.grid(axis="both", linestyle=":", linewidth=4, alpha=0.7)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plt.show()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Rounded Rectangle 368"/>
          <p:cNvSpPr/>
          <p:nvPr/>
        </p:nvSpPr>
        <p:spPr>
          <a:xfrm>
            <a:off x="6446520" y="1208880"/>
            <a:ext cx="5199840" cy="248148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 w="9525">
            <a:solidFill>
              <a:srgbClr val="C8C5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graphicFrame>
        <p:nvGraphicFramePr>
          <p:cNvPr id="226" name="Table 370"/>
          <p:cNvGraphicFramePr/>
          <p:nvPr/>
        </p:nvGraphicFramePr>
        <p:xfrm>
          <a:off x="6446520" y="3886200"/>
          <a:ext cx="5212080" cy="2466000"/>
        </p:xfrm>
        <a:graphic>
          <a:graphicData uri="http://schemas.openxmlformats.org/drawingml/2006/table">
            <a:tbl>
              <a:tblPr/>
              <a:tblGrid>
                <a:gridCol w="2148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46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9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Plus Jakarta Sans"/>
                        </a:rPr>
                        <a:t>Parameter</a:t>
                      </a:r>
                      <a:endParaRPr lang="en-US" sz="9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5755A7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9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Plus Jakarta Sans"/>
                        </a:rPr>
                        <a:t>Meaning</a:t>
                      </a:r>
                      <a:endParaRPr lang="en-US" sz="9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5755A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800" b="1" u="none" strike="noStrike">
                          <a:solidFill>
                            <a:srgbClr val="5755A7"/>
                          </a:solidFill>
                          <a:effectLst/>
                          <a:uFillTx/>
                          <a:latin typeface="Consolas"/>
                        </a:rPr>
                        <a:t>color="red" / "blue"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1B1B20"/>
                          </a:solidFill>
                          <a:effectLst/>
                          <a:uFillTx/>
                          <a:latin typeface="Plus Jakarta Sans"/>
                        </a:rPr>
                        <a:t>Color of each line and its markers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800" b="1" u="none" strike="noStrike">
                          <a:solidFill>
                            <a:srgbClr val="5755A7"/>
                          </a:solidFill>
                          <a:effectLst/>
                          <a:uFillTx/>
                          <a:latin typeface="Consolas"/>
                        </a:rPr>
                        <a:t>linestyle=":"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4F1FA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1B1B20"/>
                          </a:solidFill>
                          <a:effectLst/>
                          <a:uFillTx/>
                          <a:latin typeface="Plus Jakarta Sans"/>
                        </a:rPr>
                        <a:t>Dotted line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4F1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800" b="1" u="none" strike="noStrike">
                          <a:solidFill>
                            <a:srgbClr val="5755A7"/>
                          </a:solidFill>
                          <a:effectLst/>
                          <a:uFillTx/>
                          <a:latin typeface="Consolas"/>
                        </a:rPr>
                        <a:t>linewidth=2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1B1B20"/>
                          </a:solidFill>
                          <a:effectLst/>
                          <a:uFillTx/>
                          <a:latin typeface="Plus Jakarta Sans"/>
                        </a:rPr>
                        <a:t>Line thickness of 2 points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800" b="1" u="none" strike="noStrike">
                          <a:solidFill>
                            <a:srgbClr val="5755A7"/>
                          </a:solidFill>
                          <a:effectLst/>
                          <a:uFillTx/>
                          <a:latin typeface="Consolas"/>
                        </a:rPr>
                        <a:t>marker="o"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4F1FA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1B1B20"/>
                          </a:solidFill>
                          <a:effectLst/>
                          <a:uFillTx/>
                          <a:latin typeface="Plus Jakarta Sans"/>
                        </a:rPr>
                        <a:t>Circle at every data point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4F1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800" b="1" u="none" strike="noStrike">
                          <a:solidFill>
                            <a:srgbClr val="5755A7"/>
                          </a:solidFill>
                          <a:effectLst/>
                          <a:uFillTx/>
                          <a:latin typeface="Consolas"/>
                        </a:rPr>
                        <a:t>plt.legend(loc="lower right")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1B1B20"/>
                          </a:solidFill>
                          <a:effectLst/>
                          <a:uFillTx/>
                          <a:latin typeface="Plus Jakarta Sans"/>
                        </a:rPr>
                        <a:t>Legend in the lower-right corner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6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800" b="1" u="none" strike="noStrike">
                          <a:solidFill>
                            <a:srgbClr val="5755A7"/>
                          </a:solidFill>
                          <a:effectLst/>
                          <a:uFillTx/>
                          <a:latin typeface="Consolas"/>
                        </a:rPr>
                        <a:t>plt.xticks([0, 3, 6, 9], [...])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4F1FA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1B1B20"/>
                          </a:solidFill>
                          <a:effectLst/>
                          <a:uFillTx/>
                          <a:latin typeface="Plus Jakarta Sans"/>
                        </a:rPr>
                        <a:t>Tick positions + labels shown (Q1–Q4)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4F1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6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800" b="1" u="none" strike="noStrike">
                          <a:solidFill>
                            <a:srgbClr val="5755A7"/>
                          </a:solidFill>
                          <a:effectLst/>
                          <a:uFillTx/>
                          <a:latin typeface="Consolas"/>
                        </a:rPr>
                        <a:t>plt.yticks([50, ...], [...])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1B1B20"/>
                          </a:solidFill>
                          <a:effectLst/>
                          <a:uFillTx/>
                          <a:latin typeface="Plus Jakarta Sans"/>
                        </a:rPr>
                        <a:t>Y tick positions + range labels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6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800" b="1" u="none" strike="noStrike">
                          <a:solidFill>
                            <a:srgbClr val="5755A7"/>
                          </a:solidFill>
                          <a:effectLst/>
                          <a:uFillTx/>
                          <a:latin typeface="Consolas"/>
                        </a:rPr>
                        <a:t>plt.ylim(0, 350)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4F1FA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1B1B20"/>
                          </a:solidFill>
                          <a:effectLst/>
                          <a:uFillTx/>
                          <a:latin typeface="Plus Jakarta Sans"/>
                        </a:rPr>
                        <a:t>Y-axis runs from 0 to 350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4F1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6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800" b="1" u="none" strike="noStrike">
                          <a:solidFill>
                            <a:srgbClr val="5755A7"/>
                          </a:solidFill>
                          <a:effectLst/>
                          <a:uFillTx/>
                          <a:latin typeface="Consolas"/>
                        </a:rPr>
                        <a:t>plt.grid(...)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1B1B20"/>
                          </a:solidFill>
                          <a:effectLst/>
                          <a:uFillTx/>
                          <a:latin typeface="Plus Jakarta Sans"/>
                        </a:rPr>
                        <a:t>Grid options — see next slide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pic>
        <p:nvPicPr>
          <p:cNvPr id="227" name="Picture 1"/>
          <p:cNvPicPr/>
          <p:nvPr/>
        </p:nvPicPr>
        <p:blipFill>
          <a:blip r:embed="rId2"/>
          <a:stretch/>
        </p:blipFill>
        <p:spPr>
          <a:xfrm>
            <a:off x="6600240" y="1342800"/>
            <a:ext cx="4913640" cy="233568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p15="http://schemas.microsoft.com/office/powerpoint/2012/main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Text 0"/>
          <p:cNvSpPr/>
          <p:nvPr/>
        </p:nvSpPr>
        <p:spPr>
          <a:xfrm>
            <a:off x="548640" y="384120"/>
            <a:ext cx="9598680" cy="290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 spc="201">
                <a:solidFill>
                  <a:srgbClr val="5755A7"/>
                </a:solidFill>
                <a:effectLst/>
                <a:uFillTx/>
                <a:latin typeface="Plus Jakarta Sans"/>
                <a:ea typeface="Plus Jakarta Sans"/>
              </a:rPr>
              <a:t>03 · PYPLOT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Text 1"/>
          <p:cNvSpPr/>
          <p:nvPr/>
        </p:nvSpPr>
        <p:spPr>
          <a:xfrm>
            <a:off x="548640" y="658440"/>
            <a:ext cx="10240560" cy="683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 spc="-31">
                <a:solidFill>
                  <a:srgbClr val="1B1B20"/>
                </a:solidFill>
                <a:effectLst/>
                <a:uFillTx/>
                <a:latin typeface="Bricolage Grotesque"/>
                <a:ea typeface="Bricolage Grotesque"/>
              </a:rPr>
              <a:t>Grid Options — plt.grid()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Shape 2"/>
          <p:cNvSpPr/>
          <p:nvPr/>
        </p:nvSpPr>
        <p:spPr>
          <a:xfrm>
            <a:off x="11323080" y="384120"/>
            <a:ext cx="381600" cy="381600"/>
          </a:xfrm>
          <a:prstGeom prst="roundRect">
            <a:avLst>
              <a:gd name="adj" fmla="val 28000"/>
            </a:avLst>
          </a:prstGeom>
          <a:solidFill>
            <a:srgbClr val="5755A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1" name="Shape 3"/>
          <p:cNvSpPr/>
          <p:nvPr/>
        </p:nvSpPr>
        <p:spPr>
          <a:xfrm>
            <a:off x="11445840" y="506880"/>
            <a:ext cx="258480" cy="258480"/>
          </a:xfrm>
          <a:prstGeom prst="roundRect">
            <a:avLst>
              <a:gd name="adj" fmla="val 26471"/>
            </a:avLst>
          </a:prstGeom>
          <a:solidFill>
            <a:srgbClr val="FCF8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Shape 4"/>
          <p:cNvSpPr/>
          <p:nvPr/>
        </p:nvSpPr>
        <p:spPr>
          <a:xfrm>
            <a:off x="11514960" y="576000"/>
            <a:ext cx="128160" cy="128160"/>
          </a:xfrm>
          <a:prstGeom prst="roundRect">
            <a:avLst>
              <a:gd name="adj" fmla="val 26471"/>
            </a:avLst>
          </a:prstGeom>
          <a:solidFill>
            <a:srgbClr val="386759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4080" tIns="45000" rIns="6408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" name="Text 5"/>
          <p:cNvSpPr/>
          <p:nvPr/>
        </p:nvSpPr>
        <p:spPr>
          <a:xfrm>
            <a:off x="457200" y="6473880"/>
            <a:ext cx="6855480" cy="271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474651"/>
                </a:solidFill>
                <a:effectLst/>
                <a:uFillTx/>
                <a:latin typeface="Calibri"/>
                <a:ea typeface="Calibri"/>
              </a:rPr>
              <a:t>Matplotlib: Data Visualization with Python  ·  GCN Course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Text 6"/>
          <p:cNvSpPr/>
          <p:nvPr/>
        </p:nvSpPr>
        <p:spPr>
          <a:xfrm>
            <a:off x="11505960" y="6473880"/>
            <a:ext cx="500400" cy="271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4651"/>
                </a:solidFill>
                <a:effectLst/>
                <a:uFillTx/>
                <a:latin typeface="Plus Jakarta Sans"/>
                <a:ea typeface="Plus Jakarta Sans"/>
              </a:rPr>
              <a:t>12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35" name="Table 363"/>
          <p:cNvGraphicFramePr/>
          <p:nvPr/>
        </p:nvGraphicFramePr>
        <p:xfrm>
          <a:off x="548640" y="1554480"/>
          <a:ext cx="11109960" cy="4625280"/>
        </p:xfrm>
        <a:graphic>
          <a:graphicData uri="http://schemas.openxmlformats.org/drawingml/2006/table">
            <a:tbl>
              <a:tblPr/>
              <a:tblGrid>
                <a:gridCol w="5120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989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2048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Plus Jakarta Sans"/>
                        </a:rPr>
                        <a:t>Call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5755A7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Plus Jakarta Sans"/>
                        </a:rPr>
                        <a:t>Meaning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5755A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48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5755A7"/>
                          </a:solidFill>
                          <a:effectLst/>
                          <a:uFillTx/>
                          <a:latin typeface="Consolas"/>
                        </a:rPr>
                        <a:t>plt.grid()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1B1B20"/>
                          </a:solidFill>
                          <a:effectLst/>
                          <a:uFillTx/>
                          <a:latin typeface="Plus Jakarta Sans"/>
                        </a:rPr>
                        <a:t>Turns the grid on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48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5755A7"/>
                          </a:solidFill>
                          <a:effectLst/>
                          <a:uFillTx/>
                          <a:latin typeface="Consolas"/>
                        </a:rPr>
                        <a:t>plt.grid(True)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4F1FA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1B1B20"/>
                          </a:solidFill>
                          <a:effectLst/>
                          <a:uFillTx/>
                          <a:latin typeface="Plus Jakarta Sans"/>
                        </a:rPr>
                        <a:t>Explicitly turns the grid on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4F1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48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5755A7"/>
                          </a:solidFill>
                          <a:effectLst/>
                          <a:uFillTx/>
                          <a:latin typeface="Consolas"/>
                        </a:rPr>
                        <a:t>plt.grid(False)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1B1B20"/>
                          </a:solidFill>
                          <a:effectLst/>
                          <a:uFillTx/>
                          <a:latin typeface="Plus Jakarta Sans"/>
                        </a:rPr>
                        <a:t>Turns the grid off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48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5755A7"/>
                          </a:solidFill>
                          <a:effectLst/>
                          <a:uFillTx/>
                          <a:latin typeface="Consolas"/>
                        </a:rPr>
                        <a:t>plt.grid(axis="y")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4F1FA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1B1B20"/>
                          </a:solidFill>
                          <a:effectLst/>
                          <a:uFillTx/>
                          <a:latin typeface="Plus Jakarta Sans"/>
                        </a:rPr>
                        <a:t>Horizontal grid lines only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4F1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048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5755A7"/>
                          </a:solidFill>
                          <a:effectLst/>
                          <a:uFillTx/>
                          <a:latin typeface="Consolas"/>
                        </a:rPr>
                        <a:t>plt.grid(axis="x")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1B1B20"/>
                          </a:solidFill>
                          <a:effectLst/>
                          <a:uFillTx/>
                          <a:latin typeface="Plus Jakarta Sans"/>
                        </a:rPr>
                        <a:t>Vertical grid lines only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048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5755A7"/>
                          </a:solidFill>
                          <a:effectLst/>
                          <a:uFillTx/>
                          <a:latin typeface="Consolas"/>
                        </a:rPr>
                        <a:t>plt.grid(axis="both")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4F1FA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1B1B20"/>
                          </a:solidFill>
                          <a:effectLst/>
                          <a:uFillTx/>
                          <a:latin typeface="Plus Jakarta Sans"/>
                        </a:rPr>
                        <a:t>Both horizontal and vertical grid lines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4F1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048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5755A7"/>
                          </a:solidFill>
                          <a:effectLst/>
                          <a:uFillTx/>
                          <a:latin typeface="Consolas"/>
                        </a:rPr>
                        <a:t>plt.grid(linestyle=":")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1B1B20"/>
                          </a:solidFill>
                          <a:effectLst/>
                          <a:uFillTx/>
                          <a:latin typeface="Plus Jakarta Sans"/>
                        </a:rPr>
                        <a:t>Changes the grid line style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2048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5755A7"/>
                          </a:solidFill>
                          <a:effectLst/>
                          <a:uFillTx/>
                          <a:latin typeface="Consolas"/>
                        </a:rPr>
                        <a:t>plt.grid(linewidth=0.5)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4F1FA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1B1B20"/>
                          </a:solidFill>
                          <a:effectLst/>
                          <a:uFillTx/>
                          <a:latin typeface="Plus Jakarta Sans"/>
                        </a:rPr>
                        <a:t>Changes the grid line width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4F1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2048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5755A7"/>
                          </a:solidFill>
                          <a:effectLst/>
                          <a:uFillTx/>
                          <a:latin typeface="Consolas"/>
                        </a:rPr>
                        <a:t>plt.grid(alpha=0.5)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1B1B20"/>
                          </a:solidFill>
                          <a:effectLst/>
                          <a:uFillTx/>
                          <a:latin typeface="Plus Jakarta Sans"/>
                        </a:rPr>
                        <a:t>Changes the grid transparency (0 to 1)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2048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5755A7"/>
                          </a:solidFill>
                          <a:effectLst/>
                          <a:uFillTx/>
                          <a:latin typeface="Consolas"/>
                        </a:rPr>
                        <a:t>plt.grid(axis="both", linestyle=":", linewidth=4, alpha=0.7)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4F1FA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1B1B20"/>
                          </a:solidFill>
                          <a:effectLst/>
                          <a:uFillTx/>
                          <a:latin typeface="Plus Jakarta Sans"/>
                        </a:rPr>
                        <a:t>Combines several properties in one call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4F1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p15="http://schemas.microsoft.com/office/powerpoint/2012/main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Text 0"/>
          <p:cNvSpPr/>
          <p:nvPr/>
        </p:nvSpPr>
        <p:spPr>
          <a:xfrm>
            <a:off x="548640" y="384120"/>
            <a:ext cx="9598680" cy="290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 spc="201">
                <a:solidFill>
                  <a:srgbClr val="5755A7"/>
                </a:solidFill>
                <a:effectLst/>
                <a:uFillTx/>
                <a:latin typeface="Plus Jakarta Sans"/>
                <a:ea typeface="Plus Jakarta Sans"/>
              </a:rPr>
              <a:t>03 · PYPLOT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Text 1"/>
          <p:cNvSpPr/>
          <p:nvPr/>
        </p:nvSpPr>
        <p:spPr>
          <a:xfrm>
            <a:off x="479520" y="669960"/>
            <a:ext cx="4560120" cy="671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 spc="-31">
                <a:solidFill>
                  <a:srgbClr val="1B1B20"/>
                </a:solidFill>
                <a:effectLst/>
                <a:uFillTx/>
                <a:latin typeface="Bricolage Grotesque"/>
                <a:ea typeface="Bricolage Grotesque"/>
              </a:rPr>
              <a:t>Bar Chart — plt.bar() Syntax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Shape 2"/>
          <p:cNvSpPr/>
          <p:nvPr/>
        </p:nvSpPr>
        <p:spPr>
          <a:xfrm>
            <a:off x="11323080" y="384120"/>
            <a:ext cx="381600" cy="381600"/>
          </a:xfrm>
          <a:prstGeom prst="roundRect">
            <a:avLst>
              <a:gd name="adj" fmla="val 28000"/>
            </a:avLst>
          </a:prstGeom>
          <a:solidFill>
            <a:srgbClr val="5755A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9" name="Shape 3"/>
          <p:cNvSpPr/>
          <p:nvPr/>
        </p:nvSpPr>
        <p:spPr>
          <a:xfrm>
            <a:off x="11445840" y="506880"/>
            <a:ext cx="258480" cy="258480"/>
          </a:xfrm>
          <a:prstGeom prst="roundRect">
            <a:avLst>
              <a:gd name="adj" fmla="val 26471"/>
            </a:avLst>
          </a:prstGeom>
          <a:solidFill>
            <a:srgbClr val="FCF8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Shape 4"/>
          <p:cNvSpPr/>
          <p:nvPr/>
        </p:nvSpPr>
        <p:spPr>
          <a:xfrm>
            <a:off x="11514960" y="576000"/>
            <a:ext cx="128160" cy="128160"/>
          </a:xfrm>
          <a:prstGeom prst="roundRect">
            <a:avLst>
              <a:gd name="adj" fmla="val 26471"/>
            </a:avLst>
          </a:prstGeom>
          <a:solidFill>
            <a:srgbClr val="386759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4080" tIns="45000" rIns="6408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1" name="Text 5"/>
          <p:cNvSpPr/>
          <p:nvPr/>
        </p:nvSpPr>
        <p:spPr>
          <a:xfrm>
            <a:off x="457200" y="6473880"/>
            <a:ext cx="6855480" cy="271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4651"/>
                </a:solidFill>
                <a:effectLst/>
                <a:uFillTx/>
                <a:latin typeface="Plus Jakarta Sans"/>
                <a:ea typeface="Plus Jakarta Sans"/>
              </a:rPr>
              <a:t>Matplotlib: Data Visualization with Python  ·  GCN Course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Text 6"/>
          <p:cNvSpPr/>
          <p:nvPr/>
        </p:nvSpPr>
        <p:spPr>
          <a:xfrm>
            <a:off x="11505960" y="6473880"/>
            <a:ext cx="500400" cy="271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4651"/>
                </a:solidFill>
                <a:effectLst/>
                <a:uFillTx/>
                <a:latin typeface="Plus Jakarta Sans"/>
                <a:ea typeface="Plus Jakarta Sans"/>
              </a:rPr>
              <a:t>13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Rounded Rectangle 363"/>
          <p:cNvSpPr/>
          <p:nvPr/>
        </p:nvSpPr>
        <p:spPr>
          <a:xfrm>
            <a:off x="548640" y="1554480"/>
            <a:ext cx="5211360" cy="2331000"/>
          </a:xfrm>
          <a:prstGeom prst="roundRect">
            <a:avLst>
              <a:gd name="adj" fmla="val 3000"/>
            </a:avLst>
          </a:prstGeom>
          <a:solidFill>
            <a:srgbClr val="0E1420"/>
          </a:solidFill>
          <a:ln w="952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4" name="Oval 364"/>
          <p:cNvSpPr/>
          <p:nvPr/>
        </p:nvSpPr>
        <p:spPr>
          <a:xfrm>
            <a:off x="713160" y="1700640"/>
            <a:ext cx="99720" cy="99720"/>
          </a:xfrm>
          <a:prstGeom prst="ellipse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0040" tIns="26280" rIns="50040" bIns="262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5" name="Oval 365"/>
          <p:cNvSpPr/>
          <p:nvPr/>
        </p:nvSpPr>
        <p:spPr>
          <a:xfrm>
            <a:off x="914400" y="1700640"/>
            <a:ext cx="99720" cy="99720"/>
          </a:xfrm>
          <a:prstGeom prst="ellipse">
            <a:avLst/>
          </a:prstGeom>
          <a:solidFill>
            <a:srgbClr val="F9C6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0040" tIns="26280" rIns="50040" bIns="262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6" name="Oval 366"/>
          <p:cNvSpPr/>
          <p:nvPr/>
        </p:nvSpPr>
        <p:spPr>
          <a:xfrm>
            <a:off x="1115640" y="1700640"/>
            <a:ext cx="99720" cy="99720"/>
          </a:xfrm>
          <a:prstGeom prst="ellipse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0040" tIns="26280" rIns="50040" bIns="262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7" name="TextBox 367"/>
          <p:cNvSpPr/>
          <p:nvPr/>
        </p:nvSpPr>
        <p:spPr>
          <a:xfrm>
            <a:off x="685800" y="1920240"/>
            <a:ext cx="4937040" cy="1873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4080" tIns="0" rIns="64080" bIns="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130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plt.bar(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30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    x,                      # Category Name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30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    height,                 # Bar Height / Value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30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    color="Color Name",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30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    width=value,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30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    label="Label Name"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30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48" name="Table 368"/>
          <p:cNvGraphicFramePr/>
          <p:nvPr/>
        </p:nvGraphicFramePr>
        <p:xfrm>
          <a:off x="5989320" y="1554480"/>
          <a:ext cx="5715000" cy="2743200"/>
        </p:xfrm>
        <a:graphic>
          <a:graphicData uri="http://schemas.openxmlformats.org/drawingml/2006/table">
            <a:tbl>
              <a:tblPr/>
              <a:tblGrid>
                <a:gridCol w="2423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91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Plus Jakarta Sans"/>
                        </a:rPr>
                        <a:t>Parameter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5755A7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Plus Jakarta Sans"/>
                        </a:rPr>
                        <a:t>Meaning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5755A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5755A7"/>
                          </a:solidFill>
                          <a:effectLst/>
                          <a:uFillTx/>
                          <a:latin typeface="Consolas"/>
                        </a:rPr>
                        <a:t>x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1B1B20"/>
                          </a:solidFill>
                          <a:effectLst/>
                          <a:uFillTx/>
                          <a:latin typeface="Plus Jakarta Sans"/>
                        </a:rPr>
                        <a:t>Category names / positions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5755A7"/>
                          </a:solidFill>
                          <a:effectLst/>
                          <a:uFillTx/>
                          <a:latin typeface="Consolas"/>
                        </a:rPr>
                        <a:t>Height / value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4F1FA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1B1B20"/>
                          </a:solidFill>
                          <a:effectLst/>
                          <a:uFillTx/>
                          <a:latin typeface="Plus Jakarta Sans"/>
                        </a:rPr>
                        <a:t>Values represented by the bars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4F1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5755A7"/>
                          </a:solidFill>
                          <a:effectLst/>
                          <a:uFillTx/>
                          <a:latin typeface="Consolas"/>
                        </a:rPr>
                        <a:t>color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1B1B20"/>
                          </a:solidFill>
                          <a:effectLst/>
                          <a:uFillTx/>
                          <a:latin typeface="Plus Jakarta Sans"/>
                        </a:rPr>
                        <a:t>Bar color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5755A7"/>
                          </a:solidFill>
                          <a:effectLst/>
                          <a:uFillTx/>
                          <a:latin typeface="Consolas"/>
                        </a:rPr>
                        <a:t>width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4F1FA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1B1B20"/>
                          </a:solidFill>
                          <a:effectLst/>
                          <a:uFillTx/>
                          <a:latin typeface="Plus Jakarta Sans"/>
                        </a:rPr>
                        <a:t>Width of each bar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4F1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5755A7"/>
                          </a:solidFill>
                          <a:effectLst/>
                          <a:uFillTx/>
                          <a:latin typeface="Consolas"/>
                        </a:rPr>
                        <a:t>label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1B1B20"/>
                          </a:solidFill>
                          <a:effectLst/>
                          <a:uFillTx/>
                          <a:latin typeface="Plus Jakarta Sans"/>
                        </a:rPr>
                        <a:t>Name used in the legend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p15="http://schemas.microsoft.com/office/powerpoint/2012/main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Text 0"/>
          <p:cNvSpPr/>
          <p:nvPr/>
        </p:nvSpPr>
        <p:spPr>
          <a:xfrm>
            <a:off x="548640" y="384120"/>
            <a:ext cx="9598680" cy="290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 spc="201">
                <a:solidFill>
                  <a:srgbClr val="5755A7"/>
                </a:solidFill>
                <a:effectLst/>
                <a:uFillTx/>
                <a:latin typeface="Plus Jakarta Sans"/>
                <a:ea typeface="Plus Jakarta Sans"/>
              </a:rPr>
              <a:t>03 · PYPLOT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Text 1"/>
          <p:cNvSpPr/>
          <p:nvPr/>
        </p:nvSpPr>
        <p:spPr>
          <a:xfrm>
            <a:off x="548640" y="658440"/>
            <a:ext cx="10240560" cy="683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 spc="-31">
                <a:solidFill>
                  <a:srgbClr val="1B1B20"/>
                </a:solidFill>
                <a:effectLst/>
                <a:uFillTx/>
                <a:latin typeface="Bricolage Grotesque"/>
                <a:ea typeface="Bricolage Grotesque"/>
              </a:rPr>
              <a:t>Bar Chart — Example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Shape 2"/>
          <p:cNvSpPr/>
          <p:nvPr/>
        </p:nvSpPr>
        <p:spPr>
          <a:xfrm>
            <a:off x="11323080" y="384120"/>
            <a:ext cx="381600" cy="381600"/>
          </a:xfrm>
          <a:prstGeom prst="roundRect">
            <a:avLst>
              <a:gd name="adj" fmla="val 28000"/>
            </a:avLst>
          </a:prstGeom>
          <a:solidFill>
            <a:srgbClr val="5755A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2" name="Shape 3"/>
          <p:cNvSpPr/>
          <p:nvPr/>
        </p:nvSpPr>
        <p:spPr>
          <a:xfrm>
            <a:off x="11445840" y="506880"/>
            <a:ext cx="258480" cy="258480"/>
          </a:xfrm>
          <a:prstGeom prst="roundRect">
            <a:avLst>
              <a:gd name="adj" fmla="val 26471"/>
            </a:avLst>
          </a:prstGeom>
          <a:solidFill>
            <a:srgbClr val="FCF8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Shape 4"/>
          <p:cNvSpPr/>
          <p:nvPr/>
        </p:nvSpPr>
        <p:spPr>
          <a:xfrm>
            <a:off x="11514960" y="576000"/>
            <a:ext cx="128160" cy="128160"/>
          </a:xfrm>
          <a:prstGeom prst="roundRect">
            <a:avLst>
              <a:gd name="adj" fmla="val 26471"/>
            </a:avLst>
          </a:prstGeom>
          <a:solidFill>
            <a:srgbClr val="386759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4080" tIns="45000" rIns="6408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4" name="Text 5"/>
          <p:cNvSpPr/>
          <p:nvPr/>
        </p:nvSpPr>
        <p:spPr>
          <a:xfrm>
            <a:off x="457200" y="6473880"/>
            <a:ext cx="6855480" cy="271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4651"/>
                </a:solidFill>
                <a:effectLst/>
                <a:uFillTx/>
                <a:latin typeface="Plus Jakarta Sans"/>
                <a:ea typeface="Plus Jakarta Sans"/>
              </a:rPr>
              <a:t>Matplotlib: Data Visualization with Python  ·  GCN Course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" name="Text 6"/>
          <p:cNvSpPr/>
          <p:nvPr/>
        </p:nvSpPr>
        <p:spPr>
          <a:xfrm>
            <a:off x="11505960" y="6473880"/>
            <a:ext cx="500400" cy="271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4651"/>
                </a:solidFill>
                <a:effectLst/>
                <a:uFillTx/>
                <a:latin typeface="Plus Jakarta Sans"/>
                <a:ea typeface="Plus Jakarta Sans"/>
              </a:rPr>
              <a:t>14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" name="Rounded Rectangle 363"/>
          <p:cNvSpPr/>
          <p:nvPr/>
        </p:nvSpPr>
        <p:spPr>
          <a:xfrm>
            <a:off x="548640" y="1463040"/>
            <a:ext cx="5714280" cy="4937040"/>
          </a:xfrm>
          <a:prstGeom prst="roundRect">
            <a:avLst>
              <a:gd name="adj" fmla="val 3000"/>
            </a:avLst>
          </a:prstGeom>
          <a:solidFill>
            <a:srgbClr val="0E1420"/>
          </a:solidFill>
          <a:ln w="952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7" name="Oval 364"/>
          <p:cNvSpPr/>
          <p:nvPr/>
        </p:nvSpPr>
        <p:spPr>
          <a:xfrm>
            <a:off x="713160" y="1609200"/>
            <a:ext cx="99720" cy="99720"/>
          </a:xfrm>
          <a:prstGeom prst="ellipse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0040" tIns="26280" rIns="50040" bIns="262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8" name="Oval 365"/>
          <p:cNvSpPr/>
          <p:nvPr/>
        </p:nvSpPr>
        <p:spPr>
          <a:xfrm>
            <a:off x="914400" y="1609200"/>
            <a:ext cx="99720" cy="99720"/>
          </a:xfrm>
          <a:prstGeom prst="ellipse">
            <a:avLst/>
          </a:prstGeom>
          <a:solidFill>
            <a:srgbClr val="F9C6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0040" tIns="26280" rIns="50040" bIns="262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9" name="Oval 366"/>
          <p:cNvSpPr/>
          <p:nvPr/>
        </p:nvSpPr>
        <p:spPr>
          <a:xfrm>
            <a:off x="1115640" y="1609200"/>
            <a:ext cx="99720" cy="99720"/>
          </a:xfrm>
          <a:prstGeom prst="ellipse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0040" tIns="26280" rIns="50040" bIns="262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0" name="TextBox 367"/>
          <p:cNvSpPr/>
          <p:nvPr/>
        </p:nvSpPr>
        <p:spPr>
          <a:xfrm>
            <a:off x="685800" y="1828800"/>
            <a:ext cx="5439960" cy="3200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4080" tIns="0" rIns="64080" bIns="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130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products = ["Laptop", "Phone", "Tablet", "Headphones", "Keyboard"]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30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sales_2026 = [120, 200, 150, 180, 100]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br>
              <a:rPr sz="1300"/>
            </a:br>
            <a:r>
              <a:rPr lang="en-US" sz="130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plt.bar(products, sales_2026, color="#B81D53", label="Sales 2026")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br>
              <a:rPr sz="1300"/>
            </a:br>
            <a:r>
              <a:rPr lang="en-US" sz="130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plt.xlabel("Product", color="#333333")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30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plt.ylabel("Sales", color="#333333")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30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plt.title("Product Sale Comparison", fontweight="bold", pad=15, color="#3A3C3A")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br>
              <a:rPr sz="1300"/>
            </a:br>
            <a:r>
              <a:rPr lang="en-US" sz="130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plt.legend()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30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plt.tight_layout()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30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plt.show()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Rounded Rectangle 368"/>
          <p:cNvSpPr/>
          <p:nvPr/>
        </p:nvSpPr>
        <p:spPr>
          <a:xfrm>
            <a:off x="6446520" y="1463040"/>
            <a:ext cx="5211360" cy="228528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 w="9525">
            <a:solidFill>
              <a:srgbClr val="C8C5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graphicFrame>
        <p:nvGraphicFramePr>
          <p:cNvPr id="262" name="Table 370"/>
          <p:cNvGraphicFramePr/>
          <p:nvPr/>
        </p:nvGraphicFramePr>
        <p:xfrm>
          <a:off x="6446520" y="3886200"/>
          <a:ext cx="5171040" cy="2354400"/>
        </p:xfrm>
        <a:graphic>
          <a:graphicData uri="http://schemas.openxmlformats.org/drawingml/2006/table">
            <a:tbl>
              <a:tblPr/>
              <a:tblGrid>
                <a:gridCol w="2131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39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656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9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Plus Jakarta Sans"/>
                        </a:rPr>
                        <a:t>Parameter</a:t>
                      </a:r>
                      <a:endParaRPr lang="en-US" sz="9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5755A7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9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Plus Jakarta Sans"/>
                        </a:rPr>
                        <a:t>Meaning</a:t>
                      </a:r>
                      <a:endParaRPr lang="en-US" sz="9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5755A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656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800" b="1" u="none" strike="noStrike">
                          <a:solidFill>
                            <a:srgbClr val="5755A7"/>
                          </a:solidFill>
                          <a:effectLst/>
                          <a:uFillTx/>
                          <a:latin typeface="Consolas"/>
                        </a:rPr>
                        <a:t>color="orange" / "blue"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1B1B20"/>
                          </a:solidFill>
                          <a:effectLst/>
                          <a:uFillTx/>
                          <a:latin typeface="Plus Jakarta Sans"/>
                        </a:rPr>
                        <a:t>Bar color of each series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032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800" b="1" u="none" strike="noStrike">
                          <a:solidFill>
                            <a:srgbClr val="5755A7"/>
                          </a:solidFill>
                          <a:effectLst/>
                          <a:uFillTx/>
                          <a:latin typeface="Consolas"/>
                        </a:rPr>
                        <a:t>label="Sales 2026"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4F1FA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1B1B20"/>
                          </a:solidFill>
                          <a:effectLst/>
                          <a:uFillTx/>
                          <a:latin typeface="Plus Jakarta Sans"/>
                        </a:rPr>
                        <a:t>Legend name of the series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4F1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032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800" b="1" u="none" strike="noStrike">
                          <a:solidFill>
                            <a:srgbClr val="5755A7"/>
                          </a:solidFill>
                          <a:effectLst/>
                          <a:uFillTx/>
                          <a:latin typeface="Consolas"/>
                        </a:rPr>
                        <a:t>plt.xticks(x, products)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1B1B20"/>
                          </a:solidFill>
                          <a:effectLst/>
                          <a:uFillTx/>
                          <a:latin typeface="Plus Jakarta Sans"/>
                        </a:rPr>
                        <a:t>Product names under the positions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032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800" b="1" u="none" strike="noStrike">
                          <a:solidFill>
                            <a:srgbClr val="5755A7"/>
                          </a:solidFill>
                          <a:effectLst/>
                          <a:uFillTx/>
                          <a:latin typeface="Consolas"/>
                        </a:rPr>
                        <a:t>plt.legend()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4F1FA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1B1B20"/>
                          </a:solidFill>
                          <a:effectLst/>
                          <a:uFillTx/>
                          <a:latin typeface="Plus Jakarta Sans"/>
                        </a:rPr>
                        <a:t>Shows the legend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4F1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032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800" b="1" u="none" strike="noStrike">
                          <a:solidFill>
                            <a:srgbClr val="5755A7"/>
                          </a:solidFill>
                          <a:effectLst/>
                          <a:uFillTx/>
                          <a:latin typeface="Consolas"/>
                        </a:rPr>
                        <a:t>plt.xlabel / ylabel / title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1B1B20"/>
                          </a:solidFill>
                          <a:effectLst/>
                          <a:uFillTx/>
                          <a:latin typeface="Plus Jakarta Sans"/>
                        </a:rPr>
                        <a:t>Axis text and chart heading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pic>
        <p:nvPicPr>
          <p:cNvPr id="263" name="Picture 1"/>
          <p:cNvPicPr/>
          <p:nvPr/>
        </p:nvPicPr>
        <p:blipFill>
          <a:blip r:embed="rId2"/>
          <a:stretch/>
        </p:blipFill>
        <p:spPr>
          <a:xfrm>
            <a:off x="6642720" y="1617840"/>
            <a:ext cx="4724640" cy="208620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p15="http://schemas.microsoft.com/office/powerpoint/2012/main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Text 0"/>
          <p:cNvSpPr/>
          <p:nvPr/>
        </p:nvSpPr>
        <p:spPr>
          <a:xfrm>
            <a:off x="548640" y="384120"/>
            <a:ext cx="9598680" cy="290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 spc="201">
                <a:solidFill>
                  <a:srgbClr val="5755A7"/>
                </a:solidFill>
                <a:effectLst/>
                <a:uFillTx/>
                <a:latin typeface="Plus Jakarta Sans"/>
                <a:ea typeface="Plus Jakarta Sans"/>
              </a:rPr>
              <a:t>03 · PYPLOT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5" name="Text 1"/>
          <p:cNvSpPr/>
          <p:nvPr/>
        </p:nvSpPr>
        <p:spPr>
          <a:xfrm>
            <a:off x="548640" y="658440"/>
            <a:ext cx="10240560" cy="683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 spc="-31">
                <a:solidFill>
                  <a:srgbClr val="1B1B20"/>
                </a:solidFill>
                <a:effectLst/>
                <a:uFillTx/>
                <a:latin typeface="Bricolage Grotesque"/>
                <a:ea typeface="Bricolage Grotesque"/>
              </a:rPr>
              <a:t>Pie Chart — plt.pie() Syntax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Shape 2"/>
          <p:cNvSpPr/>
          <p:nvPr/>
        </p:nvSpPr>
        <p:spPr>
          <a:xfrm>
            <a:off x="11323080" y="384120"/>
            <a:ext cx="381600" cy="381600"/>
          </a:xfrm>
          <a:prstGeom prst="roundRect">
            <a:avLst>
              <a:gd name="adj" fmla="val 28000"/>
            </a:avLst>
          </a:prstGeom>
          <a:solidFill>
            <a:srgbClr val="5755A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7" name="Shape 3"/>
          <p:cNvSpPr/>
          <p:nvPr/>
        </p:nvSpPr>
        <p:spPr>
          <a:xfrm>
            <a:off x="11445840" y="506880"/>
            <a:ext cx="258480" cy="258480"/>
          </a:xfrm>
          <a:prstGeom prst="roundRect">
            <a:avLst>
              <a:gd name="adj" fmla="val 26471"/>
            </a:avLst>
          </a:prstGeom>
          <a:solidFill>
            <a:srgbClr val="FCF8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8" name="Shape 4"/>
          <p:cNvSpPr/>
          <p:nvPr/>
        </p:nvSpPr>
        <p:spPr>
          <a:xfrm>
            <a:off x="11514960" y="576000"/>
            <a:ext cx="128160" cy="128160"/>
          </a:xfrm>
          <a:prstGeom prst="roundRect">
            <a:avLst>
              <a:gd name="adj" fmla="val 26471"/>
            </a:avLst>
          </a:prstGeom>
          <a:solidFill>
            <a:srgbClr val="386759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4080" tIns="45000" rIns="6408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9" name="Text 5"/>
          <p:cNvSpPr/>
          <p:nvPr/>
        </p:nvSpPr>
        <p:spPr>
          <a:xfrm>
            <a:off x="457200" y="6473880"/>
            <a:ext cx="6855480" cy="271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4651"/>
                </a:solidFill>
                <a:effectLst/>
                <a:uFillTx/>
                <a:latin typeface="Plus Jakarta Sans"/>
                <a:ea typeface="Plus Jakarta Sans"/>
              </a:rPr>
              <a:t>Matplotlib: Data Visualization with Python  ·  GCN Course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" name="Text 6"/>
          <p:cNvSpPr/>
          <p:nvPr/>
        </p:nvSpPr>
        <p:spPr>
          <a:xfrm>
            <a:off x="11505960" y="6473880"/>
            <a:ext cx="500400" cy="271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4651"/>
                </a:solidFill>
                <a:effectLst/>
                <a:uFillTx/>
                <a:latin typeface="Plus Jakarta Sans"/>
                <a:ea typeface="Plus Jakarta Sans"/>
              </a:rPr>
              <a:t>15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Rounded Rectangle 363"/>
          <p:cNvSpPr/>
          <p:nvPr/>
        </p:nvSpPr>
        <p:spPr>
          <a:xfrm>
            <a:off x="548640" y="1554480"/>
            <a:ext cx="5211360" cy="2102400"/>
          </a:xfrm>
          <a:prstGeom prst="roundRect">
            <a:avLst>
              <a:gd name="adj" fmla="val 3000"/>
            </a:avLst>
          </a:prstGeom>
          <a:solidFill>
            <a:srgbClr val="0E1420"/>
          </a:solidFill>
          <a:ln w="952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2" name="Oval 364"/>
          <p:cNvSpPr/>
          <p:nvPr/>
        </p:nvSpPr>
        <p:spPr>
          <a:xfrm>
            <a:off x="713160" y="1700640"/>
            <a:ext cx="99720" cy="99720"/>
          </a:xfrm>
          <a:prstGeom prst="ellipse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0040" tIns="26280" rIns="50040" bIns="262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3" name="Oval 365"/>
          <p:cNvSpPr/>
          <p:nvPr/>
        </p:nvSpPr>
        <p:spPr>
          <a:xfrm>
            <a:off x="914400" y="1700640"/>
            <a:ext cx="99720" cy="99720"/>
          </a:xfrm>
          <a:prstGeom prst="ellipse">
            <a:avLst/>
          </a:prstGeom>
          <a:solidFill>
            <a:srgbClr val="F9C6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0040" tIns="26280" rIns="50040" bIns="262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4" name="Oval 366"/>
          <p:cNvSpPr/>
          <p:nvPr/>
        </p:nvSpPr>
        <p:spPr>
          <a:xfrm>
            <a:off x="1115640" y="1700640"/>
            <a:ext cx="99720" cy="99720"/>
          </a:xfrm>
          <a:prstGeom prst="ellipse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0040" tIns="26280" rIns="50040" bIns="262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5" name="TextBox 367"/>
          <p:cNvSpPr/>
          <p:nvPr/>
        </p:nvSpPr>
        <p:spPr>
          <a:xfrm>
            <a:off x="685800" y="1920240"/>
            <a:ext cx="4937040" cy="1645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4080" tIns="0" rIns="64080" bIns="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130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plt.pie(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30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    values,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30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    labels=labels_list,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30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    colors=color_list,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30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    autopct="%1.1f%%"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30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76" name="Table 368"/>
          <p:cNvGraphicFramePr/>
          <p:nvPr/>
        </p:nvGraphicFramePr>
        <p:xfrm>
          <a:off x="5989320" y="1554480"/>
          <a:ext cx="5715000" cy="2286000"/>
        </p:xfrm>
        <a:graphic>
          <a:graphicData uri="http://schemas.openxmlformats.org/drawingml/2006/table">
            <a:tbl>
              <a:tblPr/>
              <a:tblGrid>
                <a:gridCol w="2423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91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Plus Jakarta Sans"/>
                        </a:rPr>
                        <a:t>Parameter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5755A7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Plus Jakarta Sans"/>
                        </a:rPr>
                        <a:t>Meaning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5755A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5755A7"/>
                          </a:solidFill>
                          <a:effectLst/>
                          <a:uFillTx/>
                          <a:latin typeface="Consolas"/>
                        </a:rPr>
                        <a:t>values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1B1B20"/>
                          </a:solidFill>
                          <a:effectLst/>
                          <a:uFillTx/>
                          <a:latin typeface="Plus Jakarta Sans"/>
                        </a:rPr>
                        <a:t>Numbers represented by each slice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5755A7"/>
                          </a:solidFill>
                          <a:effectLst/>
                          <a:uFillTx/>
                          <a:latin typeface="Consolas"/>
                        </a:rPr>
                        <a:t>labels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4F1FA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1B1B20"/>
                          </a:solidFill>
                          <a:effectLst/>
                          <a:uFillTx/>
                          <a:latin typeface="Plus Jakarta Sans"/>
                        </a:rPr>
                        <a:t>Names of the slices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4F1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5755A7"/>
                          </a:solidFill>
                          <a:effectLst/>
                          <a:uFillTx/>
                          <a:latin typeface="Consolas"/>
                        </a:rPr>
                        <a:t>colors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1B1B20"/>
                          </a:solidFill>
                          <a:effectLst/>
                          <a:uFillTx/>
                          <a:latin typeface="Plus Jakarta Sans"/>
                        </a:rPr>
                        <a:t>Colors of the slices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5755A7"/>
                          </a:solidFill>
                          <a:effectLst/>
                          <a:uFillTx/>
                          <a:latin typeface="Consolas"/>
                        </a:rPr>
                        <a:t>autopct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4F1FA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1B1B20"/>
                          </a:solidFill>
                          <a:effectLst/>
                          <a:uFillTx/>
                          <a:latin typeface="Plus Jakarta Sans"/>
                        </a:rPr>
                        <a:t>Shows the percentage on each slice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4F1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p15="http://schemas.microsoft.com/office/powerpoint/2012/main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Text 0"/>
          <p:cNvSpPr/>
          <p:nvPr/>
        </p:nvSpPr>
        <p:spPr>
          <a:xfrm>
            <a:off x="548640" y="384120"/>
            <a:ext cx="9598680" cy="290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 spc="201">
                <a:solidFill>
                  <a:srgbClr val="5755A7"/>
                </a:solidFill>
                <a:effectLst/>
                <a:uFillTx/>
                <a:latin typeface="Plus Jakarta Sans"/>
                <a:ea typeface="Plus Jakarta Sans"/>
              </a:rPr>
              <a:t>03 · PYPLOT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" name="Text 1"/>
          <p:cNvSpPr/>
          <p:nvPr/>
        </p:nvSpPr>
        <p:spPr>
          <a:xfrm>
            <a:off x="548640" y="658440"/>
            <a:ext cx="10240560" cy="683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 spc="-31">
                <a:solidFill>
                  <a:srgbClr val="1B1B20"/>
                </a:solidFill>
                <a:effectLst/>
                <a:uFillTx/>
                <a:latin typeface="Bricolage Grotesque"/>
                <a:ea typeface="Bricolage Grotesque"/>
              </a:rPr>
              <a:t>Pie Chart — Example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" name="Shape 2"/>
          <p:cNvSpPr/>
          <p:nvPr/>
        </p:nvSpPr>
        <p:spPr>
          <a:xfrm>
            <a:off x="11323080" y="384120"/>
            <a:ext cx="381600" cy="381600"/>
          </a:xfrm>
          <a:prstGeom prst="roundRect">
            <a:avLst>
              <a:gd name="adj" fmla="val 28000"/>
            </a:avLst>
          </a:prstGeom>
          <a:solidFill>
            <a:srgbClr val="5755A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0" name="Shape 3"/>
          <p:cNvSpPr/>
          <p:nvPr/>
        </p:nvSpPr>
        <p:spPr>
          <a:xfrm>
            <a:off x="11445840" y="506880"/>
            <a:ext cx="258480" cy="258480"/>
          </a:xfrm>
          <a:prstGeom prst="roundRect">
            <a:avLst>
              <a:gd name="adj" fmla="val 26471"/>
            </a:avLst>
          </a:prstGeom>
          <a:solidFill>
            <a:srgbClr val="FCF8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" name="Shape 4"/>
          <p:cNvSpPr/>
          <p:nvPr/>
        </p:nvSpPr>
        <p:spPr>
          <a:xfrm>
            <a:off x="11514960" y="576000"/>
            <a:ext cx="128160" cy="128160"/>
          </a:xfrm>
          <a:prstGeom prst="roundRect">
            <a:avLst>
              <a:gd name="adj" fmla="val 26471"/>
            </a:avLst>
          </a:prstGeom>
          <a:solidFill>
            <a:srgbClr val="386759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4080" tIns="45000" rIns="6408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2" name="Text 5"/>
          <p:cNvSpPr/>
          <p:nvPr/>
        </p:nvSpPr>
        <p:spPr>
          <a:xfrm>
            <a:off x="457200" y="6473880"/>
            <a:ext cx="6855480" cy="271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4651"/>
                </a:solidFill>
                <a:effectLst/>
                <a:uFillTx/>
                <a:latin typeface="Plus Jakarta Sans"/>
                <a:ea typeface="Plus Jakarta Sans"/>
              </a:rPr>
              <a:t>Matplotlib: Data Visualization with Python  ·  GCN Course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3" name="Text 6"/>
          <p:cNvSpPr/>
          <p:nvPr/>
        </p:nvSpPr>
        <p:spPr>
          <a:xfrm>
            <a:off x="11505960" y="6473880"/>
            <a:ext cx="500400" cy="271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4651"/>
                </a:solidFill>
                <a:effectLst/>
                <a:uFillTx/>
                <a:latin typeface="Plus Jakarta Sans"/>
                <a:ea typeface="Plus Jakarta Sans"/>
              </a:rPr>
              <a:t>16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4" name="Rounded Rectangle 363"/>
          <p:cNvSpPr/>
          <p:nvPr/>
        </p:nvSpPr>
        <p:spPr>
          <a:xfrm>
            <a:off x="548640" y="1463040"/>
            <a:ext cx="5714280" cy="4937040"/>
          </a:xfrm>
          <a:prstGeom prst="roundRect">
            <a:avLst>
              <a:gd name="adj" fmla="val 3000"/>
            </a:avLst>
          </a:prstGeom>
          <a:solidFill>
            <a:srgbClr val="0E1420"/>
          </a:solidFill>
          <a:ln w="952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85" name="Oval 364"/>
          <p:cNvSpPr/>
          <p:nvPr/>
        </p:nvSpPr>
        <p:spPr>
          <a:xfrm>
            <a:off x="713160" y="1609200"/>
            <a:ext cx="99720" cy="99720"/>
          </a:xfrm>
          <a:prstGeom prst="ellipse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0040" tIns="26280" rIns="50040" bIns="262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86" name="Oval 365"/>
          <p:cNvSpPr/>
          <p:nvPr/>
        </p:nvSpPr>
        <p:spPr>
          <a:xfrm>
            <a:off x="914400" y="1609200"/>
            <a:ext cx="99720" cy="99720"/>
          </a:xfrm>
          <a:prstGeom prst="ellipse">
            <a:avLst/>
          </a:prstGeom>
          <a:solidFill>
            <a:srgbClr val="F9C6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0040" tIns="26280" rIns="50040" bIns="262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87" name="Oval 366"/>
          <p:cNvSpPr/>
          <p:nvPr/>
        </p:nvSpPr>
        <p:spPr>
          <a:xfrm>
            <a:off x="1115640" y="1609200"/>
            <a:ext cx="99720" cy="99720"/>
          </a:xfrm>
          <a:prstGeom prst="ellipse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0040" tIns="26280" rIns="50040" bIns="262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88" name="TextBox 367"/>
          <p:cNvSpPr/>
          <p:nvPr/>
        </p:nvSpPr>
        <p:spPr>
          <a:xfrm>
            <a:off x="685800" y="1828800"/>
            <a:ext cx="5439960" cy="4479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4080" tIns="0" rIns="64080" bIns="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130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regions = ["North", "South", "East", "West"]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30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revenue = [3000, 2000, 1500, 1000]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30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30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plt.pie(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30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    revenue,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30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    labels=regions,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30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    autopct="%1.1f%%",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30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    colors=["teal", "skyblue", "lightgreen", "coral"]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30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30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plt.show()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9" name="Rounded Rectangle 368"/>
          <p:cNvSpPr/>
          <p:nvPr/>
        </p:nvSpPr>
        <p:spPr>
          <a:xfrm>
            <a:off x="6446520" y="1463040"/>
            <a:ext cx="5211360" cy="228528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 w="9525">
            <a:solidFill>
              <a:srgbClr val="C8C5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290" name="Picture 369" descr="pie.png"/>
          <p:cNvPicPr/>
          <p:nvPr/>
        </p:nvPicPr>
        <p:blipFill>
          <a:blip r:embed="rId2"/>
          <a:stretch/>
        </p:blipFill>
        <p:spPr>
          <a:xfrm>
            <a:off x="7064280" y="1554480"/>
            <a:ext cx="3976200" cy="2102400"/>
          </a:xfrm>
          <a:prstGeom prst="rect">
            <a:avLst/>
          </a:prstGeom>
          <a:noFill/>
          <a:ln w="0">
            <a:noFill/>
          </a:ln>
        </p:spPr>
      </p:pic>
      <p:graphicFrame>
        <p:nvGraphicFramePr>
          <p:cNvPr id="291" name="Table 370"/>
          <p:cNvGraphicFramePr/>
          <p:nvPr/>
        </p:nvGraphicFramePr>
        <p:xfrm>
          <a:off x="6446520" y="3886200"/>
          <a:ext cx="5211720" cy="1726200"/>
        </p:xfrm>
        <a:graphic>
          <a:graphicData uri="http://schemas.openxmlformats.org/drawingml/2006/table">
            <a:tbl>
              <a:tblPr/>
              <a:tblGrid>
                <a:gridCol w="2148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46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9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Plus Jakarta Sans"/>
                        </a:rPr>
                        <a:t>Parameter</a:t>
                      </a:r>
                      <a:endParaRPr lang="en-US" sz="9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5755A7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9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Plus Jakarta Sans"/>
                        </a:rPr>
                        <a:t>Meaning</a:t>
                      </a:r>
                      <a:endParaRPr lang="en-US" sz="9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5755A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800" b="1" u="none" strike="noStrike">
                          <a:solidFill>
                            <a:srgbClr val="5755A7"/>
                          </a:solidFill>
                          <a:effectLst/>
                          <a:uFillTx/>
                          <a:latin typeface="Consolas"/>
                        </a:rPr>
                        <a:t>regions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1B1B20"/>
                          </a:solidFill>
                          <a:effectLst/>
                          <a:uFillTx/>
                          <a:latin typeface="Plus Jakarta Sans"/>
                        </a:rPr>
                        <a:t>Names of the four slices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800" b="1" u="none" strike="noStrike">
                          <a:solidFill>
                            <a:srgbClr val="5755A7"/>
                          </a:solidFill>
                          <a:effectLst/>
                          <a:uFillTx/>
                          <a:latin typeface="Consolas"/>
                        </a:rPr>
                        <a:t>revenue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4F1FA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1B1B20"/>
                          </a:solidFill>
                          <a:effectLst/>
                          <a:uFillTx/>
                          <a:latin typeface="Plus Jakarta Sans"/>
                        </a:rPr>
                        <a:t>Value of each slice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4F1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800" b="1" u="none" strike="noStrike">
                          <a:solidFill>
                            <a:srgbClr val="5755A7"/>
                          </a:solidFill>
                          <a:effectLst/>
                          <a:uFillTx/>
                          <a:latin typeface="Consolas"/>
                        </a:rPr>
                        <a:t>labels=regions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1B1B20"/>
                          </a:solidFill>
                          <a:effectLst/>
                          <a:uFillTx/>
                          <a:latin typeface="Plus Jakarta Sans"/>
                        </a:rPr>
                        <a:t>Writes each name beside its slice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800" b="1" u="none" strike="noStrike">
                          <a:solidFill>
                            <a:srgbClr val="5755A7"/>
                          </a:solidFill>
                          <a:effectLst/>
                          <a:uFillTx/>
                          <a:latin typeface="Consolas"/>
                        </a:rPr>
                        <a:t>autopct="%1.1f%%"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4F1FA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1B1B20"/>
                          </a:solidFill>
                          <a:effectLst/>
                          <a:uFillTx/>
                          <a:latin typeface="Plus Jakarta Sans"/>
                        </a:rPr>
                        <a:t>Percentage with 1 decimal place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4F1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800" b="1" u="none" strike="noStrike">
                          <a:solidFill>
                            <a:srgbClr val="5755A7"/>
                          </a:solidFill>
                          <a:effectLst/>
                          <a:uFillTx/>
                          <a:latin typeface="Consolas"/>
                        </a:rPr>
                        <a:t>colors=["teal", ...]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1B1B20"/>
                          </a:solidFill>
                          <a:effectLst/>
                          <a:uFillTx/>
                          <a:latin typeface="Plus Jakarta Sans"/>
                        </a:rPr>
                        <a:t>One color per slice, in order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6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800" b="1" u="none" strike="noStrike">
                          <a:solidFill>
                            <a:srgbClr val="5755A7"/>
                          </a:solidFill>
                          <a:effectLst/>
                          <a:uFillTx/>
                          <a:latin typeface="Consolas"/>
                        </a:rPr>
                        <a:t>plt.show()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4F1FA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1B1B20"/>
                          </a:solidFill>
                          <a:effectLst/>
                          <a:uFillTx/>
                          <a:latin typeface="Plus Jakarta Sans"/>
                        </a:rPr>
                        <a:t>Displays the figure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4F1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p15="http://schemas.microsoft.com/office/powerpoint/2012/main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Text 0"/>
          <p:cNvSpPr/>
          <p:nvPr/>
        </p:nvSpPr>
        <p:spPr>
          <a:xfrm>
            <a:off x="548640" y="384120"/>
            <a:ext cx="9598680" cy="290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 spc="201">
                <a:solidFill>
                  <a:srgbClr val="5755A7"/>
                </a:solidFill>
                <a:effectLst/>
                <a:uFillTx/>
                <a:latin typeface="Plus Jakarta Sans"/>
                <a:ea typeface="Plus Jakarta Sans"/>
              </a:rPr>
              <a:t>03 · PYPLOT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Text 1"/>
          <p:cNvSpPr/>
          <p:nvPr/>
        </p:nvSpPr>
        <p:spPr>
          <a:xfrm>
            <a:off x="548640" y="658440"/>
            <a:ext cx="10240560" cy="683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 spc="-31">
                <a:solidFill>
                  <a:srgbClr val="1B1B20"/>
                </a:solidFill>
                <a:effectLst/>
                <a:uFillTx/>
                <a:latin typeface="Bricolage Grotesque"/>
                <a:ea typeface="Bricolage Grotesque"/>
              </a:rPr>
              <a:t>Histogram — plt.hist() Syntax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4" name="Shape 2"/>
          <p:cNvSpPr/>
          <p:nvPr/>
        </p:nvSpPr>
        <p:spPr>
          <a:xfrm>
            <a:off x="11323080" y="384120"/>
            <a:ext cx="381600" cy="381600"/>
          </a:xfrm>
          <a:prstGeom prst="roundRect">
            <a:avLst>
              <a:gd name="adj" fmla="val 28000"/>
            </a:avLst>
          </a:prstGeom>
          <a:solidFill>
            <a:srgbClr val="5755A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5" name="Shape 3"/>
          <p:cNvSpPr/>
          <p:nvPr/>
        </p:nvSpPr>
        <p:spPr>
          <a:xfrm>
            <a:off x="11445840" y="506880"/>
            <a:ext cx="258480" cy="258480"/>
          </a:xfrm>
          <a:prstGeom prst="roundRect">
            <a:avLst>
              <a:gd name="adj" fmla="val 26471"/>
            </a:avLst>
          </a:prstGeom>
          <a:solidFill>
            <a:srgbClr val="FCF8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Shape 4"/>
          <p:cNvSpPr/>
          <p:nvPr/>
        </p:nvSpPr>
        <p:spPr>
          <a:xfrm>
            <a:off x="11514960" y="576000"/>
            <a:ext cx="128160" cy="128160"/>
          </a:xfrm>
          <a:prstGeom prst="roundRect">
            <a:avLst>
              <a:gd name="adj" fmla="val 26471"/>
            </a:avLst>
          </a:prstGeom>
          <a:solidFill>
            <a:srgbClr val="386759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4080" tIns="45000" rIns="6408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7" name="Text 5"/>
          <p:cNvSpPr/>
          <p:nvPr/>
        </p:nvSpPr>
        <p:spPr>
          <a:xfrm>
            <a:off x="457200" y="6473880"/>
            <a:ext cx="6855480" cy="271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4651"/>
                </a:solidFill>
                <a:effectLst/>
                <a:uFillTx/>
                <a:latin typeface="Plus Jakarta Sans"/>
                <a:ea typeface="Plus Jakarta Sans"/>
              </a:rPr>
              <a:t>Matplotlib: Data Visualization with Python  ·  GCN Course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8" name="Text 6"/>
          <p:cNvSpPr/>
          <p:nvPr/>
        </p:nvSpPr>
        <p:spPr>
          <a:xfrm>
            <a:off x="11505960" y="6473880"/>
            <a:ext cx="500400" cy="271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4651"/>
                </a:solidFill>
                <a:effectLst/>
                <a:uFillTx/>
                <a:latin typeface="Plus Jakarta Sans"/>
                <a:ea typeface="Plus Jakarta Sans"/>
              </a:rPr>
              <a:t>17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9" name="Rounded Rectangle 363"/>
          <p:cNvSpPr/>
          <p:nvPr/>
        </p:nvSpPr>
        <p:spPr>
          <a:xfrm>
            <a:off x="548640" y="1554480"/>
            <a:ext cx="5211360" cy="2102400"/>
          </a:xfrm>
          <a:prstGeom prst="roundRect">
            <a:avLst>
              <a:gd name="adj" fmla="val 3000"/>
            </a:avLst>
          </a:prstGeom>
          <a:solidFill>
            <a:srgbClr val="0E1420"/>
          </a:solidFill>
          <a:ln w="952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00" name="Oval 364"/>
          <p:cNvSpPr/>
          <p:nvPr/>
        </p:nvSpPr>
        <p:spPr>
          <a:xfrm>
            <a:off x="713160" y="1700640"/>
            <a:ext cx="99720" cy="99720"/>
          </a:xfrm>
          <a:prstGeom prst="ellipse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0040" tIns="26280" rIns="50040" bIns="262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01" name="Oval 365"/>
          <p:cNvSpPr/>
          <p:nvPr/>
        </p:nvSpPr>
        <p:spPr>
          <a:xfrm>
            <a:off x="914400" y="1700640"/>
            <a:ext cx="99720" cy="99720"/>
          </a:xfrm>
          <a:prstGeom prst="ellipse">
            <a:avLst/>
          </a:prstGeom>
          <a:solidFill>
            <a:srgbClr val="F9C6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0040" tIns="26280" rIns="50040" bIns="262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02" name="Oval 366"/>
          <p:cNvSpPr/>
          <p:nvPr/>
        </p:nvSpPr>
        <p:spPr>
          <a:xfrm>
            <a:off x="1115640" y="1700640"/>
            <a:ext cx="99720" cy="99720"/>
          </a:xfrm>
          <a:prstGeom prst="ellipse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0040" tIns="26280" rIns="50040" bIns="262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03" name="TextBox 367"/>
          <p:cNvSpPr/>
          <p:nvPr/>
        </p:nvSpPr>
        <p:spPr>
          <a:xfrm>
            <a:off x="685800" y="1920240"/>
            <a:ext cx="4937040" cy="1645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4080" tIns="0" rIns="64080" bIns="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130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plt.hist(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30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    data,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30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    bins=number_of_bins,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30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    color="color_name",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30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    edgecolor="black"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30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04" name="Table 368"/>
          <p:cNvGraphicFramePr/>
          <p:nvPr/>
        </p:nvGraphicFramePr>
        <p:xfrm>
          <a:off x="5989320" y="1554480"/>
          <a:ext cx="5714640" cy="2286000"/>
        </p:xfrm>
        <a:graphic>
          <a:graphicData uri="http://schemas.openxmlformats.org/drawingml/2006/table">
            <a:tbl>
              <a:tblPr/>
              <a:tblGrid>
                <a:gridCol w="2423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91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Plus Jakarta Sans"/>
                        </a:rPr>
                        <a:t>Parameter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5755A7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Plus Jakarta Sans"/>
                        </a:rPr>
                        <a:t>Meaning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5755A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5755A7"/>
                          </a:solidFill>
                          <a:effectLst/>
                          <a:uFillTx/>
                          <a:latin typeface="Consolas"/>
                        </a:rPr>
                        <a:t>data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1B1B20"/>
                          </a:solidFill>
                          <a:effectLst/>
                          <a:uFillTx/>
                          <a:latin typeface="Plus Jakarta Sans"/>
                        </a:rPr>
                        <a:t>Numbers distributed into bins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5755A7"/>
                          </a:solidFill>
                          <a:effectLst/>
                          <a:uFillTx/>
                          <a:latin typeface="Consolas"/>
                        </a:rPr>
                        <a:t>bins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4F1FA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1B1B20"/>
                          </a:solidFill>
                          <a:effectLst/>
                          <a:uFillTx/>
                          <a:latin typeface="Plus Jakarta Sans"/>
                        </a:rPr>
                        <a:t>Number of intervals / groups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4F1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5755A7"/>
                          </a:solidFill>
                          <a:effectLst/>
                          <a:uFillTx/>
                          <a:latin typeface="Consolas"/>
                        </a:rPr>
                        <a:t>color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1B1B20"/>
                          </a:solidFill>
                          <a:effectLst/>
                          <a:uFillTx/>
                          <a:latin typeface="Plus Jakarta Sans"/>
                        </a:rPr>
                        <a:t>Color of the bars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5755A7"/>
                          </a:solidFill>
                          <a:effectLst/>
                          <a:uFillTx/>
                          <a:latin typeface="Consolas"/>
                        </a:rPr>
                        <a:t>edgecolor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4F1FA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1B1B20"/>
                          </a:solidFill>
                          <a:effectLst/>
                          <a:uFillTx/>
                          <a:latin typeface="Plus Jakarta Sans"/>
                        </a:rPr>
                        <a:t>Color of each bar's border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4F1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p15="http://schemas.microsoft.com/office/powerpoint/2012/main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Text 0"/>
          <p:cNvSpPr/>
          <p:nvPr/>
        </p:nvSpPr>
        <p:spPr>
          <a:xfrm>
            <a:off x="548640" y="384120"/>
            <a:ext cx="9598680" cy="290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 spc="201">
                <a:solidFill>
                  <a:srgbClr val="5755A7"/>
                </a:solidFill>
                <a:effectLst/>
                <a:uFillTx/>
                <a:latin typeface="Plus Jakarta Sans"/>
                <a:ea typeface="Plus Jakarta Sans"/>
              </a:rPr>
              <a:t>03 · PYPLOT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6" name="Text 1"/>
          <p:cNvSpPr/>
          <p:nvPr/>
        </p:nvSpPr>
        <p:spPr>
          <a:xfrm>
            <a:off x="548640" y="658440"/>
            <a:ext cx="10240560" cy="683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 spc="-31">
                <a:solidFill>
                  <a:srgbClr val="1B1B20"/>
                </a:solidFill>
                <a:effectLst/>
                <a:uFillTx/>
                <a:latin typeface="Bricolage Grotesque"/>
                <a:ea typeface="Bricolage Grotesque"/>
              </a:rPr>
              <a:t>Histogram — Example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7" name="Shape 2"/>
          <p:cNvSpPr/>
          <p:nvPr/>
        </p:nvSpPr>
        <p:spPr>
          <a:xfrm>
            <a:off x="11323080" y="384120"/>
            <a:ext cx="381600" cy="381600"/>
          </a:xfrm>
          <a:prstGeom prst="roundRect">
            <a:avLst>
              <a:gd name="adj" fmla="val 28000"/>
            </a:avLst>
          </a:prstGeom>
          <a:solidFill>
            <a:srgbClr val="5755A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8" name="Shape 3"/>
          <p:cNvSpPr/>
          <p:nvPr/>
        </p:nvSpPr>
        <p:spPr>
          <a:xfrm>
            <a:off x="11445840" y="506880"/>
            <a:ext cx="258480" cy="258480"/>
          </a:xfrm>
          <a:prstGeom prst="roundRect">
            <a:avLst>
              <a:gd name="adj" fmla="val 26471"/>
            </a:avLst>
          </a:prstGeom>
          <a:solidFill>
            <a:srgbClr val="FCF8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9" name="Shape 4"/>
          <p:cNvSpPr/>
          <p:nvPr/>
        </p:nvSpPr>
        <p:spPr>
          <a:xfrm>
            <a:off x="11514960" y="576000"/>
            <a:ext cx="128160" cy="128160"/>
          </a:xfrm>
          <a:prstGeom prst="roundRect">
            <a:avLst>
              <a:gd name="adj" fmla="val 26471"/>
            </a:avLst>
          </a:prstGeom>
          <a:solidFill>
            <a:srgbClr val="386759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4080" tIns="45000" rIns="6408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0" name="Text 5"/>
          <p:cNvSpPr/>
          <p:nvPr/>
        </p:nvSpPr>
        <p:spPr>
          <a:xfrm>
            <a:off x="457200" y="6473880"/>
            <a:ext cx="6855480" cy="271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4651"/>
                </a:solidFill>
                <a:effectLst/>
                <a:uFillTx/>
                <a:latin typeface="Plus Jakarta Sans"/>
                <a:ea typeface="Plus Jakarta Sans"/>
              </a:rPr>
              <a:t>Matplotlib: Data Visualization with Python  ·  GCN Course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1" name="Text 6"/>
          <p:cNvSpPr/>
          <p:nvPr/>
        </p:nvSpPr>
        <p:spPr>
          <a:xfrm>
            <a:off x="11505960" y="6473880"/>
            <a:ext cx="500400" cy="271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4651"/>
                </a:solidFill>
                <a:effectLst/>
                <a:uFillTx/>
                <a:latin typeface="Plus Jakarta Sans"/>
                <a:ea typeface="Plus Jakarta Sans"/>
              </a:rPr>
              <a:t>18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2" name="Rounded Rectangle 363"/>
          <p:cNvSpPr/>
          <p:nvPr/>
        </p:nvSpPr>
        <p:spPr>
          <a:xfrm>
            <a:off x="548640" y="1463040"/>
            <a:ext cx="5714280" cy="4937040"/>
          </a:xfrm>
          <a:prstGeom prst="roundRect">
            <a:avLst>
              <a:gd name="adj" fmla="val 3000"/>
            </a:avLst>
          </a:prstGeom>
          <a:solidFill>
            <a:srgbClr val="0E1420"/>
          </a:solidFill>
          <a:ln w="952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13" name="Oval 364"/>
          <p:cNvSpPr/>
          <p:nvPr/>
        </p:nvSpPr>
        <p:spPr>
          <a:xfrm>
            <a:off x="713160" y="1609200"/>
            <a:ext cx="99720" cy="99720"/>
          </a:xfrm>
          <a:prstGeom prst="ellipse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0040" tIns="26280" rIns="50040" bIns="262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14" name="Oval 365"/>
          <p:cNvSpPr/>
          <p:nvPr/>
        </p:nvSpPr>
        <p:spPr>
          <a:xfrm>
            <a:off x="914400" y="1609200"/>
            <a:ext cx="99720" cy="99720"/>
          </a:xfrm>
          <a:prstGeom prst="ellipse">
            <a:avLst/>
          </a:prstGeom>
          <a:solidFill>
            <a:srgbClr val="F9C6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0040" tIns="26280" rIns="50040" bIns="262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15" name="Oval 366"/>
          <p:cNvSpPr/>
          <p:nvPr/>
        </p:nvSpPr>
        <p:spPr>
          <a:xfrm>
            <a:off x="1115640" y="1609200"/>
            <a:ext cx="99720" cy="99720"/>
          </a:xfrm>
          <a:prstGeom prst="ellipse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0040" tIns="26280" rIns="50040" bIns="262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16" name="TextBox 367"/>
          <p:cNvSpPr/>
          <p:nvPr/>
        </p:nvSpPr>
        <p:spPr>
          <a:xfrm>
            <a:off x="685800" y="1828800"/>
            <a:ext cx="5439960" cy="4479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4080" tIns="0" rIns="64080" bIns="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115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scores = [45, 52, 58, 61, 63, 67, 69, 70, 72, 74,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15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          75, 77, 79, 81, 83, 85, 87, 89, 92, 95]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15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 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15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plt.hist(scores, bins=5, color="orange", edgecolor="black")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15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plt.xlabel("Scores")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15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plt.ylabel("Number of Students")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15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plt.title("Score Distribution of Students")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15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plt.show()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7" name="Rounded Rectangle 368"/>
          <p:cNvSpPr/>
          <p:nvPr/>
        </p:nvSpPr>
        <p:spPr>
          <a:xfrm>
            <a:off x="6446520" y="1463040"/>
            <a:ext cx="5211360" cy="228528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 w="9525">
            <a:solidFill>
              <a:srgbClr val="C8C5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318" name="Picture 369" descr="hist.png"/>
          <p:cNvPicPr/>
          <p:nvPr/>
        </p:nvPicPr>
        <p:blipFill>
          <a:blip r:embed="rId2"/>
          <a:stretch/>
        </p:blipFill>
        <p:spPr>
          <a:xfrm>
            <a:off x="6583680" y="1577520"/>
            <a:ext cx="4937040" cy="2056680"/>
          </a:xfrm>
          <a:prstGeom prst="rect">
            <a:avLst/>
          </a:prstGeom>
          <a:noFill/>
          <a:ln w="0">
            <a:noFill/>
          </a:ln>
        </p:spPr>
      </p:pic>
      <p:graphicFrame>
        <p:nvGraphicFramePr>
          <p:cNvPr id="319" name="Table 370"/>
          <p:cNvGraphicFramePr/>
          <p:nvPr/>
        </p:nvGraphicFramePr>
        <p:xfrm>
          <a:off x="6446520" y="3886200"/>
          <a:ext cx="5211720" cy="1972800"/>
        </p:xfrm>
        <a:graphic>
          <a:graphicData uri="http://schemas.openxmlformats.org/drawingml/2006/table">
            <a:tbl>
              <a:tblPr/>
              <a:tblGrid>
                <a:gridCol w="2148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46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9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Plus Jakarta Sans"/>
                        </a:rPr>
                        <a:t>Parameter</a:t>
                      </a:r>
                      <a:endParaRPr lang="en-US" sz="9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5755A7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9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Plus Jakarta Sans"/>
                        </a:rPr>
                        <a:t>Meaning</a:t>
                      </a:r>
                      <a:endParaRPr lang="en-US" sz="9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5755A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800" b="1" u="none" strike="noStrike">
                          <a:solidFill>
                            <a:srgbClr val="5755A7"/>
                          </a:solidFill>
                          <a:effectLst/>
                          <a:uFillTx/>
                          <a:latin typeface="Consolas"/>
                        </a:rPr>
                        <a:t>scores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1B1B20"/>
                          </a:solidFill>
                          <a:effectLst/>
                          <a:uFillTx/>
                          <a:latin typeface="Plus Jakarta Sans"/>
                        </a:rPr>
                        <a:t>20 student scores to distribute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800" b="1" u="none" strike="noStrike">
                          <a:solidFill>
                            <a:srgbClr val="5755A7"/>
                          </a:solidFill>
                          <a:effectLst/>
                          <a:uFillTx/>
                          <a:latin typeface="Consolas"/>
                        </a:rPr>
                        <a:t>bins=5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4F1FA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1B1B20"/>
                          </a:solidFill>
                          <a:effectLst/>
                          <a:uFillTx/>
                          <a:latin typeface="Plus Jakarta Sans"/>
                        </a:rPr>
                        <a:t>Groups the scores into 5 intervals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4F1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800" b="1" u="none" strike="noStrike">
                          <a:solidFill>
                            <a:srgbClr val="5755A7"/>
                          </a:solidFill>
                          <a:effectLst/>
                          <a:uFillTx/>
                          <a:latin typeface="Consolas"/>
                        </a:rPr>
                        <a:t>color="orange"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1B1B20"/>
                          </a:solidFill>
                          <a:effectLst/>
                          <a:uFillTx/>
                          <a:latin typeface="Plus Jakarta Sans"/>
                        </a:rPr>
                        <a:t>Fill color of the bars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800" b="1" u="none" strike="noStrike">
                          <a:solidFill>
                            <a:srgbClr val="5755A7"/>
                          </a:solidFill>
                          <a:effectLst/>
                          <a:uFillTx/>
                          <a:latin typeface="Consolas"/>
                        </a:rPr>
                        <a:t>edgecolor="black"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4F1FA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1B1B20"/>
                          </a:solidFill>
                          <a:effectLst/>
                          <a:uFillTx/>
                          <a:latin typeface="Plus Jakarta Sans"/>
                        </a:rPr>
                        <a:t>Border color of each bar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4F1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800" b="1" u="none" strike="noStrike">
                          <a:solidFill>
                            <a:srgbClr val="5755A7"/>
                          </a:solidFill>
                          <a:effectLst/>
                          <a:uFillTx/>
                          <a:latin typeface="Consolas"/>
                        </a:rPr>
                        <a:t>plt.xlabel("Scores")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1B1B20"/>
                          </a:solidFill>
                          <a:effectLst/>
                          <a:uFillTx/>
                          <a:latin typeface="Plus Jakarta Sans"/>
                        </a:rPr>
                        <a:t>Text under the X-axis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6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800" b="1" u="none" strike="noStrike">
                          <a:solidFill>
                            <a:srgbClr val="5755A7"/>
                          </a:solidFill>
                          <a:effectLst/>
                          <a:uFillTx/>
                          <a:latin typeface="Consolas"/>
                        </a:rPr>
                        <a:t>plt.ylabel("...")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4F1FA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1B1B20"/>
                          </a:solidFill>
                          <a:effectLst/>
                          <a:uFillTx/>
                          <a:latin typeface="Plus Jakarta Sans"/>
                        </a:rPr>
                        <a:t>Text along the Y-axis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4F1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6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800" b="1" u="none" strike="noStrike">
                          <a:solidFill>
                            <a:srgbClr val="5755A7"/>
                          </a:solidFill>
                          <a:effectLst/>
                          <a:uFillTx/>
                          <a:latin typeface="Consolas"/>
                        </a:rPr>
                        <a:t>plt.title("...")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1B1B20"/>
                          </a:solidFill>
                          <a:effectLst/>
                          <a:uFillTx/>
                          <a:latin typeface="Plus Jakarta Sans"/>
                        </a:rPr>
                        <a:t>Heading of the chart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p15="http://schemas.microsoft.com/office/powerpoint/2012/main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Text 0"/>
          <p:cNvSpPr/>
          <p:nvPr/>
        </p:nvSpPr>
        <p:spPr>
          <a:xfrm>
            <a:off x="548640" y="384120"/>
            <a:ext cx="9598680" cy="290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 spc="201">
                <a:solidFill>
                  <a:srgbClr val="5755A7"/>
                </a:solidFill>
                <a:effectLst/>
                <a:uFillTx/>
                <a:latin typeface="Plus Jakarta Sans"/>
                <a:ea typeface="Plus Jakarta Sans"/>
              </a:rPr>
              <a:t>03 · PYPLOT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1" name="Text 1"/>
          <p:cNvSpPr/>
          <p:nvPr/>
        </p:nvSpPr>
        <p:spPr>
          <a:xfrm>
            <a:off x="548640" y="658440"/>
            <a:ext cx="10240560" cy="683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 spc="-31">
                <a:solidFill>
                  <a:srgbClr val="1B1B20"/>
                </a:solidFill>
                <a:effectLst/>
                <a:uFillTx/>
                <a:latin typeface="Bricolage Grotesque"/>
                <a:ea typeface="Bricolage Grotesque"/>
              </a:rPr>
              <a:t>Scatter Plot — plt.scatter() Syntax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2" name="Shape 2"/>
          <p:cNvSpPr/>
          <p:nvPr/>
        </p:nvSpPr>
        <p:spPr>
          <a:xfrm>
            <a:off x="11323080" y="384120"/>
            <a:ext cx="381600" cy="381600"/>
          </a:xfrm>
          <a:prstGeom prst="roundRect">
            <a:avLst>
              <a:gd name="adj" fmla="val 28000"/>
            </a:avLst>
          </a:prstGeom>
          <a:solidFill>
            <a:srgbClr val="5755A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3" name="Shape 3"/>
          <p:cNvSpPr/>
          <p:nvPr/>
        </p:nvSpPr>
        <p:spPr>
          <a:xfrm>
            <a:off x="11445840" y="506880"/>
            <a:ext cx="258480" cy="258480"/>
          </a:xfrm>
          <a:prstGeom prst="roundRect">
            <a:avLst>
              <a:gd name="adj" fmla="val 26471"/>
            </a:avLst>
          </a:prstGeom>
          <a:solidFill>
            <a:srgbClr val="FCF8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4" name="Shape 4"/>
          <p:cNvSpPr/>
          <p:nvPr/>
        </p:nvSpPr>
        <p:spPr>
          <a:xfrm>
            <a:off x="11514960" y="576000"/>
            <a:ext cx="128160" cy="128160"/>
          </a:xfrm>
          <a:prstGeom prst="roundRect">
            <a:avLst>
              <a:gd name="adj" fmla="val 26471"/>
            </a:avLst>
          </a:prstGeom>
          <a:solidFill>
            <a:srgbClr val="386759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4080" tIns="45000" rIns="6408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5" name="Text 5"/>
          <p:cNvSpPr/>
          <p:nvPr/>
        </p:nvSpPr>
        <p:spPr>
          <a:xfrm>
            <a:off x="457200" y="6473880"/>
            <a:ext cx="6855480" cy="271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4651"/>
                </a:solidFill>
                <a:effectLst/>
                <a:uFillTx/>
                <a:latin typeface="Plus Jakarta Sans"/>
                <a:ea typeface="Plus Jakarta Sans"/>
              </a:rPr>
              <a:t>Matplotlib: Data Visualization with Python  ·  GCN Course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6" name="Text 6"/>
          <p:cNvSpPr/>
          <p:nvPr/>
        </p:nvSpPr>
        <p:spPr>
          <a:xfrm>
            <a:off x="11505960" y="6473880"/>
            <a:ext cx="500400" cy="271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4651"/>
                </a:solidFill>
                <a:effectLst/>
                <a:uFillTx/>
                <a:latin typeface="Plus Jakarta Sans"/>
                <a:ea typeface="Plus Jakarta Sans"/>
              </a:rPr>
              <a:t>19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7" name="Rounded Rectangle 363"/>
          <p:cNvSpPr/>
          <p:nvPr/>
        </p:nvSpPr>
        <p:spPr>
          <a:xfrm>
            <a:off x="548640" y="1554480"/>
            <a:ext cx="5211360" cy="2331000"/>
          </a:xfrm>
          <a:prstGeom prst="roundRect">
            <a:avLst>
              <a:gd name="adj" fmla="val 3000"/>
            </a:avLst>
          </a:prstGeom>
          <a:solidFill>
            <a:srgbClr val="0E1420"/>
          </a:solidFill>
          <a:ln w="952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28" name="Oval 364"/>
          <p:cNvSpPr/>
          <p:nvPr/>
        </p:nvSpPr>
        <p:spPr>
          <a:xfrm>
            <a:off x="713160" y="1700640"/>
            <a:ext cx="99720" cy="99720"/>
          </a:xfrm>
          <a:prstGeom prst="ellipse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0040" tIns="26280" rIns="50040" bIns="262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29" name="Oval 365"/>
          <p:cNvSpPr/>
          <p:nvPr/>
        </p:nvSpPr>
        <p:spPr>
          <a:xfrm>
            <a:off x="914400" y="1700640"/>
            <a:ext cx="99720" cy="99720"/>
          </a:xfrm>
          <a:prstGeom prst="ellipse">
            <a:avLst/>
          </a:prstGeom>
          <a:solidFill>
            <a:srgbClr val="F9C6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0040" tIns="26280" rIns="50040" bIns="262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30" name="Oval 366"/>
          <p:cNvSpPr/>
          <p:nvPr/>
        </p:nvSpPr>
        <p:spPr>
          <a:xfrm>
            <a:off x="1115640" y="1700640"/>
            <a:ext cx="99720" cy="99720"/>
          </a:xfrm>
          <a:prstGeom prst="ellipse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0040" tIns="26280" rIns="50040" bIns="262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31" name="TextBox 367"/>
          <p:cNvSpPr/>
          <p:nvPr/>
        </p:nvSpPr>
        <p:spPr>
          <a:xfrm>
            <a:off x="685800" y="1920240"/>
            <a:ext cx="4937040" cy="1873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4080" tIns="0" rIns="64080" bIns="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130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plt.scatter(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30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    x,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30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    y,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30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    color="color_name",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30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    marker="style",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30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    label="label name"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30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32" name="Table 368"/>
          <p:cNvGraphicFramePr/>
          <p:nvPr/>
        </p:nvGraphicFramePr>
        <p:xfrm>
          <a:off x="5989320" y="1554480"/>
          <a:ext cx="5714640" cy="2743200"/>
        </p:xfrm>
        <a:graphic>
          <a:graphicData uri="http://schemas.openxmlformats.org/drawingml/2006/table">
            <a:tbl>
              <a:tblPr/>
              <a:tblGrid>
                <a:gridCol w="2423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91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Plus Jakarta Sans"/>
                        </a:rPr>
                        <a:t>Parameter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5755A7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Plus Jakarta Sans"/>
                        </a:rPr>
                        <a:t>Meaning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5755A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5755A7"/>
                          </a:solidFill>
                          <a:effectLst/>
                          <a:uFillTx/>
                          <a:latin typeface="Consolas"/>
                        </a:rPr>
                        <a:t>x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1B1B20"/>
                          </a:solidFill>
                          <a:effectLst/>
                          <a:uFillTx/>
                          <a:latin typeface="Plus Jakarta Sans"/>
                        </a:rPr>
                        <a:t>Data for the X-axis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5755A7"/>
                          </a:solidFill>
                          <a:effectLst/>
                          <a:uFillTx/>
                          <a:latin typeface="Consolas"/>
                        </a:rPr>
                        <a:t>y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4F1FA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1B1B20"/>
                          </a:solidFill>
                          <a:effectLst/>
                          <a:uFillTx/>
                          <a:latin typeface="Plus Jakarta Sans"/>
                        </a:rPr>
                        <a:t>Data for the Y-axis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4F1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5755A7"/>
                          </a:solidFill>
                          <a:effectLst/>
                          <a:uFillTx/>
                          <a:latin typeface="Consolas"/>
                        </a:rPr>
                        <a:t>color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1B1B20"/>
                          </a:solidFill>
                          <a:effectLst/>
                          <a:uFillTx/>
                          <a:latin typeface="Plus Jakarta Sans"/>
                        </a:rPr>
                        <a:t>Color of the points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5755A7"/>
                          </a:solidFill>
                          <a:effectLst/>
                          <a:uFillTx/>
                          <a:latin typeface="Consolas"/>
                        </a:rPr>
                        <a:t>marker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4F1FA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1B1B20"/>
                          </a:solidFill>
                          <a:effectLst/>
                          <a:uFillTx/>
                          <a:latin typeface="Plus Jakarta Sans"/>
                        </a:rPr>
                        <a:t>Shape / style of the points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4F1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5755A7"/>
                          </a:solidFill>
                          <a:effectLst/>
                          <a:uFillTx/>
                          <a:latin typeface="Consolas"/>
                        </a:rPr>
                        <a:t>label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1B1B20"/>
                          </a:solidFill>
                          <a:effectLst/>
                          <a:uFillTx/>
                          <a:latin typeface="Plus Jakarta Sans"/>
                        </a:rPr>
                        <a:t>Name used in the legend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p15="http://schemas.microsoft.com/office/powerpoint/2012/main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Text 0"/>
          <p:cNvSpPr/>
          <p:nvPr/>
        </p:nvSpPr>
        <p:spPr>
          <a:xfrm>
            <a:off x="548640" y="384120"/>
            <a:ext cx="9598680" cy="290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 spc="201">
                <a:solidFill>
                  <a:srgbClr val="5755A7"/>
                </a:solidFill>
                <a:effectLst/>
                <a:uFillTx/>
                <a:latin typeface="Plus Jakarta Sans"/>
                <a:ea typeface="Plus Jakarta Sans"/>
              </a:rPr>
              <a:t>03 · PYPLOT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4" name="Text 1"/>
          <p:cNvSpPr/>
          <p:nvPr/>
        </p:nvSpPr>
        <p:spPr>
          <a:xfrm>
            <a:off x="548640" y="658440"/>
            <a:ext cx="10240560" cy="683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 spc="-31">
                <a:solidFill>
                  <a:srgbClr val="1B1B20"/>
                </a:solidFill>
                <a:effectLst/>
                <a:uFillTx/>
                <a:latin typeface="Bricolage Grotesque"/>
                <a:ea typeface="Bricolage Grotesque"/>
              </a:rPr>
              <a:t>Scatter Plot — Example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5" name="Shape 2"/>
          <p:cNvSpPr/>
          <p:nvPr/>
        </p:nvSpPr>
        <p:spPr>
          <a:xfrm>
            <a:off x="11323080" y="384120"/>
            <a:ext cx="381600" cy="381600"/>
          </a:xfrm>
          <a:prstGeom prst="roundRect">
            <a:avLst>
              <a:gd name="adj" fmla="val 28000"/>
            </a:avLst>
          </a:prstGeom>
          <a:solidFill>
            <a:srgbClr val="5755A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6" name="Shape 3"/>
          <p:cNvSpPr/>
          <p:nvPr/>
        </p:nvSpPr>
        <p:spPr>
          <a:xfrm>
            <a:off x="11445840" y="506880"/>
            <a:ext cx="258480" cy="258480"/>
          </a:xfrm>
          <a:prstGeom prst="roundRect">
            <a:avLst>
              <a:gd name="adj" fmla="val 26471"/>
            </a:avLst>
          </a:prstGeom>
          <a:solidFill>
            <a:srgbClr val="FCF8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7" name="Shape 4"/>
          <p:cNvSpPr/>
          <p:nvPr/>
        </p:nvSpPr>
        <p:spPr>
          <a:xfrm>
            <a:off x="11514960" y="576000"/>
            <a:ext cx="128160" cy="128160"/>
          </a:xfrm>
          <a:prstGeom prst="roundRect">
            <a:avLst>
              <a:gd name="adj" fmla="val 26471"/>
            </a:avLst>
          </a:prstGeom>
          <a:solidFill>
            <a:srgbClr val="386759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4080" tIns="45000" rIns="6408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8" name="Text 5"/>
          <p:cNvSpPr/>
          <p:nvPr/>
        </p:nvSpPr>
        <p:spPr>
          <a:xfrm>
            <a:off x="457200" y="6473880"/>
            <a:ext cx="6855480" cy="271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4651"/>
                </a:solidFill>
                <a:effectLst/>
                <a:uFillTx/>
                <a:latin typeface="Plus Jakarta Sans"/>
                <a:ea typeface="Plus Jakarta Sans"/>
              </a:rPr>
              <a:t>Matplotlib: Data Visualization with Python  ·  GCN Course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9" name="Text 6"/>
          <p:cNvSpPr/>
          <p:nvPr/>
        </p:nvSpPr>
        <p:spPr>
          <a:xfrm>
            <a:off x="11505960" y="6473880"/>
            <a:ext cx="500400" cy="271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4651"/>
                </a:solidFill>
                <a:effectLst/>
                <a:uFillTx/>
                <a:latin typeface="Plus Jakarta Sans"/>
                <a:ea typeface="Plus Jakarta Sans"/>
              </a:rPr>
              <a:t>20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0" name="Rounded Rectangle 363"/>
          <p:cNvSpPr/>
          <p:nvPr/>
        </p:nvSpPr>
        <p:spPr>
          <a:xfrm>
            <a:off x="548640" y="1463040"/>
            <a:ext cx="5714280" cy="4937040"/>
          </a:xfrm>
          <a:prstGeom prst="roundRect">
            <a:avLst>
              <a:gd name="adj" fmla="val 3000"/>
            </a:avLst>
          </a:prstGeom>
          <a:solidFill>
            <a:srgbClr val="0E1420"/>
          </a:solidFill>
          <a:ln w="952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41" name="Oval 364"/>
          <p:cNvSpPr/>
          <p:nvPr/>
        </p:nvSpPr>
        <p:spPr>
          <a:xfrm>
            <a:off x="713160" y="1609200"/>
            <a:ext cx="99720" cy="99720"/>
          </a:xfrm>
          <a:prstGeom prst="ellipse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0040" tIns="26280" rIns="50040" bIns="262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42" name="Oval 365"/>
          <p:cNvSpPr/>
          <p:nvPr/>
        </p:nvSpPr>
        <p:spPr>
          <a:xfrm>
            <a:off x="914400" y="1609200"/>
            <a:ext cx="99720" cy="99720"/>
          </a:xfrm>
          <a:prstGeom prst="ellipse">
            <a:avLst/>
          </a:prstGeom>
          <a:solidFill>
            <a:srgbClr val="F9C6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0040" tIns="26280" rIns="50040" bIns="262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43" name="Oval 366"/>
          <p:cNvSpPr/>
          <p:nvPr/>
        </p:nvSpPr>
        <p:spPr>
          <a:xfrm>
            <a:off x="1115640" y="1609200"/>
            <a:ext cx="99720" cy="99720"/>
          </a:xfrm>
          <a:prstGeom prst="ellipse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0040" tIns="26280" rIns="50040" bIns="262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44" name="TextBox 367"/>
          <p:cNvSpPr/>
          <p:nvPr/>
        </p:nvSpPr>
        <p:spPr>
          <a:xfrm>
            <a:off x="685800" y="1828800"/>
            <a:ext cx="5439960" cy="4479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4080" tIns="0" rIns="64080" bIns="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hours_studied = [1, 2, 3, 4, 5, 6, 7, 8]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exam_scores = [45, 52, 58, 65, 70, 76, 84, 91]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 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social_media_hours = [6, 5.5, 5, 4.5, 4, 3.5, 3, 2.5]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social_media_scores = [45, 48, 52, 58, 62, 68, 75, 82]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 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plt.scatter(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    hours_studied,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    exam_scores,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    color="green",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    marker="^",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    label="Hours Studied vs Exam Scores"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)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 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plt.scatter(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    social_media_hours,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    social_media_scores,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    color="red",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    marker="x",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    label="Social Media Use vs Exam Scores"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)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 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plt.xlabel("Hours")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plt.ylabel("Exam Scores")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plt.legend(loc="best")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plt.title("Study &amp; Social Media Use vs Exam Scores")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plt.grid()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 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plt.show()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5" name="Rounded Rectangle 368"/>
          <p:cNvSpPr/>
          <p:nvPr/>
        </p:nvSpPr>
        <p:spPr>
          <a:xfrm>
            <a:off x="6446520" y="1463040"/>
            <a:ext cx="5211360" cy="228528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 w="9525">
            <a:solidFill>
              <a:srgbClr val="C8C5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346" name="Picture 369" descr="scatter.png"/>
          <p:cNvPicPr/>
          <p:nvPr/>
        </p:nvPicPr>
        <p:blipFill>
          <a:blip r:embed="rId2"/>
          <a:stretch/>
        </p:blipFill>
        <p:spPr>
          <a:xfrm>
            <a:off x="6583680" y="1577520"/>
            <a:ext cx="4937040" cy="2056680"/>
          </a:xfrm>
          <a:prstGeom prst="rect">
            <a:avLst/>
          </a:prstGeom>
          <a:noFill/>
          <a:ln w="0">
            <a:noFill/>
          </a:ln>
        </p:spPr>
      </p:pic>
      <p:graphicFrame>
        <p:nvGraphicFramePr>
          <p:cNvPr id="347" name="Table 370"/>
          <p:cNvGraphicFramePr/>
          <p:nvPr/>
        </p:nvGraphicFramePr>
        <p:xfrm>
          <a:off x="6446520" y="3886200"/>
          <a:ext cx="5212080" cy="2219400"/>
        </p:xfrm>
        <a:graphic>
          <a:graphicData uri="http://schemas.openxmlformats.org/drawingml/2006/table">
            <a:tbl>
              <a:tblPr/>
              <a:tblGrid>
                <a:gridCol w="2148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46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9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Plus Jakarta Sans"/>
                        </a:rPr>
                        <a:t>Parameter</a:t>
                      </a:r>
                      <a:endParaRPr lang="en-US" sz="9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5755A7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9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Plus Jakarta Sans"/>
                        </a:rPr>
                        <a:t>Meaning</a:t>
                      </a:r>
                      <a:endParaRPr lang="en-US" sz="9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5755A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800" b="1" u="none" strike="noStrike">
                          <a:solidFill>
                            <a:srgbClr val="5755A7"/>
                          </a:solidFill>
                          <a:effectLst/>
                          <a:uFillTx/>
                          <a:latin typeface="Consolas"/>
                        </a:rPr>
                        <a:t>hours_studied, exam_scores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1B1B20"/>
                          </a:solidFill>
                          <a:effectLst/>
                          <a:uFillTx/>
                          <a:latin typeface="Plus Jakarta Sans"/>
                        </a:rPr>
                        <a:t>X and Y values of the first set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800" b="1" u="none" strike="noStrike">
                          <a:solidFill>
                            <a:srgbClr val="5755A7"/>
                          </a:solidFill>
                          <a:effectLst/>
                          <a:uFillTx/>
                          <a:latin typeface="Consolas"/>
                        </a:rPr>
                        <a:t>social_media_hours / _scores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4F1FA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1B1B20"/>
                          </a:solidFill>
                          <a:effectLst/>
                          <a:uFillTx/>
                          <a:latin typeface="Plus Jakarta Sans"/>
                        </a:rPr>
                        <a:t>X and Y values of the second set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4F1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800" b="1" u="none" strike="noStrike">
                          <a:solidFill>
                            <a:srgbClr val="5755A7"/>
                          </a:solidFill>
                          <a:effectLst/>
                          <a:uFillTx/>
                          <a:latin typeface="Consolas"/>
                        </a:rPr>
                        <a:t>color="green" / "red"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1B1B20"/>
                          </a:solidFill>
                          <a:effectLst/>
                          <a:uFillTx/>
                          <a:latin typeface="Plus Jakarta Sans"/>
                        </a:rPr>
                        <a:t>Color of each set of points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800" b="1" u="none" strike="noStrike">
                          <a:solidFill>
                            <a:srgbClr val="5755A7"/>
                          </a:solidFill>
                          <a:effectLst/>
                          <a:uFillTx/>
                          <a:latin typeface="Consolas"/>
                        </a:rPr>
                        <a:t>marker="^" / "x"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4F1FA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1B1B20"/>
                          </a:solidFill>
                          <a:effectLst/>
                          <a:uFillTx/>
                          <a:latin typeface="Plus Jakarta Sans"/>
                        </a:rPr>
                        <a:t>Triangle and cross-shaped points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4F1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800" b="1" u="none" strike="noStrike">
                          <a:solidFill>
                            <a:srgbClr val="5755A7"/>
                          </a:solidFill>
                          <a:effectLst/>
                          <a:uFillTx/>
                          <a:latin typeface="Consolas"/>
                        </a:rPr>
                        <a:t>label=...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1B1B20"/>
                          </a:solidFill>
                          <a:effectLst/>
                          <a:uFillTx/>
                          <a:latin typeface="Plus Jakarta Sans"/>
                        </a:rPr>
                        <a:t>Legend name of each set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6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800" b="1" u="none" strike="noStrike">
                          <a:solidFill>
                            <a:srgbClr val="5755A7"/>
                          </a:solidFill>
                          <a:effectLst/>
                          <a:uFillTx/>
                          <a:latin typeface="Consolas"/>
                        </a:rPr>
                        <a:t>plt.legend(loc="best")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4F1FA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1B1B20"/>
                          </a:solidFill>
                          <a:effectLst/>
                          <a:uFillTx/>
                          <a:latin typeface="Plus Jakarta Sans"/>
                        </a:rPr>
                        <a:t>Legend placed where it fits best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4F1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6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800" b="1" u="none" strike="noStrike">
                          <a:solidFill>
                            <a:srgbClr val="5755A7"/>
                          </a:solidFill>
                          <a:effectLst/>
                          <a:uFillTx/>
                          <a:latin typeface="Consolas"/>
                        </a:rPr>
                        <a:t>plt.grid()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1B1B20"/>
                          </a:solidFill>
                          <a:effectLst/>
                          <a:uFillTx/>
                          <a:latin typeface="Plus Jakarta Sans"/>
                        </a:rPr>
                        <a:t>Turns the grid on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6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800" b="1" u="none" strike="noStrike">
                          <a:solidFill>
                            <a:srgbClr val="5755A7"/>
                          </a:solidFill>
                          <a:effectLst/>
                          <a:uFillTx/>
                          <a:latin typeface="Consolas"/>
                        </a:rPr>
                        <a:t>plt.xlabel / ylabel / title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4F1FA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1B1B20"/>
                          </a:solidFill>
                          <a:effectLst/>
                          <a:uFillTx/>
                          <a:latin typeface="Plus Jakarta Sans"/>
                        </a:rPr>
                        <a:t>Axis text and chart heading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4F1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p15="http://schemas.microsoft.com/office/powerpoint/2012/main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Shape 0"/>
          <p:cNvSpPr/>
          <p:nvPr/>
        </p:nvSpPr>
        <p:spPr>
          <a:xfrm>
            <a:off x="9692640" y="-1463040"/>
            <a:ext cx="3837960" cy="3837960"/>
          </a:xfrm>
          <a:prstGeom prst="ellipse">
            <a:avLst/>
          </a:prstGeom>
          <a:solidFill>
            <a:srgbClr val="262758">
              <a:alpha val="45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9" name="Shape 1"/>
          <p:cNvSpPr/>
          <p:nvPr/>
        </p:nvSpPr>
        <p:spPr>
          <a:xfrm>
            <a:off x="-1280160" y="4754880"/>
            <a:ext cx="3106440" cy="3106440"/>
          </a:xfrm>
          <a:prstGeom prst="ellipse">
            <a:avLst/>
          </a:prstGeom>
          <a:solidFill>
            <a:srgbClr val="11362E">
              <a:alpha val="55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0" name="Shape 2"/>
          <p:cNvSpPr/>
          <p:nvPr/>
        </p:nvSpPr>
        <p:spPr>
          <a:xfrm>
            <a:off x="640080" y="548640"/>
            <a:ext cx="454680" cy="454680"/>
          </a:xfrm>
          <a:prstGeom prst="roundRect">
            <a:avLst>
              <a:gd name="adj" fmla="val 28000"/>
            </a:avLst>
          </a:prstGeom>
          <a:solidFill>
            <a:srgbClr val="818CF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1" name="Shape 3"/>
          <p:cNvSpPr/>
          <p:nvPr/>
        </p:nvSpPr>
        <p:spPr>
          <a:xfrm>
            <a:off x="786240" y="694800"/>
            <a:ext cx="308520" cy="308520"/>
          </a:xfrm>
          <a:prstGeom prst="roundRect">
            <a:avLst>
              <a:gd name="adj" fmla="val 26471"/>
            </a:avLst>
          </a:prstGeom>
          <a:solidFill>
            <a:srgbClr val="0B0F1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2" name="Shape 4"/>
          <p:cNvSpPr/>
          <p:nvPr/>
        </p:nvSpPr>
        <p:spPr>
          <a:xfrm>
            <a:off x="868680" y="777240"/>
            <a:ext cx="153000" cy="153000"/>
          </a:xfrm>
          <a:prstGeom prst="roundRect">
            <a:avLst>
              <a:gd name="adj" fmla="val 26471"/>
            </a:avLst>
          </a:prstGeom>
          <a:solidFill>
            <a:srgbClr val="2DD4B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680" tIns="45000" rIns="7668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3" name="Text 5"/>
          <p:cNvSpPr/>
          <p:nvPr/>
        </p:nvSpPr>
        <p:spPr>
          <a:xfrm>
            <a:off x="640080" y="2331720"/>
            <a:ext cx="9141480" cy="454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 spc="300">
                <a:solidFill>
                  <a:srgbClr val="2DD4BF"/>
                </a:solidFill>
                <a:effectLst/>
                <a:uFillTx/>
                <a:latin typeface="Plus Jakarta Sans"/>
                <a:ea typeface="Plus Jakarta Sans"/>
              </a:rPr>
              <a:t>05 · SUBPLOTS &amp; OO API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4" name="Text 6"/>
          <p:cNvSpPr/>
          <p:nvPr/>
        </p:nvSpPr>
        <p:spPr>
          <a:xfrm>
            <a:off x="640080" y="2743200"/>
            <a:ext cx="10330200" cy="1369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800" b="1" u="none" strike="noStrike" spc="-51">
                <a:solidFill>
                  <a:srgbClr val="F1F5F9"/>
                </a:solidFill>
                <a:effectLst/>
                <a:uFillTx/>
                <a:latin typeface="Bricolage Grotesque"/>
                <a:ea typeface="Bricolage Grotesque"/>
              </a:rPr>
              <a:t>Subplots &amp; the Object-Oriented API</a:t>
            </a:r>
            <a:endParaRPr lang="en-US" sz="3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5" name="Text 7"/>
          <p:cNvSpPr/>
          <p:nvPr/>
        </p:nvSpPr>
        <p:spPr>
          <a:xfrm>
            <a:off x="640080" y="3931920"/>
            <a:ext cx="9690120" cy="729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94A3B8"/>
                </a:solidFill>
                <a:effectLst/>
                <a:uFillTx/>
                <a:latin typeface="Hanken Grotesk"/>
                <a:ea typeface="Hanken Grotesk"/>
              </a:rPr>
              <a:t>Combining multiple charts in one Figure, and the more explicit way of writing Matplotlib code used throughout real projects.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6" name="Text 8"/>
          <p:cNvSpPr/>
          <p:nvPr/>
        </p:nvSpPr>
        <p:spPr>
          <a:xfrm>
            <a:off x="11505960" y="6473880"/>
            <a:ext cx="500400" cy="271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94A3B8"/>
                </a:solidFill>
                <a:effectLst/>
                <a:uFillTx/>
                <a:latin typeface="Plus Jakarta Sans"/>
                <a:ea typeface="Plus Jakarta Sans"/>
              </a:rPr>
              <a:t>21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p15="http://schemas.microsoft.com/office/powerpoint/2012/main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Text 0"/>
          <p:cNvSpPr/>
          <p:nvPr/>
        </p:nvSpPr>
        <p:spPr>
          <a:xfrm>
            <a:off x="548640" y="384120"/>
            <a:ext cx="9598680" cy="290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 spc="201">
                <a:solidFill>
                  <a:srgbClr val="5755A7"/>
                </a:solidFill>
                <a:effectLst/>
                <a:uFillTx/>
                <a:latin typeface="Plus Jakarta Sans"/>
                <a:ea typeface="Plus Jakarta Sans"/>
              </a:rPr>
              <a:t>05 · SUBPLOTS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8" name="Text 1"/>
          <p:cNvSpPr/>
          <p:nvPr/>
        </p:nvSpPr>
        <p:spPr>
          <a:xfrm>
            <a:off x="548640" y="658440"/>
            <a:ext cx="10240560" cy="683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 spc="-31">
                <a:solidFill>
                  <a:srgbClr val="1B1B20"/>
                </a:solidFill>
                <a:effectLst/>
                <a:uFillTx/>
                <a:latin typeface="Bricolage Grotesque"/>
                <a:ea typeface="Bricolage Grotesque"/>
              </a:rPr>
              <a:t>Subplots — plt.subplot() Syntax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9" name="Shape 2"/>
          <p:cNvSpPr/>
          <p:nvPr/>
        </p:nvSpPr>
        <p:spPr>
          <a:xfrm>
            <a:off x="11323080" y="384120"/>
            <a:ext cx="381600" cy="381600"/>
          </a:xfrm>
          <a:prstGeom prst="roundRect">
            <a:avLst>
              <a:gd name="adj" fmla="val 28000"/>
            </a:avLst>
          </a:prstGeom>
          <a:solidFill>
            <a:srgbClr val="5755A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0" name="Shape 3"/>
          <p:cNvSpPr/>
          <p:nvPr/>
        </p:nvSpPr>
        <p:spPr>
          <a:xfrm>
            <a:off x="11445840" y="506880"/>
            <a:ext cx="258480" cy="258480"/>
          </a:xfrm>
          <a:prstGeom prst="roundRect">
            <a:avLst>
              <a:gd name="adj" fmla="val 26471"/>
            </a:avLst>
          </a:prstGeom>
          <a:solidFill>
            <a:srgbClr val="FCF8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1" name="Shape 4"/>
          <p:cNvSpPr/>
          <p:nvPr/>
        </p:nvSpPr>
        <p:spPr>
          <a:xfrm>
            <a:off x="11514960" y="576000"/>
            <a:ext cx="128160" cy="128160"/>
          </a:xfrm>
          <a:prstGeom prst="roundRect">
            <a:avLst>
              <a:gd name="adj" fmla="val 26471"/>
            </a:avLst>
          </a:prstGeom>
          <a:solidFill>
            <a:srgbClr val="386759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4080" tIns="45000" rIns="6408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2" name="Text 5"/>
          <p:cNvSpPr/>
          <p:nvPr/>
        </p:nvSpPr>
        <p:spPr>
          <a:xfrm>
            <a:off x="457200" y="6473880"/>
            <a:ext cx="6855480" cy="271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4651"/>
                </a:solidFill>
                <a:effectLst/>
                <a:uFillTx/>
                <a:latin typeface="Plus Jakarta Sans"/>
                <a:ea typeface="Plus Jakarta Sans"/>
              </a:rPr>
              <a:t>Matplotlib: Data Visualization with Python  ·  GCN Course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3" name="Text 6"/>
          <p:cNvSpPr/>
          <p:nvPr/>
        </p:nvSpPr>
        <p:spPr>
          <a:xfrm>
            <a:off x="11505960" y="6473880"/>
            <a:ext cx="500400" cy="271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4651"/>
                </a:solidFill>
                <a:effectLst/>
                <a:uFillTx/>
                <a:latin typeface="Plus Jakarta Sans"/>
                <a:ea typeface="Plus Jakarta Sans"/>
              </a:rPr>
              <a:t>22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4" name="Rounded Rectangle 363"/>
          <p:cNvSpPr/>
          <p:nvPr/>
        </p:nvSpPr>
        <p:spPr>
          <a:xfrm>
            <a:off x="548640" y="1554480"/>
            <a:ext cx="5211360" cy="1873800"/>
          </a:xfrm>
          <a:prstGeom prst="roundRect">
            <a:avLst>
              <a:gd name="adj" fmla="val 3000"/>
            </a:avLst>
          </a:prstGeom>
          <a:solidFill>
            <a:srgbClr val="0E1420"/>
          </a:solidFill>
          <a:ln w="952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65" name="Oval 364"/>
          <p:cNvSpPr/>
          <p:nvPr/>
        </p:nvSpPr>
        <p:spPr>
          <a:xfrm>
            <a:off x="713160" y="1700640"/>
            <a:ext cx="99720" cy="99720"/>
          </a:xfrm>
          <a:prstGeom prst="ellipse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0040" tIns="26280" rIns="50040" bIns="262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66" name="Oval 365"/>
          <p:cNvSpPr/>
          <p:nvPr/>
        </p:nvSpPr>
        <p:spPr>
          <a:xfrm>
            <a:off x="914400" y="1700640"/>
            <a:ext cx="99720" cy="99720"/>
          </a:xfrm>
          <a:prstGeom prst="ellipse">
            <a:avLst/>
          </a:prstGeom>
          <a:solidFill>
            <a:srgbClr val="F9C6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0040" tIns="26280" rIns="50040" bIns="262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67" name="Oval 366"/>
          <p:cNvSpPr/>
          <p:nvPr/>
        </p:nvSpPr>
        <p:spPr>
          <a:xfrm>
            <a:off x="1115640" y="1700640"/>
            <a:ext cx="99720" cy="99720"/>
          </a:xfrm>
          <a:prstGeom prst="ellipse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0040" tIns="26280" rIns="50040" bIns="262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68" name="TextBox 367"/>
          <p:cNvSpPr/>
          <p:nvPr/>
        </p:nvSpPr>
        <p:spPr>
          <a:xfrm>
            <a:off x="685800" y="1920240"/>
            <a:ext cx="4937040" cy="1416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4080" tIns="0" rIns="64080" bIns="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110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plt.subplot(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10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    nrows,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10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    ncolumns,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10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    index # Here indexing is not 0-based. It is 1-based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10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)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69" name="Table 368"/>
          <p:cNvGraphicFramePr/>
          <p:nvPr/>
        </p:nvGraphicFramePr>
        <p:xfrm>
          <a:off x="5989320" y="1554480"/>
          <a:ext cx="5715000" cy="1828800"/>
        </p:xfrm>
        <a:graphic>
          <a:graphicData uri="http://schemas.openxmlformats.org/drawingml/2006/table">
            <a:tbl>
              <a:tblPr/>
              <a:tblGrid>
                <a:gridCol w="2423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91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Plus Jakarta Sans"/>
                        </a:rPr>
                        <a:t>Parameter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5755A7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Plus Jakarta Sans"/>
                        </a:rPr>
                        <a:t>Meaning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5755A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5755A7"/>
                          </a:solidFill>
                          <a:effectLst/>
                          <a:uFillTx/>
                          <a:latin typeface="Consolas"/>
                        </a:rPr>
                        <a:t>nrows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1B1B20"/>
                          </a:solidFill>
                          <a:effectLst/>
                          <a:uFillTx/>
                          <a:latin typeface="Plus Jakarta Sans"/>
                        </a:rPr>
                        <a:t>Number of rows in the grid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5755A7"/>
                          </a:solidFill>
                          <a:effectLst/>
                          <a:uFillTx/>
                          <a:latin typeface="Consolas"/>
                        </a:rPr>
                        <a:t>ncolumns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4F1FA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1B1B20"/>
                          </a:solidFill>
                          <a:effectLst/>
                          <a:uFillTx/>
                          <a:latin typeface="Plus Jakarta Sans"/>
                        </a:rPr>
                        <a:t>Number of columns in the grid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4F1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5755A7"/>
                          </a:solidFill>
                          <a:effectLst/>
                          <a:uFillTx/>
                          <a:latin typeface="Consolas"/>
                        </a:rPr>
                        <a:t>index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1B1B20"/>
                          </a:solidFill>
                          <a:effectLst/>
                          <a:uFillTx/>
                          <a:latin typeface="Plus Jakarta Sans"/>
                        </a:rPr>
                        <a:t>Panel number — 1-based, not 0-based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p15="http://schemas.microsoft.com/office/powerpoint/2012/main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Text 0"/>
          <p:cNvSpPr/>
          <p:nvPr/>
        </p:nvSpPr>
        <p:spPr>
          <a:xfrm>
            <a:off x="548640" y="384120"/>
            <a:ext cx="9598680" cy="290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 spc="201">
                <a:solidFill>
                  <a:srgbClr val="5755A7"/>
                </a:solidFill>
                <a:effectLst/>
                <a:uFillTx/>
                <a:latin typeface="Plus Jakarta Sans"/>
                <a:ea typeface="Plus Jakarta Sans"/>
              </a:rPr>
              <a:t>05 · SUBPLOTS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1" name="Text 1"/>
          <p:cNvSpPr/>
          <p:nvPr/>
        </p:nvSpPr>
        <p:spPr>
          <a:xfrm>
            <a:off x="548640" y="658440"/>
            <a:ext cx="10240560" cy="683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 spc="-31">
                <a:solidFill>
                  <a:srgbClr val="1B1B20"/>
                </a:solidFill>
                <a:effectLst/>
                <a:uFillTx/>
                <a:latin typeface="Bricolage Grotesque"/>
                <a:ea typeface="Bricolage Grotesque"/>
              </a:rPr>
              <a:t>Subplots — plt.subplot() Example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2" name="Shape 2"/>
          <p:cNvSpPr/>
          <p:nvPr/>
        </p:nvSpPr>
        <p:spPr>
          <a:xfrm>
            <a:off x="11323080" y="384120"/>
            <a:ext cx="381600" cy="381600"/>
          </a:xfrm>
          <a:prstGeom prst="roundRect">
            <a:avLst>
              <a:gd name="adj" fmla="val 28000"/>
            </a:avLst>
          </a:prstGeom>
          <a:solidFill>
            <a:srgbClr val="5755A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3" name="Shape 3"/>
          <p:cNvSpPr/>
          <p:nvPr/>
        </p:nvSpPr>
        <p:spPr>
          <a:xfrm>
            <a:off x="11445840" y="506880"/>
            <a:ext cx="258480" cy="258480"/>
          </a:xfrm>
          <a:prstGeom prst="roundRect">
            <a:avLst>
              <a:gd name="adj" fmla="val 26471"/>
            </a:avLst>
          </a:prstGeom>
          <a:solidFill>
            <a:srgbClr val="FCF8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4" name="Shape 4"/>
          <p:cNvSpPr/>
          <p:nvPr/>
        </p:nvSpPr>
        <p:spPr>
          <a:xfrm>
            <a:off x="11514960" y="576000"/>
            <a:ext cx="128160" cy="128160"/>
          </a:xfrm>
          <a:prstGeom prst="roundRect">
            <a:avLst>
              <a:gd name="adj" fmla="val 26471"/>
            </a:avLst>
          </a:prstGeom>
          <a:solidFill>
            <a:srgbClr val="386759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4080" tIns="45000" rIns="6408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5" name="Text 5"/>
          <p:cNvSpPr/>
          <p:nvPr/>
        </p:nvSpPr>
        <p:spPr>
          <a:xfrm>
            <a:off x="457200" y="6473880"/>
            <a:ext cx="6855480" cy="271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4651"/>
                </a:solidFill>
                <a:effectLst/>
                <a:uFillTx/>
                <a:latin typeface="Plus Jakarta Sans"/>
                <a:ea typeface="Plus Jakarta Sans"/>
              </a:rPr>
              <a:t>Matplotlib: Data Visualization with Python  ·  GCN Course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6" name="Text 6"/>
          <p:cNvSpPr/>
          <p:nvPr/>
        </p:nvSpPr>
        <p:spPr>
          <a:xfrm>
            <a:off x="11505960" y="6473880"/>
            <a:ext cx="500400" cy="271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4651"/>
                </a:solidFill>
                <a:effectLst/>
                <a:uFillTx/>
                <a:latin typeface="Plus Jakarta Sans"/>
                <a:ea typeface="Plus Jakarta Sans"/>
              </a:rPr>
              <a:t>23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7" name="Rounded Rectangle 363"/>
          <p:cNvSpPr/>
          <p:nvPr/>
        </p:nvSpPr>
        <p:spPr>
          <a:xfrm>
            <a:off x="548640" y="1463040"/>
            <a:ext cx="5714280" cy="4937040"/>
          </a:xfrm>
          <a:prstGeom prst="roundRect">
            <a:avLst>
              <a:gd name="adj" fmla="val 3000"/>
            </a:avLst>
          </a:prstGeom>
          <a:solidFill>
            <a:srgbClr val="0E1420"/>
          </a:solidFill>
          <a:ln w="952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78" name="Oval 364"/>
          <p:cNvSpPr/>
          <p:nvPr/>
        </p:nvSpPr>
        <p:spPr>
          <a:xfrm>
            <a:off x="713160" y="1609200"/>
            <a:ext cx="99720" cy="99720"/>
          </a:xfrm>
          <a:prstGeom prst="ellipse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0040" tIns="26280" rIns="50040" bIns="262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79" name="Oval 365"/>
          <p:cNvSpPr/>
          <p:nvPr/>
        </p:nvSpPr>
        <p:spPr>
          <a:xfrm>
            <a:off x="914400" y="1609200"/>
            <a:ext cx="99720" cy="99720"/>
          </a:xfrm>
          <a:prstGeom prst="ellipse">
            <a:avLst/>
          </a:prstGeom>
          <a:solidFill>
            <a:srgbClr val="F9C6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0040" tIns="26280" rIns="50040" bIns="262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80" name="Oval 366"/>
          <p:cNvSpPr/>
          <p:nvPr/>
        </p:nvSpPr>
        <p:spPr>
          <a:xfrm>
            <a:off x="1115640" y="1609200"/>
            <a:ext cx="99720" cy="99720"/>
          </a:xfrm>
          <a:prstGeom prst="ellipse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0040" tIns="26280" rIns="50040" bIns="262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81" name="TextBox 367"/>
          <p:cNvSpPr/>
          <p:nvPr/>
        </p:nvSpPr>
        <p:spPr>
          <a:xfrm>
            <a:off x="708480" y="1828800"/>
            <a:ext cx="2574000" cy="4723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4080" tIns="0" rIns="64080" bIns="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110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plt.subplot(1, 2, 1)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10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plt.plot(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10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languages,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10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repositories,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10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color="red",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10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marker="o",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10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label="Repositories"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10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)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10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plt.xticks(rotation=45, ha="right")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10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plt.legend()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10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plt.title("Programming Languages")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10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plt.subplot(1, 2, 2)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10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plt.bar(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10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languages,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10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repositories,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10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color="blue",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10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label="Repositories"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10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)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2" name="Rounded Rectangle 368"/>
          <p:cNvSpPr/>
          <p:nvPr/>
        </p:nvSpPr>
        <p:spPr>
          <a:xfrm>
            <a:off x="6446520" y="1463040"/>
            <a:ext cx="5211360" cy="228528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 w="9525">
            <a:solidFill>
              <a:srgbClr val="C8C5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383" name="Picture 369" descr="subplot.png"/>
          <p:cNvPicPr/>
          <p:nvPr/>
        </p:nvPicPr>
        <p:blipFill>
          <a:blip r:embed="rId2"/>
          <a:stretch/>
        </p:blipFill>
        <p:spPr>
          <a:xfrm>
            <a:off x="6659280" y="1554480"/>
            <a:ext cx="4785840" cy="2102400"/>
          </a:xfrm>
          <a:prstGeom prst="rect">
            <a:avLst/>
          </a:prstGeom>
          <a:noFill/>
          <a:ln w="0">
            <a:noFill/>
          </a:ln>
        </p:spPr>
      </p:pic>
      <p:graphicFrame>
        <p:nvGraphicFramePr>
          <p:cNvPr id="384" name="Table 370"/>
          <p:cNvGraphicFramePr/>
          <p:nvPr/>
        </p:nvGraphicFramePr>
        <p:xfrm>
          <a:off x="6446520" y="3886200"/>
          <a:ext cx="5212080" cy="1820160"/>
        </p:xfrm>
        <a:graphic>
          <a:graphicData uri="http://schemas.openxmlformats.org/drawingml/2006/table">
            <a:tbl>
              <a:tblPr/>
              <a:tblGrid>
                <a:gridCol w="2148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4624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9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Plus Jakarta Sans"/>
                        </a:rPr>
                        <a:t>Parameter</a:t>
                      </a:r>
                      <a:endParaRPr lang="en-US" sz="9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5755A7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9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Plus Jakarta Sans"/>
                        </a:rPr>
                        <a:t>Meaning</a:t>
                      </a:r>
                      <a:endParaRPr lang="en-US" sz="9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5755A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800" b="1" u="none" strike="noStrike">
                          <a:solidFill>
                            <a:srgbClr val="5755A7"/>
                          </a:solidFill>
                          <a:effectLst/>
                          <a:uFillTx/>
                          <a:latin typeface="Consolas"/>
                        </a:rPr>
                        <a:t>plt.subplot(1, 2, 1)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4F1FA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1B1B20"/>
                          </a:solidFill>
                          <a:effectLst/>
                          <a:uFillTx/>
                          <a:latin typeface="Plus Jakarta Sans"/>
                        </a:rPr>
                        <a:t>1 row, 2 columns — first panel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4F1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800" b="1" u="none" strike="noStrike">
                          <a:solidFill>
                            <a:srgbClr val="5755A7"/>
                          </a:solidFill>
                          <a:effectLst/>
                          <a:uFillTx/>
                          <a:latin typeface="Consolas"/>
                        </a:rPr>
                        <a:t>plt.subplot(1, 2, 2)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1B1B20"/>
                          </a:solidFill>
                          <a:effectLst/>
                          <a:uFillTx/>
                          <a:latin typeface="Plus Jakarta Sans"/>
                        </a:rPr>
                        <a:t>Same grid — second panel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092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800" b="1" u="none" strike="noStrike">
                          <a:solidFill>
                            <a:srgbClr val="5755A7"/>
                          </a:solidFill>
                          <a:effectLst/>
                          <a:uFillTx/>
                          <a:latin typeface="Consolas"/>
                        </a:rPr>
                        <a:t>linestyle="-."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4F1FA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1B1B20"/>
                          </a:solidFill>
                          <a:effectLst/>
                          <a:uFillTx/>
                          <a:latin typeface="Plus Jakarta Sans"/>
                        </a:rPr>
                        <a:t>Dash-dot line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4F1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800" b="1" u="none" strike="noStrike">
                          <a:solidFill>
                            <a:srgbClr val="5755A7"/>
                          </a:solidFill>
                          <a:effectLst/>
                          <a:uFillTx/>
                          <a:latin typeface="Consolas"/>
                        </a:rPr>
                        <a:t>rotation=45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1B1B20"/>
                          </a:solidFill>
                          <a:effectLst/>
                          <a:uFillTx/>
                          <a:latin typeface="Plus Jakarta Sans"/>
                        </a:rPr>
                        <a:t>Rotates tick labels by 45°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800" b="1" u="none" strike="noStrike">
                          <a:solidFill>
                            <a:srgbClr val="5755A7"/>
                          </a:solidFill>
                          <a:effectLst/>
                          <a:uFillTx/>
                          <a:latin typeface="Consolas"/>
                        </a:rPr>
                        <a:t>ha="right"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4F1FA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1B1B20"/>
                          </a:solidFill>
                          <a:effectLst/>
                          <a:uFillTx/>
                          <a:latin typeface="Plus Jakarta Sans"/>
                        </a:rPr>
                        <a:t>Aligns rotated labels to their ticks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4F1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6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800" b="1" u="none" strike="noStrike">
                          <a:solidFill>
                            <a:srgbClr val="5755A7"/>
                          </a:solidFill>
                          <a:effectLst/>
                          <a:uFillTx/>
                          <a:latin typeface="Consolas"/>
                        </a:rPr>
                        <a:t># plt.tight_layout()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1B1B20"/>
                          </a:solidFill>
                          <a:effectLst/>
                          <a:uFillTx/>
                          <a:latin typeface="Plus Jakarta Sans"/>
                        </a:rPr>
                        <a:t>Optional: auto-fixes spacing (commented out)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385" name="TextBox 1"/>
          <p:cNvSpPr/>
          <p:nvPr/>
        </p:nvSpPr>
        <p:spPr>
          <a:xfrm>
            <a:off x="3517560" y="1863000"/>
            <a:ext cx="2574000" cy="1908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4080" tIns="0" rIns="64080" bIns="0" anchor="t">
            <a:spAutoFit/>
          </a:bodyPr>
          <a:lstStyle/>
          <a:p>
            <a:pPr defTabSz="914400">
              <a:lnSpc>
                <a:spcPct val="100000"/>
              </a:lnSpc>
            </a:pP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10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plt.xticks(rotation=45, ha="right")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10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plt.legend()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10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plt.title("Repositories byLanguage")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10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plt.tight_layout()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10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plt.show()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p15="http://schemas.microsoft.com/office/powerpoint/2012/main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Text 0"/>
          <p:cNvSpPr/>
          <p:nvPr/>
        </p:nvSpPr>
        <p:spPr>
          <a:xfrm>
            <a:off x="548640" y="384120"/>
            <a:ext cx="9598680" cy="290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 spc="201">
                <a:solidFill>
                  <a:srgbClr val="5755A7"/>
                </a:solidFill>
                <a:effectLst/>
                <a:uFillTx/>
                <a:latin typeface="Plus Jakarta Sans"/>
                <a:ea typeface="Plus Jakarta Sans"/>
              </a:rPr>
              <a:t>05 · SUBPLOTS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7" name="Text 1"/>
          <p:cNvSpPr/>
          <p:nvPr/>
        </p:nvSpPr>
        <p:spPr>
          <a:xfrm>
            <a:off x="548640" y="658440"/>
            <a:ext cx="10240560" cy="683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 spc="-31">
                <a:solidFill>
                  <a:srgbClr val="1B1B20"/>
                </a:solidFill>
                <a:effectLst/>
                <a:uFillTx/>
                <a:latin typeface="Bricolage Grotesque"/>
                <a:ea typeface="Bricolage Grotesque"/>
              </a:rPr>
              <a:t>Subplots — plt.subplots() Syntax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Shape 2"/>
          <p:cNvSpPr/>
          <p:nvPr/>
        </p:nvSpPr>
        <p:spPr>
          <a:xfrm>
            <a:off x="11323080" y="384120"/>
            <a:ext cx="381600" cy="381600"/>
          </a:xfrm>
          <a:prstGeom prst="roundRect">
            <a:avLst>
              <a:gd name="adj" fmla="val 28000"/>
            </a:avLst>
          </a:prstGeom>
          <a:solidFill>
            <a:srgbClr val="5755A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9" name="Shape 3"/>
          <p:cNvSpPr/>
          <p:nvPr/>
        </p:nvSpPr>
        <p:spPr>
          <a:xfrm>
            <a:off x="11445840" y="506880"/>
            <a:ext cx="258480" cy="258480"/>
          </a:xfrm>
          <a:prstGeom prst="roundRect">
            <a:avLst>
              <a:gd name="adj" fmla="val 26471"/>
            </a:avLst>
          </a:prstGeom>
          <a:solidFill>
            <a:srgbClr val="FCF8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0" name="Shape 4"/>
          <p:cNvSpPr/>
          <p:nvPr/>
        </p:nvSpPr>
        <p:spPr>
          <a:xfrm>
            <a:off x="11514960" y="576000"/>
            <a:ext cx="128160" cy="128160"/>
          </a:xfrm>
          <a:prstGeom prst="roundRect">
            <a:avLst>
              <a:gd name="adj" fmla="val 26471"/>
            </a:avLst>
          </a:prstGeom>
          <a:solidFill>
            <a:srgbClr val="386759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4080" tIns="45000" rIns="6408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1" name="Text 5"/>
          <p:cNvSpPr/>
          <p:nvPr/>
        </p:nvSpPr>
        <p:spPr>
          <a:xfrm>
            <a:off x="457200" y="6473880"/>
            <a:ext cx="6855480" cy="271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4651"/>
                </a:solidFill>
                <a:effectLst/>
                <a:uFillTx/>
                <a:latin typeface="Plus Jakarta Sans"/>
                <a:ea typeface="Plus Jakarta Sans"/>
              </a:rPr>
              <a:t>Matplotlib: Data Visualization with Python  ·  GCN Course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2" name="Text 6"/>
          <p:cNvSpPr/>
          <p:nvPr/>
        </p:nvSpPr>
        <p:spPr>
          <a:xfrm>
            <a:off x="11505960" y="6473880"/>
            <a:ext cx="500400" cy="271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4651"/>
                </a:solidFill>
                <a:effectLst/>
                <a:uFillTx/>
                <a:latin typeface="Plus Jakarta Sans"/>
                <a:ea typeface="Plus Jakarta Sans"/>
              </a:rPr>
              <a:t>24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3" name="Rounded Rectangle 363"/>
          <p:cNvSpPr/>
          <p:nvPr/>
        </p:nvSpPr>
        <p:spPr>
          <a:xfrm>
            <a:off x="548640" y="1554480"/>
            <a:ext cx="5211360" cy="1873800"/>
          </a:xfrm>
          <a:prstGeom prst="roundRect">
            <a:avLst>
              <a:gd name="adj" fmla="val 3000"/>
            </a:avLst>
          </a:prstGeom>
          <a:solidFill>
            <a:srgbClr val="0E1420"/>
          </a:solidFill>
          <a:ln w="952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94" name="Oval 364"/>
          <p:cNvSpPr/>
          <p:nvPr/>
        </p:nvSpPr>
        <p:spPr>
          <a:xfrm>
            <a:off x="713160" y="1700640"/>
            <a:ext cx="99720" cy="99720"/>
          </a:xfrm>
          <a:prstGeom prst="ellipse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0040" tIns="26280" rIns="50040" bIns="262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95" name="Oval 365"/>
          <p:cNvSpPr/>
          <p:nvPr/>
        </p:nvSpPr>
        <p:spPr>
          <a:xfrm>
            <a:off x="914400" y="1700640"/>
            <a:ext cx="99720" cy="99720"/>
          </a:xfrm>
          <a:prstGeom prst="ellipse">
            <a:avLst/>
          </a:prstGeom>
          <a:solidFill>
            <a:srgbClr val="F9C6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0040" tIns="26280" rIns="50040" bIns="262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96" name="Oval 366"/>
          <p:cNvSpPr/>
          <p:nvPr/>
        </p:nvSpPr>
        <p:spPr>
          <a:xfrm>
            <a:off x="1115640" y="1700640"/>
            <a:ext cx="99720" cy="99720"/>
          </a:xfrm>
          <a:prstGeom prst="ellipse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0040" tIns="26280" rIns="50040" bIns="262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97" name="TextBox 367"/>
          <p:cNvSpPr/>
          <p:nvPr/>
        </p:nvSpPr>
        <p:spPr>
          <a:xfrm>
            <a:off x="685800" y="1920240"/>
            <a:ext cx="4937040" cy="1416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4080" tIns="0" rIns="64080" bIns="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110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fig, ax = plt.subplots(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10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    nrows,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10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    ncolumns,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10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    figsize=(width,height) # Tuple: But this is optional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10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)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98" name="Table 368"/>
          <p:cNvGraphicFramePr/>
          <p:nvPr/>
        </p:nvGraphicFramePr>
        <p:xfrm>
          <a:off x="5989320" y="1554480"/>
          <a:ext cx="5715000" cy="2743200"/>
        </p:xfrm>
        <a:graphic>
          <a:graphicData uri="http://schemas.openxmlformats.org/drawingml/2006/table">
            <a:tbl>
              <a:tblPr/>
              <a:tblGrid>
                <a:gridCol w="2423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91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Plus Jakarta Sans"/>
                        </a:rPr>
                        <a:t>Parameter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5755A7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Plus Jakarta Sans"/>
                        </a:rPr>
                        <a:t>Meaning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5755A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5755A7"/>
                          </a:solidFill>
                          <a:effectLst/>
                          <a:uFillTx/>
                          <a:latin typeface="Consolas"/>
                        </a:rPr>
                        <a:t>fig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1B1B20"/>
                          </a:solidFill>
                          <a:effectLst/>
                          <a:uFillTx/>
                          <a:latin typeface="Plus Jakarta Sans"/>
                        </a:rPr>
                        <a:t>The whole Figure (canvas)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5755A7"/>
                          </a:solidFill>
                          <a:effectLst/>
                          <a:uFillTx/>
                          <a:latin typeface="Consolas"/>
                        </a:rPr>
                        <a:t>ax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4F1FA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1B1B20"/>
                          </a:solidFill>
                          <a:effectLst/>
                          <a:uFillTx/>
                          <a:latin typeface="Plus Jakarta Sans"/>
                        </a:rPr>
                        <a:t>The Axes — one panel per grid cell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4F1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5755A7"/>
                          </a:solidFill>
                          <a:effectLst/>
                          <a:uFillTx/>
                          <a:latin typeface="Consolas"/>
                        </a:rPr>
                        <a:t>nrows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1B1B20"/>
                          </a:solidFill>
                          <a:effectLst/>
                          <a:uFillTx/>
                          <a:latin typeface="Plus Jakarta Sans"/>
                        </a:rPr>
                        <a:t>Number of rows in the grid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5755A7"/>
                          </a:solidFill>
                          <a:effectLst/>
                          <a:uFillTx/>
                          <a:latin typeface="Consolas"/>
                        </a:rPr>
                        <a:t>ncolumns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4F1FA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1B1B20"/>
                          </a:solidFill>
                          <a:effectLst/>
                          <a:uFillTx/>
                          <a:latin typeface="Plus Jakarta Sans"/>
                        </a:rPr>
                        <a:t>Number of columns in the grid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4F1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5755A7"/>
                          </a:solidFill>
                          <a:effectLst/>
                          <a:uFillTx/>
                          <a:latin typeface="Consolas"/>
                        </a:rPr>
                        <a:t>figsize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1B1B20"/>
                          </a:solidFill>
                          <a:effectLst/>
                          <a:uFillTx/>
                          <a:latin typeface="Plus Jakarta Sans"/>
                        </a:rPr>
                        <a:t>Optional (width, height) tuple of the Figure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p15="http://schemas.microsoft.com/office/powerpoint/2012/main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Text 0"/>
          <p:cNvSpPr/>
          <p:nvPr/>
        </p:nvSpPr>
        <p:spPr>
          <a:xfrm>
            <a:off x="548640" y="384120"/>
            <a:ext cx="9598680" cy="290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 spc="201">
                <a:solidFill>
                  <a:srgbClr val="5755A7"/>
                </a:solidFill>
                <a:effectLst/>
                <a:uFillTx/>
                <a:latin typeface="Plus Jakarta Sans"/>
                <a:ea typeface="Plus Jakarta Sans"/>
              </a:rPr>
              <a:t>05 · SUBPLOTS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0" name="Text 1"/>
          <p:cNvSpPr/>
          <p:nvPr/>
        </p:nvSpPr>
        <p:spPr>
          <a:xfrm>
            <a:off x="548640" y="658440"/>
            <a:ext cx="10240560" cy="683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 spc="-31">
                <a:solidFill>
                  <a:srgbClr val="1B1B20"/>
                </a:solidFill>
                <a:effectLst/>
                <a:uFillTx/>
                <a:latin typeface="Bricolage Grotesque"/>
                <a:ea typeface="Bricolage Grotesque"/>
              </a:rPr>
              <a:t>Subplots — plt.subplots() Example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1" name="Shape 2"/>
          <p:cNvSpPr/>
          <p:nvPr/>
        </p:nvSpPr>
        <p:spPr>
          <a:xfrm>
            <a:off x="11323080" y="384120"/>
            <a:ext cx="381600" cy="381600"/>
          </a:xfrm>
          <a:prstGeom prst="roundRect">
            <a:avLst>
              <a:gd name="adj" fmla="val 28000"/>
            </a:avLst>
          </a:prstGeom>
          <a:solidFill>
            <a:srgbClr val="5755A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2" name="Shape 3"/>
          <p:cNvSpPr/>
          <p:nvPr/>
        </p:nvSpPr>
        <p:spPr>
          <a:xfrm>
            <a:off x="11445840" y="506880"/>
            <a:ext cx="258480" cy="258480"/>
          </a:xfrm>
          <a:prstGeom prst="roundRect">
            <a:avLst>
              <a:gd name="adj" fmla="val 26471"/>
            </a:avLst>
          </a:prstGeom>
          <a:solidFill>
            <a:srgbClr val="FCF8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3" name="Shape 4"/>
          <p:cNvSpPr/>
          <p:nvPr/>
        </p:nvSpPr>
        <p:spPr>
          <a:xfrm>
            <a:off x="11514960" y="576000"/>
            <a:ext cx="128160" cy="128160"/>
          </a:xfrm>
          <a:prstGeom prst="roundRect">
            <a:avLst>
              <a:gd name="adj" fmla="val 26471"/>
            </a:avLst>
          </a:prstGeom>
          <a:solidFill>
            <a:srgbClr val="386759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4080" tIns="45000" rIns="6408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4" name="Text 5"/>
          <p:cNvSpPr/>
          <p:nvPr/>
        </p:nvSpPr>
        <p:spPr>
          <a:xfrm>
            <a:off x="457200" y="6473880"/>
            <a:ext cx="6855480" cy="271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4651"/>
                </a:solidFill>
                <a:effectLst/>
                <a:uFillTx/>
                <a:latin typeface="Plus Jakarta Sans"/>
                <a:ea typeface="Plus Jakarta Sans"/>
              </a:rPr>
              <a:t>Matplotlib: Data Visualization with Python  ·  GCN Course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5" name="Text 6"/>
          <p:cNvSpPr/>
          <p:nvPr/>
        </p:nvSpPr>
        <p:spPr>
          <a:xfrm>
            <a:off x="11505960" y="6473880"/>
            <a:ext cx="500400" cy="271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4651"/>
                </a:solidFill>
                <a:effectLst/>
                <a:uFillTx/>
                <a:latin typeface="Plus Jakarta Sans"/>
                <a:ea typeface="Plus Jakarta Sans"/>
              </a:rPr>
              <a:t>25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6" name="Rounded Rectangle 363"/>
          <p:cNvSpPr/>
          <p:nvPr/>
        </p:nvSpPr>
        <p:spPr>
          <a:xfrm>
            <a:off x="548640" y="1463040"/>
            <a:ext cx="5714280" cy="4937040"/>
          </a:xfrm>
          <a:prstGeom prst="roundRect">
            <a:avLst>
              <a:gd name="adj" fmla="val 3000"/>
            </a:avLst>
          </a:prstGeom>
          <a:solidFill>
            <a:srgbClr val="0E1420"/>
          </a:solidFill>
          <a:ln w="952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07" name="Oval 364"/>
          <p:cNvSpPr/>
          <p:nvPr/>
        </p:nvSpPr>
        <p:spPr>
          <a:xfrm>
            <a:off x="713160" y="1609200"/>
            <a:ext cx="99720" cy="99720"/>
          </a:xfrm>
          <a:prstGeom prst="ellipse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0040" tIns="26280" rIns="50040" bIns="262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08" name="Oval 365"/>
          <p:cNvSpPr/>
          <p:nvPr/>
        </p:nvSpPr>
        <p:spPr>
          <a:xfrm>
            <a:off x="914400" y="1609200"/>
            <a:ext cx="99720" cy="99720"/>
          </a:xfrm>
          <a:prstGeom prst="ellipse">
            <a:avLst/>
          </a:prstGeom>
          <a:solidFill>
            <a:srgbClr val="F9C6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0040" tIns="26280" rIns="50040" bIns="262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09" name="Oval 366"/>
          <p:cNvSpPr/>
          <p:nvPr/>
        </p:nvSpPr>
        <p:spPr>
          <a:xfrm>
            <a:off x="1115640" y="1609200"/>
            <a:ext cx="99720" cy="99720"/>
          </a:xfrm>
          <a:prstGeom prst="ellipse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0040" tIns="26280" rIns="50040" bIns="262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10" name="TextBox 367"/>
          <p:cNvSpPr/>
          <p:nvPr/>
        </p:nvSpPr>
        <p:spPr>
          <a:xfrm>
            <a:off x="708840" y="1828800"/>
            <a:ext cx="3477240" cy="450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4080" tIns="0" rIns="64080" bIns="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1100" b="0" u="none" strike="noStrike">
                <a:solidFill>
                  <a:schemeClr val="lt1"/>
                </a:solidFill>
                <a:effectLst/>
                <a:highlight>
                  <a:srgbClr val="292A2B"/>
                </a:highlight>
                <a:uFillTx/>
                <a:latin typeface="Calibri"/>
                <a:ea typeface="Calibri"/>
              </a:rPr>
              <a:t>languages = ["Go", "Python", "Rust", "JavaScript", "C++", "Java"]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100" b="0" u="none" strike="noStrike">
                <a:solidFill>
                  <a:schemeClr val="lt1"/>
                </a:solidFill>
                <a:effectLst/>
                <a:highlight>
                  <a:srgbClr val="292A2B"/>
                </a:highlight>
                <a:uFillTx/>
                <a:latin typeface="Calibri"/>
                <a:ea typeface="Calibri"/>
              </a:rPr>
              <a:t>repositories = [350, 850, 280, 720, 480, 610]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100" b="0" u="none" strike="noStrike">
                <a:solidFill>
                  <a:schemeClr val="lt1"/>
                </a:solidFill>
                <a:effectLst/>
                <a:highlight>
                  <a:srgbClr val="292A2B"/>
                </a:highlight>
                <a:uFillTx/>
                <a:latin typeface="Calibri"/>
                <a:ea typeface="Calibri"/>
              </a:rPr>
              <a:t>fig, ax = plt.subplots(1, 2, figsize=(10, 5))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100" b="0" u="none" strike="noStrike">
                <a:solidFill>
                  <a:schemeClr val="lt1"/>
                </a:solidFill>
                <a:effectLst/>
                <a:highlight>
                  <a:srgbClr val="292A2B"/>
                </a:highlight>
                <a:uFillTx/>
                <a:latin typeface="Calibri"/>
                <a:ea typeface="Calibri"/>
              </a:rPr>
              <a:t>ax[0].plot(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100" b="0" u="none" strike="noStrike">
                <a:solidFill>
                  <a:schemeClr val="lt1"/>
                </a:solidFill>
                <a:effectLst/>
                <a:highlight>
                  <a:srgbClr val="292A2B"/>
                </a:highlight>
                <a:uFillTx/>
                <a:latin typeface="Calibri"/>
                <a:ea typeface="Calibri"/>
              </a:rPr>
              <a:t>languages,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100" b="0" u="none" strike="noStrike">
                <a:solidFill>
                  <a:schemeClr val="lt1"/>
                </a:solidFill>
                <a:effectLst/>
                <a:highlight>
                  <a:srgbClr val="292A2B"/>
                </a:highlight>
                <a:uFillTx/>
                <a:latin typeface="Calibri"/>
                <a:ea typeface="Calibri"/>
              </a:rPr>
              <a:t>repositories,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100" b="0" u="none" strike="noStrike">
                <a:solidFill>
                  <a:schemeClr val="lt1"/>
                </a:solidFill>
                <a:effectLst/>
                <a:highlight>
                  <a:srgbClr val="292A2B"/>
                </a:highlight>
                <a:uFillTx/>
                <a:latin typeface="Calibri"/>
                <a:ea typeface="Calibri"/>
              </a:rPr>
              <a:t>color="green",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100" b="0" u="none" strike="noStrike">
                <a:solidFill>
                  <a:schemeClr val="lt1"/>
                </a:solidFill>
                <a:effectLst/>
                <a:highlight>
                  <a:srgbClr val="292A2B"/>
                </a:highlight>
                <a:uFillTx/>
                <a:latin typeface="Calibri"/>
                <a:ea typeface="Calibri"/>
              </a:rPr>
              <a:t>marker="o",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100" b="0" u="none" strike="noStrike">
                <a:solidFill>
                  <a:schemeClr val="lt1"/>
                </a:solidFill>
                <a:effectLst/>
                <a:highlight>
                  <a:srgbClr val="292A2B"/>
                </a:highlight>
                <a:uFillTx/>
                <a:latin typeface="Calibri"/>
                <a:ea typeface="Calibri"/>
              </a:rPr>
              <a:t>label="Repositories"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100" b="0" u="none" strike="noStrike">
                <a:solidFill>
                  <a:schemeClr val="lt1"/>
                </a:solidFill>
                <a:effectLst/>
                <a:highlight>
                  <a:srgbClr val="292A2B"/>
                </a:highlight>
                <a:uFillTx/>
                <a:latin typeface="Calibri"/>
                <a:ea typeface="Calibri"/>
              </a:rPr>
              <a:t>)</a:t>
            </a:r>
            <a:br>
              <a:rPr sz="1100"/>
            </a:b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100" b="0" u="none" strike="noStrike">
                <a:solidFill>
                  <a:schemeClr val="lt1"/>
                </a:solidFill>
                <a:effectLst/>
                <a:highlight>
                  <a:srgbClr val="292A2B"/>
                </a:highlight>
                <a:uFillTx/>
                <a:latin typeface="Calibri"/>
                <a:ea typeface="Calibri"/>
              </a:rPr>
              <a:t>ax[0].set_title("Line Graph")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100" b="0" u="none" strike="noStrike">
                <a:solidFill>
                  <a:schemeClr val="lt1"/>
                </a:solidFill>
                <a:effectLst/>
                <a:highlight>
                  <a:srgbClr val="292A2B"/>
                </a:highlight>
                <a:uFillTx/>
                <a:latin typeface="Calibri"/>
                <a:ea typeface="Calibri"/>
              </a:rPr>
              <a:t>ax[0].set_xticklabels(languages, rotation=45, ha="right")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100" b="0" u="none" strike="noStrike">
                <a:solidFill>
                  <a:schemeClr val="lt1"/>
                </a:solidFill>
                <a:effectLst/>
                <a:highlight>
                  <a:srgbClr val="292A2B"/>
                </a:highlight>
                <a:uFillTx/>
                <a:latin typeface="Calibri"/>
                <a:ea typeface="Calibri"/>
              </a:rPr>
              <a:t>ax[0].legend()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100" b="0" u="none" strike="noStrike">
                <a:solidFill>
                  <a:schemeClr val="lt1"/>
                </a:solidFill>
                <a:effectLst/>
                <a:highlight>
                  <a:srgbClr val="292A2B"/>
                </a:highlight>
                <a:uFillTx/>
                <a:latin typeface="Calibri"/>
                <a:ea typeface="Calibri"/>
              </a:rPr>
              <a:t>ax[1].bar(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100" b="0" u="none" strike="noStrike">
                <a:solidFill>
                  <a:schemeClr val="lt1"/>
                </a:solidFill>
                <a:effectLst/>
                <a:highlight>
                  <a:srgbClr val="292A2B"/>
                </a:highlight>
                <a:uFillTx/>
                <a:latin typeface="Calibri"/>
                <a:ea typeface="Calibri"/>
              </a:rPr>
              <a:t>languages,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100" b="0" u="none" strike="noStrike">
                <a:solidFill>
                  <a:schemeClr val="lt1"/>
                </a:solidFill>
                <a:effectLst/>
                <a:highlight>
                  <a:srgbClr val="292A2B"/>
                </a:highlight>
                <a:uFillTx/>
                <a:latin typeface="Calibri"/>
                <a:ea typeface="Calibri"/>
              </a:rPr>
              <a:t>repositories,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100" b="0" u="none" strike="noStrike">
                <a:solidFill>
                  <a:schemeClr val="lt1"/>
                </a:solidFill>
                <a:effectLst/>
                <a:highlight>
                  <a:srgbClr val="292A2B"/>
                </a:highlight>
                <a:uFillTx/>
                <a:latin typeface="Calibri"/>
                <a:ea typeface="Calibri"/>
              </a:rPr>
              <a:t>color="teal",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100" b="0" u="none" strike="noStrike">
                <a:solidFill>
                  <a:schemeClr val="lt1"/>
                </a:solidFill>
                <a:effectLst/>
                <a:highlight>
                  <a:srgbClr val="292A2B"/>
                </a:highlight>
                <a:uFillTx/>
                <a:latin typeface="Calibri"/>
                <a:ea typeface="Calibri"/>
              </a:rPr>
              <a:t>label="Repositories"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100" b="0" u="none" strike="noStrike">
                <a:solidFill>
                  <a:schemeClr val="lt1"/>
                </a:solidFill>
                <a:effectLst/>
                <a:highlight>
                  <a:srgbClr val="292A2B"/>
                </a:highlight>
                <a:uFillTx/>
                <a:latin typeface="Calibri"/>
                <a:ea typeface="Calibri"/>
              </a:rPr>
              <a:t>)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1" name="Rounded Rectangle 368"/>
          <p:cNvSpPr/>
          <p:nvPr/>
        </p:nvSpPr>
        <p:spPr>
          <a:xfrm>
            <a:off x="6446520" y="1463040"/>
            <a:ext cx="5211360" cy="228528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 w="9525">
            <a:solidFill>
              <a:srgbClr val="C8C5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412" name="Picture 369" descr="subplots.png"/>
          <p:cNvPicPr/>
          <p:nvPr/>
        </p:nvPicPr>
        <p:blipFill>
          <a:blip r:embed="rId2"/>
          <a:stretch/>
        </p:blipFill>
        <p:spPr>
          <a:xfrm>
            <a:off x="6659280" y="1554480"/>
            <a:ext cx="4785840" cy="2102400"/>
          </a:xfrm>
          <a:prstGeom prst="rect">
            <a:avLst/>
          </a:prstGeom>
          <a:noFill/>
          <a:ln w="0">
            <a:noFill/>
          </a:ln>
        </p:spPr>
      </p:pic>
      <p:graphicFrame>
        <p:nvGraphicFramePr>
          <p:cNvPr id="413" name="Table 370"/>
          <p:cNvGraphicFramePr/>
          <p:nvPr/>
        </p:nvGraphicFramePr>
        <p:xfrm>
          <a:off x="6446520" y="3886200"/>
          <a:ext cx="5211720" cy="2219400"/>
        </p:xfrm>
        <a:graphic>
          <a:graphicData uri="http://schemas.openxmlformats.org/drawingml/2006/table">
            <a:tbl>
              <a:tblPr/>
              <a:tblGrid>
                <a:gridCol w="2148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46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9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Plus Jakarta Sans"/>
                        </a:rPr>
                        <a:t>Parameter</a:t>
                      </a:r>
                      <a:endParaRPr lang="en-US" sz="9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5755A7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9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Plus Jakarta Sans"/>
                        </a:rPr>
                        <a:t>Meaning</a:t>
                      </a:r>
                      <a:endParaRPr lang="en-US" sz="9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5755A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800" b="1" u="none" strike="noStrike">
                          <a:solidFill>
                            <a:srgbClr val="5755A7"/>
                          </a:solidFill>
                          <a:effectLst/>
                          <a:uFillTx/>
                          <a:latin typeface="Consolas"/>
                        </a:rPr>
                        <a:t>fig, ax = plt.subplots(...)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1B1B20"/>
                          </a:solidFill>
                          <a:effectLst/>
                          <a:uFillTx/>
                          <a:latin typeface="Plus Jakarta Sans"/>
                        </a:rPr>
                        <a:t>Creates one Figure and its Axes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800" b="1" u="none" strike="noStrike">
                          <a:solidFill>
                            <a:srgbClr val="5755A7"/>
                          </a:solidFill>
                          <a:effectLst/>
                          <a:uFillTx/>
                          <a:latin typeface="Consolas"/>
                        </a:rPr>
                        <a:t>1, 2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4F1FA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1B1B20"/>
                          </a:solidFill>
                          <a:effectLst/>
                          <a:uFillTx/>
                          <a:latin typeface="Plus Jakarta Sans"/>
                        </a:rPr>
                        <a:t>1 row and 2 columns of Axes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4F1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800" b="1" u="none" strike="noStrike">
                          <a:solidFill>
                            <a:srgbClr val="5755A7"/>
                          </a:solidFill>
                          <a:effectLst/>
                          <a:uFillTx/>
                          <a:latin typeface="Consolas"/>
                        </a:rPr>
                        <a:t>figsize=(10, 5)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1B1B20"/>
                          </a:solidFill>
                          <a:effectLst/>
                          <a:uFillTx/>
                          <a:latin typeface="Plus Jakarta Sans"/>
                        </a:rPr>
                        <a:t>Figure is 10 in wide and 5 in tall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800" b="1" u="none" strike="noStrike">
                          <a:solidFill>
                            <a:srgbClr val="5755A7"/>
                          </a:solidFill>
                          <a:effectLst/>
                          <a:uFillTx/>
                          <a:latin typeface="Consolas"/>
                        </a:rPr>
                        <a:t>ax[0] / ax[1]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4F1FA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1B1B20"/>
                          </a:solidFill>
                          <a:effectLst/>
                          <a:uFillTx/>
                          <a:latin typeface="Plus Jakarta Sans"/>
                        </a:rPr>
                        <a:t>First / second Axes (0-based index)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4F1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800" b="1" u="none" strike="noStrike">
                          <a:solidFill>
                            <a:srgbClr val="5755A7"/>
                          </a:solidFill>
                          <a:effectLst/>
                          <a:uFillTx/>
                          <a:latin typeface="Consolas"/>
                        </a:rPr>
                        <a:t>ax[0].plot(...)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1B1B20"/>
                          </a:solidFill>
                          <a:effectLst/>
                          <a:uFillTx/>
                          <a:latin typeface="Plus Jakarta Sans"/>
                        </a:rPr>
                        <a:t>Line graph drawn on the first Axes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6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800" b="1" u="none" strike="noStrike">
                          <a:solidFill>
                            <a:srgbClr val="5755A7"/>
                          </a:solidFill>
                          <a:effectLst/>
                          <a:uFillTx/>
                          <a:latin typeface="Consolas"/>
                        </a:rPr>
                        <a:t>ax[1].bar(...)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4F1FA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1B1B20"/>
                          </a:solidFill>
                          <a:effectLst/>
                          <a:uFillTx/>
                          <a:latin typeface="Plus Jakarta Sans"/>
                        </a:rPr>
                        <a:t>Bar chart drawn on the second Axes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4F1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6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800" b="1" u="none" strike="noStrike">
                          <a:solidFill>
                            <a:srgbClr val="5755A7"/>
                          </a:solidFill>
                          <a:effectLst/>
                          <a:uFillTx/>
                          <a:latin typeface="Consolas"/>
                        </a:rPr>
                        <a:t>set_title("...")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1B1B20"/>
                          </a:solidFill>
                          <a:effectLst/>
                          <a:uFillTx/>
                          <a:latin typeface="Plus Jakarta Sans"/>
                        </a:rPr>
                        <a:t>Heading of that Axes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6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800" b="1" u="none" strike="noStrike">
                          <a:solidFill>
                            <a:srgbClr val="5755A7"/>
                          </a:solidFill>
                          <a:effectLst/>
                          <a:uFillTx/>
                          <a:latin typeface="Consolas"/>
                        </a:rPr>
                        <a:t>plt.tight_layout()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4F1FA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1B1B20"/>
                          </a:solidFill>
                          <a:effectLst/>
                          <a:uFillTx/>
                          <a:latin typeface="Plus Jakarta Sans"/>
                        </a:rPr>
                        <a:t>Auto-fixes spacing between panels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4F1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414" name="TextBox 1"/>
          <p:cNvSpPr/>
          <p:nvPr/>
        </p:nvSpPr>
        <p:spPr>
          <a:xfrm>
            <a:off x="4057200" y="1828800"/>
            <a:ext cx="2184120" cy="1522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4080" tIns="0" rIns="64080" bIns="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1100" b="0" u="none" strike="noStrike">
                <a:solidFill>
                  <a:schemeClr val="lt1"/>
                </a:solidFill>
                <a:effectLst/>
                <a:highlight>
                  <a:srgbClr val="292A2B"/>
                </a:highlight>
                <a:uFillTx/>
                <a:latin typeface="Calibri"/>
                <a:ea typeface="Calibri"/>
              </a:rPr>
              <a:t>ax[1].set_title("Bar Chart")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100" b="0" u="none" strike="noStrike">
                <a:solidFill>
                  <a:schemeClr val="lt1"/>
                </a:solidFill>
                <a:effectLst/>
                <a:highlight>
                  <a:srgbClr val="292A2B"/>
                </a:highlight>
                <a:uFillTx/>
                <a:latin typeface="Calibri"/>
                <a:ea typeface="Calibri"/>
              </a:rPr>
              <a:t>ax[1].set_xticklabels(languages, rotation=45, ha="right")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100" b="0" u="none" strike="noStrike">
                <a:solidFill>
                  <a:schemeClr val="lt1"/>
                </a:solidFill>
                <a:effectLst/>
                <a:highlight>
                  <a:srgbClr val="292A2B"/>
                </a:highlight>
                <a:uFillTx/>
                <a:latin typeface="Calibri"/>
                <a:ea typeface="Calibri"/>
              </a:rPr>
              <a:t>ax[1].legend()</a:t>
            </a:r>
            <a:br>
              <a:rPr sz="1100"/>
            </a:b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100" b="0" u="none" strike="noStrike">
                <a:solidFill>
                  <a:schemeClr val="lt1"/>
                </a:solidFill>
                <a:effectLst/>
                <a:highlight>
                  <a:srgbClr val="292A2B"/>
                </a:highlight>
                <a:uFillTx/>
                <a:latin typeface="Calibri"/>
                <a:ea typeface="Calibri"/>
              </a:rPr>
              <a:t>plt.tight_layout()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100" b="0" u="none" strike="noStrike">
                <a:solidFill>
                  <a:schemeClr val="lt1"/>
                </a:solidFill>
                <a:effectLst/>
                <a:highlight>
                  <a:srgbClr val="292A2B"/>
                </a:highlight>
                <a:uFillTx/>
                <a:latin typeface="Calibri"/>
                <a:ea typeface="Calibri"/>
              </a:rPr>
              <a:t>plt.show()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p15="http://schemas.microsoft.com/office/powerpoint/2012/main"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Text 0"/>
          <p:cNvSpPr/>
          <p:nvPr/>
        </p:nvSpPr>
        <p:spPr>
          <a:xfrm>
            <a:off x="548640" y="384120"/>
            <a:ext cx="9598680" cy="290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 spc="201">
                <a:solidFill>
                  <a:srgbClr val="5755A7"/>
                </a:solidFill>
                <a:effectLst/>
                <a:uFillTx/>
                <a:latin typeface="Plus Jakarta Sans"/>
                <a:ea typeface="Plus Jakarta Sans"/>
              </a:rPr>
              <a:t>05 · OBJECT-ORIENTED API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6" name="Text 1"/>
          <p:cNvSpPr/>
          <p:nvPr/>
        </p:nvSpPr>
        <p:spPr>
          <a:xfrm>
            <a:off x="548640" y="658440"/>
            <a:ext cx="10238760" cy="683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 spc="-31">
                <a:solidFill>
                  <a:srgbClr val="1B1B20"/>
                </a:solidFill>
                <a:effectLst/>
                <a:uFillTx/>
                <a:latin typeface="Bricolage Grotesque"/>
                <a:ea typeface="Bricolage Grotesque"/>
              </a:rPr>
              <a:t>Two Ways to Write Matplotlib Code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7" name="Shape 2"/>
          <p:cNvSpPr/>
          <p:nvPr/>
        </p:nvSpPr>
        <p:spPr>
          <a:xfrm>
            <a:off x="11323080" y="384120"/>
            <a:ext cx="381600" cy="381600"/>
          </a:xfrm>
          <a:prstGeom prst="roundRect">
            <a:avLst>
              <a:gd name="adj" fmla="val 28000"/>
            </a:avLst>
          </a:prstGeom>
          <a:solidFill>
            <a:srgbClr val="5755A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8" name="Shape 3"/>
          <p:cNvSpPr/>
          <p:nvPr/>
        </p:nvSpPr>
        <p:spPr>
          <a:xfrm>
            <a:off x="11445840" y="506880"/>
            <a:ext cx="258480" cy="258480"/>
          </a:xfrm>
          <a:prstGeom prst="roundRect">
            <a:avLst>
              <a:gd name="adj" fmla="val 26471"/>
            </a:avLst>
          </a:prstGeom>
          <a:solidFill>
            <a:srgbClr val="FCF8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9" name="Shape 4"/>
          <p:cNvSpPr/>
          <p:nvPr/>
        </p:nvSpPr>
        <p:spPr>
          <a:xfrm>
            <a:off x="11514960" y="576000"/>
            <a:ext cx="128160" cy="128160"/>
          </a:xfrm>
          <a:prstGeom prst="roundRect">
            <a:avLst>
              <a:gd name="adj" fmla="val 26471"/>
            </a:avLst>
          </a:prstGeom>
          <a:solidFill>
            <a:srgbClr val="386759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4080" tIns="45000" rIns="6408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0" name="Text 5"/>
          <p:cNvSpPr/>
          <p:nvPr/>
        </p:nvSpPr>
        <p:spPr>
          <a:xfrm>
            <a:off x="457200" y="6473880"/>
            <a:ext cx="6855480" cy="271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4651"/>
                </a:solidFill>
                <a:effectLst/>
                <a:uFillTx/>
                <a:latin typeface="Plus Jakarta Sans"/>
                <a:ea typeface="Plus Jakarta Sans"/>
              </a:rPr>
              <a:t>Matplotlib: Data Visualization with Python  ·  GCN Course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1" name="Shape 6"/>
          <p:cNvSpPr/>
          <p:nvPr/>
        </p:nvSpPr>
        <p:spPr>
          <a:xfrm>
            <a:off x="548640" y="1737360"/>
            <a:ext cx="5209560" cy="392940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9525">
            <a:solidFill>
              <a:srgbClr val="C8C5D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2" name="Shape 7"/>
          <p:cNvSpPr/>
          <p:nvPr/>
        </p:nvSpPr>
        <p:spPr>
          <a:xfrm>
            <a:off x="777240" y="1938600"/>
            <a:ext cx="1460520" cy="290160"/>
          </a:xfrm>
          <a:prstGeom prst="roundRect">
            <a:avLst>
              <a:gd name="adj" fmla="val 50000"/>
            </a:avLst>
          </a:prstGeom>
          <a:solidFill>
            <a:srgbClr val="BBEDD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3" name="Text 8"/>
          <p:cNvSpPr/>
          <p:nvPr/>
        </p:nvSpPr>
        <p:spPr>
          <a:xfrm>
            <a:off x="777240" y="1938600"/>
            <a:ext cx="1460520" cy="290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02019"/>
                </a:solidFill>
                <a:effectLst/>
                <a:uFillTx/>
                <a:latin typeface="Plus Jakarta Sans"/>
                <a:ea typeface="Plus Jakarta Sans"/>
              </a:rPr>
              <a:t>PYPLOT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4" name="Shape 9"/>
          <p:cNvSpPr/>
          <p:nvPr/>
        </p:nvSpPr>
        <p:spPr>
          <a:xfrm>
            <a:off x="777240" y="2514600"/>
            <a:ext cx="4752360" cy="1826640"/>
          </a:xfrm>
          <a:prstGeom prst="roundRect">
            <a:avLst>
              <a:gd name="adj" fmla="val 6486"/>
            </a:avLst>
          </a:prstGeom>
          <a:solidFill>
            <a:srgbClr val="0E1420"/>
          </a:solidFill>
          <a:ln w="9525">
            <a:solidFill>
              <a:srgbClr val="1E293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5" name="Shape 10"/>
          <p:cNvSpPr/>
          <p:nvPr/>
        </p:nvSpPr>
        <p:spPr>
          <a:xfrm>
            <a:off x="941760" y="2660760"/>
            <a:ext cx="97920" cy="97920"/>
          </a:xfrm>
          <a:prstGeom prst="ellipse">
            <a:avLst/>
          </a:prstGeom>
          <a:solidFill>
            <a:srgbClr val="F43F5E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8960" tIns="26280" rIns="48960" bIns="2628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6" name="Shape 11"/>
          <p:cNvSpPr/>
          <p:nvPr/>
        </p:nvSpPr>
        <p:spPr>
          <a:xfrm>
            <a:off x="1143000" y="2660760"/>
            <a:ext cx="97920" cy="97920"/>
          </a:xfrm>
          <a:prstGeom prst="ellipse">
            <a:avLst/>
          </a:prstGeom>
          <a:solidFill>
            <a:srgbClr val="F9C6FE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8960" tIns="26280" rIns="48960" bIns="2628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7" name="Shape 12"/>
          <p:cNvSpPr/>
          <p:nvPr/>
        </p:nvSpPr>
        <p:spPr>
          <a:xfrm>
            <a:off x="1344240" y="2660760"/>
            <a:ext cx="97920" cy="97920"/>
          </a:xfrm>
          <a:prstGeom prst="ellipse">
            <a:avLst/>
          </a:prstGeom>
          <a:solidFill>
            <a:srgbClr val="2DD4B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8960" tIns="26280" rIns="48960" bIns="2628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8" name="Text 13"/>
          <p:cNvSpPr/>
          <p:nvPr/>
        </p:nvSpPr>
        <p:spPr>
          <a:xfrm>
            <a:off x="978480" y="2898720"/>
            <a:ext cx="4349880" cy="1158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F1F5F9"/>
                </a:solidFill>
                <a:effectLst/>
                <a:uFillTx/>
                <a:latin typeface="Cantarell"/>
                <a:ea typeface="Consolas"/>
              </a:rPr>
              <a:t>plt.plot(x, y)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F1F5F9"/>
                </a:solidFill>
                <a:effectLst/>
                <a:uFillTx/>
                <a:latin typeface="Cantarell"/>
                <a:ea typeface="Consolas"/>
              </a:rPr>
              <a:t>plt.title("Sales")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F1F5F9"/>
                </a:solidFill>
                <a:effectLst/>
                <a:uFillTx/>
                <a:latin typeface="Cantarell"/>
                <a:ea typeface="Consolas"/>
              </a:rPr>
              <a:t>plt.xlabel("Month")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F1F5F9"/>
                </a:solidFill>
                <a:effectLst/>
                <a:uFillTx/>
                <a:latin typeface="Cantarell"/>
                <a:ea typeface="Consolas"/>
              </a:rPr>
              <a:t>plt.legend()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9" name="Text 14"/>
          <p:cNvSpPr/>
          <p:nvPr/>
        </p:nvSpPr>
        <p:spPr>
          <a:xfrm>
            <a:off x="777240" y="4343400"/>
            <a:ext cx="4752360" cy="1094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474651"/>
                </a:solidFill>
                <a:effectLst/>
                <a:uFillTx/>
                <a:latin typeface="Hanken Grotesk"/>
                <a:ea typeface="Hanken Grotesk"/>
              </a:rPr>
              <a:t>Implicit:</a:t>
            </a:r>
            <a:r>
              <a:rPr lang="en-US" sz="1250" b="0" u="none" strike="noStrike">
                <a:solidFill>
                  <a:srgbClr val="474651"/>
                </a:solidFill>
                <a:effectLst/>
                <a:uFillTx/>
                <a:latin typeface="Hanken Grotesk"/>
                <a:ea typeface="Hanken Grotesk"/>
              </a:rPr>
              <a:t>  Matplotlib tracks "the current" figure and axes for you. Quick for a single chart.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0" name="Shape 15"/>
          <p:cNvSpPr/>
          <p:nvPr/>
        </p:nvSpPr>
        <p:spPr>
          <a:xfrm>
            <a:off x="6217920" y="1737360"/>
            <a:ext cx="5209560" cy="392940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9525">
            <a:solidFill>
              <a:srgbClr val="C8C5D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1" name="Shape 16"/>
          <p:cNvSpPr/>
          <p:nvPr/>
        </p:nvSpPr>
        <p:spPr>
          <a:xfrm>
            <a:off x="6446520" y="1938600"/>
            <a:ext cx="1826280" cy="290160"/>
          </a:xfrm>
          <a:prstGeom prst="roundRect">
            <a:avLst>
              <a:gd name="adj" fmla="val 50000"/>
            </a:avLst>
          </a:prstGeom>
          <a:solidFill>
            <a:srgbClr val="8C8AE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2" name="Text 17"/>
          <p:cNvSpPr/>
          <p:nvPr/>
        </p:nvSpPr>
        <p:spPr>
          <a:xfrm>
            <a:off x="6446520" y="1938600"/>
            <a:ext cx="1826280" cy="290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231F71"/>
                </a:solidFill>
                <a:effectLst/>
                <a:uFillTx/>
                <a:latin typeface="Plus Jakarta Sans"/>
                <a:ea typeface="Plus Jakarta Sans"/>
              </a:rPr>
              <a:t>OBJECT-ORIENTED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3" name="Shape 18"/>
          <p:cNvSpPr/>
          <p:nvPr/>
        </p:nvSpPr>
        <p:spPr>
          <a:xfrm>
            <a:off x="6446520" y="2514600"/>
            <a:ext cx="4752360" cy="1826640"/>
          </a:xfrm>
          <a:prstGeom prst="roundRect">
            <a:avLst>
              <a:gd name="adj" fmla="val 6486"/>
            </a:avLst>
          </a:prstGeom>
          <a:solidFill>
            <a:srgbClr val="0E1420"/>
          </a:solidFill>
          <a:ln w="9525">
            <a:solidFill>
              <a:srgbClr val="1E293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4" name="Shape 19"/>
          <p:cNvSpPr/>
          <p:nvPr/>
        </p:nvSpPr>
        <p:spPr>
          <a:xfrm>
            <a:off x="6611040" y="2660760"/>
            <a:ext cx="97920" cy="97920"/>
          </a:xfrm>
          <a:prstGeom prst="ellipse">
            <a:avLst/>
          </a:prstGeom>
          <a:solidFill>
            <a:srgbClr val="F43F5E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8960" tIns="26280" rIns="48960" bIns="2628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5" name="Shape 20"/>
          <p:cNvSpPr/>
          <p:nvPr/>
        </p:nvSpPr>
        <p:spPr>
          <a:xfrm>
            <a:off x="6812280" y="2660760"/>
            <a:ext cx="97920" cy="97920"/>
          </a:xfrm>
          <a:prstGeom prst="ellipse">
            <a:avLst/>
          </a:prstGeom>
          <a:solidFill>
            <a:srgbClr val="F9C6FE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8960" tIns="26280" rIns="48960" bIns="2628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6" name="Shape 21"/>
          <p:cNvSpPr/>
          <p:nvPr/>
        </p:nvSpPr>
        <p:spPr>
          <a:xfrm>
            <a:off x="7013520" y="2660760"/>
            <a:ext cx="97920" cy="97920"/>
          </a:xfrm>
          <a:prstGeom prst="ellipse">
            <a:avLst/>
          </a:prstGeom>
          <a:solidFill>
            <a:srgbClr val="2DD4B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8960" tIns="26280" rIns="48960" bIns="2628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7" name="Text 22"/>
          <p:cNvSpPr/>
          <p:nvPr/>
        </p:nvSpPr>
        <p:spPr>
          <a:xfrm>
            <a:off x="6647760" y="2898720"/>
            <a:ext cx="4349880" cy="1158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F1F5F9"/>
                </a:solidFill>
                <a:effectLst/>
                <a:uFillTx/>
                <a:latin typeface="Consolas"/>
                <a:ea typeface="Consolas"/>
              </a:rPr>
              <a:t>fig, ax = plt.subplots()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F1F5F9"/>
                </a:solidFill>
                <a:effectLst/>
                <a:uFillTx/>
                <a:latin typeface="Consolas"/>
                <a:ea typeface="Consolas"/>
              </a:rPr>
              <a:t>ax.plot(x, y)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F1F5F9"/>
                </a:solidFill>
                <a:effectLst/>
                <a:uFillTx/>
                <a:latin typeface="Consolas"/>
                <a:ea typeface="Consolas"/>
              </a:rPr>
              <a:t>ax.set_title("Sales")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F1F5F9"/>
                </a:solidFill>
                <a:effectLst/>
                <a:uFillTx/>
                <a:latin typeface="Consolas"/>
                <a:ea typeface="Consolas"/>
              </a:rPr>
              <a:t>ax.set_xlabel("Month")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F1F5F9"/>
                </a:solidFill>
                <a:effectLst/>
                <a:uFillTx/>
                <a:latin typeface="Consolas"/>
                <a:ea typeface="Consolas"/>
              </a:rPr>
              <a:t>ax.legend()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8" name="Text 23"/>
          <p:cNvSpPr/>
          <p:nvPr/>
        </p:nvSpPr>
        <p:spPr>
          <a:xfrm>
            <a:off x="6446520" y="4343400"/>
            <a:ext cx="4752360" cy="1094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474651"/>
                </a:solidFill>
                <a:effectLst/>
                <a:uFillTx/>
                <a:latin typeface="Hanken Grotesk"/>
                <a:ea typeface="Hanken Grotesk"/>
              </a:rPr>
              <a:t>Explicit:</a:t>
            </a:r>
            <a:r>
              <a:rPr lang="en-US" sz="1250" b="0" u="none" strike="noStrike">
                <a:solidFill>
                  <a:srgbClr val="474651"/>
                </a:solidFill>
                <a:effectLst/>
                <a:uFillTx/>
                <a:latin typeface="Hanken Grotesk"/>
                <a:ea typeface="Hanken Grotesk"/>
              </a:rPr>
              <a:t> you name exactly which Axes you're drawing on. Scales cleanly to subplots and reusable functions.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9" name="Text 24"/>
          <p:cNvSpPr/>
          <p:nvPr/>
        </p:nvSpPr>
        <p:spPr>
          <a:xfrm>
            <a:off x="11505960" y="6473880"/>
            <a:ext cx="500400" cy="271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4651"/>
                </a:solidFill>
                <a:effectLst/>
                <a:uFillTx/>
                <a:latin typeface="Plus Jakarta Sans"/>
                <a:ea typeface="Plus Jakarta Sans"/>
              </a:rPr>
              <a:t>26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p15="http://schemas.microsoft.com/office/powerpoint/2012/main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Text 0"/>
          <p:cNvSpPr/>
          <p:nvPr/>
        </p:nvSpPr>
        <p:spPr>
          <a:xfrm>
            <a:off x="548640" y="384120"/>
            <a:ext cx="9598680" cy="290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 spc="201">
                <a:solidFill>
                  <a:srgbClr val="5755A7"/>
                </a:solidFill>
                <a:effectLst/>
                <a:uFillTx/>
                <a:latin typeface="Plus Jakarta Sans"/>
                <a:ea typeface="Plus Jakarta Sans"/>
              </a:rPr>
              <a:t>06 · SAVING PLOTS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1" name="Text 1"/>
          <p:cNvSpPr/>
          <p:nvPr/>
        </p:nvSpPr>
        <p:spPr>
          <a:xfrm>
            <a:off x="548640" y="658440"/>
            <a:ext cx="10240560" cy="683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 spc="-31">
                <a:solidFill>
                  <a:srgbClr val="1B1B20"/>
                </a:solidFill>
                <a:effectLst/>
                <a:uFillTx/>
                <a:latin typeface="Bricolage Grotesque"/>
                <a:ea typeface="Bricolage Grotesque"/>
              </a:rPr>
              <a:t>Saving Plots — plt.savefig() Syntax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2" name="Shape 2"/>
          <p:cNvSpPr/>
          <p:nvPr/>
        </p:nvSpPr>
        <p:spPr>
          <a:xfrm>
            <a:off x="11323080" y="384120"/>
            <a:ext cx="381600" cy="381600"/>
          </a:xfrm>
          <a:prstGeom prst="roundRect">
            <a:avLst>
              <a:gd name="adj" fmla="val 28000"/>
            </a:avLst>
          </a:prstGeom>
          <a:solidFill>
            <a:srgbClr val="5755A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3" name="Shape 3"/>
          <p:cNvSpPr/>
          <p:nvPr/>
        </p:nvSpPr>
        <p:spPr>
          <a:xfrm>
            <a:off x="11445840" y="506880"/>
            <a:ext cx="258480" cy="258480"/>
          </a:xfrm>
          <a:prstGeom prst="roundRect">
            <a:avLst>
              <a:gd name="adj" fmla="val 26471"/>
            </a:avLst>
          </a:prstGeom>
          <a:solidFill>
            <a:srgbClr val="FCF8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4" name="Shape 4"/>
          <p:cNvSpPr/>
          <p:nvPr/>
        </p:nvSpPr>
        <p:spPr>
          <a:xfrm>
            <a:off x="11514960" y="576000"/>
            <a:ext cx="128160" cy="128160"/>
          </a:xfrm>
          <a:prstGeom prst="roundRect">
            <a:avLst>
              <a:gd name="adj" fmla="val 26471"/>
            </a:avLst>
          </a:prstGeom>
          <a:solidFill>
            <a:srgbClr val="386759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4080" tIns="45000" rIns="6408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5" name="Text 5"/>
          <p:cNvSpPr/>
          <p:nvPr/>
        </p:nvSpPr>
        <p:spPr>
          <a:xfrm>
            <a:off x="457200" y="6473880"/>
            <a:ext cx="6855480" cy="271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4651"/>
                </a:solidFill>
                <a:effectLst/>
                <a:uFillTx/>
                <a:latin typeface="Plus Jakarta Sans"/>
                <a:ea typeface="Plus Jakarta Sans"/>
              </a:rPr>
              <a:t>Matplotlib: Data Visualization with Python  ·  GCN Course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6" name="Text 6"/>
          <p:cNvSpPr/>
          <p:nvPr/>
        </p:nvSpPr>
        <p:spPr>
          <a:xfrm>
            <a:off x="11505960" y="6473880"/>
            <a:ext cx="500400" cy="271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4651"/>
                </a:solidFill>
                <a:effectLst/>
                <a:uFillTx/>
                <a:latin typeface="Plus Jakarta Sans"/>
                <a:ea typeface="Plus Jakarta Sans"/>
              </a:rPr>
              <a:t>27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7" name="Rounded Rectangle 363"/>
          <p:cNvSpPr/>
          <p:nvPr/>
        </p:nvSpPr>
        <p:spPr>
          <a:xfrm>
            <a:off x="548640" y="1554480"/>
            <a:ext cx="5211360" cy="1873800"/>
          </a:xfrm>
          <a:prstGeom prst="roundRect">
            <a:avLst>
              <a:gd name="adj" fmla="val 3000"/>
            </a:avLst>
          </a:prstGeom>
          <a:solidFill>
            <a:srgbClr val="0E1420"/>
          </a:solidFill>
          <a:ln w="952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48" name="Oval 364"/>
          <p:cNvSpPr/>
          <p:nvPr/>
        </p:nvSpPr>
        <p:spPr>
          <a:xfrm>
            <a:off x="713160" y="1700640"/>
            <a:ext cx="99720" cy="99720"/>
          </a:xfrm>
          <a:prstGeom prst="ellipse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0040" tIns="26280" rIns="50040" bIns="262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49" name="Oval 365"/>
          <p:cNvSpPr/>
          <p:nvPr/>
        </p:nvSpPr>
        <p:spPr>
          <a:xfrm>
            <a:off x="914400" y="1700640"/>
            <a:ext cx="99720" cy="99720"/>
          </a:xfrm>
          <a:prstGeom prst="ellipse">
            <a:avLst/>
          </a:prstGeom>
          <a:solidFill>
            <a:srgbClr val="F9C6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0040" tIns="26280" rIns="50040" bIns="262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50" name="Oval 366"/>
          <p:cNvSpPr/>
          <p:nvPr/>
        </p:nvSpPr>
        <p:spPr>
          <a:xfrm>
            <a:off x="1115640" y="1700640"/>
            <a:ext cx="99720" cy="99720"/>
          </a:xfrm>
          <a:prstGeom prst="ellipse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0040" tIns="26280" rIns="50040" bIns="262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51" name="TextBox 367"/>
          <p:cNvSpPr/>
          <p:nvPr/>
        </p:nvSpPr>
        <p:spPr>
          <a:xfrm>
            <a:off x="685800" y="1920240"/>
            <a:ext cx="4937040" cy="1416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4080" tIns="0" rIns="64080" bIns="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130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savefig(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30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    "filename.file_extension",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30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    dpi=value,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30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    bbox_inches="inches value"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30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452" name="Table 368"/>
          <p:cNvGraphicFramePr/>
          <p:nvPr/>
        </p:nvGraphicFramePr>
        <p:xfrm>
          <a:off x="5989320" y="1554480"/>
          <a:ext cx="5715000" cy="1828800"/>
        </p:xfrm>
        <a:graphic>
          <a:graphicData uri="http://schemas.openxmlformats.org/drawingml/2006/table">
            <a:tbl>
              <a:tblPr/>
              <a:tblGrid>
                <a:gridCol w="2423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91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Plus Jakarta Sans"/>
                        </a:rPr>
                        <a:t>Parameter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5755A7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Plus Jakarta Sans"/>
                        </a:rPr>
                        <a:t>Meaning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5755A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5755A7"/>
                          </a:solidFill>
                          <a:effectLst/>
                          <a:uFillTx/>
                          <a:latin typeface="Consolas"/>
                        </a:rPr>
                        <a:t>filename.file_extension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1B1B20"/>
                          </a:solidFill>
                          <a:effectLst/>
                          <a:uFillTx/>
                          <a:latin typeface="Plus Jakarta Sans"/>
                        </a:rPr>
                        <a:t>File name + format, e.g. .png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5755A7"/>
                          </a:solidFill>
                          <a:effectLst/>
                          <a:uFillTx/>
                          <a:latin typeface="Consolas"/>
                        </a:rPr>
                        <a:t>dpi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4F1FA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1B1B20"/>
                          </a:solidFill>
                          <a:effectLst/>
                          <a:uFillTx/>
                          <a:latin typeface="Plus Jakarta Sans"/>
                        </a:rPr>
                        <a:t>Resolution in dots per inch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4F1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5755A7"/>
                          </a:solidFill>
                          <a:effectLst/>
                          <a:uFillTx/>
                          <a:latin typeface="Consolas"/>
                        </a:rPr>
                        <a:t>bbox_inches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1B1B20"/>
                          </a:solidFill>
                          <a:effectLst/>
                          <a:uFillTx/>
                          <a:latin typeface="Plus Jakarta Sans"/>
                        </a:rPr>
                        <a:t>Area of the figure that is saved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p15="http://schemas.microsoft.com/office/powerpoint/2012/main"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3" name="Text 0"/>
          <p:cNvSpPr/>
          <p:nvPr/>
        </p:nvSpPr>
        <p:spPr>
          <a:xfrm>
            <a:off x="548640" y="384120"/>
            <a:ext cx="9598680" cy="290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 spc="201">
                <a:solidFill>
                  <a:srgbClr val="5755A7"/>
                </a:solidFill>
                <a:effectLst/>
                <a:uFillTx/>
                <a:latin typeface="Plus Jakarta Sans"/>
                <a:ea typeface="Plus Jakarta Sans"/>
              </a:rPr>
              <a:t>06 · SAVING PLOTS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4" name="Text 1"/>
          <p:cNvSpPr/>
          <p:nvPr/>
        </p:nvSpPr>
        <p:spPr>
          <a:xfrm>
            <a:off x="548640" y="658440"/>
            <a:ext cx="10240560" cy="683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 spc="-31">
                <a:solidFill>
                  <a:srgbClr val="1B1B20"/>
                </a:solidFill>
                <a:effectLst/>
                <a:uFillTx/>
                <a:latin typeface="Bricolage Grotesque"/>
                <a:ea typeface="Bricolage Grotesque"/>
              </a:rPr>
              <a:t>Saving Plots — Example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5" name="Shape 2"/>
          <p:cNvSpPr/>
          <p:nvPr/>
        </p:nvSpPr>
        <p:spPr>
          <a:xfrm>
            <a:off x="11323080" y="384120"/>
            <a:ext cx="381600" cy="381600"/>
          </a:xfrm>
          <a:prstGeom prst="roundRect">
            <a:avLst>
              <a:gd name="adj" fmla="val 28000"/>
            </a:avLst>
          </a:prstGeom>
          <a:solidFill>
            <a:srgbClr val="5755A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6" name="Shape 3"/>
          <p:cNvSpPr/>
          <p:nvPr/>
        </p:nvSpPr>
        <p:spPr>
          <a:xfrm>
            <a:off x="11445840" y="506880"/>
            <a:ext cx="258480" cy="258480"/>
          </a:xfrm>
          <a:prstGeom prst="roundRect">
            <a:avLst>
              <a:gd name="adj" fmla="val 26471"/>
            </a:avLst>
          </a:prstGeom>
          <a:solidFill>
            <a:srgbClr val="FCF8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7" name="Shape 4"/>
          <p:cNvSpPr/>
          <p:nvPr/>
        </p:nvSpPr>
        <p:spPr>
          <a:xfrm>
            <a:off x="11514960" y="576000"/>
            <a:ext cx="128160" cy="128160"/>
          </a:xfrm>
          <a:prstGeom prst="roundRect">
            <a:avLst>
              <a:gd name="adj" fmla="val 26471"/>
            </a:avLst>
          </a:prstGeom>
          <a:solidFill>
            <a:srgbClr val="386759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4080" tIns="45000" rIns="6408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8" name="Text 5"/>
          <p:cNvSpPr/>
          <p:nvPr/>
        </p:nvSpPr>
        <p:spPr>
          <a:xfrm>
            <a:off x="457200" y="6473880"/>
            <a:ext cx="6855480" cy="271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4651"/>
                </a:solidFill>
                <a:effectLst/>
                <a:uFillTx/>
                <a:latin typeface="Plus Jakarta Sans"/>
                <a:ea typeface="Plus Jakarta Sans"/>
              </a:rPr>
              <a:t>Matplotlib: Data Visualization with Python  ·  GCN Course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9" name="Text 6"/>
          <p:cNvSpPr/>
          <p:nvPr/>
        </p:nvSpPr>
        <p:spPr>
          <a:xfrm>
            <a:off x="11505960" y="6473880"/>
            <a:ext cx="500400" cy="271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4651"/>
                </a:solidFill>
                <a:effectLst/>
                <a:uFillTx/>
                <a:latin typeface="Plus Jakarta Sans"/>
                <a:ea typeface="Plus Jakarta Sans"/>
              </a:rPr>
              <a:t>28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0" name="Rounded Rectangle 363"/>
          <p:cNvSpPr/>
          <p:nvPr/>
        </p:nvSpPr>
        <p:spPr>
          <a:xfrm>
            <a:off x="548640" y="1463040"/>
            <a:ext cx="5714280" cy="4937040"/>
          </a:xfrm>
          <a:prstGeom prst="roundRect">
            <a:avLst>
              <a:gd name="adj" fmla="val 3000"/>
            </a:avLst>
          </a:prstGeom>
          <a:solidFill>
            <a:srgbClr val="0E1420"/>
          </a:solidFill>
          <a:ln w="952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61" name="Oval 364"/>
          <p:cNvSpPr/>
          <p:nvPr/>
        </p:nvSpPr>
        <p:spPr>
          <a:xfrm>
            <a:off x="713160" y="1609200"/>
            <a:ext cx="99720" cy="99720"/>
          </a:xfrm>
          <a:prstGeom prst="ellipse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0040" tIns="26280" rIns="50040" bIns="262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62" name="Oval 365"/>
          <p:cNvSpPr/>
          <p:nvPr/>
        </p:nvSpPr>
        <p:spPr>
          <a:xfrm>
            <a:off x="914400" y="1609200"/>
            <a:ext cx="99720" cy="99720"/>
          </a:xfrm>
          <a:prstGeom prst="ellipse">
            <a:avLst/>
          </a:prstGeom>
          <a:solidFill>
            <a:srgbClr val="F9C6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0040" tIns="26280" rIns="50040" bIns="262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63" name="Oval 366"/>
          <p:cNvSpPr/>
          <p:nvPr/>
        </p:nvSpPr>
        <p:spPr>
          <a:xfrm>
            <a:off x="1115640" y="1609200"/>
            <a:ext cx="99720" cy="99720"/>
          </a:xfrm>
          <a:prstGeom prst="ellipse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0040" tIns="26280" rIns="50040" bIns="262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64" name="TextBox 367"/>
          <p:cNvSpPr/>
          <p:nvPr/>
        </p:nvSpPr>
        <p:spPr>
          <a:xfrm>
            <a:off x="685800" y="1828800"/>
            <a:ext cx="5439960" cy="4039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4080" tIns="0" rIns="64080" bIns="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105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import matplotlib.pyplot as plt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05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import numpy as np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05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 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05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languages = ["Go", "Python", "Rust", "JavaScript", "C++", "Java"]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05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repositories = [350, 850, 280, 720, 480, 610]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05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width = 0.4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05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x1 = np.arange(len(languages))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05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 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05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plt.plot(x1, repositories, color="red", linewidth=3,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05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         linestyle=":", marker="o", label="Repositories")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05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plt.title("Programming Languages")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05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plt.legend()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05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plt.xlabel("Languages")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05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plt.ylabel("Repositories")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05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plt.xticks(x1, languages, rotation=45, ha="right")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05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plt.yticks([0, 500, 1000, 1500],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05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           ['Zero', 'Low', 'Medium', 'High'])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05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 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05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plt.tight_layout()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05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plt.savefig(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05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    "./outputs/line_graph_high_quality.png",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05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    dpi=500,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05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    bbox_inches="tight"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05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)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050" b="0" u="none" strike="noStrike">
                <a:solidFill>
                  <a:srgbClr val="F1F5F9"/>
                </a:solidFill>
                <a:effectLst/>
                <a:uFillTx/>
                <a:latin typeface="Consolas"/>
              </a:rPr>
              <a:t>plt.show()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5" name="Rounded Rectangle 368"/>
          <p:cNvSpPr/>
          <p:nvPr/>
        </p:nvSpPr>
        <p:spPr>
          <a:xfrm>
            <a:off x="6446520" y="1463040"/>
            <a:ext cx="5211360" cy="228528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 w="9525">
            <a:solidFill>
              <a:srgbClr val="C8C5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466" name="Picture 369" descr="saving.png"/>
          <p:cNvPicPr/>
          <p:nvPr/>
        </p:nvPicPr>
        <p:blipFill>
          <a:blip r:embed="rId2"/>
          <a:stretch/>
        </p:blipFill>
        <p:spPr>
          <a:xfrm>
            <a:off x="6659280" y="1554480"/>
            <a:ext cx="4785840" cy="2102400"/>
          </a:xfrm>
          <a:prstGeom prst="rect">
            <a:avLst/>
          </a:prstGeom>
          <a:noFill/>
          <a:ln w="0">
            <a:noFill/>
          </a:ln>
        </p:spPr>
      </p:pic>
      <p:graphicFrame>
        <p:nvGraphicFramePr>
          <p:cNvPr id="467" name="Table 370"/>
          <p:cNvGraphicFramePr/>
          <p:nvPr/>
        </p:nvGraphicFramePr>
        <p:xfrm>
          <a:off x="6446520" y="3886200"/>
          <a:ext cx="5212080" cy="1972800"/>
        </p:xfrm>
        <a:graphic>
          <a:graphicData uri="http://schemas.openxmlformats.org/drawingml/2006/table">
            <a:tbl>
              <a:tblPr/>
              <a:tblGrid>
                <a:gridCol w="2148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46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9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Plus Jakarta Sans"/>
                        </a:rPr>
                        <a:t>Parameter</a:t>
                      </a:r>
                      <a:endParaRPr lang="en-US" sz="9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5755A7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9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Plus Jakarta Sans"/>
                        </a:rPr>
                        <a:t>Meaning</a:t>
                      </a:r>
                      <a:endParaRPr lang="en-US" sz="9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5755A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800" b="1" u="none" strike="noStrike">
                          <a:solidFill>
                            <a:srgbClr val="5755A7"/>
                          </a:solidFill>
                          <a:effectLst/>
                          <a:uFillTx/>
                          <a:latin typeface="Consolas"/>
                        </a:rPr>
                        <a:t>rotation=45, ha="right"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1B1B20"/>
                          </a:solidFill>
                          <a:effectLst/>
                          <a:uFillTx/>
                          <a:latin typeface="Plus Jakarta Sans"/>
                        </a:rPr>
                        <a:t>Tilts labels 45°, aligned to ticks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800" b="1" u="none" strike="noStrike">
                          <a:solidFill>
                            <a:srgbClr val="5755A7"/>
                          </a:solidFill>
                          <a:effectLst/>
                          <a:uFillTx/>
                          <a:latin typeface="Consolas"/>
                        </a:rPr>
                        <a:t>plt.yticks([0, 500, ...], [...])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4F1FA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1B1B20"/>
                          </a:solidFill>
                          <a:effectLst/>
                          <a:uFillTx/>
                          <a:latin typeface="Plus Jakarta Sans"/>
                        </a:rPr>
                        <a:t>Text labels replace the Y numbers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4F1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800" b="1" u="none" strike="noStrike">
                          <a:solidFill>
                            <a:srgbClr val="5755A7"/>
                          </a:solidFill>
                          <a:effectLst/>
                          <a:uFillTx/>
                          <a:latin typeface="Consolas"/>
                        </a:rPr>
                        <a:t>plt.tight_layout()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1B1B20"/>
                          </a:solidFill>
                          <a:effectLst/>
                          <a:uFillTx/>
                          <a:latin typeface="Plus Jakarta Sans"/>
                        </a:rPr>
                        <a:t>Fixes spacing before saving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800" b="1" u="none" strike="noStrike">
                          <a:solidFill>
                            <a:srgbClr val="5755A7"/>
                          </a:solidFill>
                          <a:effectLst/>
                          <a:uFillTx/>
                          <a:latin typeface="Consolas"/>
                        </a:rPr>
                        <a:t>"./outputs/line_graph...png"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4F1FA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1B1B20"/>
                          </a:solidFill>
                          <a:effectLst/>
                          <a:uFillTx/>
                          <a:latin typeface="Plus Jakarta Sans"/>
                        </a:rPr>
                        <a:t>Folder, name and format of the saved file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4F1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800" b="1" u="none" strike="noStrike">
                          <a:solidFill>
                            <a:srgbClr val="5755A7"/>
                          </a:solidFill>
                          <a:effectLst/>
                          <a:uFillTx/>
                          <a:latin typeface="Consolas"/>
                        </a:rPr>
                        <a:t>dpi=5000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1B1B20"/>
                          </a:solidFill>
                          <a:effectLst/>
                          <a:uFillTx/>
                          <a:latin typeface="Plus Jakarta Sans"/>
                        </a:rPr>
                        <a:t>Very high resolution (5000 dots per inch)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6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800" b="1" u="none" strike="noStrike">
                          <a:solidFill>
                            <a:srgbClr val="5755A7"/>
                          </a:solidFill>
                          <a:effectLst/>
                          <a:uFillTx/>
                          <a:latin typeface="Consolas"/>
                        </a:rPr>
                        <a:t>bbox_inches="tight"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4F1FA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1B1B20"/>
                          </a:solidFill>
                          <a:effectLst/>
                          <a:uFillTx/>
                          <a:latin typeface="Plus Jakarta Sans"/>
                        </a:rPr>
                        <a:t>Crops extra whitespace around the plot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4F1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6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800" b="1" u="none" strike="noStrike">
                          <a:solidFill>
                            <a:srgbClr val="5755A7"/>
                          </a:solidFill>
                          <a:effectLst/>
                          <a:uFillTx/>
                          <a:latin typeface="Consolas"/>
                        </a:rPr>
                        <a:t>plt.show()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1B1B20"/>
                          </a:solidFill>
                          <a:effectLst/>
                          <a:uFillTx/>
                          <a:latin typeface="Plus Jakarta Sans"/>
                        </a:rPr>
                        <a:t>Displays the figure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82080" marR="82080" marT="27360" marB="273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p15="http://schemas.microsoft.com/office/powerpoint/2012/main">
      <p:transition spd="med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Text 0"/>
          <p:cNvSpPr/>
          <p:nvPr/>
        </p:nvSpPr>
        <p:spPr>
          <a:xfrm>
            <a:off x="548640" y="384120"/>
            <a:ext cx="9598680" cy="290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 spc="201">
                <a:solidFill>
                  <a:srgbClr val="5755A7"/>
                </a:solidFill>
                <a:effectLst/>
                <a:uFillTx/>
                <a:latin typeface="Plus Jakarta Sans"/>
                <a:ea typeface="Plus Jakarta Sans"/>
              </a:rPr>
              <a:t>07 · USEFUL EXTRAS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9" name="Text 1"/>
          <p:cNvSpPr/>
          <p:nvPr/>
        </p:nvSpPr>
        <p:spPr>
          <a:xfrm>
            <a:off x="548640" y="658440"/>
            <a:ext cx="10238760" cy="683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 spc="-31">
                <a:solidFill>
                  <a:srgbClr val="1B1B20"/>
                </a:solidFill>
                <a:effectLst/>
                <a:uFillTx/>
                <a:latin typeface="Bricolage Grotesque"/>
                <a:ea typeface="Bricolage Grotesque"/>
              </a:rPr>
              <a:t>A Few More Tools You'll Reach For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0" name="Shape 2"/>
          <p:cNvSpPr/>
          <p:nvPr/>
        </p:nvSpPr>
        <p:spPr>
          <a:xfrm>
            <a:off x="11323080" y="384120"/>
            <a:ext cx="381600" cy="381600"/>
          </a:xfrm>
          <a:prstGeom prst="roundRect">
            <a:avLst>
              <a:gd name="adj" fmla="val 28000"/>
            </a:avLst>
          </a:prstGeom>
          <a:solidFill>
            <a:srgbClr val="5755A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1" name="Shape 3"/>
          <p:cNvSpPr/>
          <p:nvPr/>
        </p:nvSpPr>
        <p:spPr>
          <a:xfrm>
            <a:off x="11445840" y="506880"/>
            <a:ext cx="258480" cy="258480"/>
          </a:xfrm>
          <a:prstGeom prst="roundRect">
            <a:avLst>
              <a:gd name="adj" fmla="val 26471"/>
            </a:avLst>
          </a:prstGeom>
          <a:solidFill>
            <a:srgbClr val="FCF8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2" name="Shape 4"/>
          <p:cNvSpPr/>
          <p:nvPr/>
        </p:nvSpPr>
        <p:spPr>
          <a:xfrm>
            <a:off x="11514960" y="576000"/>
            <a:ext cx="128160" cy="128160"/>
          </a:xfrm>
          <a:prstGeom prst="roundRect">
            <a:avLst>
              <a:gd name="adj" fmla="val 26471"/>
            </a:avLst>
          </a:prstGeom>
          <a:solidFill>
            <a:srgbClr val="386759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4080" tIns="45000" rIns="6408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3" name="Text 5"/>
          <p:cNvSpPr/>
          <p:nvPr/>
        </p:nvSpPr>
        <p:spPr>
          <a:xfrm>
            <a:off x="457200" y="6473880"/>
            <a:ext cx="6855480" cy="271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4651"/>
                </a:solidFill>
                <a:effectLst/>
                <a:uFillTx/>
                <a:latin typeface="Plus Jakarta Sans"/>
                <a:ea typeface="Plus Jakarta Sans"/>
              </a:rPr>
              <a:t>Matplotlib: Data Visualization with Python  ·  GCN Course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474" name="Table 0"/>
          <p:cNvGraphicFramePr/>
          <p:nvPr/>
        </p:nvGraphicFramePr>
        <p:xfrm>
          <a:off x="548640" y="1691640"/>
          <a:ext cx="11109600" cy="3918600"/>
        </p:xfrm>
        <a:graphic>
          <a:graphicData uri="http://schemas.openxmlformats.org/drawingml/2006/table">
            <a:tbl>
              <a:tblPr/>
              <a:tblGrid>
                <a:gridCol w="3555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554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598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Plus Jakarta Sans"/>
                          <a:ea typeface="Plus Jakarta Sans"/>
                        </a:rPr>
                        <a:t>Parameter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1520" marR="101520" marT="50760" marB="507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5755A7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Plus Jakarta Sans"/>
                          <a:ea typeface="Plus Jakarta Sans"/>
                        </a:rPr>
                        <a:t>Meaning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1520" marR="101520" marT="50760" marB="507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5755A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98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5755A7"/>
                          </a:solidFill>
                          <a:effectLst/>
                          <a:uFillTx/>
                          <a:latin typeface="Cantarell"/>
                          <a:ea typeface="Consolas"/>
                        </a:rPr>
                        <a:t>figsize=(w, h)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1520" marR="101520" marT="50760" marB="507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1B1B20"/>
                          </a:solidFill>
                          <a:effectLst/>
                          <a:uFillTx/>
                          <a:latin typeface="Hanken Grotesk"/>
                          <a:ea typeface="Hanken Grotesk"/>
                        </a:rPr>
                        <a:t>Sets the Figure's size, in inches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1520" marR="101520" marT="50760" marB="507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98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5755A7"/>
                          </a:solidFill>
                          <a:effectLst/>
                          <a:uFillTx/>
                          <a:latin typeface="Cantarell"/>
                          <a:ea typeface="Consolas"/>
                        </a:rPr>
                        <a:t>dpi=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1520" marR="101520" marT="50760" marB="507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1B1B20"/>
                          </a:solidFill>
                          <a:effectLst/>
                          <a:uFillTx/>
                          <a:latin typeface="Hanken Grotesk"/>
                          <a:ea typeface="Hanken Grotesk"/>
                        </a:rPr>
                        <a:t>Controls image resolution/sharpness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1520" marR="101520" marT="50760" marB="507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98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5755A7"/>
                          </a:solidFill>
                          <a:effectLst/>
                          <a:uFillTx/>
                          <a:latin typeface="Cantarell"/>
                          <a:ea typeface="Consolas"/>
                        </a:rPr>
                        <a:t>plt.savefig("file.png", dpi=300)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1520" marR="101520" marT="50760" marB="507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1B1B20"/>
                          </a:solidFill>
                          <a:effectLst/>
                          <a:uFillTx/>
                          <a:latin typeface="Hanken Grotesk"/>
                          <a:ea typeface="Hanken Grotesk"/>
                        </a:rPr>
                        <a:t>Exports the current figure to a file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1520" marR="101520" marT="50760" marB="507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598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5755A7"/>
                          </a:solidFill>
                          <a:effectLst/>
                          <a:uFillTx/>
                          <a:latin typeface="Cantarell"/>
                          <a:ea typeface="Consolas"/>
                        </a:rPr>
                        <a:t>plt.xlim() / plt.ylim()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1520" marR="101520" marT="50760" marB="507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1B1B20"/>
                          </a:solidFill>
                          <a:effectLst/>
                          <a:uFillTx/>
                          <a:latin typeface="Hanken Grotesk"/>
                          <a:ea typeface="Hanken Grotesk"/>
                        </a:rPr>
                        <a:t>Fixes the visible axis range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1520" marR="101520" marT="50760" marB="507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598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5755A7"/>
                          </a:solidFill>
                          <a:effectLst/>
                          <a:uFillTx/>
                          <a:latin typeface="Cantarell"/>
                          <a:ea typeface="Consolas"/>
                        </a:rPr>
                        <a:t>plt.xticks() / plt.yticks()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1520" marR="101520" marT="50760" marB="507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1B1B20"/>
                          </a:solidFill>
                          <a:effectLst/>
                          <a:uFillTx/>
                          <a:latin typeface="Hanken Grotesk"/>
                          <a:ea typeface="Hanken Grotesk"/>
                        </a:rPr>
                        <a:t>Sets custom tick positions and labels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1520" marR="101520" marT="50760" marB="507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598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5755A7"/>
                          </a:solidFill>
                          <a:effectLst/>
                          <a:uFillTx/>
                          <a:latin typeface="Cantarell"/>
                          <a:ea typeface="Consolas"/>
                        </a:rPr>
                        <a:t>plt.tight_layout()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1520" marR="101520" marT="50760" marB="507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1B1B20"/>
                          </a:solidFill>
                          <a:effectLst/>
                          <a:uFillTx/>
                          <a:latin typeface="Hanken Grotesk"/>
                          <a:ea typeface="Hanken Grotesk"/>
                        </a:rPr>
                        <a:t>Automatically fixes spacing so labels don't overlap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1520" marR="101520" marT="50760" marB="50760" anchor="ctr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475" name="Text 6"/>
          <p:cNvSpPr/>
          <p:nvPr/>
        </p:nvSpPr>
        <p:spPr>
          <a:xfrm>
            <a:off x="11505960" y="6473880"/>
            <a:ext cx="500400" cy="271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4651"/>
                </a:solidFill>
                <a:effectLst/>
                <a:uFillTx/>
                <a:latin typeface="Plus Jakarta Sans"/>
                <a:ea typeface="Plus Jakarta Sans"/>
              </a:rPr>
              <a:t>29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p15="http://schemas.microsoft.com/office/powerpoint/2012/main">
      <p:transition spd="med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6" name="Shape 0"/>
          <p:cNvSpPr/>
          <p:nvPr/>
        </p:nvSpPr>
        <p:spPr>
          <a:xfrm>
            <a:off x="-1828800" y="-1828800"/>
            <a:ext cx="4569480" cy="4569480"/>
          </a:xfrm>
          <a:prstGeom prst="ellipse">
            <a:avLst/>
          </a:prstGeom>
          <a:solidFill>
            <a:srgbClr val="262758">
              <a:alpha val="45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7" name="Shape 1"/>
          <p:cNvSpPr/>
          <p:nvPr/>
        </p:nvSpPr>
        <p:spPr>
          <a:xfrm>
            <a:off x="9601200" y="4114800"/>
            <a:ext cx="4112280" cy="4112280"/>
          </a:xfrm>
          <a:prstGeom prst="ellipse">
            <a:avLst/>
          </a:prstGeom>
          <a:solidFill>
            <a:srgbClr val="4C112D">
              <a:alpha val="50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8" name="Shape 2"/>
          <p:cNvSpPr/>
          <p:nvPr/>
        </p:nvSpPr>
        <p:spPr>
          <a:xfrm>
            <a:off x="5821560" y="2331720"/>
            <a:ext cx="546120" cy="546120"/>
          </a:xfrm>
          <a:prstGeom prst="roundRect">
            <a:avLst>
              <a:gd name="adj" fmla="val 28000"/>
            </a:avLst>
          </a:prstGeom>
          <a:solidFill>
            <a:srgbClr val="818CF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9" name="Shape 3"/>
          <p:cNvSpPr/>
          <p:nvPr/>
        </p:nvSpPr>
        <p:spPr>
          <a:xfrm>
            <a:off x="5997240" y="2507400"/>
            <a:ext cx="370440" cy="370440"/>
          </a:xfrm>
          <a:prstGeom prst="roundRect">
            <a:avLst>
              <a:gd name="adj" fmla="val 26471"/>
            </a:avLst>
          </a:prstGeom>
          <a:solidFill>
            <a:srgbClr val="0B0F1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0" name="Shape 4"/>
          <p:cNvSpPr/>
          <p:nvPr/>
        </p:nvSpPr>
        <p:spPr>
          <a:xfrm>
            <a:off x="6095880" y="2606040"/>
            <a:ext cx="183960" cy="183960"/>
          </a:xfrm>
          <a:prstGeom prst="roundRect">
            <a:avLst>
              <a:gd name="adj" fmla="val 26471"/>
            </a:avLst>
          </a:prstGeom>
          <a:solidFill>
            <a:srgbClr val="2DD4B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1" name="Text 5"/>
          <p:cNvSpPr/>
          <p:nvPr/>
        </p:nvSpPr>
        <p:spPr>
          <a:xfrm>
            <a:off x="0" y="3108960"/>
            <a:ext cx="12189240" cy="820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600" b="1" u="none" strike="noStrike">
                <a:solidFill>
                  <a:srgbClr val="F1F5F9"/>
                </a:solidFill>
                <a:effectLst/>
                <a:uFillTx/>
                <a:latin typeface="Bricolage Grotesque"/>
                <a:ea typeface="Bricolage Grotesque"/>
              </a:rPr>
              <a:t>Thank You</a:t>
            </a:r>
            <a:endParaRPr lang="en-US" sz="3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2" name="Text 6"/>
          <p:cNvSpPr/>
          <p:nvPr/>
        </p:nvSpPr>
        <p:spPr>
          <a:xfrm>
            <a:off x="0" y="3840480"/>
            <a:ext cx="12189240" cy="546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2DD4BF"/>
                </a:solidFill>
                <a:effectLst/>
                <a:uFillTx/>
                <a:latin typeface="Hanken Grotesk"/>
                <a:ea typeface="Hanken Grotesk"/>
              </a:rPr>
              <a:t>Questions?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3" name="Text 7"/>
          <p:cNvSpPr/>
          <p:nvPr/>
        </p:nvSpPr>
        <p:spPr>
          <a:xfrm>
            <a:off x="0" y="4480560"/>
            <a:ext cx="12189240" cy="454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94A3B8"/>
                </a:solidFill>
                <a:effectLst/>
                <a:uFillTx/>
                <a:latin typeface="Plus Jakarta Sans"/>
                <a:ea typeface="Plus Jakarta Sans"/>
              </a:rPr>
              <a:t>Matplotlib: Data Visualization with Python  ·  GCN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4" name="Text 8"/>
          <p:cNvSpPr/>
          <p:nvPr/>
        </p:nvSpPr>
        <p:spPr>
          <a:xfrm>
            <a:off x="11505960" y="6473880"/>
            <a:ext cx="500400" cy="271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4651"/>
                </a:solidFill>
                <a:effectLst/>
                <a:uFillTx/>
                <a:latin typeface="Plus Jakarta Sans"/>
                <a:ea typeface="Plus Jakarta Sans"/>
              </a:rPr>
              <a:t>30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p15="http://schemas.microsoft.com/office/powerpoint/2012/main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269</TotalTime>
  <Words>0</Words>
  <Application>Microsoft Office PowerPoint</Application>
  <PresentationFormat>Widescreen</PresentationFormat>
  <Paragraphs>0</Paragraphs>
  <Slides>30</Slides>
  <Notes>11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1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dc:description/>
  <cp:lastModifiedBy/>
  <cp:revision>257</cp:revision>
  <dcterms:created xsi:type="dcterms:W3CDTF">2026-09-23T19:15:53Z</dcterms:created>
  <dcterms:modified xsi:type="dcterms:W3CDTF">2026-09-25T05:54:53Z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12</vt:i4>
  </property>
  <property fmtid="{D5CDD505-2E9C-101B-9397-08002B2CF9AE}" pid="3" name="PresentationFormat">
    <vt:lpwstr>Widescreen</vt:lpwstr>
  </property>
  <property fmtid="{D5CDD505-2E9C-101B-9397-08002B2CF9AE}" pid="4" name="Slides">
    <vt:i4>31</vt:i4>
  </property>
</Properties>
</file>