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4943"/>
            <a:ext cx="1778000" cy="454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937092"/>
            <a:ext cx="4198620" cy="1764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-9372" y="3351784"/>
            <a:ext cx="108966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668014" y="3351784"/>
            <a:ext cx="52801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318450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#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2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slide" Target="slide21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slide" Target="slide21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slide" Target="slide1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slide" Target="slide1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slide" Target="slide1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slide" Target="slide5.xml"/><Relationship Id="rId4" Type="http://schemas.openxmlformats.org/officeDocument/2006/relationships/image" Target="../media/image21.png"/><Relationship Id="rId5" Type="http://schemas.openxmlformats.org/officeDocument/2006/relationships/slide" Target="slide8.xml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image" Target="../media/image40.png"/><Relationship Id="rId7" Type="http://schemas.openxmlformats.org/officeDocument/2006/relationships/image" Target="../media/image7.png"/><Relationship Id="rId8" Type="http://schemas.openxmlformats.org/officeDocument/2006/relationships/image" Target="../media/image42.png"/><Relationship Id="rId9" Type="http://schemas.openxmlformats.org/officeDocument/2006/relationships/image" Target="../media/image9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slide" Target="slide1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slide" Target="slide5.xml"/><Relationship Id="rId4" Type="http://schemas.openxmlformats.org/officeDocument/2006/relationships/image" Target="../media/image5.png"/><Relationship Id="rId5" Type="http://schemas.openxmlformats.org/officeDocument/2006/relationships/slide" Target="slide8.xml"/><Relationship Id="rId6" Type="http://schemas.openxmlformats.org/officeDocument/2006/relationships/image" Target="../media/image40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43.png"/><Relationship Id="rId10" Type="http://schemas.openxmlformats.org/officeDocument/2006/relationships/slide" Target="slide13.xml"/><Relationship Id="rId11" Type="http://schemas.openxmlformats.org/officeDocument/2006/relationships/slide" Target="slide14.xml"/><Relationship Id="rId12" Type="http://schemas.openxmlformats.org/officeDocument/2006/relationships/slide" Target="slide16.xml"/><Relationship Id="rId13" Type="http://schemas.openxmlformats.org/officeDocument/2006/relationships/slide" Target="slide18.xml"/><Relationship Id="rId14" Type="http://schemas.openxmlformats.org/officeDocument/2006/relationships/slide" Target="slide1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slide" Target="slide1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slide" Target="slide1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7743" y="701001"/>
            <a:ext cx="4483735" cy="720725"/>
            <a:chOff x="87743" y="701001"/>
            <a:chExt cx="4483735" cy="720725"/>
          </a:xfrm>
        </p:grpSpPr>
        <p:sp>
          <p:nvSpPr>
            <p:cNvPr id="3" name="object 3" descr=""/>
            <p:cNvSpPr/>
            <p:nvPr/>
          </p:nvSpPr>
          <p:spPr>
            <a:xfrm>
              <a:off x="87743" y="701001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8544" y="764262"/>
              <a:ext cx="4432935" cy="657860"/>
            </a:xfrm>
            <a:custGeom>
              <a:avLst/>
              <a:gdLst/>
              <a:ahLst/>
              <a:cxnLst/>
              <a:rect l="l" t="t" r="r" b="b"/>
              <a:pathLst>
                <a:path w="4432935" h="657860">
                  <a:moveTo>
                    <a:pt x="4432566" y="0"/>
                  </a:moveTo>
                  <a:lnTo>
                    <a:pt x="0" y="0"/>
                  </a:lnTo>
                  <a:lnTo>
                    <a:pt x="0" y="657465"/>
                  </a:lnTo>
                  <a:lnTo>
                    <a:pt x="4432566" y="65746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7743" y="745425"/>
              <a:ext cx="4432935" cy="626110"/>
            </a:xfrm>
            <a:custGeom>
              <a:avLst/>
              <a:gdLst/>
              <a:ahLst/>
              <a:cxnLst/>
              <a:rect l="l" t="t" r="r" b="b"/>
              <a:pathLst>
                <a:path w="4432935" h="626110">
                  <a:moveTo>
                    <a:pt x="4432566" y="0"/>
                  </a:moveTo>
                  <a:lnTo>
                    <a:pt x="0" y="0"/>
                  </a:lnTo>
                  <a:lnTo>
                    <a:pt x="0" y="574701"/>
                  </a:lnTo>
                  <a:lnTo>
                    <a:pt x="4008" y="594426"/>
                  </a:lnTo>
                  <a:lnTo>
                    <a:pt x="14922" y="610579"/>
                  </a:lnTo>
                  <a:lnTo>
                    <a:pt x="31075" y="621493"/>
                  </a:lnTo>
                  <a:lnTo>
                    <a:pt x="50800" y="625501"/>
                  </a:lnTo>
                  <a:lnTo>
                    <a:pt x="4381765" y="625501"/>
                  </a:lnTo>
                  <a:lnTo>
                    <a:pt x="4401490" y="621493"/>
                  </a:lnTo>
                  <a:lnTo>
                    <a:pt x="4417643" y="610579"/>
                  </a:lnTo>
                  <a:lnTo>
                    <a:pt x="4428558" y="594426"/>
                  </a:lnTo>
                  <a:lnTo>
                    <a:pt x="4432566" y="57470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38544" y="764262"/>
            <a:ext cx="4432935" cy="65786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 marR="92075">
              <a:lnSpc>
                <a:spcPct val="100000"/>
              </a:lnSpc>
              <a:spcBef>
                <a:spcPts val="520"/>
              </a:spcBef>
            </a:pP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Introduction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1400" spc="-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Tahoma"/>
                <a:cs typeface="Tahoma"/>
              </a:rPr>
              <a:t>Computer</a:t>
            </a:r>
            <a:r>
              <a:rPr dirty="0" sz="140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Vision(CS708)</a:t>
            </a:r>
            <a:endParaRPr sz="1400">
              <a:latin typeface="Tahoma"/>
              <a:cs typeface="Tahoma"/>
            </a:endParaRPr>
          </a:p>
          <a:p>
            <a:pPr algn="ctr" marR="94615">
              <a:lnSpc>
                <a:spcPct val="100000"/>
              </a:lnSpc>
              <a:spcBef>
                <a:spcPts val="330"/>
              </a:spcBef>
            </a:pPr>
            <a:r>
              <a:rPr dirty="0" sz="1100" spc="-45">
                <a:solidFill>
                  <a:srgbClr val="FFFFFF"/>
                </a:solidFill>
                <a:latin typeface="Arial MT"/>
                <a:cs typeface="Arial MT"/>
              </a:rPr>
              <a:t>Lecture01</a:t>
            </a:r>
            <a:r>
              <a:rPr dirty="0" sz="110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dirty="0" sz="11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Arial MT"/>
                <a:cs typeface="Arial MT"/>
              </a:rPr>
              <a:t>Introduction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695830" y="1581009"/>
            <a:ext cx="1216660" cy="9283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Dr.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Abdul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Basit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100">
              <a:latin typeface="Arial MT"/>
              <a:cs typeface="Arial MT"/>
            </a:endParaRPr>
          </a:p>
          <a:p>
            <a:pPr algn="ctr" marL="12700" marR="5080">
              <a:lnSpc>
                <a:spcPts val="950"/>
              </a:lnSpc>
            </a:pPr>
            <a:r>
              <a:rPr dirty="0" sz="800">
                <a:latin typeface="Arial MT"/>
                <a:cs typeface="Arial MT"/>
              </a:rPr>
              <a:t>Assistant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Professor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-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 spc="-20">
                <a:latin typeface="Arial MT"/>
                <a:cs typeface="Arial MT"/>
              </a:rPr>
              <a:t>CSIT </a:t>
            </a:r>
            <a:r>
              <a:rPr dirty="0" sz="800">
                <a:latin typeface="Arial MT"/>
                <a:cs typeface="Arial MT"/>
              </a:rPr>
              <a:t>University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of</a:t>
            </a:r>
            <a:r>
              <a:rPr dirty="0" sz="800" spc="2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Balochistan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 spc="-10">
                <a:latin typeface="Arial MT"/>
                <a:cs typeface="Arial MT"/>
              </a:rPr>
              <a:t>May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15,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2024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2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 systems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873" y="655688"/>
            <a:ext cx="3053079" cy="2037080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2844741"/>
            <a:ext cx="3838575" cy="481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3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human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visual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system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has</a:t>
            </a:r>
            <a:r>
              <a:rPr dirty="0" sz="1000">
                <a:latin typeface="Arial MT"/>
                <a:cs typeface="Arial MT"/>
              </a:rPr>
              <a:t> no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problem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interpreting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subtle </a:t>
            </a:r>
            <a:r>
              <a:rPr dirty="0" sz="1000" spc="-30">
                <a:latin typeface="Arial MT"/>
                <a:cs typeface="Arial MT"/>
              </a:rPr>
              <a:t>variations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 </a:t>
            </a:r>
            <a:r>
              <a:rPr dirty="0" sz="1000" spc="-40">
                <a:latin typeface="Arial MT"/>
                <a:cs typeface="Arial MT"/>
              </a:rPr>
              <a:t>translucency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and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shading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 this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photograph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and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correctly </a:t>
            </a:r>
            <a:r>
              <a:rPr dirty="0" sz="1000" spc="-40">
                <a:latin typeface="Arial MT"/>
                <a:cs typeface="Arial MT"/>
              </a:rPr>
              <a:t>segmenting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object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its</a:t>
            </a:r>
            <a:r>
              <a:rPr dirty="0" sz="1000" spc="-10">
                <a:latin typeface="Arial MT"/>
                <a:cs typeface="Arial MT"/>
              </a:rPr>
              <a:t> background..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2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algorithms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application.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803" y="882929"/>
            <a:ext cx="2899410" cy="118871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2207112"/>
            <a:ext cx="427228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-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(a)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FF0000"/>
                </a:solidFill>
                <a:latin typeface="Arial MT"/>
                <a:cs typeface="Arial MT"/>
              </a:rPr>
              <a:t>Structure</a:t>
            </a:r>
            <a:r>
              <a:rPr dirty="0" sz="1000" spc="-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0000"/>
                </a:solidFill>
                <a:latin typeface="Arial MT"/>
                <a:cs typeface="Arial MT"/>
              </a:rPr>
              <a:t>from motion </a:t>
            </a:r>
            <a:r>
              <a:rPr dirty="0" sz="1000" spc="-25">
                <a:latin typeface="Arial MT"/>
                <a:cs typeface="Arial MT"/>
              </a:rPr>
              <a:t>algorithms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reconstruct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FF0000"/>
                </a:solidFill>
                <a:latin typeface="Arial MT"/>
                <a:cs typeface="Arial MT"/>
              </a:rPr>
              <a:t>3D point</a:t>
            </a:r>
            <a:r>
              <a:rPr dirty="0" sz="1000" spc="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FF0000"/>
                </a:solidFill>
                <a:latin typeface="Arial MT"/>
                <a:cs typeface="Arial MT"/>
              </a:rPr>
              <a:t>model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large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complex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85">
                <a:latin typeface="Arial MT"/>
                <a:cs typeface="Arial MT"/>
              </a:rPr>
              <a:t>scene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 </a:t>
            </a:r>
            <a:r>
              <a:rPr dirty="0" sz="1000" spc="-45">
                <a:latin typeface="Arial MT"/>
                <a:cs typeface="Arial MT"/>
              </a:rPr>
              <a:t>hundreds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 </a:t>
            </a:r>
            <a:r>
              <a:rPr dirty="0" sz="1000" spc="-10">
                <a:latin typeface="Arial MT"/>
                <a:cs typeface="Arial MT"/>
              </a:rPr>
              <a:t>partially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overlapping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photographs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(b) </a:t>
            </a:r>
            <a:r>
              <a:rPr dirty="0" sz="1000" spc="-35">
                <a:solidFill>
                  <a:srgbClr val="FF0000"/>
                </a:solidFill>
                <a:latin typeface="Arial MT"/>
                <a:cs typeface="Arial MT"/>
              </a:rPr>
              <a:t>Stereo</a:t>
            </a:r>
            <a:r>
              <a:rPr dirty="0" sz="1000" spc="-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FF0000"/>
                </a:solidFill>
                <a:latin typeface="Arial MT"/>
                <a:cs typeface="Arial MT"/>
              </a:rPr>
              <a:t>matching</a:t>
            </a:r>
            <a:r>
              <a:rPr dirty="0" sz="1000" spc="-1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algorithms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build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detailed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3D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model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building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facade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2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hundreds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of</a:t>
            </a:r>
            <a:r>
              <a:rPr dirty="0" sz="1000" spc="-10">
                <a:latin typeface="Arial MT"/>
                <a:cs typeface="Arial MT"/>
              </a:rPr>
              <a:t> differently </a:t>
            </a:r>
            <a:r>
              <a:rPr dirty="0" sz="1000" spc="-70">
                <a:latin typeface="Arial MT"/>
                <a:cs typeface="Arial MT"/>
              </a:rPr>
              <a:t>exposed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photographs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taken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from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0">
                <a:latin typeface="Arial MT"/>
                <a:cs typeface="Arial MT"/>
              </a:rPr>
              <a:t> Internet.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2</a:t>
            </a:fld>
            <a:r>
              <a:rPr dirty="0" spc="35"/>
              <a:t> </a:t>
            </a:r>
            <a:r>
              <a:rPr dirty="0" spc="150"/>
              <a:t>/</a:t>
            </a:r>
            <a:r>
              <a:rPr dirty="0" spc="3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algorithms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and</a:t>
            </a:r>
            <a:r>
              <a:rPr dirty="0" sz="900" spc="-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application.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13" y="877595"/>
            <a:ext cx="2899410" cy="118871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2197968"/>
            <a:ext cx="4356100" cy="633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 spc="5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(c)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55">
                <a:latin typeface="Arial MT"/>
                <a:cs typeface="Arial MT"/>
              </a:rPr>
              <a:t>Person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tracking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algorithms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track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5">
                <a:latin typeface="Arial MT"/>
                <a:cs typeface="Arial MT"/>
              </a:rPr>
              <a:t>person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walking.</a:t>
            </a:r>
            <a:r>
              <a:rPr dirty="0" sz="1000" spc="10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(d)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front</a:t>
            </a:r>
            <a:r>
              <a:rPr dirty="0" sz="1000" spc="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of </a:t>
            </a:r>
            <a:r>
              <a:rPr dirty="0" sz="1000">
                <a:latin typeface="Arial MT"/>
                <a:cs typeface="Arial MT"/>
              </a:rPr>
              <a:t>a </a:t>
            </a:r>
            <a:r>
              <a:rPr dirty="0" sz="1000" spc="-10">
                <a:latin typeface="Arial MT"/>
                <a:cs typeface="Arial MT"/>
              </a:rPr>
              <a:t>cluttered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background,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70">
                <a:latin typeface="Arial MT"/>
                <a:cs typeface="Arial MT"/>
              </a:rPr>
              <a:t>Face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detection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algorithms,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coupled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with </a:t>
            </a:r>
            <a:r>
              <a:rPr dirty="0" sz="1000" spc="-55">
                <a:latin typeface="Arial MT"/>
                <a:cs typeface="Arial MT"/>
              </a:rPr>
              <a:t>color-</a:t>
            </a:r>
            <a:r>
              <a:rPr dirty="0" sz="1000" spc="-10">
                <a:latin typeface="Arial MT"/>
                <a:cs typeface="Arial MT"/>
              </a:rPr>
              <a:t>based clothing</a:t>
            </a:r>
            <a:r>
              <a:rPr dirty="0" sz="1000" spc="-20">
                <a:latin typeface="Arial MT"/>
                <a:cs typeface="Arial MT"/>
              </a:rPr>
              <a:t> 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hair</a:t>
            </a:r>
            <a:r>
              <a:rPr dirty="0" sz="1000" spc="-20">
                <a:latin typeface="Arial MT"/>
                <a:cs typeface="Arial MT"/>
              </a:rPr>
              <a:t> detection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algorithms,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can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locate and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recognize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the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individuals</a:t>
            </a:r>
            <a:r>
              <a:rPr dirty="0" sz="1000" spc="-20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 </a:t>
            </a:r>
            <a:r>
              <a:rPr dirty="0" sz="1000">
                <a:latin typeface="Arial MT"/>
                <a:cs typeface="Arial MT"/>
              </a:rPr>
              <a:t>this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image.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3333B2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D6D6EF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 systems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064" y="651306"/>
            <a:ext cx="3264407" cy="129959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684830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856903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3028975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3201047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5844" y="2123750"/>
            <a:ext cx="3268345" cy="1185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02715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Source:</a:t>
            </a:r>
            <a:r>
              <a:rPr dirty="0" sz="1000" spc="9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Dr.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Matthew</a:t>
            </a:r>
            <a:endParaRPr sz="1000">
              <a:latin typeface="Arial MT"/>
              <a:cs typeface="Arial MT"/>
            </a:endParaRPr>
          </a:p>
          <a:p>
            <a:pPr marL="289560" marR="5080" indent="-277495">
              <a:lnSpc>
                <a:spcPct val="106400"/>
              </a:lnSpc>
              <a:spcBef>
                <a:spcPts val="1065"/>
              </a:spcBef>
            </a:pP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kind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information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95">
                <a:latin typeface="Arial MT"/>
                <a:cs typeface="Arial MT"/>
              </a:rPr>
              <a:t>we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want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application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specific: </a:t>
            </a:r>
            <a:r>
              <a:rPr dirty="0" sz="1100">
                <a:latin typeface="Arial MT"/>
                <a:cs typeface="Arial MT"/>
              </a:rPr>
              <a:t>3D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models</a:t>
            </a:r>
            <a:endParaRPr sz="1100">
              <a:latin typeface="Arial MT"/>
              <a:cs typeface="Arial MT"/>
            </a:endParaRPr>
          </a:p>
          <a:p>
            <a:pPr marL="289560" marR="1971039">
              <a:lnSpc>
                <a:spcPct val="102600"/>
              </a:lnSpc>
            </a:pPr>
            <a:r>
              <a:rPr dirty="0" sz="1100" spc="-10">
                <a:latin typeface="Arial MT"/>
                <a:cs typeface="Arial MT"/>
              </a:rPr>
              <a:t>Object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poses </a:t>
            </a:r>
            <a:r>
              <a:rPr dirty="0" sz="1100" spc="-10">
                <a:latin typeface="Arial MT"/>
                <a:cs typeface="Arial MT"/>
              </a:rPr>
              <a:t>Object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categories </a:t>
            </a:r>
            <a:r>
              <a:rPr dirty="0" sz="1100" spc="-75">
                <a:latin typeface="Arial MT"/>
                <a:cs typeface="Arial MT"/>
              </a:rPr>
              <a:t>Camera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poses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Parts</a:t>
            </a:r>
            <a:r>
              <a:rPr dirty="0" sz="900">
                <a:latin typeface="Arial MT"/>
                <a:cs typeface="Arial MT"/>
              </a:rPr>
              <a:t> of </a:t>
            </a:r>
            <a:r>
              <a:rPr dirty="0" sz="900" spc="-10">
                <a:latin typeface="Arial MT"/>
                <a:cs typeface="Arial MT"/>
              </a:rPr>
              <a:t>system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63992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865" y="1653806"/>
            <a:ext cx="52590" cy="5259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805635"/>
            <a:ext cx="52590" cy="5259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02993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213025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125844" y="1167229"/>
            <a:ext cx="3915410" cy="1154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2049145" indent="-277495">
              <a:lnSpc>
                <a:spcPct val="113199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“vision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system”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includes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5">
                <a:solidFill>
                  <a:srgbClr val="FF0000"/>
                </a:solidFill>
                <a:latin typeface="Arial MT"/>
                <a:cs typeface="Arial MT"/>
              </a:rPr>
              <a:t>acquisition</a:t>
            </a:r>
            <a:r>
              <a:rPr dirty="0" sz="1100" spc="2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hardware</a:t>
            </a:r>
            <a:endParaRPr sz="1100">
              <a:latin typeface="Arial MT"/>
              <a:cs typeface="Arial MT"/>
            </a:endParaRPr>
          </a:p>
          <a:p>
            <a:pPr marL="566420">
              <a:lnSpc>
                <a:spcPts val="1200"/>
              </a:lnSpc>
              <a:spcBef>
                <a:spcPts val="175"/>
              </a:spcBef>
            </a:pPr>
            <a:r>
              <a:rPr dirty="0" sz="1000" spc="-25">
                <a:latin typeface="Arial MT"/>
                <a:cs typeface="Arial MT"/>
              </a:rPr>
              <a:t>Analog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camera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plus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digital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frame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grabber,</a:t>
            </a:r>
            <a:r>
              <a:rPr dirty="0" sz="1000" spc="-15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-</a:t>
            </a:r>
            <a:r>
              <a:rPr dirty="0" sz="1000" spc="-25">
                <a:latin typeface="Arial MT"/>
                <a:cs typeface="Arial MT"/>
              </a:rPr>
              <a:t>or-</a:t>
            </a:r>
            <a:endParaRPr sz="1000">
              <a:latin typeface="Arial MT"/>
              <a:cs typeface="Arial MT"/>
            </a:endParaRPr>
          </a:p>
          <a:p>
            <a:pPr marL="566420">
              <a:lnSpc>
                <a:spcPts val="1200"/>
              </a:lnSpc>
            </a:pPr>
            <a:r>
              <a:rPr dirty="0" sz="1000">
                <a:latin typeface="Arial MT"/>
                <a:cs typeface="Arial MT"/>
              </a:rPr>
              <a:t>Digital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camera</a:t>
            </a:r>
            <a:r>
              <a:rPr dirty="0" sz="1000">
                <a:latin typeface="Arial MT"/>
                <a:cs typeface="Arial MT"/>
              </a:rPr>
              <a:t> with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fast </a:t>
            </a:r>
            <a:r>
              <a:rPr dirty="0" sz="1000" spc="-35">
                <a:latin typeface="Arial MT"/>
                <a:cs typeface="Arial MT"/>
              </a:rPr>
              <a:t>serial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25">
                <a:latin typeface="Arial MT"/>
                <a:cs typeface="Arial MT"/>
              </a:rPr>
              <a:t>interface</a:t>
            </a:r>
            <a:r>
              <a:rPr dirty="0" sz="1000" spc="-1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(Firewire,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20">
                <a:latin typeface="Arial MT"/>
                <a:cs typeface="Arial MT"/>
              </a:rPr>
              <a:t>USB,</a:t>
            </a:r>
            <a:r>
              <a:rPr dirty="0" sz="1000" spc="-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etc.)</a:t>
            </a:r>
            <a:endParaRPr sz="1000">
              <a:latin typeface="Arial MT"/>
              <a:cs typeface="Arial MT"/>
            </a:endParaRPr>
          </a:p>
          <a:p>
            <a:pPr marL="289560" marR="1634489">
              <a:lnSpc>
                <a:spcPct val="125299"/>
              </a:lnSpc>
              <a:spcBef>
                <a:spcPts val="20"/>
              </a:spcBef>
            </a:pP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processing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5">
                <a:solidFill>
                  <a:srgbClr val="FF0000"/>
                </a:solidFill>
                <a:latin typeface="Arial MT"/>
                <a:cs typeface="Arial MT"/>
              </a:rPr>
              <a:t>support</a:t>
            </a:r>
            <a:r>
              <a:rPr dirty="0" sz="1100" spc="25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100" spc="-55">
                <a:solidFill>
                  <a:srgbClr val="FF0000"/>
                </a:solidFill>
                <a:latin typeface="Arial MT"/>
                <a:cs typeface="Arial MT"/>
              </a:rPr>
              <a:t>software </a:t>
            </a:r>
            <a:r>
              <a:rPr dirty="0" sz="1100" spc="-30">
                <a:latin typeface="Arial MT"/>
                <a:cs typeface="Arial MT"/>
              </a:rPr>
              <a:t>Your computer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FF0000"/>
                </a:solidFill>
                <a:latin typeface="Arial MT"/>
                <a:cs typeface="Arial MT"/>
              </a:rPr>
              <a:t>algorithms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7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EAEAF7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3333B2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Application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103655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31368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523720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733753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1943785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53818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363851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1089" y="2573883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1089" y="2783916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5844" y="766392"/>
            <a:ext cx="3171825" cy="212598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Arial MT"/>
                <a:cs typeface="Arial MT"/>
              </a:rPr>
              <a:t>Important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application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include</a:t>
            </a:r>
            <a:endParaRPr sz="1100">
              <a:latin typeface="Arial MT"/>
              <a:cs typeface="Arial MT"/>
            </a:endParaRPr>
          </a:p>
          <a:p>
            <a:pPr marL="289560" marR="760095">
              <a:lnSpc>
                <a:spcPct val="125299"/>
              </a:lnSpc>
            </a:pPr>
            <a:r>
              <a:rPr dirty="0" sz="1100" spc="-10">
                <a:latin typeface="Arial MT"/>
                <a:cs typeface="Arial MT"/>
              </a:rPr>
              <a:t>Optical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character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recognition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(OCR) </a:t>
            </a:r>
            <a:r>
              <a:rPr dirty="0" sz="1100" spc="-20">
                <a:latin typeface="Arial MT"/>
                <a:cs typeface="Arial MT"/>
              </a:rPr>
              <a:t>Industrial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inspection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control </a:t>
            </a:r>
            <a:r>
              <a:rPr dirty="0" sz="1100" spc="-20">
                <a:latin typeface="Arial MT"/>
                <a:cs typeface="Arial MT"/>
              </a:rPr>
              <a:t>Mobile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robot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navigation</a:t>
            </a:r>
            <a:endParaRPr sz="1100">
              <a:latin typeface="Arial MT"/>
              <a:cs typeface="Arial MT"/>
            </a:endParaRPr>
          </a:p>
          <a:p>
            <a:pPr marL="289560" marR="1576070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Military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intelligence </a:t>
            </a:r>
            <a:r>
              <a:rPr dirty="0" sz="1100" spc="-35">
                <a:latin typeface="Arial MT"/>
                <a:cs typeface="Arial MT"/>
              </a:rPr>
              <a:t>Security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(Surveillance)</a:t>
            </a:r>
            <a:endParaRPr sz="1100">
              <a:latin typeface="Arial MT"/>
              <a:cs typeface="Arial MT"/>
            </a:endParaRPr>
          </a:p>
          <a:p>
            <a:pPr marL="289560" marR="665480">
              <a:lnSpc>
                <a:spcPct val="125299"/>
              </a:lnSpc>
            </a:pPr>
            <a:r>
              <a:rPr dirty="0" sz="1100" spc="-25">
                <a:latin typeface="Arial MT"/>
                <a:cs typeface="Arial MT"/>
              </a:rPr>
              <a:t>Fingerprint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recognition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biometrics </a:t>
            </a:r>
            <a:r>
              <a:rPr dirty="0" sz="1100" spc="-60">
                <a:latin typeface="Arial MT"/>
                <a:cs typeface="Arial MT"/>
              </a:rPr>
              <a:t>Image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retrieval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digital</a:t>
            </a:r>
            <a:r>
              <a:rPr dirty="0" sz="1100" spc="-10">
                <a:latin typeface="Arial MT"/>
                <a:cs typeface="Arial MT"/>
              </a:rPr>
              <a:t> libraries </a:t>
            </a:r>
            <a:r>
              <a:rPr dirty="0" sz="1100" spc="-35">
                <a:latin typeface="Arial MT"/>
                <a:cs typeface="Arial MT"/>
              </a:rPr>
              <a:t>Medical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image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analysis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>
                <a:latin typeface="Arial MT"/>
                <a:cs typeface="Arial MT"/>
              </a:rPr>
              <a:t>3D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model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capture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visualization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animation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1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20">
                <a:latin typeface="Arial MT"/>
                <a:cs typeface="Arial MT"/>
              </a:rPr>
              <a:t>Broader</a:t>
            </a:r>
            <a:r>
              <a:rPr dirty="0" sz="900">
                <a:latin typeface="Arial MT"/>
                <a:cs typeface="Arial MT"/>
              </a:rPr>
              <a:t> </a:t>
            </a:r>
            <a:r>
              <a:rPr dirty="0" sz="900" spc="-45">
                <a:latin typeface="Arial MT"/>
                <a:cs typeface="Arial MT"/>
              </a:rPr>
              <a:t>consumer-</a:t>
            </a:r>
            <a:r>
              <a:rPr dirty="0" sz="900" spc="-10">
                <a:latin typeface="Arial MT"/>
                <a:cs typeface="Arial MT"/>
              </a:rPr>
              <a:t>level</a:t>
            </a:r>
            <a:r>
              <a:rPr dirty="0" sz="900" spc="1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applications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167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1709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91741"/>
            <a:ext cx="65265" cy="65265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901774"/>
            <a:ext cx="65265" cy="6526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111806"/>
            <a:ext cx="65265" cy="65265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321839"/>
            <a:ext cx="65265" cy="6526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089" y="2531872"/>
            <a:ext cx="65265" cy="6526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25844" y="934413"/>
            <a:ext cx="3147695" cy="170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dirty="0" sz="1100" spc="-10">
                <a:latin typeface="Arial MT"/>
                <a:cs typeface="Arial MT"/>
              </a:rPr>
              <a:t>Important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broader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consumer-</a:t>
            </a:r>
            <a:r>
              <a:rPr dirty="0" sz="1100" spc="-35">
                <a:latin typeface="Arial MT"/>
                <a:cs typeface="Arial MT"/>
              </a:rPr>
              <a:t>level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applications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include </a:t>
            </a:r>
            <a:r>
              <a:rPr dirty="0" sz="1100" spc="-10">
                <a:latin typeface="Arial MT"/>
                <a:cs typeface="Arial MT"/>
              </a:rPr>
              <a:t>Stitching</a:t>
            </a:r>
            <a:endParaRPr sz="1100">
              <a:latin typeface="Arial MT"/>
              <a:cs typeface="Arial MT"/>
            </a:endParaRPr>
          </a:p>
          <a:p>
            <a:pPr marL="289560" marR="2007870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3D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modeling </a:t>
            </a:r>
            <a:r>
              <a:rPr dirty="0" sz="1100" spc="-85">
                <a:latin typeface="Arial MT"/>
                <a:cs typeface="Arial MT"/>
              </a:rPr>
              <a:t>Face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detection</a:t>
            </a:r>
            <a:endParaRPr sz="1100">
              <a:latin typeface="Arial MT"/>
              <a:cs typeface="Arial MT"/>
            </a:endParaRPr>
          </a:p>
          <a:p>
            <a:pPr marL="289560" marR="1624965">
              <a:lnSpc>
                <a:spcPct val="125299"/>
              </a:lnSpc>
            </a:pPr>
            <a:r>
              <a:rPr dirty="0" sz="1100" spc="-30">
                <a:latin typeface="Arial MT"/>
                <a:cs typeface="Arial MT"/>
              </a:rPr>
              <a:t>Visual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authentication </a:t>
            </a:r>
            <a:r>
              <a:rPr dirty="0" sz="1100" spc="-10">
                <a:latin typeface="Arial MT"/>
                <a:cs typeface="Arial MT"/>
              </a:rPr>
              <a:t>Morphing</a:t>
            </a:r>
            <a:endParaRPr sz="1100">
              <a:latin typeface="Arial MT"/>
              <a:cs typeface="Arial MT"/>
            </a:endParaRPr>
          </a:p>
          <a:p>
            <a:pPr marL="289560" marR="1322705">
              <a:lnSpc>
                <a:spcPct val="125299"/>
              </a:lnSpc>
            </a:pPr>
            <a:r>
              <a:rPr dirty="0" sz="1100" spc="-60">
                <a:latin typeface="Arial MT"/>
                <a:cs typeface="Arial MT"/>
              </a:rPr>
              <a:t>Exposure</a:t>
            </a:r>
            <a:r>
              <a:rPr dirty="0" sz="1100" spc="-10">
                <a:latin typeface="Arial MT"/>
                <a:cs typeface="Arial MT"/>
              </a:rPr>
              <a:t> bracketing Photo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based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walkthroughs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7" name="object 17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9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 systems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517" y="897191"/>
            <a:ext cx="2883789" cy="1453895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2472834"/>
            <a:ext cx="418592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(a)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40">
                <a:latin typeface="Arial MT"/>
                <a:cs typeface="Arial MT"/>
              </a:rPr>
              <a:t>image</a:t>
            </a:r>
            <a:r>
              <a:rPr dirty="0" sz="1000">
                <a:latin typeface="Arial MT"/>
                <a:cs typeface="Arial MT"/>
              </a:rPr>
              <a:t> stitching: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merging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different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5">
                <a:latin typeface="Arial MT"/>
                <a:cs typeface="Arial MT"/>
              </a:rPr>
              <a:t>views.</a:t>
            </a:r>
            <a:r>
              <a:rPr dirty="0" sz="1000" spc="9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(b) </a:t>
            </a:r>
            <a:r>
              <a:rPr dirty="0" sz="1000" spc="-55">
                <a:latin typeface="Arial MT"/>
                <a:cs typeface="Arial MT"/>
              </a:rPr>
              <a:t>exposure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breacketing: merging</a:t>
            </a:r>
            <a:r>
              <a:rPr dirty="0" sz="1000" spc="-3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different</a:t>
            </a:r>
            <a:r>
              <a:rPr dirty="0" sz="1000" spc="-30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exposures.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10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Vision systems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227" y="891705"/>
            <a:ext cx="2942082" cy="146075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5844" y="2481064"/>
            <a:ext cx="43573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3333B2"/>
                </a:solidFill>
                <a:latin typeface="Arial MT"/>
                <a:cs typeface="Arial MT"/>
              </a:rPr>
              <a:t>Figure:</a:t>
            </a:r>
            <a:r>
              <a:rPr dirty="0" sz="100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(c) </a:t>
            </a:r>
            <a:r>
              <a:rPr dirty="0" sz="1000" spc="-25">
                <a:latin typeface="Arial MT"/>
                <a:cs typeface="Arial MT"/>
              </a:rPr>
              <a:t>morphing: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 spc="-30">
                <a:latin typeface="Arial MT"/>
                <a:cs typeface="Arial MT"/>
              </a:rPr>
              <a:t>blending</a:t>
            </a:r>
            <a:r>
              <a:rPr dirty="0" sz="1000">
                <a:latin typeface="Arial MT"/>
                <a:cs typeface="Arial MT"/>
              </a:rPr>
              <a:t> </a:t>
            </a:r>
            <a:r>
              <a:rPr dirty="0" sz="1000" spc="-50">
                <a:latin typeface="Arial MT"/>
                <a:cs typeface="Arial MT"/>
              </a:rPr>
              <a:t>between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two </a:t>
            </a:r>
            <a:r>
              <a:rPr dirty="0" sz="1000" spc="-30">
                <a:latin typeface="Arial MT"/>
                <a:cs typeface="Arial MT"/>
              </a:rPr>
              <a:t>photographs.</a:t>
            </a:r>
            <a:r>
              <a:rPr dirty="0" sz="1000" spc="10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(d) turning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 </a:t>
            </a:r>
            <a:r>
              <a:rPr dirty="0" sz="1000" spc="-10">
                <a:latin typeface="Arial MT"/>
                <a:cs typeface="Arial MT"/>
              </a:rPr>
              <a:t>collection </a:t>
            </a:r>
            <a:r>
              <a:rPr dirty="0" sz="1000">
                <a:latin typeface="Arial MT"/>
                <a:cs typeface="Arial MT"/>
              </a:rPr>
              <a:t>of </a:t>
            </a:r>
            <a:r>
              <a:rPr dirty="0" sz="1000" spc="-35">
                <a:latin typeface="Arial MT"/>
                <a:cs typeface="Arial MT"/>
              </a:rPr>
              <a:t>photographs</a:t>
            </a:r>
            <a:r>
              <a:rPr dirty="0" sz="1000" spc="10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into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a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>
                <a:latin typeface="Arial MT"/>
                <a:cs typeface="Arial MT"/>
              </a:rPr>
              <a:t>3D</a:t>
            </a:r>
            <a:r>
              <a:rPr dirty="0" sz="1000" spc="5">
                <a:latin typeface="Arial MT"/>
                <a:cs typeface="Arial MT"/>
              </a:rPr>
              <a:t> </a:t>
            </a:r>
            <a:r>
              <a:rPr dirty="0" sz="1000" spc="-10">
                <a:latin typeface="Arial MT"/>
                <a:cs typeface="Arial MT"/>
              </a:rPr>
              <a:t>model.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D6D6EF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D6D6EF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13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5300" y="14943"/>
            <a:ext cx="702310" cy="45402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00" spc="-10">
                <a:solidFill>
                  <a:srgbClr val="FFFFFF"/>
                </a:solidFill>
                <a:latin typeface="Tahoma"/>
                <a:cs typeface="Tahoma"/>
              </a:rPr>
              <a:t>Course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dirty="0" sz="9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91741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901774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354478"/>
            <a:ext cx="2126615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0">
                <a:latin typeface="Arial MT"/>
                <a:cs typeface="Arial MT"/>
              </a:rPr>
              <a:t> software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during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course </a:t>
            </a:r>
            <a:r>
              <a:rPr dirty="0" sz="1100" spc="-10">
                <a:latin typeface="Arial MT"/>
                <a:cs typeface="Arial MT"/>
              </a:rPr>
              <a:t>Python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3.x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z="1100" spc="-50">
                <a:latin typeface="Arial MT"/>
                <a:cs typeface="Arial MT"/>
              </a:rPr>
              <a:t>OpenCV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Libraries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4" name="object 14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D6D6EF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CCCCCC"/>
                </a:solidFill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14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10"/>
              <a:t>Course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10">
                <a:latin typeface="Arial MT"/>
                <a:cs typeface="Arial MT"/>
              </a:rPr>
              <a:t>Marks</a:t>
            </a:r>
            <a:r>
              <a:rPr dirty="0" sz="900" spc="-25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distribution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520634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30667"/>
            <a:ext cx="65265" cy="65265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25844" y="1183396"/>
            <a:ext cx="1079500" cy="655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9560" marR="5080" indent="-277495">
              <a:lnSpc>
                <a:spcPct val="125299"/>
              </a:lnSpc>
              <a:spcBef>
                <a:spcPts val="100"/>
              </a:spcBef>
            </a:pPr>
            <a:r>
              <a:rPr dirty="0" sz="1100" spc="-30">
                <a:latin typeface="Arial MT"/>
                <a:cs typeface="Arial MT"/>
              </a:rPr>
              <a:t>Marks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distribution Mid-term </a:t>
            </a:r>
            <a:r>
              <a:rPr dirty="0" sz="1100" spc="-10">
                <a:latin typeface="Arial MT"/>
                <a:cs typeface="Arial MT"/>
              </a:rPr>
              <a:t>Terminal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936382" y="1393403"/>
            <a:ext cx="389255" cy="44577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Arial MT"/>
                <a:cs typeface="Arial MT"/>
              </a:rPr>
              <a:t>(30%)</a:t>
            </a:r>
            <a:endParaRPr sz="11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34"/>
              </a:spcBef>
            </a:pPr>
            <a:r>
              <a:rPr dirty="0" sz="1100" spc="-10">
                <a:latin typeface="Arial MT"/>
                <a:cs typeface="Arial MT"/>
              </a:rPr>
              <a:t>(40%)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40699"/>
            <a:ext cx="65265" cy="65265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02932" y="1813468"/>
            <a:ext cx="1928495" cy="445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  <a:tabLst>
                <a:tab pos="1553210" algn="l"/>
              </a:tabLst>
            </a:pPr>
            <a:r>
              <a:rPr dirty="0" sz="1100" spc="-60">
                <a:latin typeface="Arial MT"/>
                <a:cs typeface="Arial MT"/>
              </a:rPr>
              <a:t>Assignments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Quizzes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(15%) </a:t>
            </a:r>
            <a:r>
              <a:rPr dirty="0" sz="1100" spc="-90">
                <a:latin typeface="Arial MT"/>
                <a:cs typeface="Arial MT"/>
              </a:rPr>
              <a:t>Research</a:t>
            </a:r>
            <a:r>
              <a:rPr dirty="0" sz="1100" spc="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Report</a:t>
            </a:r>
            <a:r>
              <a:rPr dirty="0" sz="1100">
                <a:latin typeface="Arial MT"/>
                <a:cs typeface="Arial MT"/>
              </a:rPr>
              <a:t>	</a:t>
            </a:r>
            <a:r>
              <a:rPr dirty="0" sz="1100" spc="-30">
                <a:latin typeface="Arial MT"/>
                <a:cs typeface="Arial MT"/>
              </a:rPr>
              <a:t>(15%)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50732"/>
            <a:ext cx="65265" cy="65265"/>
          </a:xfrm>
          <a:prstGeom prst="rect">
            <a:avLst/>
          </a:prstGeom>
        </p:spPr>
      </p:pic>
      <p:grpSp>
        <p:nvGrpSpPr>
          <p:cNvPr id="11" name="object 11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6" name="object 16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8" name="object 18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0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30"/>
              <a:t>Contents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955446"/>
            <a:ext cx="160096" cy="1600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29743" y="927352"/>
            <a:ext cx="166751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FAFAFD"/>
                </a:solidFill>
                <a:latin typeface="Arial MT"/>
                <a:cs typeface="Arial MT"/>
              </a:rPr>
              <a:t>1</a:t>
            </a:r>
            <a:r>
              <a:rPr dirty="0" baseline="6944" sz="1200" spc="225">
                <a:solidFill>
                  <a:srgbClr val="FAFAFD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1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is</a:t>
            </a:r>
            <a:r>
              <a:rPr dirty="0" sz="1100" spc="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3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computer</a:t>
            </a:r>
            <a:r>
              <a:rPr dirty="0" sz="1100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 </a:t>
            </a:r>
            <a:r>
              <a:rPr dirty="0" sz="1100" spc="-45">
                <a:solidFill>
                  <a:srgbClr val="D6D6EF"/>
                </a:solidFill>
                <a:latin typeface="Arial MT"/>
                <a:cs typeface="Arial MT"/>
                <a:hlinkClick r:id="rId3" action="ppaction://hlinksldjump"/>
              </a:rPr>
              <a:t>vision?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1423035"/>
            <a:ext cx="160096" cy="16009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9743" y="1422373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solidFill>
                  <a:srgbClr val="FAFAFD"/>
                </a:solidFill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95173" y="1394941"/>
            <a:ext cx="7321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35">
                <a:solidFill>
                  <a:srgbClr val="D6D6EF"/>
                </a:solidFill>
                <a:latin typeface="Arial MT"/>
                <a:cs typeface="Arial MT"/>
                <a:hlinkClick r:id="rId5" action="ppaction://hlinksldjump"/>
              </a:rPr>
              <a:t>Applications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890623"/>
            <a:ext cx="160096" cy="16009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19582" y="2114423"/>
            <a:ext cx="65265" cy="65265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9582" y="2286508"/>
            <a:ext cx="65265" cy="65265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9582" y="2458580"/>
            <a:ext cx="65265" cy="65265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29743" y="1862530"/>
            <a:ext cx="1383665" cy="708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baseline="6944" sz="1200">
                <a:solidFill>
                  <a:srgbClr val="EAEAF7"/>
                </a:solidFill>
                <a:latin typeface="Arial MT"/>
                <a:cs typeface="Arial MT"/>
              </a:rPr>
              <a:t>3</a:t>
            </a:r>
            <a:r>
              <a:rPr dirty="0" baseline="6944" sz="1200" spc="277">
                <a:solidFill>
                  <a:srgbClr val="EAEAF7"/>
                </a:solidFill>
                <a:latin typeface="Arial MT"/>
                <a:cs typeface="Arial MT"/>
              </a:rPr>
              <a:t>  </a:t>
            </a:r>
            <a:r>
              <a:rPr dirty="0" sz="110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About</a:t>
            </a:r>
            <a:r>
              <a:rPr dirty="0" sz="1100" spc="3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 </a:t>
            </a:r>
            <a:r>
              <a:rPr dirty="0" sz="1100" spc="-10">
                <a:solidFill>
                  <a:srgbClr val="3333B2"/>
                </a:solidFill>
                <a:latin typeface="Arial MT"/>
                <a:cs typeface="Arial MT"/>
                <a:hlinkClick r:id="rId10" action="ppaction://hlinksldjump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316230" marR="5080">
              <a:lnSpc>
                <a:spcPct val="102600"/>
              </a:lnSpc>
            </a:pPr>
            <a:r>
              <a:rPr dirty="0" sz="1100" spc="-5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Software</a:t>
            </a:r>
            <a:r>
              <a:rPr dirty="0" sz="110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1" action="ppaction://hlinksldjump"/>
              </a:rPr>
              <a:t>used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3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Marks</a:t>
            </a:r>
            <a:r>
              <a:rPr dirty="0" sz="1100" spc="-35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 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  <a:hlinkClick r:id="rId12" action="ppaction://hlinksldjump"/>
              </a:rPr>
              <a:t>distribution</a:t>
            </a:r>
            <a:r>
              <a:rPr dirty="0" sz="1100" spc="-20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  <a:hlinkClick r:id="rId13" action="ppaction://hlinksldjump"/>
              </a:rPr>
              <a:t>Readings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5" name="object 15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9" name="object 19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14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21" name="object 21" descr=""/>
          <p:cNvSpPr txBox="1"/>
          <p:nvPr/>
        </p:nvSpPr>
        <p:spPr>
          <a:xfrm>
            <a:off x="4318450" y="3351784"/>
            <a:ext cx="281305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150">
                <a:solidFill>
                  <a:srgbClr val="FFFFFF"/>
                </a:solidFill>
                <a:latin typeface="Arial MT"/>
                <a:cs typeface="Arial MT"/>
              </a:rPr>
              <a:t>/</a:t>
            </a:r>
            <a:r>
              <a:rPr dirty="0" sz="600" spc="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600" spc="-25">
                <a:solidFill>
                  <a:srgbClr val="FFFFFF"/>
                </a:solidFill>
                <a:latin typeface="Arial MT"/>
                <a:cs typeface="Arial MT"/>
              </a:rPr>
              <a:t>18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 spc="-30">
                <a:latin typeface="Arial MT"/>
                <a:cs typeface="Arial MT"/>
              </a:rPr>
              <a:t>Software</a:t>
            </a:r>
            <a:r>
              <a:rPr dirty="0" sz="900" spc="25">
                <a:latin typeface="Arial MT"/>
                <a:cs typeface="Arial MT"/>
              </a:rPr>
              <a:t> </a:t>
            </a:r>
            <a:r>
              <a:rPr dirty="0" sz="900" spc="-20">
                <a:latin typeface="Arial MT"/>
                <a:cs typeface="Arial MT"/>
              </a:rPr>
              <a:t>used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607731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817763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27796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125844" y="1270467"/>
            <a:ext cx="4132579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40">
                <a:latin typeface="Arial MT"/>
                <a:cs typeface="Arial MT"/>
              </a:rPr>
              <a:t>Textbooks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resources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used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 this </a:t>
            </a:r>
            <a:r>
              <a:rPr dirty="0" sz="1100" spc="-10">
                <a:latin typeface="Arial MT"/>
                <a:cs typeface="Arial MT"/>
              </a:rPr>
              <a:t>course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40">
                <a:latin typeface="Arial MT"/>
                <a:cs typeface="Arial MT"/>
              </a:rPr>
              <a:t>Computer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Vision:</a:t>
            </a:r>
            <a:r>
              <a:rPr dirty="0" sz="1100" spc="7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Algorithms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Applications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 i="1">
                <a:latin typeface="Trebuchet MS"/>
                <a:cs typeface="Trebuchet MS"/>
              </a:rPr>
              <a:t>Richard</a:t>
            </a:r>
            <a:r>
              <a:rPr dirty="0" sz="1100" spc="-50" i="1">
                <a:latin typeface="Trebuchet MS"/>
                <a:cs typeface="Trebuchet MS"/>
              </a:rPr>
              <a:t> </a:t>
            </a:r>
            <a:r>
              <a:rPr dirty="0" sz="1100" spc="-10" i="1">
                <a:latin typeface="Trebuchet MS"/>
                <a:cs typeface="Trebuchet MS"/>
              </a:rPr>
              <a:t>Szeliski</a:t>
            </a:r>
            <a:endParaRPr sz="1100">
              <a:latin typeface="Trebuchet MS"/>
              <a:cs typeface="Trebuchet MS"/>
            </a:endParaRPr>
          </a:p>
          <a:p>
            <a:pPr marL="289560" marR="1433830">
              <a:lnSpc>
                <a:spcPct val="125299"/>
              </a:lnSpc>
            </a:pPr>
            <a:r>
              <a:rPr dirty="0" sz="1100" spc="-10">
                <a:latin typeface="Arial MT"/>
                <a:cs typeface="Arial MT"/>
              </a:rPr>
              <a:t>Introduction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Computer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Vision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-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CS143 </a:t>
            </a:r>
            <a:r>
              <a:rPr dirty="0" sz="1100" spc="-40">
                <a:latin typeface="Arial MT"/>
                <a:cs typeface="Arial MT"/>
              </a:rPr>
              <a:t>Computer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vision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Mubarak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Shah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16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608195" cy="502284"/>
          </a:xfrm>
          <a:custGeom>
            <a:avLst/>
            <a:gdLst/>
            <a:ahLst/>
            <a:cxnLst/>
            <a:rect l="l" t="t" r="r" b="b"/>
            <a:pathLst>
              <a:path w="4608195" h="502284">
                <a:moveTo>
                  <a:pt x="4608004" y="0"/>
                </a:moveTo>
                <a:lnTo>
                  <a:pt x="0" y="0"/>
                </a:lnTo>
                <a:lnTo>
                  <a:pt x="0" y="501954"/>
                </a:lnTo>
                <a:lnTo>
                  <a:pt x="4608004" y="501954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pc="-35"/>
              <a:t>Introduction</a:t>
            </a: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900">
                <a:latin typeface="Arial MT"/>
                <a:cs typeface="Arial MT"/>
              </a:rPr>
              <a:t>This</a:t>
            </a:r>
            <a:r>
              <a:rPr dirty="0" sz="900" spc="20">
                <a:latin typeface="Arial MT"/>
                <a:cs typeface="Arial MT"/>
              </a:rPr>
              <a:t> </a:t>
            </a:r>
            <a:r>
              <a:rPr dirty="0" sz="900" spc="-10">
                <a:latin typeface="Arial MT"/>
                <a:cs typeface="Arial MT"/>
              </a:rPr>
              <a:t>semester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4356"/>
            <a:ext cx="65265" cy="6526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84388"/>
            <a:ext cx="65265" cy="6526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94421"/>
            <a:ext cx="65265" cy="65265"/>
          </a:xfrm>
          <a:prstGeom prst="rect">
            <a:avLst/>
          </a:prstGeom>
        </p:spPr>
      </p:pic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89560" marR="1801495" indent="-277495">
              <a:lnSpc>
                <a:spcPct val="125299"/>
              </a:lnSpc>
              <a:spcBef>
                <a:spcPts val="100"/>
              </a:spcBef>
            </a:pPr>
            <a:r>
              <a:rPr dirty="0" spc="-10"/>
              <a:t>This</a:t>
            </a:r>
            <a:r>
              <a:rPr dirty="0" spc="-60"/>
              <a:t> </a:t>
            </a:r>
            <a:r>
              <a:rPr dirty="0" spc="-70"/>
              <a:t>semester</a:t>
            </a:r>
            <a:r>
              <a:rPr dirty="0" spc="-5"/>
              <a:t> </a:t>
            </a:r>
            <a:r>
              <a:rPr dirty="0" spc="-95"/>
              <a:t>we</a:t>
            </a:r>
            <a:r>
              <a:rPr dirty="0" spc="20"/>
              <a:t> </a:t>
            </a:r>
            <a:r>
              <a:rPr dirty="0" spc="-35"/>
              <a:t>focus</a:t>
            </a:r>
            <a:r>
              <a:rPr dirty="0" spc="-15"/>
              <a:t> </a:t>
            </a:r>
            <a:r>
              <a:rPr dirty="0"/>
              <a:t>on</a:t>
            </a:r>
            <a:r>
              <a:rPr dirty="0" spc="-15"/>
              <a:t> </a:t>
            </a:r>
            <a:r>
              <a:rPr dirty="0" spc="-35"/>
              <a:t>algorithms</a:t>
            </a:r>
            <a:r>
              <a:rPr dirty="0" spc="-15"/>
              <a:t> </a:t>
            </a:r>
            <a:r>
              <a:rPr dirty="0" spc="-25"/>
              <a:t>for </a:t>
            </a:r>
            <a:r>
              <a:rPr dirty="0"/>
              <a:t>3D</a:t>
            </a:r>
            <a:r>
              <a:rPr dirty="0" spc="-30"/>
              <a:t> </a:t>
            </a:r>
            <a:r>
              <a:rPr dirty="0" spc="-10"/>
              <a:t>reconstruction</a:t>
            </a: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dirty="0" spc="-10"/>
              <a:t>Learning</a:t>
            </a: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pc="-45"/>
              <a:t>Sequential</a:t>
            </a:r>
            <a:r>
              <a:rPr dirty="0" spc="-30"/>
              <a:t> </a:t>
            </a:r>
            <a:r>
              <a:rPr dirty="0" spc="-10"/>
              <a:t>state</a:t>
            </a:r>
            <a:r>
              <a:rPr dirty="0" spc="-35"/>
              <a:t> </a:t>
            </a:r>
            <a:r>
              <a:rPr dirty="0" spc="-30"/>
              <a:t>estimation </a:t>
            </a:r>
            <a:r>
              <a:rPr dirty="0"/>
              <a:t>(e.g.</a:t>
            </a:r>
            <a:r>
              <a:rPr dirty="0" spc="60"/>
              <a:t> </a:t>
            </a:r>
            <a:r>
              <a:rPr dirty="0" spc="-10"/>
              <a:t>tracking)</a:t>
            </a:r>
          </a:p>
          <a:p>
            <a:pPr marL="12700" marR="450215">
              <a:lnSpc>
                <a:spcPct val="102600"/>
              </a:lnSpc>
              <a:spcBef>
                <a:spcPts val="295"/>
              </a:spcBef>
            </a:pPr>
            <a:r>
              <a:rPr dirty="0"/>
              <a:t>To</a:t>
            </a:r>
            <a:r>
              <a:rPr dirty="0" spc="-10"/>
              <a:t> </a:t>
            </a:r>
            <a:r>
              <a:rPr dirty="0" spc="-45"/>
              <a:t>understand</a:t>
            </a:r>
            <a:r>
              <a:rPr dirty="0" spc="5"/>
              <a:t> </a:t>
            </a:r>
            <a:r>
              <a:rPr dirty="0" spc="-40"/>
              <a:t>modern</a:t>
            </a:r>
            <a:r>
              <a:rPr dirty="0"/>
              <a:t> 3D</a:t>
            </a:r>
            <a:r>
              <a:rPr dirty="0" spc="5"/>
              <a:t> </a:t>
            </a:r>
            <a:r>
              <a:rPr dirty="0" spc="-35"/>
              <a:t>reconstruction</a:t>
            </a:r>
            <a:r>
              <a:rPr dirty="0" spc="5"/>
              <a:t> </a:t>
            </a:r>
            <a:r>
              <a:rPr dirty="0" spc="-55"/>
              <a:t>techniques</a:t>
            </a:r>
            <a:r>
              <a:rPr dirty="0" spc="5"/>
              <a:t> </a:t>
            </a:r>
            <a:r>
              <a:rPr dirty="0" spc="-90"/>
              <a:t>we</a:t>
            </a:r>
            <a:r>
              <a:rPr dirty="0" spc="15"/>
              <a:t> </a:t>
            </a:r>
            <a:r>
              <a:rPr dirty="0" spc="-80"/>
              <a:t>need</a:t>
            </a:r>
            <a:r>
              <a:rPr dirty="0" spc="5"/>
              <a:t> </a:t>
            </a:r>
            <a:r>
              <a:rPr dirty="0" spc="-25"/>
              <a:t>to </a:t>
            </a:r>
            <a:r>
              <a:rPr dirty="0" spc="-45"/>
              <a:t>understand</a:t>
            </a:r>
            <a:r>
              <a:rPr dirty="0" spc="-15"/>
              <a:t> </a:t>
            </a:r>
            <a:r>
              <a:rPr dirty="0" spc="-45"/>
              <a:t>how</a:t>
            </a:r>
            <a:r>
              <a:rPr dirty="0" spc="-10"/>
              <a:t> </a:t>
            </a:r>
            <a:r>
              <a:rPr dirty="0" spc="-70">
                <a:solidFill>
                  <a:srgbClr val="FF0000"/>
                </a:solidFill>
              </a:rPr>
              <a:t>cameras</a:t>
            </a:r>
            <a:r>
              <a:rPr dirty="0" spc="-5">
                <a:solidFill>
                  <a:srgbClr val="FF0000"/>
                </a:solidFill>
              </a:rPr>
              <a:t> </a:t>
            </a:r>
            <a:r>
              <a:rPr dirty="0" spc="-45"/>
              <a:t>transduce</a:t>
            </a:r>
            <a:r>
              <a:rPr dirty="0" spc="-10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 spc="-30"/>
              <a:t>world</a:t>
            </a:r>
            <a:r>
              <a:rPr dirty="0" spc="-10"/>
              <a:t> </a:t>
            </a:r>
            <a:r>
              <a:rPr dirty="0"/>
              <a:t>into</a:t>
            </a:r>
            <a:r>
              <a:rPr dirty="0" spc="-10"/>
              <a:t> image.</a:t>
            </a:r>
          </a:p>
          <a:p>
            <a:pPr marL="12700" marR="5080">
              <a:lnSpc>
                <a:spcPct val="102600"/>
              </a:lnSpc>
              <a:spcBef>
                <a:spcPts val="5"/>
              </a:spcBef>
            </a:pPr>
            <a:r>
              <a:rPr dirty="0" spc="-10"/>
              <a:t>This</a:t>
            </a:r>
            <a:r>
              <a:rPr dirty="0" spc="-5"/>
              <a:t> </a:t>
            </a:r>
            <a:r>
              <a:rPr dirty="0" spc="-50"/>
              <a:t>involves</a:t>
            </a:r>
            <a:r>
              <a:rPr dirty="0"/>
              <a:t> </a:t>
            </a:r>
            <a:r>
              <a:rPr dirty="0" spc="-50"/>
              <a:t>understanding</a:t>
            </a:r>
            <a:r>
              <a:rPr dirty="0" spc="-5"/>
              <a:t> </a:t>
            </a:r>
            <a:r>
              <a:rPr dirty="0" spc="-30">
                <a:solidFill>
                  <a:srgbClr val="FF0000"/>
                </a:solidFill>
              </a:rPr>
              <a:t>projective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spc="-40">
                <a:solidFill>
                  <a:srgbClr val="FF0000"/>
                </a:solidFill>
              </a:rPr>
              <a:t>geometry</a:t>
            </a:r>
            <a:r>
              <a:rPr dirty="0" spc="-5">
                <a:solidFill>
                  <a:srgbClr val="FF0000"/>
                </a:solidFill>
              </a:rPr>
              <a:t> </a:t>
            </a:r>
            <a:r>
              <a:rPr dirty="0" spc="-45"/>
              <a:t>and</a:t>
            </a:r>
            <a:r>
              <a:rPr dirty="0"/>
              <a:t> </a:t>
            </a:r>
            <a:r>
              <a:rPr dirty="0" spc="-70"/>
              <a:t>camera</a:t>
            </a:r>
            <a:r>
              <a:rPr dirty="0" spc="-5"/>
              <a:t> </a:t>
            </a:r>
            <a:r>
              <a:rPr dirty="0" spc="-10"/>
              <a:t>models. </a:t>
            </a:r>
            <a:r>
              <a:rPr dirty="0" spc="-20"/>
              <a:t>Then</a:t>
            </a:r>
            <a:r>
              <a:rPr dirty="0" spc="-25"/>
              <a:t> </a:t>
            </a:r>
            <a:r>
              <a:rPr dirty="0" spc="-90"/>
              <a:t>we</a:t>
            </a:r>
            <a:r>
              <a:rPr dirty="0" spc="15"/>
              <a:t> </a:t>
            </a:r>
            <a:r>
              <a:rPr dirty="0" spc="-45"/>
              <a:t>can</a:t>
            </a:r>
            <a:r>
              <a:rPr dirty="0"/>
              <a:t> </a:t>
            </a:r>
            <a:r>
              <a:rPr dirty="0" spc="-40"/>
              <a:t>begin</a:t>
            </a:r>
            <a:r>
              <a:rPr dirty="0"/>
              <a:t> to </a:t>
            </a:r>
            <a:r>
              <a:rPr dirty="0" spc="-25"/>
              <a:t>figure</a:t>
            </a:r>
            <a:r>
              <a:rPr dirty="0"/>
              <a:t> out </a:t>
            </a:r>
            <a:r>
              <a:rPr dirty="0" spc="-45"/>
              <a:t>how</a:t>
            </a:r>
            <a:r>
              <a:rPr dirty="0"/>
              <a:t> to </a:t>
            </a:r>
            <a:r>
              <a:rPr dirty="0" spc="-10"/>
              <a:t>invert</a:t>
            </a:r>
            <a:r>
              <a:rPr dirty="0"/>
              <a:t> what the </a:t>
            </a:r>
            <a:r>
              <a:rPr dirty="0" spc="-70"/>
              <a:t>camera</a:t>
            </a:r>
            <a:r>
              <a:rPr dirty="0"/>
              <a:t> </a:t>
            </a:r>
            <a:r>
              <a:rPr dirty="0" spc="-80"/>
              <a:t>does</a:t>
            </a:r>
            <a:r>
              <a:rPr dirty="0" spc="5"/>
              <a:t> </a:t>
            </a:r>
            <a:r>
              <a:rPr dirty="0" spc="-25"/>
              <a:t>or </a:t>
            </a:r>
            <a:r>
              <a:rPr dirty="0" spc="-30">
                <a:solidFill>
                  <a:srgbClr val="FF0000"/>
                </a:solidFill>
              </a:rPr>
              <a:t>reconstruct</a:t>
            </a:r>
            <a:r>
              <a:rPr dirty="0" spc="-25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the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>
                <a:solidFill>
                  <a:srgbClr val="FF0000"/>
                </a:solidFill>
              </a:rPr>
              <a:t>3D</a:t>
            </a:r>
            <a:r>
              <a:rPr dirty="0" spc="-20">
                <a:solidFill>
                  <a:srgbClr val="FF0000"/>
                </a:solidFill>
              </a:rPr>
              <a:t> </a:t>
            </a:r>
            <a:r>
              <a:rPr dirty="0" spc="-10">
                <a:solidFill>
                  <a:srgbClr val="FF0000"/>
                </a:solidFill>
              </a:rPr>
              <a:t>scene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>
            <a:xfrm>
              <a:off x="0" y="3346348"/>
              <a:ext cx="1070610" cy="109855"/>
            </a:xfrm>
            <a:custGeom>
              <a:avLst/>
              <a:gdLst/>
              <a:ahLst/>
              <a:cxnLst/>
              <a:rect l="l" t="t" r="r" b="b"/>
              <a:pathLst>
                <a:path w="1070610" h="109854">
                  <a:moveTo>
                    <a:pt x="10700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070089" y="109651"/>
                  </a:lnTo>
                  <a:lnTo>
                    <a:pt x="1070089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70089" y="3346348"/>
              <a:ext cx="2048510" cy="109855"/>
            </a:xfrm>
            <a:custGeom>
              <a:avLst/>
              <a:gdLst/>
              <a:ahLst/>
              <a:cxnLst/>
              <a:rect l="l" t="t" r="r" b="b"/>
              <a:pathLst>
                <a:path w="2048510" h="109854">
                  <a:moveTo>
                    <a:pt x="2047989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2047989" y="109651"/>
                  </a:lnTo>
                  <a:lnTo>
                    <a:pt x="2047989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118078" y="3346348"/>
              <a:ext cx="1490345" cy="109855"/>
            </a:xfrm>
            <a:custGeom>
              <a:avLst/>
              <a:gdLst/>
              <a:ahLst/>
              <a:cxnLst/>
              <a:rect l="l" t="t" r="r" b="b"/>
              <a:pathLst>
                <a:path w="1490345" h="109854">
                  <a:moveTo>
                    <a:pt x="1489925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489925" y="109651"/>
                  </a:lnTo>
                  <a:lnTo>
                    <a:pt x="148992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Dr.</a:t>
            </a:r>
            <a:r>
              <a:rPr dirty="0" spc="130"/>
              <a:t> </a:t>
            </a:r>
            <a:r>
              <a:rPr dirty="0"/>
              <a:t>Abdul</a:t>
            </a:r>
            <a:r>
              <a:rPr dirty="0" spc="65"/>
              <a:t> </a:t>
            </a:r>
            <a:r>
              <a:rPr dirty="0"/>
              <a:t>Basit</a:t>
            </a:r>
            <a:r>
              <a:rPr dirty="0" spc="290"/>
              <a:t> </a:t>
            </a:r>
            <a:r>
              <a:rPr dirty="0"/>
              <a:t>(CSIT</a:t>
            </a:r>
            <a:r>
              <a:rPr dirty="0" spc="65"/>
              <a:t> </a:t>
            </a:r>
            <a:r>
              <a:rPr dirty="0"/>
              <a:t>-</a:t>
            </a:r>
            <a:r>
              <a:rPr dirty="0" spc="65"/>
              <a:t> </a:t>
            </a:r>
            <a:r>
              <a:rPr dirty="0" spc="-20"/>
              <a:t>UoB)</a:t>
            </a:r>
          </a:p>
        </p:txBody>
      </p:sp>
      <p:sp>
        <p:nvSpPr>
          <p:cNvPr id="13" name="object 13" descr=""/>
          <p:cNvSpPr txBox="1"/>
          <p:nvPr/>
        </p:nvSpPr>
        <p:spPr>
          <a:xfrm>
            <a:off x="1283360" y="3351784"/>
            <a:ext cx="162179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</a:t>
            </a:r>
            <a:r>
              <a:rPr dirty="0" sz="600" spc="3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to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Computer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Vision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-</a:t>
            </a:r>
            <a:r>
              <a:rPr dirty="0" sz="600" spc="4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Lec01:</a:t>
            </a:r>
            <a:r>
              <a:rPr dirty="0" sz="600" spc="95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Introduction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May</a:t>
            </a:r>
            <a:r>
              <a:rPr dirty="0" spc="20"/>
              <a:t> </a:t>
            </a:r>
            <a:r>
              <a:rPr dirty="0"/>
              <a:t>15,</a:t>
            </a:r>
            <a:r>
              <a:rPr dirty="0" spc="20"/>
              <a:t> </a:t>
            </a:r>
            <a:r>
              <a:rPr dirty="0" spc="-20"/>
              <a:t>2024</a:t>
            </a:r>
          </a:p>
        </p:txBody>
      </p:sp>
      <p:sp>
        <p:nvSpPr>
          <p:cNvPr id="15" name="object 1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17</a:t>
            </a:r>
            <a:r>
              <a:rPr dirty="0" spc="25"/>
              <a:t> </a:t>
            </a:r>
            <a:r>
              <a:rPr dirty="0" spc="150"/>
              <a:t>/</a:t>
            </a:r>
            <a:r>
              <a:rPr dirty="0" spc="25"/>
              <a:t> </a:t>
            </a:r>
            <a:r>
              <a:rPr dirty="0" spc="-25"/>
              <a:t>18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921306" y="1276751"/>
            <a:ext cx="765810" cy="2882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00" spc="-35">
                <a:latin typeface="Tahoma"/>
                <a:cs typeface="Tahoma"/>
              </a:rPr>
              <a:t>The</a:t>
            </a:r>
            <a:r>
              <a:rPr dirty="0" sz="1700" spc="-90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End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286097" y="3341243"/>
            <a:ext cx="254000" cy="102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 sz="600" spc="-30">
                <a:latin typeface="Arial MT"/>
                <a:cs typeface="Arial MT"/>
              </a:rPr>
              <a:t>21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150">
                <a:latin typeface="Arial MT"/>
                <a:cs typeface="Arial MT"/>
              </a:rPr>
              <a:t>/</a:t>
            </a:r>
            <a:r>
              <a:rPr dirty="0" sz="600" spc="-55">
                <a:latin typeface="Arial MT"/>
                <a:cs typeface="Arial MT"/>
              </a:rPr>
              <a:t> </a:t>
            </a:r>
            <a:r>
              <a:rPr dirty="0" sz="600" spc="-35">
                <a:latin typeface="Arial MT"/>
                <a:cs typeface="Arial MT"/>
              </a:rPr>
              <a:t>21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Abdul Basit </dc:creator>
  <dc:title>Introduction to Computer Vision(CS708) - Lecture01 - Introduction</dc:title>
  <dcterms:created xsi:type="dcterms:W3CDTF">2026-05-10T06:18:01Z</dcterms:created>
  <dcterms:modified xsi:type="dcterms:W3CDTF">2026-05-10T06:18:01Z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2026-05-10T00:00:00Z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</Properties>
</file>