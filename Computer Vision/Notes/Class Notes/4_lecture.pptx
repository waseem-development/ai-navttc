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4610100" cy="3460750"/>
  <p:notesSz cx="4610100" cy="34607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45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320"/>
              <a:t> </a:t>
            </a:r>
            <a:r>
              <a:rPr dirty="0"/>
              <a:t>(CSIT</a:t>
            </a:r>
            <a:r>
              <a:rPr dirty="0" spc="70"/>
              <a:t> </a:t>
            </a:r>
            <a:r>
              <a:rPr dirty="0"/>
              <a:t>-</a:t>
            </a:r>
            <a:r>
              <a:rPr dirty="0" spc="60"/>
              <a:t> </a:t>
            </a:r>
            <a:r>
              <a:rPr dirty="0" spc="-20"/>
              <a:t>UoB)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/>
              <a:t>June</a:t>
            </a:r>
            <a:r>
              <a:rPr dirty="0" spc="-5"/>
              <a:t> </a:t>
            </a:r>
            <a:r>
              <a:rPr dirty="0"/>
              <a:t>17,</a:t>
            </a:r>
            <a:r>
              <a:rPr dirty="0" spc="-5"/>
              <a:t> </a:t>
            </a:r>
            <a:r>
              <a:rPr dirty="0" spc="-2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dirty="0"/>
              <a:t>#</a:t>
            </a:fld>
            <a:r>
              <a:rPr dirty="0" spc="15"/>
              <a:t> </a:t>
            </a:r>
            <a:r>
              <a:rPr dirty="0" spc="90"/>
              <a:t>/</a:t>
            </a:r>
            <a:r>
              <a:rPr dirty="0" spc="15"/>
              <a:t> </a:t>
            </a:r>
            <a:r>
              <a:rPr dirty="0" spc="-25"/>
              <a:t>26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45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320"/>
              <a:t> </a:t>
            </a:r>
            <a:r>
              <a:rPr dirty="0"/>
              <a:t>(CSIT</a:t>
            </a:r>
            <a:r>
              <a:rPr dirty="0" spc="70"/>
              <a:t> </a:t>
            </a:r>
            <a:r>
              <a:rPr dirty="0"/>
              <a:t>-</a:t>
            </a:r>
            <a:r>
              <a:rPr dirty="0" spc="60"/>
              <a:t> </a:t>
            </a:r>
            <a:r>
              <a:rPr dirty="0" spc="-20"/>
              <a:t>UoB)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/>
              <a:t>June</a:t>
            </a:r>
            <a:r>
              <a:rPr dirty="0" spc="-5"/>
              <a:t> </a:t>
            </a:r>
            <a:r>
              <a:rPr dirty="0"/>
              <a:t>17,</a:t>
            </a:r>
            <a:r>
              <a:rPr dirty="0" spc="-5"/>
              <a:t> </a:t>
            </a:r>
            <a:r>
              <a:rPr dirty="0" spc="-2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dirty="0"/>
              <a:t>#</a:t>
            </a:fld>
            <a:r>
              <a:rPr dirty="0" spc="15"/>
              <a:t> </a:t>
            </a:r>
            <a:r>
              <a:rPr dirty="0" spc="90"/>
              <a:t>/</a:t>
            </a:r>
            <a:r>
              <a:rPr dirty="0" spc="15"/>
              <a:t> </a:t>
            </a:r>
            <a:r>
              <a:rPr dirty="0" spc="-25"/>
              <a:t>26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45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320"/>
              <a:t> </a:t>
            </a:r>
            <a:r>
              <a:rPr dirty="0"/>
              <a:t>(CSIT</a:t>
            </a:r>
            <a:r>
              <a:rPr dirty="0" spc="70"/>
              <a:t> </a:t>
            </a:r>
            <a:r>
              <a:rPr dirty="0"/>
              <a:t>-</a:t>
            </a:r>
            <a:r>
              <a:rPr dirty="0" spc="60"/>
              <a:t> </a:t>
            </a:r>
            <a:r>
              <a:rPr dirty="0" spc="-20"/>
              <a:t>UoB)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/>
              <a:t>June</a:t>
            </a:r>
            <a:r>
              <a:rPr dirty="0" spc="-5"/>
              <a:t> </a:t>
            </a:r>
            <a:r>
              <a:rPr dirty="0"/>
              <a:t>17,</a:t>
            </a:r>
            <a:r>
              <a:rPr dirty="0" spc="-5"/>
              <a:t> </a:t>
            </a:r>
            <a:r>
              <a:rPr dirty="0" spc="-20"/>
              <a:t>2026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dirty="0"/>
              <a:t>#</a:t>
            </a:fld>
            <a:r>
              <a:rPr dirty="0" spc="15"/>
              <a:t> </a:t>
            </a:r>
            <a:r>
              <a:rPr dirty="0" spc="90"/>
              <a:t>/</a:t>
            </a:r>
            <a:r>
              <a:rPr dirty="0" spc="15"/>
              <a:t> </a:t>
            </a:r>
            <a:r>
              <a:rPr dirty="0" spc="-25"/>
              <a:t>26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45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320"/>
              <a:t> </a:t>
            </a:r>
            <a:r>
              <a:rPr dirty="0"/>
              <a:t>(CSIT</a:t>
            </a:r>
            <a:r>
              <a:rPr dirty="0" spc="70"/>
              <a:t> </a:t>
            </a:r>
            <a:r>
              <a:rPr dirty="0"/>
              <a:t>-</a:t>
            </a:r>
            <a:r>
              <a:rPr dirty="0" spc="60"/>
              <a:t> </a:t>
            </a:r>
            <a:r>
              <a:rPr dirty="0" spc="-20"/>
              <a:t>UoB)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/>
              <a:t>June</a:t>
            </a:r>
            <a:r>
              <a:rPr dirty="0" spc="-5"/>
              <a:t> </a:t>
            </a:r>
            <a:r>
              <a:rPr dirty="0"/>
              <a:t>17,</a:t>
            </a:r>
            <a:r>
              <a:rPr dirty="0" spc="-5"/>
              <a:t> </a:t>
            </a:r>
            <a:r>
              <a:rPr dirty="0" spc="-2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dirty="0"/>
              <a:t>#</a:t>
            </a:fld>
            <a:r>
              <a:rPr dirty="0" spc="15"/>
              <a:t> </a:t>
            </a:r>
            <a:r>
              <a:rPr dirty="0" spc="90"/>
              <a:t>/</a:t>
            </a:r>
            <a:r>
              <a:rPr dirty="0" spc="15"/>
              <a:t> </a:t>
            </a:r>
            <a:r>
              <a:rPr dirty="0" spc="-25"/>
              <a:t>26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45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320"/>
              <a:t> </a:t>
            </a:r>
            <a:r>
              <a:rPr dirty="0"/>
              <a:t>(CSIT</a:t>
            </a:r>
            <a:r>
              <a:rPr dirty="0" spc="70"/>
              <a:t> </a:t>
            </a:r>
            <a:r>
              <a:rPr dirty="0"/>
              <a:t>-</a:t>
            </a:r>
            <a:r>
              <a:rPr dirty="0" spc="60"/>
              <a:t> </a:t>
            </a:r>
            <a:r>
              <a:rPr dirty="0" spc="-20"/>
              <a:t>UoB)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/>
              <a:t>June</a:t>
            </a:r>
            <a:r>
              <a:rPr dirty="0" spc="-5"/>
              <a:t> </a:t>
            </a:r>
            <a:r>
              <a:rPr dirty="0"/>
              <a:t>17,</a:t>
            </a:r>
            <a:r>
              <a:rPr dirty="0" spc="-5"/>
              <a:t> </a:t>
            </a:r>
            <a:r>
              <a:rPr dirty="0" spc="-20"/>
              <a:t>2026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dirty="0"/>
              <a:t>#</a:t>
            </a:fld>
            <a:r>
              <a:rPr dirty="0" spc="15"/>
              <a:t> </a:t>
            </a:r>
            <a:r>
              <a:rPr dirty="0" spc="90"/>
              <a:t>/</a:t>
            </a:r>
            <a:r>
              <a:rPr dirty="0" spc="15"/>
              <a:t> </a:t>
            </a:r>
            <a:r>
              <a:rPr dirty="0" spc="-25"/>
              <a:t>26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083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29894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3167268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3323614" y="325126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326044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3620326" y="326396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353142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3607626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3878593" y="325126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3802393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3878593" y="328936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4149573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4451033" y="328174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4423969" y="3255248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4329112" y="325126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59878"/>
            <a:ext cx="68834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2932" y="654330"/>
            <a:ext cx="3025140" cy="695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-9372" y="3351784"/>
            <a:ext cx="1089660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45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320"/>
              <a:t> </a:t>
            </a:r>
            <a:r>
              <a:rPr dirty="0"/>
              <a:t>(CSIT</a:t>
            </a:r>
            <a:r>
              <a:rPr dirty="0" spc="70"/>
              <a:t> </a:t>
            </a:r>
            <a:r>
              <a:rPr dirty="0"/>
              <a:t>-</a:t>
            </a:r>
            <a:r>
              <a:rPr dirty="0" spc="60"/>
              <a:t> </a:t>
            </a:r>
            <a:r>
              <a:rPr dirty="0" spc="-20"/>
              <a:t>UoB)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654843" y="3351784"/>
            <a:ext cx="541337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/>
              <a:t>June</a:t>
            </a:r>
            <a:r>
              <a:rPr dirty="0" spc="-5"/>
              <a:t> </a:t>
            </a:r>
            <a:r>
              <a:rPr dirty="0"/>
              <a:t>17,</a:t>
            </a:r>
            <a:r>
              <a:rPr dirty="0" spc="-5"/>
              <a:t> </a:t>
            </a:r>
            <a:r>
              <a:rPr dirty="0" spc="-2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4292892" y="3351784"/>
            <a:ext cx="306704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dirty="0"/>
              <a:t>#</a:t>
            </a:fld>
            <a:r>
              <a:rPr dirty="0" spc="15"/>
              <a:t> </a:t>
            </a:r>
            <a:r>
              <a:rPr dirty="0" spc="90"/>
              <a:t>/</a:t>
            </a:r>
            <a:r>
              <a:rPr dirty="0" spc="15"/>
              <a:t> </a:t>
            </a:r>
            <a:r>
              <a:rPr dirty="0" spc="-25"/>
              <a:t>26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28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slide" Target="slide2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slide" Target="slide9.xml"/><Relationship Id="rId8" Type="http://schemas.openxmlformats.org/officeDocument/2006/relationships/slide" Target="slide10.xml"/><Relationship Id="rId9" Type="http://schemas.openxmlformats.org/officeDocument/2006/relationships/slide" Target="slide13.xml"/><Relationship Id="rId10" Type="http://schemas.openxmlformats.org/officeDocument/2006/relationships/image" Target="../media/image5.png"/><Relationship Id="rId11" Type="http://schemas.openxmlformats.org/officeDocument/2006/relationships/slide" Target="slide16.xml"/><Relationship Id="rId12" Type="http://schemas.openxmlformats.org/officeDocument/2006/relationships/image" Target="../media/image6.png"/><Relationship Id="rId13" Type="http://schemas.openxmlformats.org/officeDocument/2006/relationships/slide" Target="slide20.xml"/><Relationship Id="rId14" Type="http://schemas.openxmlformats.org/officeDocument/2006/relationships/slide" Target="slide28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jpg"/><Relationship Id="rId4" Type="http://schemas.openxmlformats.org/officeDocument/2006/relationships/slide" Target="slide28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9.jpg"/><Relationship Id="rId4" Type="http://schemas.openxmlformats.org/officeDocument/2006/relationships/slide" Target="slide28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10.jpg"/><Relationship Id="rId4" Type="http://schemas.openxmlformats.org/officeDocument/2006/relationships/slide" Target="slide28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11.jpg"/><Relationship Id="rId4" Type="http://schemas.openxmlformats.org/officeDocument/2006/relationships/slide" Target="slide28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12.jpg"/><Relationship Id="rId4" Type="http://schemas.openxmlformats.org/officeDocument/2006/relationships/slide" Target="slide28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13.jpg"/><Relationship Id="rId4" Type="http://schemas.openxmlformats.org/officeDocument/2006/relationships/slide" Target="slide28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slide" Target="slide2.xml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slide" Target="slide9.xml"/><Relationship Id="rId8" Type="http://schemas.openxmlformats.org/officeDocument/2006/relationships/slide" Target="slide10.xml"/><Relationship Id="rId9" Type="http://schemas.openxmlformats.org/officeDocument/2006/relationships/slide" Target="slide13.xml"/><Relationship Id="rId10" Type="http://schemas.openxmlformats.org/officeDocument/2006/relationships/image" Target="../media/image18.png"/><Relationship Id="rId11" Type="http://schemas.openxmlformats.org/officeDocument/2006/relationships/slide" Target="slide16.xml"/><Relationship Id="rId12" Type="http://schemas.openxmlformats.org/officeDocument/2006/relationships/image" Target="../media/image19.png"/><Relationship Id="rId13" Type="http://schemas.openxmlformats.org/officeDocument/2006/relationships/slide" Target="slide20.xml"/><Relationship Id="rId14" Type="http://schemas.openxmlformats.org/officeDocument/2006/relationships/slide" Target="slide1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slide" Target="slide2.xml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4.png"/><Relationship Id="rId7" Type="http://schemas.openxmlformats.org/officeDocument/2006/relationships/slide" Target="slide9.xml"/><Relationship Id="rId8" Type="http://schemas.openxmlformats.org/officeDocument/2006/relationships/slide" Target="slide10.xml"/><Relationship Id="rId9" Type="http://schemas.openxmlformats.org/officeDocument/2006/relationships/slide" Target="slide13.xml"/><Relationship Id="rId10" Type="http://schemas.openxmlformats.org/officeDocument/2006/relationships/image" Target="../media/image20.png"/><Relationship Id="rId11" Type="http://schemas.openxmlformats.org/officeDocument/2006/relationships/slide" Target="slide16.xml"/><Relationship Id="rId12" Type="http://schemas.openxmlformats.org/officeDocument/2006/relationships/image" Target="../media/image21.png"/><Relationship Id="rId13" Type="http://schemas.openxmlformats.org/officeDocument/2006/relationships/slide" Target="slide20.xml"/><Relationship Id="rId14" Type="http://schemas.openxmlformats.org/officeDocument/2006/relationships/slide" Target="slide1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png"/><Relationship Id="rId3" Type="http://schemas.openxmlformats.org/officeDocument/2006/relationships/slide" Target="slide1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slide" Target="slide1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slide" Target="slide2.xml"/><Relationship Id="rId4" Type="http://schemas.openxmlformats.org/officeDocument/2006/relationships/image" Target="../media/image15.png"/><Relationship Id="rId5" Type="http://schemas.openxmlformats.org/officeDocument/2006/relationships/image" Target="../media/image3.png"/><Relationship Id="rId6" Type="http://schemas.openxmlformats.org/officeDocument/2006/relationships/image" Target="../media/image17.png"/><Relationship Id="rId7" Type="http://schemas.openxmlformats.org/officeDocument/2006/relationships/slide" Target="slide9.xml"/><Relationship Id="rId8" Type="http://schemas.openxmlformats.org/officeDocument/2006/relationships/slide" Target="slide10.xml"/><Relationship Id="rId9" Type="http://schemas.openxmlformats.org/officeDocument/2006/relationships/slide" Target="slide13.xml"/><Relationship Id="rId10" Type="http://schemas.openxmlformats.org/officeDocument/2006/relationships/image" Target="../media/image26.png"/><Relationship Id="rId11" Type="http://schemas.openxmlformats.org/officeDocument/2006/relationships/slide" Target="slide16.xml"/><Relationship Id="rId12" Type="http://schemas.openxmlformats.org/officeDocument/2006/relationships/image" Target="../media/image27.png"/><Relationship Id="rId13" Type="http://schemas.openxmlformats.org/officeDocument/2006/relationships/slide" Target="slide20.xml"/><Relationship Id="rId14" Type="http://schemas.openxmlformats.org/officeDocument/2006/relationships/slide" Target="slide1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.jpg"/><Relationship Id="rId3" Type="http://schemas.openxmlformats.org/officeDocument/2006/relationships/slide" Target="slide1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slide" Target="slide1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slide" Target="slide2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slide" Target="slide9.xml"/><Relationship Id="rId8" Type="http://schemas.openxmlformats.org/officeDocument/2006/relationships/slide" Target="slide10.xml"/><Relationship Id="rId9" Type="http://schemas.openxmlformats.org/officeDocument/2006/relationships/slide" Target="slide13.xml"/><Relationship Id="rId10" Type="http://schemas.openxmlformats.org/officeDocument/2006/relationships/image" Target="../media/image31.png"/><Relationship Id="rId11" Type="http://schemas.openxmlformats.org/officeDocument/2006/relationships/slide" Target="slide16.xml"/><Relationship Id="rId12" Type="http://schemas.openxmlformats.org/officeDocument/2006/relationships/image" Target="../media/image27.png"/><Relationship Id="rId13" Type="http://schemas.openxmlformats.org/officeDocument/2006/relationships/slide" Target="slide20.xml"/><Relationship Id="rId14" Type="http://schemas.openxmlformats.org/officeDocument/2006/relationships/slide" Target="slide1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slide" Target="slide1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7.png"/><Relationship Id="rId3" Type="http://schemas.openxmlformats.org/officeDocument/2006/relationships/image" Target="../media/image38.jpg"/><Relationship Id="rId4" Type="http://schemas.openxmlformats.org/officeDocument/2006/relationships/slide" Target="slide1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7.png"/><Relationship Id="rId3" Type="http://schemas.openxmlformats.org/officeDocument/2006/relationships/image" Target="../media/image39.jpg"/><Relationship Id="rId4" Type="http://schemas.openxmlformats.org/officeDocument/2006/relationships/slide" Target="slide1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slide" Target="slide2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slide" Target="slide9.xml"/><Relationship Id="rId8" Type="http://schemas.openxmlformats.org/officeDocument/2006/relationships/slide" Target="slide10.xml"/><Relationship Id="rId9" Type="http://schemas.openxmlformats.org/officeDocument/2006/relationships/slide" Target="slide13.xml"/><Relationship Id="rId10" Type="http://schemas.openxmlformats.org/officeDocument/2006/relationships/image" Target="../media/image40.png"/><Relationship Id="rId11" Type="http://schemas.openxmlformats.org/officeDocument/2006/relationships/slide" Target="slide16.xml"/><Relationship Id="rId12" Type="http://schemas.openxmlformats.org/officeDocument/2006/relationships/image" Target="../media/image41.png"/><Relationship Id="rId13" Type="http://schemas.openxmlformats.org/officeDocument/2006/relationships/slide" Target="slide20.xml"/><Relationship Id="rId14" Type="http://schemas.openxmlformats.org/officeDocument/2006/relationships/slide" Target="slide1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2.png"/><Relationship Id="rId3" Type="http://schemas.openxmlformats.org/officeDocument/2006/relationships/image" Target="../media/image43.jpg"/><Relationship Id="rId4" Type="http://schemas.openxmlformats.org/officeDocument/2006/relationships/slide" Target="slide1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4.png"/><Relationship Id="rId3" Type="http://schemas.openxmlformats.org/officeDocument/2006/relationships/image" Target="../media/image45.jpg"/><Relationship Id="rId4" Type="http://schemas.openxmlformats.org/officeDocument/2006/relationships/slide" Target="slide1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6.png"/><Relationship Id="rId3" Type="http://schemas.openxmlformats.org/officeDocument/2006/relationships/image" Target="../media/image47.jpg"/><Relationship Id="rId4" Type="http://schemas.openxmlformats.org/officeDocument/2006/relationships/slide" Target="slide1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8.png"/><Relationship Id="rId3" Type="http://schemas.openxmlformats.org/officeDocument/2006/relationships/image" Target="../media/image49.jpg"/><Relationship Id="rId4" Type="http://schemas.openxmlformats.org/officeDocument/2006/relationships/slide" Target="slide1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0.png"/><Relationship Id="rId3" Type="http://schemas.openxmlformats.org/officeDocument/2006/relationships/image" Target="../media/image51.jpg"/><Relationship Id="rId4" Type="http://schemas.openxmlformats.org/officeDocument/2006/relationships/slide" Target="slide1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slide" Target="slide1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2.png"/><Relationship Id="rId3" Type="http://schemas.openxmlformats.org/officeDocument/2006/relationships/image" Target="../media/image54.png"/><Relationship Id="rId4" Type="http://schemas.openxmlformats.org/officeDocument/2006/relationships/slide" Target="slide1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743" y="697801"/>
            <a:ext cx="4483735" cy="737870"/>
            <a:chOff x="87743" y="697801"/>
            <a:chExt cx="4483735" cy="737870"/>
          </a:xfrm>
        </p:grpSpPr>
        <p:sp>
          <p:nvSpPr>
            <p:cNvPr id="3" name="object 3"/>
            <p:cNvSpPr/>
            <p:nvPr/>
          </p:nvSpPr>
          <p:spPr>
            <a:xfrm>
              <a:off x="87743" y="697801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32566" y="82384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3" y="14922"/>
                  </a:lnTo>
                  <a:lnTo>
                    <a:pt x="4401490" y="4008"/>
                  </a:lnTo>
                  <a:lnTo>
                    <a:pt x="438176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38544" y="761059"/>
              <a:ext cx="4432935" cy="674370"/>
            </a:xfrm>
            <a:custGeom>
              <a:avLst/>
              <a:gdLst/>
              <a:ahLst/>
              <a:cxnLst/>
              <a:rect l="l" t="t" r="r" b="b"/>
              <a:pathLst>
                <a:path w="4432935" h="674369">
                  <a:moveTo>
                    <a:pt x="4432566" y="0"/>
                  </a:moveTo>
                  <a:lnTo>
                    <a:pt x="0" y="0"/>
                  </a:lnTo>
                  <a:lnTo>
                    <a:pt x="0" y="674283"/>
                  </a:lnTo>
                  <a:lnTo>
                    <a:pt x="4432566" y="674283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87743" y="742222"/>
              <a:ext cx="4432935" cy="642620"/>
            </a:xfrm>
            <a:custGeom>
              <a:avLst/>
              <a:gdLst/>
              <a:ahLst/>
              <a:cxnLst/>
              <a:rect l="l" t="t" r="r" b="b"/>
              <a:pathLst>
                <a:path w="4432935" h="642619">
                  <a:moveTo>
                    <a:pt x="4432566" y="0"/>
                  </a:moveTo>
                  <a:lnTo>
                    <a:pt x="0" y="0"/>
                  </a:lnTo>
                  <a:lnTo>
                    <a:pt x="0" y="591519"/>
                  </a:lnTo>
                  <a:lnTo>
                    <a:pt x="4008" y="611243"/>
                  </a:lnTo>
                  <a:lnTo>
                    <a:pt x="14922" y="627396"/>
                  </a:lnTo>
                  <a:lnTo>
                    <a:pt x="31075" y="638310"/>
                  </a:lnTo>
                  <a:lnTo>
                    <a:pt x="50800" y="642319"/>
                  </a:lnTo>
                  <a:lnTo>
                    <a:pt x="4381765" y="642319"/>
                  </a:lnTo>
                  <a:lnTo>
                    <a:pt x="4401490" y="638310"/>
                  </a:lnTo>
                  <a:lnTo>
                    <a:pt x="4417643" y="627396"/>
                  </a:lnTo>
                  <a:lnTo>
                    <a:pt x="4428558" y="611243"/>
                  </a:lnTo>
                  <a:lnTo>
                    <a:pt x="4432566" y="591519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138544" y="761059"/>
            <a:ext cx="4432935" cy="674370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algn="ctr" marR="93345">
              <a:lnSpc>
                <a:spcPct val="100000"/>
              </a:lnSpc>
              <a:spcBef>
                <a:spcPts val="445"/>
              </a:spcBef>
            </a:pPr>
            <a:r>
              <a:rPr dirty="0" sz="1400" spc="-10">
                <a:solidFill>
                  <a:srgbClr val="FFFFFF"/>
                </a:solidFill>
                <a:latin typeface="Arial MT"/>
                <a:cs typeface="Arial MT"/>
              </a:rPr>
              <a:t>Introduction</a:t>
            </a:r>
            <a:r>
              <a:rPr dirty="0" sz="1400" spc="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dirty="0" sz="1400" spc="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00" spc="-40">
                <a:solidFill>
                  <a:srgbClr val="FFFFFF"/>
                </a:solidFill>
                <a:latin typeface="Arial MT"/>
                <a:cs typeface="Arial MT"/>
              </a:rPr>
              <a:t>Computer</a:t>
            </a:r>
            <a:r>
              <a:rPr dirty="0" sz="1400" spc="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Arial MT"/>
                <a:cs typeface="Arial MT"/>
              </a:rPr>
              <a:t>Vision</a:t>
            </a:r>
            <a:endParaRPr sz="1400">
              <a:latin typeface="Arial MT"/>
              <a:cs typeface="Arial MT"/>
            </a:endParaRPr>
          </a:p>
          <a:p>
            <a:pPr algn="ctr" marR="93345">
              <a:lnSpc>
                <a:spcPct val="100000"/>
              </a:lnSpc>
              <a:spcBef>
                <a:spcPts val="325"/>
              </a:spcBef>
            </a:pPr>
            <a:r>
              <a:rPr dirty="0" sz="1100" spc="-3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dirty="0" sz="1100" spc="-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FFFFFF"/>
                </a:solidFill>
                <a:latin typeface="Tahoma"/>
                <a:cs typeface="Tahoma"/>
              </a:rPr>
              <a:t>04</a:t>
            </a:r>
            <a:r>
              <a:rPr dirty="0" sz="1100" spc="-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dirty="0" sz="1100" spc="-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FFFFFF"/>
                </a:solidFill>
                <a:latin typeface="Tahoma"/>
                <a:cs typeface="Tahoma"/>
              </a:rPr>
              <a:t>Linearity</a:t>
            </a:r>
            <a:r>
              <a:rPr dirty="0" sz="1100" spc="-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 spc="-35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dirty="0" sz="1100" spc="-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Tahoma"/>
                <a:cs typeface="Tahoma"/>
              </a:rPr>
              <a:t>Convolution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10829" y="1594623"/>
            <a:ext cx="1386840" cy="92836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Tahoma"/>
                <a:cs typeface="Tahoma"/>
              </a:rPr>
              <a:t>Dr.</a:t>
            </a:r>
            <a:r>
              <a:rPr dirty="0" sz="1100" spc="8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Abdul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Basit</a:t>
            </a:r>
            <a:endParaRPr sz="1100">
              <a:latin typeface="Tahoma"/>
              <a:cs typeface="Tahoma"/>
            </a:endParaRPr>
          </a:p>
          <a:p>
            <a:pPr algn="ctr" marL="12700" marR="5080">
              <a:lnSpc>
                <a:spcPts val="950"/>
              </a:lnSpc>
              <a:spcBef>
                <a:spcPts val="1265"/>
              </a:spcBef>
            </a:pPr>
            <a:r>
              <a:rPr dirty="0" sz="800">
                <a:latin typeface="Tahoma"/>
                <a:cs typeface="Tahoma"/>
              </a:rPr>
              <a:t>Associate</a:t>
            </a:r>
            <a:r>
              <a:rPr dirty="0" sz="800" spc="25">
                <a:latin typeface="Tahoma"/>
                <a:cs typeface="Tahoma"/>
              </a:rPr>
              <a:t> </a:t>
            </a:r>
            <a:r>
              <a:rPr dirty="0" sz="800">
                <a:latin typeface="Tahoma"/>
                <a:cs typeface="Tahoma"/>
              </a:rPr>
              <a:t>Professor</a:t>
            </a:r>
            <a:r>
              <a:rPr dirty="0" sz="800" spc="25">
                <a:latin typeface="Tahoma"/>
                <a:cs typeface="Tahoma"/>
              </a:rPr>
              <a:t> </a:t>
            </a:r>
            <a:r>
              <a:rPr dirty="0" sz="800">
                <a:latin typeface="Tahoma"/>
                <a:cs typeface="Tahoma"/>
              </a:rPr>
              <a:t>-</a:t>
            </a:r>
            <a:r>
              <a:rPr dirty="0" sz="800" spc="25">
                <a:latin typeface="Tahoma"/>
                <a:cs typeface="Tahoma"/>
              </a:rPr>
              <a:t> </a:t>
            </a:r>
            <a:r>
              <a:rPr dirty="0" sz="800">
                <a:latin typeface="Tahoma"/>
                <a:cs typeface="Tahoma"/>
              </a:rPr>
              <a:t>CS</a:t>
            </a:r>
            <a:r>
              <a:rPr dirty="0" sz="800" spc="30">
                <a:latin typeface="Tahoma"/>
                <a:cs typeface="Tahoma"/>
              </a:rPr>
              <a:t> </a:t>
            </a:r>
            <a:r>
              <a:rPr dirty="0" sz="800" spc="100">
                <a:latin typeface="Tahoma"/>
                <a:cs typeface="Tahoma"/>
              </a:rPr>
              <a:t>&amp;</a:t>
            </a:r>
            <a:r>
              <a:rPr dirty="0" sz="800" spc="25">
                <a:latin typeface="Tahoma"/>
                <a:cs typeface="Tahoma"/>
              </a:rPr>
              <a:t> </a:t>
            </a:r>
            <a:r>
              <a:rPr dirty="0" sz="800" spc="-25">
                <a:latin typeface="Tahoma"/>
                <a:cs typeface="Tahoma"/>
              </a:rPr>
              <a:t>IT </a:t>
            </a:r>
            <a:r>
              <a:rPr dirty="0" sz="800">
                <a:latin typeface="Tahoma"/>
                <a:cs typeface="Tahoma"/>
              </a:rPr>
              <a:t>University of</a:t>
            </a:r>
            <a:r>
              <a:rPr dirty="0" sz="800" spc="5">
                <a:latin typeface="Tahoma"/>
                <a:cs typeface="Tahoma"/>
              </a:rPr>
              <a:t> </a:t>
            </a:r>
            <a:r>
              <a:rPr dirty="0" sz="800" spc="-10">
                <a:latin typeface="Tahoma"/>
                <a:cs typeface="Tahoma"/>
              </a:rPr>
              <a:t>Balochistan</a:t>
            </a:r>
            <a:endParaRPr sz="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800">
              <a:latin typeface="Tahoma"/>
              <a:cs typeface="Tahoma"/>
            </a:endParaRPr>
          </a:p>
          <a:p>
            <a:pPr marL="284480">
              <a:lnSpc>
                <a:spcPct val="100000"/>
              </a:lnSpc>
            </a:pPr>
            <a:r>
              <a:rPr dirty="0" sz="1100" spc="-20">
                <a:latin typeface="Tahoma"/>
                <a:cs typeface="Tahoma"/>
              </a:rPr>
              <a:t>June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17,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2026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45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320"/>
              <a:t> </a:t>
            </a:r>
            <a:r>
              <a:rPr dirty="0"/>
              <a:t>(CSIT</a:t>
            </a:r>
            <a:r>
              <a:rPr dirty="0" spc="70"/>
              <a:t> </a:t>
            </a:r>
            <a:r>
              <a:rPr dirty="0"/>
              <a:t>-</a:t>
            </a:r>
            <a:r>
              <a:rPr dirty="0" spc="60"/>
              <a:t> </a:t>
            </a:r>
            <a:r>
              <a:rPr dirty="0" spc="-20"/>
              <a:t>UoB)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648358" y="3351784"/>
            <a:ext cx="89217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Linearity</a:t>
            </a:r>
            <a:r>
              <a:rPr dirty="0" sz="600" spc="-5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and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Convolution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675"/>
              </a:lnSpc>
            </a:pPr>
            <a:r>
              <a:rPr dirty="0"/>
              <a:t>June</a:t>
            </a:r>
            <a:r>
              <a:rPr dirty="0" spc="-5"/>
              <a:t> </a:t>
            </a:r>
            <a:r>
              <a:rPr dirty="0"/>
              <a:t>17,</a:t>
            </a:r>
            <a:r>
              <a:rPr dirty="0" spc="-5"/>
              <a:t> </a:t>
            </a:r>
            <a:r>
              <a:rPr dirty="0" spc="-20"/>
              <a:t>2026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8105">
              <a:lnSpc>
                <a:spcPts val="675"/>
              </a:lnSpc>
            </a:pPr>
            <a:fld id="{81D60167-4931-47E6-BA6A-407CBD079E47}" type="slidenum">
              <a:rPr dirty="0"/>
              <a:t>1</a:t>
            </a:fld>
            <a:r>
              <a:rPr dirty="0" spc="15"/>
              <a:t> </a:t>
            </a:r>
            <a:r>
              <a:rPr dirty="0" spc="90"/>
              <a:t>/</a:t>
            </a:r>
            <a:r>
              <a:rPr dirty="0" spc="15"/>
              <a:t> </a:t>
            </a:r>
            <a:r>
              <a:rPr dirty="0" spc="-25"/>
              <a:t>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45"/>
              <a:t>Contents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0" y="883818"/>
            <a:ext cx="160096" cy="16009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9743" y="883156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EAEAF7"/>
                </a:solidFill>
                <a:latin typeface="Tahoma"/>
                <a:cs typeface="Tahoma"/>
              </a:rPr>
              <a:t>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5173" y="855724"/>
            <a:ext cx="10744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solidFill>
                  <a:srgbClr val="3333B2"/>
                </a:solidFill>
                <a:latin typeface="Tahoma"/>
                <a:cs typeface="Tahoma"/>
                <a:hlinkClick r:id="rId3" action="ppaction://hlinksldjump"/>
              </a:rPr>
              <a:t>Filtering</a:t>
            </a:r>
            <a:r>
              <a:rPr dirty="0" sz="1100" spc="-75">
                <a:solidFill>
                  <a:srgbClr val="3333B2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1100">
                <a:solidFill>
                  <a:srgbClr val="3333B2"/>
                </a:solidFill>
                <a:latin typeface="Tahoma"/>
                <a:cs typeface="Tahoma"/>
                <a:hlinkClick r:id="rId3" action="ppaction://hlinksldjump"/>
              </a:rPr>
              <a:t>an</a:t>
            </a:r>
            <a:r>
              <a:rPr dirty="0" sz="1100" spc="-65">
                <a:solidFill>
                  <a:srgbClr val="3333B2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1100" spc="-45">
                <a:solidFill>
                  <a:srgbClr val="3333B2"/>
                </a:solidFill>
                <a:latin typeface="Tahoma"/>
                <a:cs typeface="Tahoma"/>
                <a:hlinkClick r:id="rId3" action="ppaction://hlinksldjump"/>
              </a:rPr>
              <a:t>image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280" y="1315605"/>
            <a:ext cx="160096" cy="16009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9743" y="1314944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FAFAFD"/>
                </a:solidFill>
                <a:latin typeface="Tahoma"/>
                <a:cs typeface="Tahoma"/>
              </a:rPr>
              <a:t>2</a:t>
            </a:r>
            <a:endParaRPr sz="8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9582" y="1539405"/>
            <a:ext cx="65265" cy="6526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19582" y="1711477"/>
            <a:ext cx="65265" cy="6526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95173" y="1287512"/>
            <a:ext cx="1560830" cy="53594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51130" marR="5080" indent="-139065">
              <a:lnSpc>
                <a:spcPct val="102600"/>
              </a:lnSpc>
              <a:spcBef>
                <a:spcPts val="55"/>
              </a:spcBef>
            </a:pPr>
            <a:r>
              <a:rPr dirty="0" sz="1100" spc="-30">
                <a:solidFill>
                  <a:srgbClr val="D6D6EF"/>
                </a:solidFill>
                <a:latin typeface="Tahoma"/>
                <a:cs typeface="Tahoma"/>
                <a:hlinkClick r:id="rId7" action="ppaction://hlinksldjump"/>
              </a:rPr>
              <a:t>Correlation </a:t>
            </a:r>
            <a:r>
              <a:rPr dirty="0" sz="1100" spc="-20">
                <a:solidFill>
                  <a:srgbClr val="D6D6EF"/>
                </a:solidFill>
                <a:latin typeface="Tahoma"/>
                <a:cs typeface="Tahoma"/>
                <a:hlinkClick r:id="rId7" action="ppaction://hlinksldjump"/>
              </a:rPr>
              <a:t>vs</a:t>
            </a:r>
            <a:r>
              <a:rPr dirty="0" sz="1100" spc="-30">
                <a:solidFill>
                  <a:srgbClr val="D6D6EF"/>
                </a:solidFill>
                <a:latin typeface="Tahoma"/>
                <a:cs typeface="Tahoma"/>
                <a:hlinkClick r:id="rId7" action="ppaction://hlinksldjump"/>
              </a:rPr>
              <a:t> Convolution</a:t>
            </a:r>
            <a:r>
              <a:rPr dirty="0" sz="1100" spc="-30">
                <a:solidFill>
                  <a:srgbClr val="D6D6EF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Tahoma"/>
                <a:cs typeface="Tahoma"/>
                <a:hlinkClick r:id="rId8" action="ppaction://hlinksldjump"/>
              </a:rPr>
              <a:t>Correlation</a:t>
            </a:r>
            <a:endParaRPr sz="1100">
              <a:latin typeface="Tahoma"/>
              <a:cs typeface="Tahoma"/>
            </a:endParaRPr>
          </a:p>
          <a:p>
            <a:pPr marL="151130">
              <a:lnSpc>
                <a:spcPct val="100000"/>
              </a:lnSpc>
              <a:spcBef>
                <a:spcPts val="35"/>
              </a:spcBef>
            </a:pPr>
            <a:r>
              <a:rPr dirty="0" sz="1100" spc="-10">
                <a:solidFill>
                  <a:srgbClr val="CCCCCC"/>
                </a:solidFill>
                <a:latin typeface="Tahoma"/>
                <a:cs typeface="Tahoma"/>
                <a:hlinkClick r:id="rId9" action="ppaction://hlinksldjump"/>
              </a:rPr>
              <a:t>Convolution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9280" y="2091537"/>
            <a:ext cx="160096" cy="160096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29743" y="2090876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FAFAFD"/>
                </a:solidFill>
                <a:latin typeface="Tahoma"/>
                <a:cs typeface="Tahoma"/>
              </a:rPr>
              <a:t>3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5173" y="2063444"/>
            <a:ext cx="11360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Boundary</a:t>
            </a:r>
            <a:r>
              <a:rPr dirty="0" sz="1100" spc="-35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1100" spc="-50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problems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9280" y="2523312"/>
            <a:ext cx="160096" cy="160096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29743" y="2522663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FAFAFD"/>
                </a:solidFill>
                <a:latin typeface="Tahoma"/>
                <a:cs typeface="Tahoma"/>
              </a:rPr>
              <a:t>4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95173" y="2495218"/>
            <a:ext cx="7429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5">
                <a:solidFill>
                  <a:srgbClr val="D6D6EF"/>
                </a:solidFill>
                <a:latin typeface="Tahoma"/>
                <a:cs typeface="Tahoma"/>
                <a:hlinkClick r:id="rId13" action="ppaction://hlinksldjump"/>
              </a:rPr>
              <a:t>Linear</a:t>
            </a:r>
            <a:r>
              <a:rPr dirty="0" sz="1100" spc="-45">
                <a:solidFill>
                  <a:srgbClr val="D6D6EF"/>
                </a:solidFill>
                <a:latin typeface="Tahoma"/>
                <a:cs typeface="Tahoma"/>
                <a:hlinkClick r:id="rId13" action="ppaction://hlinksldjump"/>
              </a:rPr>
              <a:t> </a:t>
            </a:r>
            <a:r>
              <a:rPr dirty="0" sz="1100" spc="-20">
                <a:solidFill>
                  <a:srgbClr val="D6D6EF"/>
                </a:solidFill>
                <a:latin typeface="Tahoma"/>
                <a:cs typeface="Tahoma"/>
                <a:hlinkClick r:id="rId13" action="ppaction://hlinksldjump"/>
              </a:rPr>
              <a:t>filters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9" name="object 19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45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320"/>
              <a:t> </a:t>
            </a:r>
            <a:r>
              <a:rPr dirty="0"/>
              <a:t>(CSIT</a:t>
            </a:r>
            <a:r>
              <a:rPr dirty="0" spc="70"/>
              <a:t> </a:t>
            </a:r>
            <a:r>
              <a:rPr dirty="0"/>
              <a:t>-</a:t>
            </a:r>
            <a:r>
              <a:rPr dirty="0" spc="60"/>
              <a:t> </a:t>
            </a:r>
            <a:r>
              <a:rPr dirty="0" spc="-20"/>
              <a:t>UoB)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648358" y="3351784"/>
            <a:ext cx="89217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Linearity</a:t>
            </a:r>
            <a:r>
              <a:rPr dirty="0" sz="600" spc="-5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and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Convolution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675"/>
              </a:lnSpc>
            </a:pPr>
            <a:r>
              <a:rPr dirty="0"/>
              <a:t>June</a:t>
            </a:r>
            <a:r>
              <a:rPr dirty="0" spc="-5"/>
              <a:t> </a:t>
            </a:r>
            <a:r>
              <a:rPr dirty="0"/>
              <a:t>17,</a:t>
            </a:r>
            <a:r>
              <a:rPr dirty="0" spc="-5"/>
              <a:t> </a:t>
            </a:r>
            <a:r>
              <a:rPr dirty="0" spc="-20"/>
              <a:t>2026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8105">
              <a:lnSpc>
                <a:spcPts val="675"/>
              </a:lnSpc>
            </a:pPr>
            <a:fld id="{81D60167-4931-47E6-BA6A-407CBD079E47}" type="slidenum">
              <a:rPr dirty="0"/>
              <a:t>1</a:t>
            </a:fld>
            <a:r>
              <a:rPr dirty="0" spc="15"/>
              <a:t> </a:t>
            </a:r>
            <a:r>
              <a:rPr dirty="0" spc="90"/>
              <a:t>/</a:t>
            </a:r>
            <a:r>
              <a:rPr dirty="0" spc="15"/>
              <a:t> </a:t>
            </a:r>
            <a:r>
              <a:rPr dirty="0" spc="-25"/>
              <a:t>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14943"/>
            <a:ext cx="912494" cy="45402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400" spc="-40">
                <a:solidFill>
                  <a:srgbClr val="FFFFFF"/>
                </a:solidFill>
                <a:latin typeface="Arial MT"/>
                <a:cs typeface="Arial MT"/>
              </a:rPr>
              <a:t>Convolution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>
                <a:solidFill>
                  <a:srgbClr val="FFFFFF"/>
                </a:solidFill>
                <a:latin typeface="Tahoma"/>
                <a:cs typeface="Tahoma"/>
              </a:rPr>
              <a:t>Filtering</a:t>
            </a:r>
            <a:r>
              <a:rPr dirty="0" sz="900" spc="-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FFFFFF"/>
                </a:solidFill>
                <a:latin typeface="Tahoma"/>
                <a:cs typeface="Tahoma"/>
              </a:rPr>
              <a:t>an</a:t>
            </a:r>
            <a:r>
              <a:rPr dirty="0" sz="900" spc="-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FFFFFF"/>
                </a:solidFill>
                <a:latin typeface="Tahoma"/>
                <a:cs typeface="Tahoma"/>
              </a:rPr>
              <a:t>image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004951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2788" y="1237246"/>
            <a:ext cx="3867150" cy="1455420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45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320"/>
              <a:t> </a:t>
            </a:r>
            <a:r>
              <a:rPr dirty="0"/>
              <a:t>(CSIT</a:t>
            </a:r>
            <a:r>
              <a:rPr dirty="0" spc="70"/>
              <a:t> </a:t>
            </a:r>
            <a:r>
              <a:rPr dirty="0"/>
              <a:t>-</a:t>
            </a:r>
            <a:r>
              <a:rPr dirty="0" spc="60"/>
              <a:t> </a:t>
            </a:r>
            <a:r>
              <a:rPr dirty="0" spc="-20"/>
              <a:t>UoB)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648358" y="3351784"/>
            <a:ext cx="89217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Linearity</a:t>
            </a:r>
            <a:r>
              <a:rPr dirty="0" sz="600" spc="-5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and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Convolution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675"/>
              </a:lnSpc>
            </a:pPr>
            <a:r>
              <a:rPr dirty="0"/>
              <a:t>June</a:t>
            </a:r>
            <a:r>
              <a:rPr dirty="0" spc="-5"/>
              <a:t> </a:t>
            </a:r>
            <a:r>
              <a:rPr dirty="0"/>
              <a:t>17,</a:t>
            </a:r>
            <a:r>
              <a:rPr dirty="0" spc="-5"/>
              <a:t> </a:t>
            </a:r>
            <a:r>
              <a:rPr dirty="0" spc="-20"/>
              <a:t>2026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8105">
              <a:lnSpc>
                <a:spcPts val="675"/>
              </a:lnSpc>
            </a:pPr>
            <a:fld id="{81D60167-4931-47E6-BA6A-407CBD079E47}" type="slidenum">
              <a:rPr dirty="0"/>
              <a:t>1</a:t>
            </a:fld>
            <a:r>
              <a:rPr dirty="0" spc="15"/>
              <a:t> </a:t>
            </a:r>
            <a:r>
              <a:rPr dirty="0" spc="90"/>
              <a:t>/</a:t>
            </a:r>
            <a:r>
              <a:rPr dirty="0" spc="15"/>
              <a:t> </a:t>
            </a:r>
            <a:r>
              <a:rPr dirty="0" spc="-25"/>
              <a:t>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14943"/>
            <a:ext cx="912494" cy="45402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400" spc="-40">
                <a:solidFill>
                  <a:srgbClr val="FFFFFF"/>
                </a:solidFill>
                <a:latin typeface="Arial MT"/>
                <a:cs typeface="Arial MT"/>
              </a:rPr>
              <a:t>Convolution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>
                <a:solidFill>
                  <a:srgbClr val="FFFFFF"/>
                </a:solidFill>
                <a:latin typeface="Tahoma"/>
                <a:cs typeface="Tahoma"/>
              </a:rPr>
              <a:t>Filtering</a:t>
            </a:r>
            <a:r>
              <a:rPr dirty="0" sz="900" spc="-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FFFFFF"/>
                </a:solidFill>
                <a:latin typeface="Tahoma"/>
                <a:cs typeface="Tahoma"/>
              </a:rPr>
              <a:t>an</a:t>
            </a:r>
            <a:r>
              <a:rPr dirty="0" sz="900" spc="-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FFFFFF"/>
                </a:solidFill>
                <a:latin typeface="Tahoma"/>
                <a:cs typeface="Tahoma"/>
              </a:rPr>
              <a:t>image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004951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2788" y="1237246"/>
            <a:ext cx="3863340" cy="1455420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45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320"/>
              <a:t> </a:t>
            </a:r>
            <a:r>
              <a:rPr dirty="0"/>
              <a:t>(CSIT</a:t>
            </a:r>
            <a:r>
              <a:rPr dirty="0" spc="70"/>
              <a:t> </a:t>
            </a:r>
            <a:r>
              <a:rPr dirty="0"/>
              <a:t>-</a:t>
            </a:r>
            <a:r>
              <a:rPr dirty="0" spc="60"/>
              <a:t> </a:t>
            </a:r>
            <a:r>
              <a:rPr dirty="0" spc="-20"/>
              <a:t>UoB)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648358" y="3351784"/>
            <a:ext cx="89217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Linearity</a:t>
            </a:r>
            <a:r>
              <a:rPr dirty="0" sz="600" spc="-5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and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Convolution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675"/>
              </a:lnSpc>
            </a:pPr>
            <a:r>
              <a:rPr dirty="0"/>
              <a:t>June</a:t>
            </a:r>
            <a:r>
              <a:rPr dirty="0" spc="-5"/>
              <a:t> </a:t>
            </a:r>
            <a:r>
              <a:rPr dirty="0"/>
              <a:t>17,</a:t>
            </a:r>
            <a:r>
              <a:rPr dirty="0" spc="-5"/>
              <a:t> </a:t>
            </a:r>
            <a:r>
              <a:rPr dirty="0" spc="-20"/>
              <a:t>2026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8105">
              <a:lnSpc>
                <a:spcPts val="675"/>
              </a:lnSpc>
            </a:pPr>
            <a:fld id="{81D60167-4931-47E6-BA6A-407CBD079E47}" type="slidenum">
              <a:rPr dirty="0"/>
              <a:t>1</a:t>
            </a:fld>
            <a:r>
              <a:rPr dirty="0" spc="15"/>
              <a:t> </a:t>
            </a:r>
            <a:r>
              <a:rPr dirty="0" spc="90"/>
              <a:t>/</a:t>
            </a:r>
            <a:r>
              <a:rPr dirty="0" spc="15"/>
              <a:t> </a:t>
            </a:r>
            <a:r>
              <a:rPr dirty="0" spc="-25"/>
              <a:t>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14943"/>
            <a:ext cx="912494" cy="45402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400" spc="-40">
                <a:solidFill>
                  <a:srgbClr val="FFFFFF"/>
                </a:solidFill>
                <a:latin typeface="Arial MT"/>
                <a:cs typeface="Arial MT"/>
              </a:rPr>
              <a:t>Convolution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>
                <a:solidFill>
                  <a:srgbClr val="FFFFFF"/>
                </a:solidFill>
                <a:latin typeface="Tahoma"/>
                <a:cs typeface="Tahoma"/>
              </a:rPr>
              <a:t>Filtering</a:t>
            </a:r>
            <a:r>
              <a:rPr dirty="0" sz="900" spc="-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FFFFFF"/>
                </a:solidFill>
                <a:latin typeface="Tahoma"/>
                <a:cs typeface="Tahoma"/>
              </a:rPr>
              <a:t>an</a:t>
            </a:r>
            <a:r>
              <a:rPr dirty="0" sz="900" spc="-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FFFFFF"/>
                </a:solidFill>
                <a:latin typeface="Tahoma"/>
                <a:cs typeface="Tahoma"/>
              </a:rPr>
              <a:t>image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004951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2788" y="1237246"/>
            <a:ext cx="3870960" cy="1455420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45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320"/>
              <a:t> </a:t>
            </a:r>
            <a:r>
              <a:rPr dirty="0"/>
              <a:t>(CSIT</a:t>
            </a:r>
            <a:r>
              <a:rPr dirty="0" spc="70"/>
              <a:t> </a:t>
            </a:r>
            <a:r>
              <a:rPr dirty="0"/>
              <a:t>-</a:t>
            </a:r>
            <a:r>
              <a:rPr dirty="0" spc="60"/>
              <a:t> </a:t>
            </a:r>
            <a:r>
              <a:rPr dirty="0" spc="-20"/>
              <a:t>UoB)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648358" y="3351784"/>
            <a:ext cx="89217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Linearity</a:t>
            </a:r>
            <a:r>
              <a:rPr dirty="0" sz="600" spc="-5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and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Convolution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675"/>
              </a:lnSpc>
            </a:pPr>
            <a:r>
              <a:rPr dirty="0"/>
              <a:t>June</a:t>
            </a:r>
            <a:r>
              <a:rPr dirty="0" spc="-5"/>
              <a:t> </a:t>
            </a:r>
            <a:r>
              <a:rPr dirty="0"/>
              <a:t>17,</a:t>
            </a:r>
            <a:r>
              <a:rPr dirty="0" spc="-5"/>
              <a:t> </a:t>
            </a:r>
            <a:r>
              <a:rPr dirty="0" spc="-20"/>
              <a:t>2026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8105">
              <a:lnSpc>
                <a:spcPts val="675"/>
              </a:lnSpc>
            </a:pPr>
            <a:fld id="{81D60167-4931-47E6-BA6A-407CBD079E47}" type="slidenum">
              <a:rPr dirty="0"/>
              <a:t>1</a:t>
            </a:fld>
            <a:r>
              <a:rPr dirty="0" spc="15"/>
              <a:t> </a:t>
            </a:r>
            <a:r>
              <a:rPr dirty="0" spc="90"/>
              <a:t>/</a:t>
            </a:r>
            <a:r>
              <a:rPr dirty="0" spc="15"/>
              <a:t> </a:t>
            </a:r>
            <a:r>
              <a:rPr dirty="0" spc="-25"/>
              <a:t>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14943"/>
            <a:ext cx="912494" cy="45402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400" spc="-40">
                <a:solidFill>
                  <a:srgbClr val="FFFFFF"/>
                </a:solidFill>
                <a:latin typeface="Arial MT"/>
                <a:cs typeface="Arial MT"/>
              </a:rPr>
              <a:t>Convolution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>
                <a:solidFill>
                  <a:srgbClr val="FFFFFF"/>
                </a:solidFill>
                <a:latin typeface="Tahoma"/>
                <a:cs typeface="Tahoma"/>
              </a:rPr>
              <a:t>Filtering</a:t>
            </a:r>
            <a:r>
              <a:rPr dirty="0" sz="900" spc="-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FFFFFF"/>
                </a:solidFill>
                <a:latin typeface="Tahoma"/>
                <a:cs typeface="Tahoma"/>
              </a:rPr>
              <a:t>an</a:t>
            </a:r>
            <a:r>
              <a:rPr dirty="0" sz="900" spc="-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FFFFFF"/>
                </a:solidFill>
                <a:latin typeface="Tahoma"/>
                <a:cs typeface="Tahoma"/>
              </a:rPr>
              <a:t>image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004951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2788" y="1237246"/>
            <a:ext cx="3870960" cy="1455420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45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320"/>
              <a:t> </a:t>
            </a:r>
            <a:r>
              <a:rPr dirty="0"/>
              <a:t>(CSIT</a:t>
            </a:r>
            <a:r>
              <a:rPr dirty="0" spc="70"/>
              <a:t> </a:t>
            </a:r>
            <a:r>
              <a:rPr dirty="0"/>
              <a:t>-</a:t>
            </a:r>
            <a:r>
              <a:rPr dirty="0" spc="60"/>
              <a:t> </a:t>
            </a:r>
            <a:r>
              <a:rPr dirty="0" spc="-20"/>
              <a:t>UoB)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648358" y="3351784"/>
            <a:ext cx="89217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Linearity</a:t>
            </a:r>
            <a:r>
              <a:rPr dirty="0" sz="600" spc="-5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and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Convolution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675"/>
              </a:lnSpc>
            </a:pPr>
            <a:r>
              <a:rPr dirty="0"/>
              <a:t>June</a:t>
            </a:r>
            <a:r>
              <a:rPr dirty="0" spc="-5"/>
              <a:t> </a:t>
            </a:r>
            <a:r>
              <a:rPr dirty="0"/>
              <a:t>17,</a:t>
            </a:r>
            <a:r>
              <a:rPr dirty="0" spc="-5"/>
              <a:t> </a:t>
            </a:r>
            <a:r>
              <a:rPr dirty="0" spc="-20"/>
              <a:t>2026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8105">
              <a:lnSpc>
                <a:spcPts val="675"/>
              </a:lnSpc>
            </a:pPr>
            <a:fld id="{81D60167-4931-47E6-BA6A-407CBD079E47}" type="slidenum">
              <a:rPr dirty="0"/>
              <a:t>1</a:t>
            </a:fld>
            <a:r>
              <a:rPr dirty="0" spc="15"/>
              <a:t> </a:t>
            </a:r>
            <a:r>
              <a:rPr dirty="0" spc="90"/>
              <a:t>/</a:t>
            </a:r>
            <a:r>
              <a:rPr dirty="0" spc="15"/>
              <a:t> </a:t>
            </a:r>
            <a:r>
              <a:rPr dirty="0" spc="-25"/>
              <a:t>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14943"/>
            <a:ext cx="912494" cy="45402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400" spc="-40">
                <a:solidFill>
                  <a:srgbClr val="FFFFFF"/>
                </a:solidFill>
                <a:latin typeface="Arial MT"/>
                <a:cs typeface="Arial MT"/>
              </a:rPr>
              <a:t>Convolution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>
                <a:solidFill>
                  <a:srgbClr val="FFFFFF"/>
                </a:solidFill>
                <a:latin typeface="Tahoma"/>
                <a:cs typeface="Tahoma"/>
              </a:rPr>
              <a:t>Filtering</a:t>
            </a:r>
            <a:r>
              <a:rPr dirty="0" sz="900" spc="-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FFFFFF"/>
                </a:solidFill>
                <a:latin typeface="Tahoma"/>
                <a:cs typeface="Tahoma"/>
              </a:rPr>
              <a:t>an</a:t>
            </a:r>
            <a:r>
              <a:rPr dirty="0" sz="900" spc="-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FFFFFF"/>
                </a:solidFill>
                <a:latin typeface="Tahoma"/>
                <a:cs typeface="Tahoma"/>
              </a:rPr>
              <a:t>image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004951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2788" y="1237246"/>
            <a:ext cx="3870960" cy="1455420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45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320"/>
              <a:t> </a:t>
            </a:r>
            <a:r>
              <a:rPr dirty="0"/>
              <a:t>(CSIT</a:t>
            </a:r>
            <a:r>
              <a:rPr dirty="0" spc="70"/>
              <a:t> </a:t>
            </a:r>
            <a:r>
              <a:rPr dirty="0"/>
              <a:t>-</a:t>
            </a:r>
            <a:r>
              <a:rPr dirty="0" spc="60"/>
              <a:t> </a:t>
            </a:r>
            <a:r>
              <a:rPr dirty="0" spc="-20"/>
              <a:t>UoB)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648358" y="3351784"/>
            <a:ext cx="89217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Linearity</a:t>
            </a:r>
            <a:r>
              <a:rPr dirty="0" sz="600" spc="-5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and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Convolution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675"/>
              </a:lnSpc>
            </a:pPr>
            <a:r>
              <a:rPr dirty="0"/>
              <a:t>June</a:t>
            </a:r>
            <a:r>
              <a:rPr dirty="0" spc="-5"/>
              <a:t> </a:t>
            </a:r>
            <a:r>
              <a:rPr dirty="0"/>
              <a:t>17,</a:t>
            </a:r>
            <a:r>
              <a:rPr dirty="0" spc="-5"/>
              <a:t> </a:t>
            </a:r>
            <a:r>
              <a:rPr dirty="0" spc="-20"/>
              <a:t>2026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8105">
              <a:lnSpc>
                <a:spcPts val="675"/>
              </a:lnSpc>
            </a:pPr>
            <a:fld id="{81D60167-4931-47E6-BA6A-407CBD079E47}" type="slidenum">
              <a:rPr dirty="0"/>
              <a:t>1</a:t>
            </a:fld>
            <a:r>
              <a:rPr dirty="0" spc="15"/>
              <a:t> </a:t>
            </a:r>
            <a:r>
              <a:rPr dirty="0" spc="90"/>
              <a:t>/</a:t>
            </a:r>
            <a:r>
              <a:rPr dirty="0" spc="15"/>
              <a:t> </a:t>
            </a:r>
            <a:r>
              <a:rPr dirty="0" spc="-25"/>
              <a:t>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14943"/>
            <a:ext cx="912494" cy="45402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400" spc="-40">
                <a:solidFill>
                  <a:srgbClr val="FFFFFF"/>
                </a:solidFill>
                <a:latin typeface="Arial MT"/>
                <a:cs typeface="Arial MT"/>
              </a:rPr>
              <a:t>Convolution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>
                <a:solidFill>
                  <a:srgbClr val="FFFFFF"/>
                </a:solidFill>
                <a:latin typeface="Tahoma"/>
                <a:cs typeface="Tahoma"/>
              </a:rPr>
              <a:t>Filtering</a:t>
            </a:r>
            <a:r>
              <a:rPr dirty="0" sz="900" spc="-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FFFFFF"/>
                </a:solidFill>
                <a:latin typeface="Tahoma"/>
                <a:cs typeface="Tahoma"/>
              </a:rPr>
              <a:t>an</a:t>
            </a:r>
            <a:r>
              <a:rPr dirty="0" sz="900" spc="-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FFFFFF"/>
                </a:solidFill>
                <a:latin typeface="Tahoma"/>
                <a:cs typeface="Tahoma"/>
              </a:rPr>
              <a:t>image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004951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2788" y="1237246"/>
            <a:ext cx="3863340" cy="1455420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45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320"/>
              <a:t> </a:t>
            </a:r>
            <a:r>
              <a:rPr dirty="0"/>
              <a:t>(CSIT</a:t>
            </a:r>
            <a:r>
              <a:rPr dirty="0" spc="70"/>
              <a:t> </a:t>
            </a:r>
            <a:r>
              <a:rPr dirty="0"/>
              <a:t>-</a:t>
            </a:r>
            <a:r>
              <a:rPr dirty="0" spc="60"/>
              <a:t> </a:t>
            </a:r>
            <a:r>
              <a:rPr dirty="0" spc="-20"/>
              <a:t>UoB)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648358" y="3351784"/>
            <a:ext cx="89217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Linearity</a:t>
            </a:r>
            <a:r>
              <a:rPr dirty="0" sz="600" spc="-5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and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Convolution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675"/>
              </a:lnSpc>
            </a:pPr>
            <a:r>
              <a:rPr dirty="0"/>
              <a:t>June</a:t>
            </a:r>
            <a:r>
              <a:rPr dirty="0" spc="-5"/>
              <a:t> </a:t>
            </a:r>
            <a:r>
              <a:rPr dirty="0"/>
              <a:t>17,</a:t>
            </a:r>
            <a:r>
              <a:rPr dirty="0" spc="-5"/>
              <a:t> </a:t>
            </a:r>
            <a:r>
              <a:rPr dirty="0" spc="-20"/>
              <a:t>2026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8105">
              <a:lnSpc>
                <a:spcPts val="675"/>
              </a:lnSpc>
            </a:pPr>
            <a:fld id="{81D60167-4931-47E6-BA6A-407CBD079E47}" type="slidenum">
              <a:rPr dirty="0"/>
              <a:t>1</a:t>
            </a:fld>
            <a:r>
              <a:rPr dirty="0" spc="15"/>
              <a:t> </a:t>
            </a:r>
            <a:r>
              <a:rPr dirty="0" spc="90"/>
              <a:t>/</a:t>
            </a:r>
            <a:r>
              <a:rPr dirty="0" spc="15"/>
              <a:t> </a:t>
            </a:r>
            <a:r>
              <a:rPr dirty="0" spc="-25"/>
              <a:t>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45"/>
              <a:t>Contents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0" y="883818"/>
            <a:ext cx="160096" cy="16009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9743" y="883156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FAFAFD"/>
                </a:solidFill>
                <a:latin typeface="Tahoma"/>
                <a:cs typeface="Tahoma"/>
              </a:rPr>
              <a:t>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5173" y="855724"/>
            <a:ext cx="10744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solidFill>
                  <a:srgbClr val="D6D6EF"/>
                </a:solidFill>
                <a:latin typeface="Tahoma"/>
                <a:cs typeface="Tahoma"/>
                <a:hlinkClick r:id="rId3" action="ppaction://hlinksldjump"/>
              </a:rPr>
              <a:t>Filtering</a:t>
            </a:r>
            <a:r>
              <a:rPr dirty="0" sz="1100" spc="-75">
                <a:solidFill>
                  <a:srgbClr val="D6D6E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1100">
                <a:solidFill>
                  <a:srgbClr val="D6D6EF"/>
                </a:solidFill>
                <a:latin typeface="Tahoma"/>
                <a:cs typeface="Tahoma"/>
                <a:hlinkClick r:id="rId3" action="ppaction://hlinksldjump"/>
              </a:rPr>
              <a:t>an</a:t>
            </a:r>
            <a:r>
              <a:rPr dirty="0" sz="1100" spc="-65">
                <a:solidFill>
                  <a:srgbClr val="D6D6E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1100" spc="-45">
                <a:solidFill>
                  <a:srgbClr val="D6D6EF"/>
                </a:solidFill>
                <a:latin typeface="Tahoma"/>
                <a:cs typeface="Tahoma"/>
                <a:hlinkClick r:id="rId3" action="ppaction://hlinksldjump"/>
              </a:rPr>
              <a:t>image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280" y="1315605"/>
            <a:ext cx="160096" cy="16009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9743" y="1314944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EAEAF7"/>
                </a:solidFill>
                <a:latin typeface="Tahoma"/>
                <a:cs typeface="Tahoma"/>
              </a:rPr>
              <a:t>2</a:t>
            </a:r>
            <a:endParaRPr sz="8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9582" y="1539405"/>
            <a:ext cx="65265" cy="6526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19582" y="1711477"/>
            <a:ext cx="65265" cy="6526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95173" y="1287512"/>
            <a:ext cx="1560830" cy="53594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51130" marR="5080" indent="-139065">
              <a:lnSpc>
                <a:spcPct val="102600"/>
              </a:lnSpc>
              <a:spcBef>
                <a:spcPts val="55"/>
              </a:spcBef>
            </a:pPr>
            <a:r>
              <a:rPr dirty="0" sz="1100" spc="-30">
                <a:solidFill>
                  <a:srgbClr val="3333B2"/>
                </a:solidFill>
                <a:latin typeface="Tahoma"/>
                <a:cs typeface="Tahoma"/>
                <a:hlinkClick r:id="rId7" action="ppaction://hlinksldjump"/>
              </a:rPr>
              <a:t>Correlation </a:t>
            </a:r>
            <a:r>
              <a:rPr dirty="0" sz="1100" spc="-20">
                <a:solidFill>
                  <a:srgbClr val="3333B2"/>
                </a:solidFill>
                <a:latin typeface="Tahoma"/>
                <a:cs typeface="Tahoma"/>
                <a:hlinkClick r:id="rId7" action="ppaction://hlinksldjump"/>
              </a:rPr>
              <a:t>vs</a:t>
            </a:r>
            <a:r>
              <a:rPr dirty="0" sz="1100" spc="-30">
                <a:solidFill>
                  <a:srgbClr val="3333B2"/>
                </a:solidFill>
                <a:latin typeface="Tahoma"/>
                <a:cs typeface="Tahoma"/>
                <a:hlinkClick r:id="rId7" action="ppaction://hlinksldjump"/>
              </a:rPr>
              <a:t> Convolution</a:t>
            </a:r>
            <a:r>
              <a:rPr dirty="0" sz="1100" spc="-3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  <a:hlinkClick r:id="rId8" action="ppaction://hlinksldjump"/>
              </a:rPr>
              <a:t>Correlation</a:t>
            </a:r>
            <a:endParaRPr sz="1100">
              <a:latin typeface="Tahoma"/>
              <a:cs typeface="Tahoma"/>
            </a:endParaRPr>
          </a:p>
          <a:p>
            <a:pPr marL="151130">
              <a:lnSpc>
                <a:spcPct val="100000"/>
              </a:lnSpc>
              <a:spcBef>
                <a:spcPts val="35"/>
              </a:spcBef>
            </a:pPr>
            <a:r>
              <a:rPr dirty="0" sz="1100" spc="-10">
                <a:latin typeface="Tahoma"/>
                <a:cs typeface="Tahoma"/>
                <a:hlinkClick r:id="rId9" action="ppaction://hlinksldjump"/>
              </a:rPr>
              <a:t>Convolution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9280" y="2091537"/>
            <a:ext cx="160096" cy="160096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29743" y="2090876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FAFAFD"/>
                </a:solidFill>
                <a:latin typeface="Tahoma"/>
                <a:cs typeface="Tahoma"/>
              </a:rPr>
              <a:t>3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5173" y="2063444"/>
            <a:ext cx="11360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Boundary</a:t>
            </a:r>
            <a:r>
              <a:rPr dirty="0" sz="1100" spc="-35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1100" spc="-50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problems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9280" y="2523312"/>
            <a:ext cx="160096" cy="160096"/>
          </a:xfrm>
          <a:prstGeom prst="rect">
            <a:avLst/>
          </a:prstGeom>
        </p:spPr>
      </p:pic>
      <p:grpSp>
        <p:nvGrpSpPr>
          <p:cNvPr id="16" name="object 1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7" name="object 17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295173" y="2528608"/>
            <a:ext cx="742950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 spc="-25">
                <a:solidFill>
                  <a:srgbClr val="D6D6EF"/>
                </a:solidFill>
                <a:latin typeface="Tahoma"/>
                <a:cs typeface="Tahoma"/>
                <a:hlinkClick r:id="rId13" action="ppaction://hlinksldjump"/>
              </a:rPr>
              <a:t>Linear</a:t>
            </a:r>
            <a:r>
              <a:rPr dirty="0" sz="1100" spc="-45">
                <a:solidFill>
                  <a:srgbClr val="D6D6EF"/>
                </a:solidFill>
                <a:latin typeface="Tahoma"/>
                <a:cs typeface="Tahoma"/>
                <a:hlinkClick r:id="rId13" action="ppaction://hlinksldjump"/>
              </a:rPr>
              <a:t> </a:t>
            </a:r>
            <a:r>
              <a:rPr dirty="0" sz="1100" spc="-20">
                <a:solidFill>
                  <a:srgbClr val="D6D6EF"/>
                </a:solidFill>
                <a:latin typeface="Tahoma"/>
                <a:cs typeface="Tahoma"/>
                <a:hlinkClick r:id="rId13" action="ppaction://hlinksldjump"/>
              </a:rPr>
              <a:t>filters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9743" y="2546855"/>
            <a:ext cx="79375" cy="1282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 sz="800" spc="-50">
                <a:solidFill>
                  <a:srgbClr val="FAFAFD"/>
                </a:solidFill>
                <a:latin typeface="Tahoma"/>
                <a:cs typeface="Tahoma"/>
              </a:rPr>
              <a:t>4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45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32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0"/>
              <a:t> </a:t>
            </a:r>
            <a:r>
              <a:rPr dirty="0" spc="-20"/>
              <a:t>UoB)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648358" y="3351784"/>
            <a:ext cx="89217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Linearity</a:t>
            </a:r>
            <a:r>
              <a:rPr dirty="0" sz="600" spc="-5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and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Convolution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675"/>
              </a:lnSpc>
            </a:pPr>
            <a:r>
              <a:rPr dirty="0"/>
              <a:t>June</a:t>
            </a:r>
            <a:r>
              <a:rPr dirty="0" spc="-5"/>
              <a:t> </a:t>
            </a:r>
            <a:r>
              <a:rPr dirty="0"/>
              <a:t>17,</a:t>
            </a:r>
            <a:r>
              <a:rPr dirty="0" spc="-5"/>
              <a:t> </a:t>
            </a:r>
            <a:r>
              <a:rPr dirty="0" spc="-20"/>
              <a:t>2026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4358614" y="3351784"/>
            <a:ext cx="24066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9</a:t>
            </a:r>
            <a:r>
              <a:rPr dirty="0" sz="600" spc="1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 spc="9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dirty="0" sz="600" spc="1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ahoma"/>
                <a:cs typeface="Tahoma"/>
              </a:rPr>
              <a:t>26</a:t>
            </a:r>
            <a:endParaRPr sz="6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45"/>
              <a:t>Contents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0" y="883818"/>
            <a:ext cx="160096" cy="16009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9743" y="883156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FAFAFD"/>
                </a:solidFill>
                <a:latin typeface="Tahoma"/>
                <a:cs typeface="Tahoma"/>
              </a:rPr>
              <a:t>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5173" y="855724"/>
            <a:ext cx="10744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solidFill>
                  <a:srgbClr val="D6D6EF"/>
                </a:solidFill>
                <a:latin typeface="Tahoma"/>
                <a:cs typeface="Tahoma"/>
                <a:hlinkClick r:id="rId3" action="ppaction://hlinksldjump"/>
              </a:rPr>
              <a:t>Filtering</a:t>
            </a:r>
            <a:r>
              <a:rPr dirty="0" sz="1100" spc="-75">
                <a:solidFill>
                  <a:srgbClr val="D6D6E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1100">
                <a:solidFill>
                  <a:srgbClr val="D6D6EF"/>
                </a:solidFill>
                <a:latin typeface="Tahoma"/>
                <a:cs typeface="Tahoma"/>
                <a:hlinkClick r:id="rId3" action="ppaction://hlinksldjump"/>
              </a:rPr>
              <a:t>an</a:t>
            </a:r>
            <a:r>
              <a:rPr dirty="0" sz="1100" spc="-65">
                <a:solidFill>
                  <a:srgbClr val="D6D6E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1100" spc="-45">
                <a:solidFill>
                  <a:srgbClr val="D6D6EF"/>
                </a:solidFill>
                <a:latin typeface="Tahoma"/>
                <a:cs typeface="Tahoma"/>
                <a:hlinkClick r:id="rId3" action="ppaction://hlinksldjump"/>
              </a:rPr>
              <a:t>image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280" y="1315605"/>
            <a:ext cx="160096" cy="16009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9743" y="1314944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EAEAF7"/>
                </a:solidFill>
                <a:latin typeface="Tahoma"/>
                <a:cs typeface="Tahoma"/>
              </a:rPr>
              <a:t>2</a:t>
            </a:r>
            <a:endParaRPr sz="8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9582" y="1539405"/>
            <a:ext cx="65265" cy="6526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19582" y="1711477"/>
            <a:ext cx="65265" cy="6526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95173" y="1287512"/>
            <a:ext cx="1560830" cy="53594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51130" marR="5080" indent="-139065">
              <a:lnSpc>
                <a:spcPct val="102600"/>
              </a:lnSpc>
              <a:spcBef>
                <a:spcPts val="55"/>
              </a:spcBef>
            </a:pPr>
            <a:r>
              <a:rPr dirty="0" sz="1100" spc="-30">
                <a:solidFill>
                  <a:srgbClr val="3333B2"/>
                </a:solidFill>
                <a:latin typeface="Tahoma"/>
                <a:cs typeface="Tahoma"/>
                <a:hlinkClick r:id="rId7" action="ppaction://hlinksldjump"/>
              </a:rPr>
              <a:t>Correlation </a:t>
            </a:r>
            <a:r>
              <a:rPr dirty="0" sz="1100" spc="-20">
                <a:solidFill>
                  <a:srgbClr val="3333B2"/>
                </a:solidFill>
                <a:latin typeface="Tahoma"/>
                <a:cs typeface="Tahoma"/>
                <a:hlinkClick r:id="rId7" action="ppaction://hlinksldjump"/>
              </a:rPr>
              <a:t>vs</a:t>
            </a:r>
            <a:r>
              <a:rPr dirty="0" sz="1100" spc="-30">
                <a:solidFill>
                  <a:srgbClr val="3333B2"/>
                </a:solidFill>
                <a:latin typeface="Tahoma"/>
                <a:cs typeface="Tahoma"/>
                <a:hlinkClick r:id="rId7" action="ppaction://hlinksldjump"/>
              </a:rPr>
              <a:t> Convolution</a:t>
            </a:r>
            <a:r>
              <a:rPr dirty="0" sz="1100" spc="-3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  <a:hlinkClick r:id="rId8" action="ppaction://hlinksldjump"/>
              </a:rPr>
              <a:t>Correlation</a:t>
            </a:r>
            <a:endParaRPr sz="1100">
              <a:latin typeface="Tahoma"/>
              <a:cs typeface="Tahoma"/>
            </a:endParaRPr>
          </a:p>
          <a:p>
            <a:pPr marL="151130">
              <a:lnSpc>
                <a:spcPct val="100000"/>
              </a:lnSpc>
              <a:spcBef>
                <a:spcPts val="35"/>
              </a:spcBef>
            </a:pPr>
            <a:r>
              <a:rPr dirty="0" sz="1100" spc="-10">
                <a:solidFill>
                  <a:srgbClr val="CCCCCC"/>
                </a:solidFill>
                <a:latin typeface="Tahoma"/>
                <a:cs typeface="Tahoma"/>
                <a:hlinkClick r:id="rId9" action="ppaction://hlinksldjump"/>
              </a:rPr>
              <a:t>Convolution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9280" y="2091537"/>
            <a:ext cx="160096" cy="160096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29743" y="2090876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FAFAFD"/>
                </a:solidFill>
                <a:latin typeface="Tahoma"/>
                <a:cs typeface="Tahoma"/>
              </a:rPr>
              <a:t>3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5173" y="2063444"/>
            <a:ext cx="11360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Boundary</a:t>
            </a:r>
            <a:r>
              <a:rPr dirty="0" sz="1100" spc="-35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1100" spc="-50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problems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9280" y="2523312"/>
            <a:ext cx="160096" cy="160096"/>
          </a:xfrm>
          <a:prstGeom prst="rect">
            <a:avLst/>
          </a:prstGeom>
        </p:spPr>
      </p:pic>
      <p:grpSp>
        <p:nvGrpSpPr>
          <p:cNvPr id="16" name="object 1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7" name="object 17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295173" y="2528608"/>
            <a:ext cx="742950" cy="1657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100" spc="-25">
                <a:solidFill>
                  <a:srgbClr val="D6D6EF"/>
                </a:solidFill>
                <a:latin typeface="Tahoma"/>
                <a:cs typeface="Tahoma"/>
                <a:hlinkClick r:id="rId13" action="ppaction://hlinksldjump"/>
              </a:rPr>
              <a:t>Linear</a:t>
            </a:r>
            <a:r>
              <a:rPr dirty="0" sz="1100" spc="-45">
                <a:solidFill>
                  <a:srgbClr val="D6D6EF"/>
                </a:solidFill>
                <a:latin typeface="Tahoma"/>
                <a:cs typeface="Tahoma"/>
                <a:hlinkClick r:id="rId13" action="ppaction://hlinksldjump"/>
              </a:rPr>
              <a:t> </a:t>
            </a:r>
            <a:r>
              <a:rPr dirty="0" sz="1100" spc="-20">
                <a:solidFill>
                  <a:srgbClr val="D6D6EF"/>
                </a:solidFill>
                <a:latin typeface="Tahoma"/>
                <a:cs typeface="Tahoma"/>
                <a:hlinkClick r:id="rId13" action="ppaction://hlinksldjump"/>
              </a:rPr>
              <a:t>filters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9743" y="2546855"/>
            <a:ext cx="79375" cy="1282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5"/>
              </a:lnSpc>
            </a:pPr>
            <a:r>
              <a:rPr dirty="0" sz="800" spc="-50">
                <a:solidFill>
                  <a:srgbClr val="FAFAFD"/>
                </a:solidFill>
                <a:latin typeface="Tahoma"/>
                <a:cs typeface="Tahoma"/>
              </a:rPr>
              <a:t>4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45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32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0"/>
              <a:t> </a:t>
            </a:r>
            <a:r>
              <a:rPr dirty="0" spc="-20"/>
              <a:t>UoB)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648358" y="3351784"/>
            <a:ext cx="89217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Linearity</a:t>
            </a:r>
            <a:r>
              <a:rPr dirty="0" sz="600" spc="-5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and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Convolution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675"/>
              </a:lnSpc>
            </a:pPr>
            <a:r>
              <a:rPr dirty="0"/>
              <a:t>June</a:t>
            </a:r>
            <a:r>
              <a:rPr dirty="0" spc="-5"/>
              <a:t> </a:t>
            </a:r>
            <a:r>
              <a:rPr dirty="0"/>
              <a:t>17,</a:t>
            </a:r>
            <a:r>
              <a:rPr dirty="0" spc="-5"/>
              <a:t> </a:t>
            </a:r>
            <a:r>
              <a:rPr dirty="0" spc="-20"/>
              <a:t>2026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4358614" y="3351784"/>
            <a:ext cx="24066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9</a:t>
            </a:r>
            <a:r>
              <a:rPr dirty="0" sz="600" spc="1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 spc="9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dirty="0" sz="600" spc="1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ahoma"/>
                <a:cs typeface="Tahoma"/>
              </a:rPr>
              <a:t>26</a:t>
            </a:r>
            <a:endParaRPr sz="6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14943"/>
            <a:ext cx="1993264" cy="45402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400" spc="-35">
                <a:solidFill>
                  <a:srgbClr val="FFFFFF"/>
                </a:solidFill>
                <a:latin typeface="Arial MT"/>
                <a:cs typeface="Arial MT"/>
              </a:rPr>
              <a:t>Correlation</a:t>
            </a:r>
            <a:r>
              <a:rPr dirty="0" sz="14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00" spc="-50">
                <a:solidFill>
                  <a:srgbClr val="FFFFFF"/>
                </a:solidFill>
                <a:latin typeface="Arial MT"/>
                <a:cs typeface="Arial MT"/>
              </a:rPr>
              <a:t>vs</a:t>
            </a:r>
            <a:r>
              <a:rPr dirty="0" sz="14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00" spc="-35">
                <a:solidFill>
                  <a:srgbClr val="FFFFFF"/>
                </a:solidFill>
                <a:latin typeface="Arial MT"/>
                <a:cs typeface="Arial MT"/>
              </a:rPr>
              <a:t>Convolution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10">
                <a:solidFill>
                  <a:srgbClr val="FFFFFF"/>
                </a:solidFill>
                <a:latin typeface="Tahoma"/>
                <a:cs typeface="Tahoma"/>
              </a:rPr>
              <a:t>Correlation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863" y="796607"/>
            <a:ext cx="4103369" cy="227076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45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320"/>
              <a:t> </a:t>
            </a:r>
            <a:r>
              <a:rPr dirty="0"/>
              <a:t>(CSIT</a:t>
            </a:r>
            <a:r>
              <a:rPr dirty="0" spc="70"/>
              <a:t> </a:t>
            </a:r>
            <a:r>
              <a:rPr dirty="0"/>
              <a:t>-</a:t>
            </a:r>
            <a:r>
              <a:rPr dirty="0" spc="60"/>
              <a:t> </a:t>
            </a:r>
            <a:r>
              <a:rPr dirty="0" spc="-20"/>
              <a:t>UoB)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648358" y="3351784"/>
            <a:ext cx="89217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Linearity</a:t>
            </a:r>
            <a:r>
              <a:rPr dirty="0" sz="600" spc="-5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and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Convolution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June</a:t>
            </a:r>
            <a:r>
              <a:rPr dirty="0" spc="-5"/>
              <a:t> </a:t>
            </a:r>
            <a:r>
              <a:rPr dirty="0"/>
              <a:t>17,</a:t>
            </a:r>
            <a:r>
              <a:rPr dirty="0" spc="-5"/>
              <a:t> </a:t>
            </a:r>
            <a:r>
              <a:rPr dirty="0" spc="-20"/>
              <a:t>2026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10</a:t>
            </a:r>
            <a:r>
              <a:rPr dirty="0" spc="10"/>
              <a:t> </a:t>
            </a:r>
            <a:r>
              <a:rPr dirty="0" spc="90"/>
              <a:t>/</a:t>
            </a:r>
            <a:r>
              <a:rPr dirty="0" spc="10"/>
              <a:t> </a:t>
            </a:r>
            <a:r>
              <a:rPr dirty="0" spc="-25"/>
              <a:t>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1993264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5"/>
              <a:t>Correlation</a:t>
            </a:r>
            <a:r>
              <a:rPr dirty="0" spc="-15"/>
              <a:t> </a:t>
            </a:r>
            <a:r>
              <a:rPr dirty="0" spc="-50"/>
              <a:t>vs</a:t>
            </a:r>
            <a:r>
              <a:rPr dirty="0" spc="-10"/>
              <a:t> </a:t>
            </a:r>
            <a:r>
              <a:rPr dirty="0" spc="-35"/>
              <a:t>Convolution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647191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5300" y="306598"/>
            <a:ext cx="1194435" cy="4489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10">
                <a:solidFill>
                  <a:srgbClr val="FFFFFF"/>
                </a:solidFill>
                <a:latin typeface="Tahoma"/>
                <a:cs typeface="Tahoma"/>
              </a:rPr>
              <a:t>Correlation</a:t>
            </a:r>
            <a:endParaRPr sz="900">
              <a:latin typeface="Tahoma"/>
              <a:cs typeface="Tahoma"/>
            </a:endParaRPr>
          </a:p>
          <a:p>
            <a:pPr marL="320040">
              <a:lnSpc>
                <a:spcPct val="100000"/>
              </a:lnSpc>
              <a:spcBef>
                <a:spcPts val="940"/>
              </a:spcBef>
            </a:pPr>
            <a:r>
              <a:rPr dirty="0" sz="1100">
                <a:latin typeface="Tahoma"/>
                <a:cs typeface="Tahoma"/>
              </a:rPr>
              <a:t>1D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correlation.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67548" y="833728"/>
            <a:ext cx="6407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25">
                <a:latin typeface="Calibri"/>
                <a:cs typeface="Calibri"/>
              </a:rPr>
              <a:t>H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35">
                <a:latin typeface="Lucida Sans Unicode"/>
                <a:cs typeface="Lucida Sans Unicode"/>
              </a:rPr>
              <a:t>⊗</a:t>
            </a:r>
            <a:r>
              <a:rPr dirty="0" sz="1100" spc="-85">
                <a:latin typeface="Lucida Sans Unicode"/>
                <a:cs typeface="Lucida Sans Unicode"/>
              </a:rPr>
              <a:t> </a:t>
            </a:r>
            <a:r>
              <a:rPr dirty="0" sz="1100">
                <a:latin typeface="Calibri"/>
                <a:cs typeface="Calibri"/>
              </a:rPr>
              <a:t>F</a:t>
            </a:r>
            <a:r>
              <a:rPr dirty="0" sz="1100">
                <a:latin typeface="Tahoma"/>
                <a:cs typeface="Tahoma"/>
              </a:rPr>
              <a:t>(</a:t>
            </a:r>
            <a:r>
              <a:rPr dirty="0" sz="1100" i="1">
                <a:latin typeface="Arial"/>
                <a:cs typeface="Arial"/>
              </a:rPr>
              <a:t>i</a:t>
            </a:r>
            <a:r>
              <a:rPr dirty="0" sz="1100" spc="-190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)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35504" y="697863"/>
            <a:ext cx="10160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 i="1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21395" y="702105"/>
            <a:ext cx="329565" cy="4857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68580">
              <a:lnSpc>
                <a:spcPct val="100000"/>
              </a:lnSpc>
              <a:spcBef>
                <a:spcPts val="90"/>
              </a:spcBef>
            </a:pPr>
            <a:r>
              <a:rPr dirty="0" sz="1100" spc="869">
                <a:latin typeface="Lucida Sans Unicode"/>
                <a:cs typeface="Lucida Sans Unicode"/>
              </a:rPr>
              <a:t>Σ</a:t>
            </a:r>
            <a:endParaRPr sz="11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dirty="0" sz="800" spc="65" i="1">
                <a:latin typeface="Arial"/>
                <a:cs typeface="Arial"/>
              </a:rPr>
              <a:t>k</a:t>
            </a:r>
            <a:r>
              <a:rPr dirty="0" sz="800" spc="65">
                <a:latin typeface="Tahoma"/>
                <a:cs typeface="Tahoma"/>
              </a:rPr>
              <a:t>=</a:t>
            </a:r>
            <a:r>
              <a:rPr dirty="0" sz="800" spc="65" i="1">
                <a:latin typeface="Arial"/>
                <a:cs typeface="Arial"/>
              </a:rPr>
              <a:t>−N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56700" y="833728"/>
            <a:ext cx="7607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Calibri"/>
                <a:cs typeface="Calibri"/>
              </a:rPr>
              <a:t>H</a:t>
            </a:r>
            <a:r>
              <a:rPr dirty="0" sz="1100">
                <a:latin typeface="Tahoma"/>
                <a:cs typeface="Tahoma"/>
              </a:rPr>
              <a:t>(</a:t>
            </a:r>
            <a:r>
              <a:rPr dirty="0" sz="1100" i="1">
                <a:latin typeface="Arial"/>
                <a:cs typeface="Arial"/>
              </a:rPr>
              <a:t>k</a:t>
            </a:r>
            <a:r>
              <a:rPr dirty="0" sz="1100">
                <a:latin typeface="Tahoma"/>
                <a:cs typeface="Tahoma"/>
              </a:rPr>
              <a:t>)</a:t>
            </a:r>
            <a:r>
              <a:rPr dirty="0" sz="1100">
                <a:latin typeface="Calibri"/>
                <a:cs typeface="Calibri"/>
              </a:rPr>
              <a:t>F</a:t>
            </a:r>
            <a:r>
              <a:rPr dirty="0" sz="1100">
                <a:latin typeface="Tahoma"/>
                <a:cs typeface="Tahoma"/>
              </a:rPr>
              <a:t>(</a:t>
            </a:r>
            <a:r>
              <a:rPr dirty="0" sz="1100" i="1">
                <a:latin typeface="Arial"/>
                <a:cs typeface="Arial"/>
              </a:rPr>
              <a:t>i</a:t>
            </a:r>
            <a:r>
              <a:rPr dirty="0" sz="1100" spc="70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80">
                <a:latin typeface="Tahoma"/>
                <a:cs typeface="Tahoma"/>
              </a:rPr>
              <a:t> </a:t>
            </a:r>
            <a:r>
              <a:rPr dirty="0" sz="1100" spc="-25" i="1">
                <a:latin typeface="Arial"/>
                <a:cs typeface="Arial"/>
              </a:rPr>
              <a:t>k</a:t>
            </a:r>
            <a:r>
              <a:rPr dirty="0" sz="1100" spc="-25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264297"/>
            <a:ext cx="65265" cy="6526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02932" y="1180857"/>
            <a:ext cx="887094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Tahoma"/>
                <a:cs typeface="Tahoma"/>
              </a:rPr>
              <a:t>2D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correlation.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01546" y="1488794"/>
            <a:ext cx="50990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latin typeface="Calibri"/>
                <a:cs typeface="Calibri"/>
              </a:rPr>
              <a:t>G</a:t>
            </a:r>
            <a:r>
              <a:rPr dirty="0" sz="1100" spc="-10">
                <a:latin typeface="Tahoma"/>
                <a:cs typeface="Tahoma"/>
              </a:rPr>
              <a:t>(</a:t>
            </a:r>
            <a:r>
              <a:rPr dirty="0" sz="1100" spc="-10" i="1">
                <a:latin typeface="Arial"/>
                <a:cs typeface="Arial"/>
              </a:rPr>
              <a:t>i,</a:t>
            </a:r>
            <a:r>
              <a:rPr dirty="0" sz="1100" spc="-120" i="1">
                <a:latin typeface="Arial"/>
                <a:cs typeface="Arial"/>
              </a:rPr>
              <a:t> </a:t>
            </a:r>
            <a:r>
              <a:rPr dirty="0" sz="1100" spc="65" i="1">
                <a:latin typeface="Arial"/>
                <a:cs typeface="Arial"/>
              </a:rPr>
              <a:t>j</a:t>
            </a:r>
            <a:r>
              <a:rPr dirty="0" sz="1100" spc="65">
                <a:latin typeface="Tahoma"/>
                <a:cs typeface="Tahoma"/>
              </a:rPr>
              <a:t>)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38642" y="1352929"/>
            <a:ext cx="37655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7975" algn="l"/>
              </a:tabLst>
            </a:pPr>
            <a:r>
              <a:rPr dirty="0" sz="800" spc="-50" i="1">
                <a:latin typeface="Arial"/>
                <a:cs typeface="Arial"/>
              </a:rPr>
              <a:t>n</a:t>
            </a:r>
            <a:r>
              <a:rPr dirty="0" sz="800" i="1">
                <a:latin typeface="Arial"/>
                <a:cs typeface="Arial"/>
              </a:rPr>
              <a:t>	</a:t>
            </a:r>
            <a:r>
              <a:rPr dirty="0" sz="800" spc="-50" i="1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67192" y="1357171"/>
            <a:ext cx="521334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919">
                <a:latin typeface="Lucida Sans Unicode"/>
                <a:cs typeface="Lucida Sans Unicode"/>
              </a:rPr>
              <a:t>Σ</a:t>
            </a:r>
            <a:r>
              <a:rPr dirty="0" sz="1100" spc="405">
                <a:latin typeface="Lucida Sans Unicode"/>
                <a:cs typeface="Lucida Sans Unicode"/>
              </a:rPr>
              <a:t> </a:t>
            </a:r>
            <a:r>
              <a:rPr dirty="0" sz="1100" spc="869">
                <a:latin typeface="Lucida Sans Unicode"/>
                <a:cs typeface="Lucida Sans Unicode"/>
              </a:rPr>
              <a:t>Σ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415819" y="1488794"/>
            <a:ext cx="11677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0">
                <a:latin typeface="Calibri"/>
                <a:cs typeface="Calibri"/>
              </a:rPr>
              <a:t>H</a:t>
            </a:r>
            <a:r>
              <a:rPr dirty="0" sz="1100" spc="-50">
                <a:latin typeface="Tahoma"/>
                <a:cs typeface="Tahoma"/>
              </a:rPr>
              <a:t>[</a:t>
            </a:r>
            <a:r>
              <a:rPr dirty="0" sz="1100" spc="-50" i="1">
                <a:latin typeface="Arial"/>
                <a:cs typeface="Arial"/>
              </a:rPr>
              <a:t>k,</a:t>
            </a:r>
            <a:r>
              <a:rPr dirty="0" sz="1100" spc="-10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l</a:t>
            </a:r>
            <a:r>
              <a:rPr dirty="0" sz="1100" spc="-19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]</a:t>
            </a:r>
            <a:r>
              <a:rPr dirty="0" sz="1100">
                <a:latin typeface="Calibri"/>
                <a:cs typeface="Calibri"/>
              </a:rPr>
              <a:t>F</a:t>
            </a:r>
            <a:r>
              <a:rPr dirty="0" sz="1100">
                <a:latin typeface="Tahoma"/>
                <a:cs typeface="Tahoma"/>
              </a:rPr>
              <a:t>(</a:t>
            </a:r>
            <a:r>
              <a:rPr dirty="0" sz="1100" i="1">
                <a:latin typeface="Arial"/>
                <a:cs typeface="Arial"/>
              </a:rPr>
              <a:t>i</a:t>
            </a:r>
            <a:r>
              <a:rPr dirty="0" sz="1100" spc="80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80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k,</a:t>
            </a:r>
            <a:r>
              <a:rPr dirty="0" sz="1100" spc="-105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j</a:t>
            </a:r>
            <a:r>
              <a:rPr dirty="0" sz="1100" spc="7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 spc="-75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l</a:t>
            </a:r>
            <a:r>
              <a:rPr dirty="0" sz="1100" spc="-195" i="1">
                <a:latin typeface="Arial"/>
                <a:cs typeface="Arial"/>
              </a:rPr>
              <a:t> </a:t>
            </a:r>
            <a:r>
              <a:rPr dirty="0" sz="1100" spc="-5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67078" y="1668907"/>
            <a:ext cx="849630" cy="377190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269875">
              <a:lnSpc>
                <a:spcPct val="100000"/>
              </a:lnSpc>
              <a:spcBef>
                <a:spcPts val="305"/>
              </a:spcBef>
            </a:pPr>
            <a:r>
              <a:rPr dirty="0" sz="800" spc="80" i="1">
                <a:latin typeface="Arial"/>
                <a:cs typeface="Arial"/>
              </a:rPr>
              <a:t>k</a:t>
            </a:r>
            <a:r>
              <a:rPr dirty="0" sz="800" spc="80">
                <a:latin typeface="Tahoma"/>
                <a:cs typeface="Tahoma"/>
              </a:rPr>
              <a:t>=</a:t>
            </a:r>
            <a:r>
              <a:rPr dirty="0" sz="800" spc="80" i="1">
                <a:latin typeface="Arial"/>
                <a:cs typeface="Arial"/>
              </a:rPr>
              <a:t>−n</a:t>
            </a:r>
            <a:r>
              <a:rPr dirty="0" sz="800" spc="-25" i="1">
                <a:latin typeface="Arial"/>
                <a:cs typeface="Arial"/>
              </a:rPr>
              <a:t> </a:t>
            </a:r>
            <a:r>
              <a:rPr dirty="0" sz="800" spc="65" i="1">
                <a:latin typeface="Arial"/>
                <a:cs typeface="Arial"/>
              </a:rPr>
              <a:t>l</a:t>
            </a:r>
            <a:r>
              <a:rPr dirty="0" sz="800" spc="65">
                <a:latin typeface="Tahoma"/>
                <a:cs typeface="Tahoma"/>
              </a:rPr>
              <a:t>=</a:t>
            </a:r>
            <a:r>
              <a:rPr dirty="0" sz="800" spc="65" i="1">
                <a:latin typeface="Arial"/>
                <a:cs typeface="Arial"/>
              </a:rPr>
              <a:t>−n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z="1100" spc="-135">
                <a:latin typeface="Calibri"/>
                <a:cs typeface="Calibri"/>
              </a:rPr>
              <a:t>G</a:t>
            </a:r>
            <a:r>
              <a:rPr dirty="0" sz="1100" spc="60">
                <a:latin typeface="Calibri"/>
                <a:cs typeface="Calibri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70">
                <a:latin typeface="Calibri"/>
                <a:cs typeface="Calibri"/>
              </a:rPr>
              <a:t>F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35">
                <a:latin typeface="Lucida Sans Unicode"/>
                <a:cs typeface="Lucida Sans Unicode"/>
              </a:rPr>
              <a:t>⊗</a:t>
            </a:r>
            <a:r>
              <a:rPr dirty="0" sz="1100" spc="-95">
                <a:latin typeface="Lucida Sans Unicode"/>
                <a:cs typeface="Lucida Sans Unicode"/>
              </a:rPr>
              <a:t> </a:t>
            </a:r>
            <a:r>
              <a:rPr dirty="0" sz="1100" spc="-50">
                <a:latin typeface="Calibri"/>
                <a:cs typeface="Calibri"/>
              </a:rPr>
              <a:t>H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57235" y="2183244"/>
            <a:ext cx="1493519" cy="990600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9" name="object 19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1362875" y="3338453"/>
            <a:ext cx="1801495" cy="1282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955"/>
              </a:lnSpc>
            </a:pPr>
            <a:r>
              <a:rPr dirty="0" sz="1000" spc="-30">
                <a:solidFill>
                  <a:srgbClr val="3333B2"/>
                </a:solidFill>
                <a:latin typeface="Tahoma"/>
                <a:cs typeface="Tahoma"/>
              </a:rPr>
              <a:t>Figure:</a:t>
            </a:r>
            <a:r>
              <a:rPr dirty="0" sz="100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dirty="0" sz="1000" spc="60">
                <a:latin typeface="Tahoma"/>
                <a:cs typeface="Tahoma"/>
                <a:hlinkClick r:id="rId5" action="ppaction://hlinksldjump"/>
              </a:rPr>
              <a:t>A</a:t>
            </a:r>
            <a:r>
              <a:rPr dirty="0" sz="1000">
                <a:latin typeface="Tahoma"/>
                <a:cs typeface="Tahoma"/>
                <a:hlinkClick r:id="rId5" action="ppaction://hlinksldjump"/>
              </a:rPr>
              <a:t> SUGV </a:t>
            </a:r>
            <a:r>
              <a:rPr dirty="0" sz="1000" spc="-30">
                <a:latin typeface="Tahoma"/>
                <a:cs typeface="Tahoma"/>
                <a:hlinkClick r:id="rId5" action="ppaction://hlinksldjump"/>
              </a:rPr>
              <a:t>as</a:t>
            </a:r>
            <a:r>
              <a:rPr dirty="0" sz="1000">
                <a:latin typeface="Tahoma"/>
                <a:cs typeface="Tahoma"/>
                <a:hlinkClick r:id="rId5" action="ppaction://hlinksldjump"/>
              </a:rPr>
              <a:t> a</a:t>
            </a:r>
            <a:r>
              <a:rPr dirty="0" sz="100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pursuit</a:t>
            </a:r>
            <a:r>
              <a:rPr dirty="0" sz="100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robo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164313" y="3338453"/>
            <a:ext cx="81280" cy="1282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955"/>
              </a:lnSpc>
            </a:pPr>
            <a:r>
              <a:rPr dirty="0" sz="1000" spc="-455">
                <a:latin typeface="Tahoma"/>
                <a:cs typeface="Tahoma"/>
              </a:rPr>
              <a:t>.</a:t>
            </a:r>
            <a:r>
              <a:rPr dirty="0" sz="1000" spc="250">
                <a:latin typeface="Tahoma"/>
                <a:cs typeface="Tahoma"/>
              </a:rPr>
              <a:t>t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45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320"/>
              <a:t> </a:t>
            </a:r>
            <a:r>
              <a:rPr dirty="0"/>
              <a:t>(CSIT</a:t>
            </a:r>
            <a:r>
              <a:rPr dirty="0" spc="70"/>
              <a:t> </a:t>
            </a:r>
            <a:r>
              <a:rPr dirty="0"/>
              <a:t>-</a:t>
            </a:r>
            <a:r>
              <a:rPr dirty="0" spc="60"/>
              <a:t> </a:t>
            </a:r>
            <a:r>
              <a:rPr dirty="0" spc="-20"/>
              <a:t>UoB)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648358" y="3351784"/>
            <a:ext cx="89217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Linearity</a:t>
            </a:r>
            <a:r>
              <a:rPr dirty="0" sz="600" spc="-5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and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Convolution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June</a:t>
            </a:r>
            <a:r>
              <a:rPr dirty="0" spc="-5"/>
              <a:t> </a:t>
            </a:r>
            <a:r>
              <a:rPr dirty="0"/>
              <a:t>17,</a:t>
            </a:r>
            <a:r>
              <a:rPr dirty="0" spc="-5"/>
              <a:t> </a:t>
            </a:r>
            <a:r>
              <a:rPr dirty="0" spc="-20"/>
              <a:t>2026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4318292" y="3351784"/>
            <a:ext cx="28130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11</a:t>
            </a:r>
            <a:r>
              <a:rPr dirty="0" sz="600" spc="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 spc="9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dirty="0" sz="600" spc="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ahoma"/>
                <a:cs typeface="Tahoma"/>
              </a:rPr>
              <a:t>26</a:t>
            </a:r>
            <a:endParaRPr sz="6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45"/>
              <a:t>Contents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0" y="883818"/>
            <a:ext cx="160096" cy="16009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9743" y="883156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FAFAFD"/>
                </a:solidFill>
                <a:latin typeface="Tahoma"/>
                <a:cs typeface="Tahoma"/>
              </a:rPr>
              <a:t>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5173" y="855724"/>
            <a:ext cx="10744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solidFill>
                  <a:srgbClr val="D6D6EF"/>
                </a:solidFill>
                <a:latin typeface="Tahoma"/>
                <a:cs typeface="Tahoma"/>
                <a:hlinkClick r:id="rId3" action="ppaction://hlinksldjump"/>
              </a:rPr>
              <a:t>Filtering</a:t>
            </a:r>
            <a:r>
              <a:rPr dirty="0" sz="1100" spc="-75">
                <a:solidFill>
                  <a:srgbClr val="D6D6E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1100">
                <a:solidFill>
                  <a:srgbClr val="D6D6EF"/>
                </a:solidFill>
                <a:latin typeface="Tahoma"/>
                <a:cs typeface="Tahoma"/>
                <a:hlinkClick r:id="rId3" action="ppaction://hlinksldjump"/>
              </a:rPr>
              <a:t>an</a:t>
            </a:r>
            <a:r>
              <a:rPr dirty="0" sz="1100" spc="-65">
                <a:solidFill>
                  <a:srgbClr val="D6D6E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1100" spc="-45">
                <a:solidFill>
                  <a:srgbClr val="D6D6EF"/>
                </a:solidFill>
                <a:latin typeface="Tahoma"/>
                <a:cs typeface="Tahoma"/>
                <a:hlinkClick r:id="rId3" action="ppaction://hlinksldjump"/>
              </a:rPr>
              <a:t>image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280" y="1315605"/>
            <a:ext cx="160096" cy="16009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9743" y="1314944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EAEAF7"/>
                </a:solidFill>
                <a:latin typeface="Tahoma"/>
                <a:cs typeface="Tahoma"/>
              </a:rPr>
              <a:t>2</a:t>
            </a:r>
            <a:endParaRPr sz="8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9582" y="1539405"/>
            <a:ext cx="65265" cy="6526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19582" y="1711477"/>
            <a:ext cx="65265" cy="6526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95173" y="1287512"/>
            <a:ext cx="1560830" cy="53594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51130" marR="5080" indent="-139065">
              <a:lnSpc>
                <a:spcPct val="102600"/>
              </a:lnSpc>
              <a:spcBef>
                <a:spcPts val="55"/>
              </a:spcBef>
            </a:pPr>
            <a:r>
              <a:rPr dirty="0" sz="1100" spc="-30">
                <a:solidFill>
                  <a:srgbClr val="3333B2"/>
                </a:solidFill>
                <a:latin typeface="Tahoma"/>
                <a:cs typeface="Tahoma"/>
                <a:hlinkClick r:id="rId7" action="ppaction://hlinksldjump"/>
              </a:rPr>
              <a:t>Correlation </a:t>
            </a:r>
            <a:r>
              <a:rPr dirty="0" sz="1100" spc="-20">
                <a:solidFill>
                  <a:srgbClr val="3333B2"/>
                </a:solidFill>
                <a:latin typeface="Tahoma"/>
                <a:cs typeface="Tahoma"/>
                <a:hlinkClick r:id="rId7" action="ppaction://hlinksldjump"/>
              </a:rPr>
              <a:t>vs</a:t>
            </a:r>
            <a:r>
              <a:rPr dirty="0" sz="1100" spc="-30">
                <a:solidFill>
                  <a:srgbClr val="3333B2"/>
                </a:solidFill>
                <a:latin typeface="Tahoma"/>
                <a:cs typeface="Tahoma"/>
                <a:hlinkClick r:id="rId7" action="ppaction://hlinksldjump"/>
              </a:rPr>
              <a:t> Convolution</a:t>
            </a:r>
            <a:r>
              <a:rPr dirty="0" sz="1100" spc="-3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Tahoma"/>
                <a:cs typeface="Tahoma"/>
                <a:hlinkClick r:id="rId8" action="ppaction://hlinksldjump"/>
              </a:rPr>
              <a:t>Correlation</a:t>
            </a:r>
            <a:endParaRPr sz="1100">
              <a:latin typeface="Tahoma"/>
              <a:cs typeface="Tahoma"/>
            </a:endParaRPr>
          </a:p>
          <a:p>
            <a:pPr marL="151130">
              <a:lnSpc>
                <a:spcPct val="100000"/>
              </a:lnSpc>
              <a:spcBef>
                <a:spcPts val="35"/>
              </a:spcBef>
            </a:pPr>
            <a:r>
              <a:rPr dirty="0" sz="1100" spc="-10">
                <a:latin typeface="Tahoma"/>
                <a:cs typeface="Tahoma"/>
                <a:hlinkClick r:id="rId9" action="ppaction://hlinksldjump"/>
              </a:rPr>
              <a:t>Convolution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9280" y="2091537"/>
            <a:ext cx="160096" cy="160096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29743" y="2090876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FAFAFD"/>
                </a:solidFill>
                <a:latin typeface="Tahoma"/>
                <a:cs typeface="Tahoma"/>
              </a:rPr>
              <a:t>3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5173" y="2063444"/>
            <a:ext cx="11360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Boundary</a:t>
            </a:r>
            <a:r>
              <a:rPr dirty="0" sz="1100" spc="-35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1100" spc="-50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problems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9280" y="2523312"/>
            <a:ext cx="160096" cy="160096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29743" y="2522663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FAFAFD"/>
                </a:solidFill>
                <a:latin typeface="Tahoma"/>
                <a:cs typeface="Tahoma"/>
              </a:rPr>
              <a:t>4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95173" y="2495218"/>
            <a:ext cx="7429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5">
                <a:solidFill>
                  <a:srgbClr val="D6D6EF"/>
                </a:solidFill>
                <a:latin typeface="Tahoma"/>
                <a:cs typeface="Tahoma"/>
                <a:hlinkClick r:id="rId13" action="ppaction://hlinksldjump"/>
              </a:rPr>
              <a:t>Linear</a:t>
            </a:r>
            <a:r>
              <a:rPr dirty="0" sz="1100" spc="-45">
                <a:solidFill>
                  <a:srgbClr val="D6D6EF"/>
                </a:solidFill>
                <a:latin typeface="Tahoma"/>
                <a:cs typeface="Tahoma"/>
                <a:hlinkClick r:id="rId13" action="ppaction://hlinksldjump"/>
              </a:rPr>
              <a:t> </a:t>
            </a:r>
            <a:r>
              <a:rPr dirty="0" sz="1100" spc="-20">
                <a:solidFill>
                  <a:srgbClr val="D6D6EF"/>
                </a:solidFill>
                <a:latin typeface="Tahoma"/>
                <a:cs typeface="Tahoma"/>
                <a:hlinkClick r:id="rId13" action="ppaction://hlinksldjump"/>
              </a:rPr>
              <a:t>filters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9" name="object 19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45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32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0"/>
              <a:t> </a:t>
            </a:r>
            <a:r>
              <a:rPr dirty="0" spc="-20"/>
              <a:t>UoB)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648358" y="3351784"/>
            <a:ext cx="89217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Linearity</a:t>
            </a:r>
            <a:r>
              <a:rPr dirty="0" sz="600" spc="-5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and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Convolution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June</a:t>
            </a:r>
            <a:r>
              <a:rPr dirty="0" spc="-5"/>
              <a:t> </a:t>
            </a:r>
            <a:r>
              <a:rPr dirty="0"/>
              <a:t>17,</a:t>
            </a:r>
            <a:r>
              <a:rPr dirty="0" spc="-5"/>
              <a:t> </a:t>
            </a:r>
            <a:r>
              <a:rPr dirty="0" spc="-20"/>
              <a:t>2026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4318292" y="3351784"/>
            <a:ext cx="28130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</a:rPr>
              <a:t>11</a:t>
            </a:r>
            <a:r>
              <a:rPr dirty="0" sz="600" spc="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 spc="9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dirty="0" sz="600" spc="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Tahoma"/>
                <a:cs typeface="Tahoma"/>
              </a:rPr>
              <a:t>26</a:t>
            </a:r>
            <a:endParaRPr sz="6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14943"/>
            <a:ext cx="1993264" cy="45402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400" spc="-35">
                <a:solidFill>
                  <a:srgbClr val="FFFFFF"/>
                </a:solidFill>
                <a:latin typeface="Arial MT"/>
                <a:cs typeface="Arial MT"/>
              </a:rPr>
              <a:t>Correlation</a:t>
            </a:r>
            <a:r>
              <a:rPr dirty="0" sz="14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00" spc="-50">
                <a:solidFill>
                  <a:srgbClr val="FFFFFF"/>
                </a:solidFill>
                <a:latin typeface="Arial MT"/>
                <a:cs typeface="Arial MT"/>
              </a:rPr>
              <a:t>vs</a:t>
            </a:r>
            <a:r>
              <a:rPr dirty="0" sz="14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00" spc="-35">
                <a:solidFill>
                  <a:srgbClr val="FFFFFF"/>
                </a:solidFill>
                <a:latin typeface="Arial MT"/>
                <a:cs typeface="Arial MT"/>
              </a:rPr>
              <a:t>Convolution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10">
                <a:solidFill>
                  <a:srgbClr val="FFFFFF"/>
                </a:solidFill>
                <a:latin typeface="Tahoma"/>
                <a:cs typeface="Tahoma"/>
              </a:rPr>
              <a:t>Convolution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3733" y="857567"/>
            <a:ext cx="4103369" cy="220979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45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320"/>
              <a:t> </a:t>
            </a:r>
            <a:r>
              <a:rPr dirty="0"/>
              <a:t>(CSIT</a:t>
            </a:r>
            <a:r>
              <a:rPr dirty="0" spc="70"/>
              <a:t> </a:t>
            </a:r>
            <a:r>
              <a:rPr dirty="0"/>
              <a:t>-</a:t>
            </a:r>
            <a:r>
              <a:rPr dirty="0" spc="60"/>
              <a:t> </a:t>
            </a:r>
            <a:r>
              <a:rPr dirty="0" spc="-20"/>
              <a:t>UoB)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648358" y="3351784"/>
            <a:ext cx="89217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Linearity</a:t>
            </a:r>
            <a:r>
              <a:rPr dirty="0" sz="600" spc="-5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and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Convolution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June</a:t>
            </a:r>
            <a:r>
              <a:rPr dirty="0" spc="-5"/>
              <a:t> </a:t>
            </a:r>
            <a:r>
              <a:rPr dirty="0"/>
              <a:t>17,</a:t>
            </a:r>
            <a:r>
              <a:rPr dirty="0" spc="-5"/>
              <a:t> </a:t>
            </a:r>
            <a:r>
              <a:rPr dirty="0" spc="-20"/>
              <a:t>2026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12</a:t>
            </a:r>
            <a:r>
              <a:rPr dirty="0" spc="10"/>
              <a:t> </a:t>
            </a:r>
            <a:r>
              <a:rPr dirty="0" spc="90"/>
              <a:t>/</a:t>
            </a:r>
            <a:r>
              <a:rPr dirty="0" spc="10"/>
              <a:t> </a:t>
            </a:r>
            <a:r>
              <a:rPr dirty="0" spc="-25"/>
              <a:t>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69083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9894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167268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3260445" y="3248732"/>
            <a:ext cx="203200" cy="55880"/>
            <a:chOff x="3260445" y="3248732"/>
            <a:chExt cx="203200" cy="55880"/>
          </a:xfrm>
        </p:grpSpPr>
        <p:sp>
          <p:nvSpPr>
            <p:cNvPr id="6" name="object 6"/>
            <p:cNvSpPr/>
            <p:nvPr/>
          </p:nvSpPr>
          <p:spPr>
            <a:xfrm>
              <a:off x="3323614" y="3251262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2" y="0"/>
                  </a:lnTo>
                  <a:lnTo>
                    <a:pt x="63832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260445" y="3257613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3531425" y="3247467"/>
            <a:ext cx="203200" cy="48260"/>
            <a:chOff x="3531425" y="3247467"/>
            <a:chExt cx="203200" cy="48260"/>
          </a:xfrm>
        </p:grpSpPr>
        <p:sp>
          <p:nvSpPr>
            <p:cNvPr id="9" name="object 9"/>
            <p:cNvSpPr/>
            <p:nvPr/>
          </p:nvSpPr>
          <p:spPr>
            <a:xfrm>
              <a:off x="3620326" y="3263963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 h="0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531425" y="3257613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607626" y="3251262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 h="0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/>
          <p:cNvGrpSpPr/>
          <p:nvPr/>
        </p:nvGrpSpPr>
        <p:grpSpPr>
          <a:xfrm>
            <a:off x="3802393" y="3247467"/>
            <a:ext cx="203200" cy="58419"/>
            <a:chOff x="3802393" y="3247467"/>
            <a:chExt cx="203200" cy="58419"/>
          </a:xfrm>
        </p:grpSpPr>
        <p:sp>
          <p:nvSpPr>
            <p:cNvPr id="13" name="object 13"/>
            <p:cNvSpPr/>
            <p:nvPr/>
          </p:nvSpPr>
          <p:spPr>
            <a:xfrm>
              <a:off x="3878593" y="3251262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0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0" y="2540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802393" y="3257613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878593" y="3289363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699"/>
                  </a:moveTo>
                  <a:lnTo>
                    <a:pt x="50800" y="12699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/>
          <p:nvPr/>
        </p:nvSpPr>
        <p:spPr>
          <a:xfrm>
            <a:off x="4149573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7" name="object 17"/>
          <p:cNvGrpSpPr/>
          <p:nvPr/>
        </p:nvGrpSpPr>
        <p:grpSpPr>
          <a:xfrm>
            <a:off x="4326582" y="3248732"/>
            <a:ext cx="238760" cy="57150"/>
            <a:chOff x="4326582" y="3248732"/>
            <a:chExt cx="238760" cy="57150"/>
          </a:xfrm>
        </p:grpSpPr>
        <p:sp>
          <p:nvSpPr>
            <p:cNvPr id="18" name="object 18"/>
            <p:cNvSpPr/>
            <p:nvPr/>
          </p:nvSpPr>
          <p:spPr>
            <a:xfrm>
              <a:off x="4451033" y="328174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0" y="2032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423969" y="325524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329112" y="3251262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79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79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$PPTXTitle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1993264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5"/>
              <a:t>Correlation</a:t>
            </a:r>
            <a:r>
              <a:rPr dirty="0" spc="-15"/>
              <a:t> </a:t>
            </a:r>
            <a:r>
              <a:rPr dirty="0" spc="-50"/>
              <a:t>vs</a:t>
            </a:r>
            <a:r>
              <a:rPr dirty="0" spc="-10"/>
              <a:t> </a:t>
            </a:r>
            <a:r>
              <a:rPr dirty="0" spc="-35"/>
              <a:t>Convolution</a:t>
            </a:r>
          </a:p>
        </p:txBody>
      </p:sp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647191"/>
            <a:ext cx="65265" cy="65265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95300" y="306598"/>
            <a:ext cx="1252220" cy="4489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10">
                <a:solidFill>
                  <a:srgbClr val="FFFFFF"/>
                </a:solidFill>
                <a:latin typeface="Tahoma"/>
                <a:cs typeface="Tahoma"/>
              </a:rPr>
              <a:t>Convolution</a:t>
            </a:r>
            <a:endParaRPr sz="900">
              <a:latin typeface="Tahoma"/>
              <a:cs typeface="Tahoma"/>
            </a:endParaRPr>
          </a:p>
          <a:p>
            <a:pPr marL="320040">
              <a:lnSpc>
                <a:spcPct val="100000"/>
              </a:lnSpc>
              <a:spcBef>
                <a:spcPts val="940"/>
              </a:spcBef>
            </a:pPr>
            <a:r>
              <a:rPr dirty="0" sz="1100">
                <a:latin typeface="Tahoma"/>
                <a:cs typeface="Tahoma"/>
              </a:rPr>
              <a:t>1D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convolution.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586788" y="896987"/>
            <a:ext cx="6026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25">
                <a:latin typeface="Calibri"/>
                <a:cs typeface="Calibri"/>
              </a:rPr>
              <a:t>H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 spc="-335">
                <a:latin typeface="Lucida Sans Unicode"/>
                <a:cs typeface="Lucida Sans Unicode"/>
              </a:rPr>
              <a:t>∗</a:t>
            </a:r>
            <a:r>
              <a:rPr dirty="0" sz="1100" spc="-90">
                <a:latin typeface="Lucida Sans Unicode"/>
                <a:cs typeface="Lucida Sans Unicode"/>
              </a:rPr>
              <a:t> </a:t>
            </a:r>
            <a:r>
              <a:rPr dirty="0" sz="1100">
                <a:latin typeface="Calibri"/>
                <a:cs typeface="Calibri"/>
              </a:rPr>
              <a:t>F</a:t>
            </a:r>
            <a:r>
              <a:rPr dirty="0" sz="1100">
                <a:latin typeface="Tahoma"/>
                <a:cs typeface="Tahoma"/>
              </a:rPr>
              <a:t>(</a:t>
            </a:r>
            <a:r>
              <a:rPr dirty="0" sz="1100" i="1">
                <a:latin typeface="Arial"/>
                <a:cs typeface="Arial"/>
              </a:rPr>
              <a:t>i</a:t>
            </a:r>
            <a:r>
              <a:rPr dirty="0" sz="1100" spc="-190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)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316264" y="761122"/>
            <a:ext cx="10160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 i="1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202154" y="765364"/>
            <a:ext cx="329565" cy="4857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68580">
              <a:lnSpc>
                <a:spcPct val="100000"/>
              </a:lnSpc>
              <a:spcBef>
                <a:spcPts val="90"/>
              </a:spcBef>
            </a:pPr>
            <a:r>
              <a:rPr dirty="0" sz="1100" spc="869">
                <a:latin typeface="Lucida Sans Unicode"/>
                <a:cs typeface="Lucida Sans Unicode"/>
              </a:rPr>
              <a:t>Σ</a:t>
            </a:r>
            <a:endParaRPr sz="11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dirty="0" sz="800" spc="65" i="1">
                <a:latin typeface="Arial"/>
                <a:cs typeface="Arial"/>
              </a:rPr>
              <a:t>k</a:t>
            </a:r>
            <a:r>
              <a:rPr dirty="0" sz="800" spc="65">
                <a:latin typeface="Tahoma"/>
                <a:cs typeface="Tahoma"/>
              </a:rPr>
              <a:t>=</a:t>
            </a:r>
            <a:r>
              <a:rPr dirty="0" sz="800" spc="65" i="1">
                <a:latin typeface="Arial"/>
                <a:cs typeface="Arial"/>
              </a:rPr>
              <a:t>−N</a:t>
            </a:r>
            <a:endParaRPr sz="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537460" y="896987"/>
            <a:ext cx="7607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Calibri"/>
                <a:cs typeface="Calibri"/>
              </a:rPr>
              <a:t>H</a:t>
            </a:r>
            <a:r>
              <a:rPr dirty="0" sz="1100">
                <a:latin typeface="Tahoma"/>
                <a:cs typeface="Tahoma"/>
              </a:rPr>
              <a:t>(</a:t>
            </a:r>
            <a:r>
              <a:rPr dirty="0" sz="1100" i="1">
                <a:latin typeface="Arial"/>
                <a:cs typeface="Arial"/>
              </a:rPr>
              <a:t>k</a:t>
            </a:r>
            <a:r>
              <a:rPr dirty="0" sz="1100">
                <a:latin typeface="Tahoma"/>
                <a:cs typeface="Tahoma"/>
              </a:rPr>
              <a:t>)</a:t>
            </a:r>
            <a:r>
              <a:rPr dirty="0" sz="1100">
                <a:latin typeface="Calibri"/>
                <a:cs typeface="Calibri"/>
              </a:rPr>
              <a:t>F</a:t>
            </a:r>
            <a:r>
              <a:rPr dirty="0" sz="1100">
                <a:latin typeface="Tahoma"/>
                <a:cs typeface="Tahoma"/>
              </a:rPr>
              <a:t>(</a:t>
            </a:r>
            <a:r>
              <a:rPr dirty="0" sz="1100" i="1">
                <a:latin typeface="Arial"/>
                <a:cs typeface="Arial"/>
              </a:rPr>
              <a:t>i</a:t>
            </a:r>
            <a:r>
              <a:rPr dirty="0" sz="1100" spc="45" i="1">
                <a:latin typeface="Arial"/>
                <a:cs typeface="Arial"/>
              </a:rPr>
              <a:t> </a:t>
            </a:r>
            <a:r>
              <a:rPr dirty="0" sz="1100" spc="-35">
                <a:latin typeface="Lucida Sans Unicode"/>
                <a:cs typeface="Lucida Sans Unicode"/>
              </a:rPr>
              <a:t>−</a:t>
            </a:r>
            <a:r>
              <a:rPr dirty="0" sz="1100" spc="-95">
                <a:latin typeface="Lucida Sans Unicode"/>
                <a:cs typeface="Lucida Sans Unicode"/>
              </a:rPr>
              <a:t> </a:t>
            </a:r>
            <a:r>
              <a:rPr dirty="0" sz="1100" spc="-25" i="1">
                <a:latin typeface="Arial"/>
                <a:cs typeface="Arial"/>
              </a:rPr>
              <a:t>k</a:t>
            </a:r>
            <a:r>
              <a:rPr dirty="0" sz="1100" spc="-25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29" name="object 2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346543"/>
            <a:ext cx="65265" cy="65265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402932" y="1263089"/>
            <a:ext cx="944244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Tahoma"/>
                <a:cs typeface="Tahoma"/>
              </a:rPr>
              <a:t>2D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convolution.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301546" y="1571039"/>
            <a:ext cx="50990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latin typeface="Calibri"/>
                <a:cs typeface="Calibri"/>
              </a:rPr>
              <a:t>G</a:t>
            </a:r>
            <a:r>
              <a:rPr dirty="0" sz="1100" spc="-10">
                <a:latin typeface="Tahoma"/>
                <a:cs typeface="Tahoma"/>
              </a:rPr>
              <a:t>(</a:t>
            </a:r>
            <a:r>
              <a:rPr dirty="0" sz="1100" spc="-10" i="1">
                <a:latin typeface="Arial"/>
                <a:cs typeface="Arial"/>
              </a:rPr>
              <a:t>i,</a:t>
            </a:r>
            <a:r>
              <a:rPr dirty="0" sz="1100" spc="-120" i="1">
                <a:latin typeface="Arial"/>
                <a:cs typeface="Arial"/>
              </a:rPr>
              <a:t> </a:t>
            </a:r>
            <a:r>
              <a:rPr dirty="0" sz="1100" spc="65" i="1">
                <a:latin typeface="Arial"/>
                <a:cs typeface="Arial"/>
              </a:rPr>
              <a:t>j</a:t>
            </a:r>
            <a:r>
              <a:rPr dirty="0" sz="1100" spc="65">
                <a:latin typeface="Tahoma"/>
                <a:cs typeface="Tahoma"/>
              </a:rPr>
              <a:t>)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938642" y="1435175"/>
            <a:ext cx="37655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7975" algn="l"/>
              </a:tabLst>
            </a:pPr>
            <a:r>
              <a:rPr dirty="0" sz="800" spc="-50" i="1">
                <a:latin typeface="Arial"/>
                <a:cs typeface="Arial"/>
              </a:rPr>
              <a:t>n</a:t>
            </a:r>
            <a:r>
              <a:rPr dirty="0" sz="800" i="1">
                <a:latin typeface="Arial"/>
                <a:cs typeface="Arial"/>
              </a:rPr>
              <a:t>	</a:t>
            </a:r>
            <a:r>
              <a:rPr dirty="0" sz="800" spc="-50" i="1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867192" y="1439416"/>
            <a:ext cx="521334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919">
                <a:latin typeface="Lucida Sans Unicode"/>
                <a:cs typeface="Lucida Sans Unicode"/>
              </a:rPr>
              <a:t>Σ</a:t>
            </a:r>
            <a:r>
              <a:rPr dirty="0" sz="1100" spc="405">
                <a:latin typeface="Lucida Sans Unicode"/>
                <a:cs typeface="Lucida Sans Unicode"/>
              </a:rPr>
              <a:t> </a:t>
            </a:r>
            <a:r>
              <a:rPr dirty="0" sz="1100" spc="869">
                <a:latin typeface="Lucida Sans Unicode"/>
                <a:cs typeface="Lucida Sans Unicode"/>
              </a:rPr>
              <a:t>Σ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415819" y="1571039"/>
            <a:ext cx="116776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0">
                <a:latin typeface="Calibri"/>
                <a:cs typeface="Calibri"/>
              </a:rPr>
              <a:t>H</a:t>
            </a:r>
            <a:r>
              <a:rPr dirty="0" sz="1100" spc="-50">
                <a:latin typeface="Tahoma"/>
                <a:cs typeface="Tahoma"/>
              </a:rPr>
              <a:t>[</a:t>
            </a:r>
            <a:r>
              <a:rPr dirty="0" sz="1100" spc="-50" i="1">
                <a:latin typeface="Arial"/>
                <a:cs typeface="Arial"/>
              </a:rPr>
              <a:t>k,</a:t>
            </a:r>
            <a:r>
              <a:rPr dirty="0" sz="1100" spc="-114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l</a:t>
            </a:r>
            <a:r>
              <a:rPr dirty="0" sz="1100" spc="-200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]</a:t>
            </a:r>
            <a:r>
              <a:rPr dirty="0" sz="1100">
                <a:latin typeface="Calibri"/>
                <a:cs typeface="Calibri"/>
              </a:rPr>
              <a:t>F</a:t>
            </a:r>
            <a:r>
              <a:rPr dirty="0" sz="1100">
                <a:latin typeface="Tahoma"/>
                <a:cs typeface="Tahoma"/>
              </a:rPr>
              <a:t>(</a:t>
            </a:r>
            <a:r>
              <a:rPr dirty="0" sz="1100" i="1">
                <a:latin typeface="Arial"/>
                <a:cs typeface="Arial"/>
              </a:rPr>
              <a:t>i</a:t>
            </a:r>
            <a:r>
              <a:rPr dirty="0" sz="1100" spc="65" i="1">
                <a:latin typeface="Arial"/>
                <a:cs typeface="Arial"/>
              </a:rPr>
              <a:t> </a:t>
            </a:r>
            <a:r>
              <a:rPr dirty="0" sz="1100" spc="-35">
                <a:latin typeface="Lucida Sans Unicode"/>
                <a:cs typeface="Lucida Sans Unicode"/>
              </a:rPr>
              <a:t>−</a:t>
            </a:r>
            <a:r>
              <a:rPr dirty="0" sz="1100" spc="-90">
                <a:latin typeface="Lucida Sans Unicode"/>
                <a:cs typeface="Lucida Sans Unicode"/>
              </a:rPr>
              <a:t> </a:t>
            </a:r>
            <a:r>
              <a:rPr dirty="0" sz="1100" i="1">
                <a:latin typeface="Arial"/>
                <a:cs typeface="Arial"/>
              </a:rPr>
              <a:t>k,</a:t>
            </a:r>
            <a:r>
              <a:rPr dirty="0" sz="1100" spc="-110" i="1">
                <a:latin typeface="Arial"/>
                <a:cs typeface="Arial"/>
              </a:rPr>
              <a:t> </a:t>
            </a:r>
            <a:r>
              <a:rPr dirty="0" sz="1100" i="1">
                <a:latin typeface="Arial"/>
                <a:cs typeface="Arial"/>
              </a:rPr>
              <a:t>j</a:t>
            </a:r>
            <a:r>
              <a:rPr dirty="0" sz="1100" spc="55" i="1">
                <a:latin typeface="Arial"/>
                <a:cs typeface="Arial"/>
              </a:rPr>
              <a:t> </a:t>
            </a:r>
            <a:r>
              <a:rPr dirty="0" sz="1100" spc="-35">
                <a:latin typeface="Lucida Sans Unicode"/>
                <a:cs typeface="Lucida Sans Unicode"/>
              </a:rPr>
              <a:t>−</a:t>
            </a:r>
            <a:r>
              <a:rPr dirty="0" sz="1100" spc="-85">
                <a:latin typeface="Lucida Sans Unicode"/>
                <a:cs typeface="Lucida Sans Unicode"/>
              </a:rPr>
              <a:t> </a:t>
            </a:r>
            <a:r>
              <a:rPr dirty="0" sz="1100" i="1">
                <a:latin typeface="Arial"/>
                <a:cs typeface="Arial"/>
              </a:rPr>
              <a:t>l</a:t>
            </a:r>
            <a:r>
              <a:rPr dirty="0" sz="1100" spc="-200" i="1">
                <a:latin typeface="Arial"/>
                <a:cs typeface="Arial"/>
              </a:rPr>
              <a:t> </a:t>
            </a:r>
            <a:r>
              <a:rPr dirty="0" sz="1100" spc="-5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567078" y="1751161"/>
            <a:ext cx="849630" cy="377190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269875">
              <a:lnSpc>
                <a:spcPct val="100000"/>
              </a:lnSpc>
              <a:spcBef>
                <a:spcPts val="305"/>
              </a:spcBef>
            </a:pPr>
            <a:r>
              <a:rPr dirty="0" sz="800" spc="80" i="1">
                <a:latin typeface="Arial"/>
                <a:cs typeface="Arial"/>
              </a:rPr>
              <a:t>k</a:t>
            </a:r>
            <a:r>
              <a:rPr dirty="0" sz="800" spc="80">
                <a:latin typeface="Tahoma"/>
                <a:cs typeface="Tahoma"/>
              </a:rPr>
              <a:t>=</a:t>
            </a:r>
            <a:r>
              <a:rPr dirty="0" sz="800" spc="80" i="1">
                <a:latin typeface="Arial"/>
                <a:cs typeface="Arial"/>
              </a:rPr>
              <a:t>−n</a:t>
            </a:r>
            <a:r>
              <a:rPr dirty="0" sz="800" spc="-25" i="1">
                <a:latin typeface="Arial"/>
                <a:cs typeface="Arial"/>
              </a:rPr>
              <a:t> </a:t>
            </a:r>
            <a:r>
              <a:rPr dirty="0" sz="800" spc="65" i="1">
                <a:latin typeface="Arial"/>
                <a:cs typeface="Arial"/>
              </a:rPr>
              <a:t>l</a:t>
            </a:r>
            <a:r>
              <a:rPr dirty="0" sz="800" spc="65">
                <a:latin typeface="Tahoma"/>
                <a:cs typeface="Tahoma"/>
              </a:rPr>
              <a:t>=</a:t>
            </a:r>
            <a:r>
              <a:rPr dirty="0" sz="800" spc="65" i="1">
                <a:latin typeface="Arial"/>
                <a:cs typeface="Arial"/>
              </a:rPr>
              <a:t>−n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z="1100" spc="-135">
                <a:latin typeface="Calibri"/>
                <a:cs typeface="Calibri"/>
              </a:rPr>
              <a:t>G</a:t>
            </a:r>
            <a:r>
              <a:rPr dirty="0" sz="1100" spc="60">
                <a:latin typeface="Calibri"/>
                <a:cs typeface="Calibri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70">
                <a:latin typeface="Calibri"/>
                <a:cs typeface="Calibri"/>
              </a:rPr>
              <a:t>F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335">
                <a:latin typeface="Lucida Sans Unicode"/>
                <a:cs typeface="Lucida Sans Unicode"/>
              </a:rPr>
              <a:t>∗</a:t>
            </a:r>
            <a:r>
              <a:rPr dirty="0" sz="1100" spc="-100">
                <a:latin typeface="Lucida Sans Unicode"/>
                <a:cs typeface="Lucida Sans Unicode"/>
              </a:rPr>
              <a:t> </a:t>
            </a:r>
            <a:r>
              <a:rPr dirty="0" sz="1100" spc="-50">
                <a:latin typeface="Calibri"/>
                <a:cs typeface="Calibri"/>
              </a:rPr>
              <a:t>H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36" name="object 3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56371" y="2265476"/>
            <a:ext cx="1095247" cy="726440"/>
          </a:xfrm>
          <a:prstGeom prst="rect">
            <a:avLst/>
          </a:prstGeom>
        </p:spPr>
      </p:pic>
      <p:sp>
        <p:nvSpPr>
          <p:cNvPr id="37" name="object 37"/>
          <p:cNvSpPr txBox="1"/>
          <p:nvPr/>
        </p:nvSpPr>
        <p:spPr>
          <a:xfrm>
            <a:off x="783882" y="3113333"/>
            <a:ext cx="30416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solidFill>
                  <a:srgbClr val="3333B2"/>
                </a:solidFill>
                <a:latin typeface="Tahoma"/>
                <a:cs typeface="Tahoma"/>
              </a:rPr>
              <a:t>Figure: </a:t>
            </a:r>
            <a:r>
              <a:rPr dirty="0" sz="1000" spc="-10">
                <a:latin typeface="Tahoma"/>
                <a:cs typeface="Tahoma"/>
              </a:rPr>
              <a:t>Notation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for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a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Convolution.</a:t>
            </a:r>
            <a:r>
              <a:rPr dirty="0" sz="1000" spc="6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Source:</a:t>
            </a:r>
            <a:r>
              <a:rPr dirty="0" sz="1000" spc="6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K.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Grau</a:t>
            </a:r>
            <a:r>
              <a:rPr dirty="0" u="heavy" sz="1000" spc="-10">
                <a:uFill>
                  <a:solidFill>
                    <a:srgbClr val="D6D6EF"/>
                  </a:solidFill>
                </a:uFill>
                <a:latin typeface="Tahoma"/>
                <a:cs typeface="Tahoma"/>
              </a:rPr>
              <a:t>m</a:t>
            </a:r>
            <a:r>
              <a:rPr dirty="0" sz="1000" spc="-10">
                <a:latin typeface="Tahoma"/>
                <a:cs typeface="Tahoma"/>
              </a:rPr>
              <a:t>an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39" name="object 39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45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320"/>
              <a:t> </a:t>
            </a:r>
            <a:r>
              <a:rPr dirty="0"/>
              <a:t>(CSIT</a:t>
            </a:r>
            <a:r>
              <a:rPr dirty="0" spc="70"/>
              <a:t> </a:t>
            </a:r>
            <a:r>
              <a:rPr dirty="0"/>
              <a:t>-</a:t>
            </a:r>
            <a:r>
              <a:rPr dirty="0" spc="60"/>
              <a:t> </a:t>
            </a:r>
            <a:r>
              <a:rPr dirty="0" spc="-20"/>
              <a:t>UoB)</a:t>
            </a:r>
          </a:p>
        </p:txBody>
      </p:sp>
      <p:sp>
        <p:nvSpPr>
          <p:cNvPr id="43" name="object 43"/>
          <p:cNvSpPr txBox="1"/>
          <p:nvPr/>
        </p:nvSpPr>
        <p:spPr>
          <a:xfrm>
            <a:off x="1648358" y="3351784"/>
            <a:ext cx="89217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Linearity</a:t>
            </a:r>
            <a:r>
              <a:rPr dirty="0" sz="600" spc="-5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and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Convolution</a:t>
            </a:r>
            <a:endParaRPr sz="600">
              <a:latin typeface="Tahoma"/>
              <a:cs typeface="Tahoma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June</a:t>
            </a:r>
            <a:r>
              <a:rPr dirty="0" spc="-5"/>
              <a:t> </a:t>
            </a:r>
            <a:r>
              <a:rPr dirty="0"/>
              <a:t>17,</a:t>
            </a:r>
            <a:r>
              <a:rPr dirty="0" spc="-5"/>
              <a:t> </a:t>
            </a:r>
            <a:r>
              <a:rPr dirty="0" spc="-20"/>
              <a:t>2026</a:t>
            </a:r>
          </a:p>
        </p:txBody>
      </p:sp>
      <p:sp>
        <p:nvSpPr>
          <p:cNvPr id="45" name="object 4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13</a:t>
            </a:r>
            <a:r>
              <a:rPr dirty="0" spc="10"/>
              <a:t> </a:t>
            </a:r>
            <a:r>
              <a:rPr dirty="0" spc="90"/>
              <a:t>/</a:t>
            </a:r>
            <a:r>
              <a:rPr dirty="0" spc="10"/>
              <a:t> </a:t>
            </a:r>
            <a:r>
              <a:rPr dirty="0" spc="-25"/>
              <a:t>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45"/>
              <a:t>Contents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0" y="883818"/>
            <a:ext cx="160096" cy="16009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9743" y="883156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FAFAFD"/>
                </a:solidFill>
                <a:latin typeface="Tahoma"/>
                <a:cs typeface="Tahoma"/>
              </a:rPr>
              <a:t>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5173" y="855724"/>
            <a:ext cx="10744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solidFill>
                  <a:srgbClr val="D6D6EF"/>
                </a:solidFill>
                <a:latin typeface="Tahoma"/>
                <a:cs typeface="Tahoma"/>
                <a:hlinkClick r:id="rId3" action="ppaction://hlinksldjump"/>
              </a:rPr>
              <a:t>Filtering</a:t>
            </a:r>
            <a:r>
              <a:rPr dirty="0" sz="1100" spc="-75">
                <a:solidFill>
                  <a:srgbClr val="D6D6E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1100">
                <a:solidFill>
                  <a:srgbClr val="D6D6EF"/>
                </a:solidFill>
                <a:latin typeface="Tahoma"/>
                <a:cs typeface="Tahoma"/>
                <a:hlinkClick r:id="rId3" action="ppaction://hlinksldjump"/>
              </a:rPr>
              <a:t>an</a:t>
            </a:r>
            <a:r>
              <a:rPr dirty="0" sz="1100" spc="-65">
                <a:solidFill>
                  <a:srgbClr val="D6D6E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1100" spc="-45">
                <a:solidFill>
                  <a:srgbClr val="D6D6EF"/>
                </a:solidFill>
                <a:latin typeface="Tahoma"/>
                <a:cs typeface="Tahoma"/>
                <a:hlinkClick r:id="rId3" action="ppaction://hlinksldjump"/>
              </a:rPr>
              <a:t>image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280" y="1315605"/>
            <a:ext cx="160096" cy="16009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9743" y="1314944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FAFAFD"/>
                </a:solidFill>
                <a:latin typeface="Tahoma"/>
                <a:cs typeface="Tahoma"/>
              </a:rPr>
              <a:t>2</a:t>
            </a:r>
            <a:endParaRPr sz="8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9582" y="1539405"/>
            <a:ext cx="65265" cy="6526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19582" y="1711477"/>
            <a:ext cx="65265" cy="6526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95173" y="1287512"/>
            <a:ext cx="1560830" cy="53594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51130" marR="5080" indent="-139065">
              <a:lnSpc>
                <a:spcPct val="102600"/>
              </a:lnSpc>
              <a:spcBef>
                <a:spcPts val="55"/>
              </a:spcBef>
            </a:pPr>
            <a:r>
              <a:rPr dirty="0" sz="1100" spc="-30">
                <a:solidFill>
                  <a:srgbClr val="D6D6EF"/>
                </a:solidFill>
                <a:latin typeface="Tahoma"/>
                <a:cs typeface="Tahoma"/>
                <a:hlinkClick r:id="rId7" action="ppaction://hlinksldjump"/>
              </a:rPr>
              <a:t>Correlation </a:t>
            </a:r>
            <a:r>
              <a:rPr dirty="0" sz="1100" spc="-20">
                <a:solidFill>
                  <a:srgbClr val="D6D6EF"/>
                </a:solidFill>
                <a:latin typeface="Tahoma"/>
                <a:cs typeface="Tahoma"/>
                <a:hlinkClick r:id="rId7" action="ppaction://hlinksldjump"/>
              </a:rPr>
              <a:t>vs</a:t>
            </a:r>
            <a:r>
              <a:rPr dirty="0" sz="1100" spc="-30">
                <a:solidFill>
                  <a:srgbClr val="D6D6EF"/>
                </a:solidFill>
                <a:latin typeface="Tahoma"/>
                <a:cs typeface="Tahoma"/>
                <a:hlinkClick r:id="rId7" action="ppaction://hlinksldjump"/>
              </a:rPr>
              <a:t> Convolution</a:t>
            </a:r>
            <a:r>
              <a:rPr dirty="0" sz="1100" spc="-30">
                <a:solidFill>
                  <a:srgbClr val="D6D6EF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Tahoma"/>
                <a:cs typeface="Tahoma"/>
                <a:hlinkClick r:id="rId8" action="ppaction://hlinksldjump"/>
              </a:rPr>
              <a:t>Correlation</a:t>
            </a:r>
            <a:endParaRPr sz="1100">
              <a:latin typeface="Tahoma"/>
              <a:cs typeface="Tahoma"/>
            </a:endParaRPr>
          </a:p>
          <a:p>
            <a:pPr marL="151130">
              <a:lnSpc>
                <a:spcPct val="100000"/>
              </a:lnSpc>
              <a:spcBef>
                <a:spcPts val="35"/>
              </a:spcBef>
            </a:pPr>
            <a:r>
              <a:rPr dirty="0" sz="1100" spc="-10">
                <a:solidFill>
                  <a:srgbClr val="CCCCCC"/>
                </a:solidFill>
                <a:latin typeface="Tahoma"/>
                <a:cs typeface="Tahoma"/>
                <a:hlinkClick r:id="rId9" action="ppaction://hlinksldjump"/>
              </a:rPr>
              <a:t>Convolution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9280" y="2091537"/>
            <a:ext cx="160096" cy="160096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29743" y="2090876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EAEAF7"/>
                </a:solidFill>
                <a:latin typeface="Tahoma"/>
                <a:cs typeface="Tahoma"/>
              </a:rPr>
              <a:t>3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5173" y="2063444"/>
            <a:ext cx="11360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solidFill>
                  <a:srgbClr val="3333B2"/>
                </a:solidFill>
                <a:latin typeface="Tahoma"/>
                <a:cs typeface="Tahoma"/>
                <a:hlinkClick r:id="rId11" action="ppaction://hlinksldjump"/>
              </a:rPr>
              <a:t>Boundary</a:t>
            </a:r>
            <a:r>
              <a:rPr dirty="0" sz="1100" spc="-35">
                <a:solidFill>
                  <a:srgbClr val="3333B2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1100" spc="-50">
                <a:solidFill>
                  <a:srgbClr val="3333B2"/>
                </a:solidFill>
                <a:latin typeface="Tahoma"/>
                <a:cs typeface="Tahoma"/>
                <a:hlinkClick r:id="rId11" action="ppaction://hlinksldjump"/>
              </a:rPr>
              <a:t>problems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9280" y="2523312"/>
            <a:ext cx="160096" cy="160096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29743" y="2522663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FAFAFD"/>
                </a:solidFill>
                <a:latin typeface="Tahoma"/>
                <a:cs typeface="Tahoma"/>
              </a:rPr>
              <a:t>4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95173" y="2495218"/>
            <a:ext cx="7429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5">
                <a:solidFill>
                  <a:srgbClr val="D6D6EF"/>
                </a:solidFill>
                <a:latin typeface="Tahoma"/>
                <a:cs typeface="Tahoma"/>
                <a:hlinkClick r:id="rId13" action="ppaction://hlinksldjump"/>
              </a:rPr>
              <a:t>Linear</a:t>
            </a:r>
            <a:r>
              <a:rPr dirty="0" sz="1100" spc="-45">
                <a:solidFill>
                  <a:srgbClr val="D6D6EF"/>
                </a:solidFill>
                <a:latin typeface="Tahoma"/>
                <a:cs typeface="Tahoma"/>
                <a:hlinkClick r:id="rId13" action="ppaction://hlinksldjump"/>
              </a:rPr>
              <a:t> </a:t>
            </a:r>
            <a:r>
              <a:rPr dirty="0" sz="1100" spc="-20">
                <a:solidFill>
                  <a:srgbClr val="D6D6EF"/>
                </a:solidFill>
                <a:latin typeface="Tahoma"/>
                <a:cs typeface="Tahoma"/>
                <a:hlinkClick r:id="rId13" action="ppaction://hlinksldjump"/>
              </a:rPr>
              <a:t>filters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9" name="object 19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45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320"/>
              <a:t> </a:t>
            </a:r>
            <a:r>
              <a:rPr dirty="0"/>
              <a:t>(CSIT</a:t>
            </a:r>
            <a:r>
              <a:rPr dirty="0" spc="70"/>
              <a:t> </a:t>
            </a:r>
            <a:r>
              <a:rPr dirty="0"/>
              <a:t>-</a:t>
            </a:r>
            <a:r>
              <a:rPr dirty="0" spc="60"/>
              <a:t> </a:t>
            </a:r>
            <a:r>
              <a:rPr dirty="0" spc="-20"/>
              <a:t>UoB)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648358" y="3351784"/>
            <a:ext cx="89217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Linearity</a:t>
            </a:r>
            <a:r>
              <a:rPr dirty="0" sz="600" spc="-5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and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Convolution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June</a:t>
            </a:r>
            <a:r>
              <a:rPr dirty="0" spc="-5"/>
              <a:t> </a:t>
            </a:r>
            <a:r>
              <a:rPr dirty="0"/>
              <a:t>17,</a:t>
            </a:r>
            <a:r>
              <a:rPr dirty="0" spc="-5"/>
              <a:t> </a:t>
            </a:r>
            <a:r>
              <a:rPr dirty="0" spc="-20"/>
              <a:t>2026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14</a:t>
            </a:r>
            <a:r>
              <a:rPr dirty="0" spc="10"/>
              <a:t> </a:t>
            </a:r>
            <a:r>
              <a:rPr dirty="0" spc="90"/>
              <a:t>/</a:t>
            </a:r>
            <a:r>
              <a:rPr dirty="0" spc="10"/>
              <a:t> </a:t>
            </a:r>
            <a:r>
              <a:rPr dirty="0" spc="-25"/>
              <a:t>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14943"/>
            <a:ext cx="1448435" cy="454025"/>
          </a:xfrm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pc="-45"/>
              <a:t>Boundary</a:t>
            </a:r>
            <a:r>
              <a:rPr dirty="0" spc="-35"/>
              <a:t> </a:t>
            </a:r>
            <a:r>
              <a:rPr dirty="0" spc="-65"/>
              <a:t>problems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>
                <a:latin typeface="Tahoma"/>
                <a:cs typeface="Tahoma"/>
              </a:rPr>
              <a:t>Size</a:t>
            </a:r>
            <a:r>
              <a:rPr dirty="0" sz="900" spc="-2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of</a:t>
            </a:r>
            <a:r>
              <a:rPr dirty="0" sz="900" spc="-2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the</a:t>
            </a:r>
            <a:r>
              <a:rPr dirty="0" sz="900" spc="-2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output?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762838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952652"/>
            <a:ext cx="52590" cy="525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1104481"/>
            <a:ext cx="52590" cy="5259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865" y="1256309"/>
            <a:ext cx="52590" cy="5259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361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dirty="0"/>
              <a:t>What</a:t>
            </a:r>
            <a:r>
              <a:rPr dirty="0" spc="-65"/>
              <a:t> </a:t>
            </a:r>
            <a:r>
              <a:rPr dirty="0"/>
              <a:t>is</a:t>
            </a:r>
            <a:r>
              <a:rPr dirty="0" spc="-45"/>
              <a:t> </a:t>
            </a:r>
            <a:r>
              <a:rPr dirty="0" spc="-10"/>
              <a:t>the</a:t>
            </a:r>
            <a:r>
              <a:rPr dirty="0" spc="-50"/>
              <a:t> </a:t>
            </a:r>
            <a:r>
              <a:rPr dirty="0" spc="-25"/>
              <a:t>size</a:t>
            </a:r>
            <a:r>
              <a:rPr dirty="0" spc="-45"/>
              <a:t> </a:t>
            </a:r>
            <a:r>
              <a:rPr dirty="0"/>
              <a:t>of</a:t>
            </a:r>
            <a:r>
              <a:rPr dirty="0" spc="-45"/>
              <a:t> </a:t>
            </a:r>
            <a:r>
              <a:rPr dirty="0" spc="-10"/>
              <a:t>the</a:t>
            </a:r>
            <a:r>
              <a:rPr dirty="0" spc="-45"/>
              <a:t> </a:t>
            </a:r>
            <a:r>
              <a:rPr dirty="0" spc="-20"/>
              <a:t>output</a:t>
            </a:r>
            <a:r>
              <a:rPr dirty="0" spc="-50"/>
              <a:t> </a:t>
            </a:r>
            <a:r>
              <a:rPr dirty="0" spc="-25"/>
              <a:t>image?</a:t>
            </a:r>
            <a:r>
              <a:rPr dirty="0" spc="50"/>
              <a:t> </a:t>
            </a:r>
            <a:r>
              <a:rPr dirty="0"/>
              <a:t>The</a:t>
            </a:r>
            <a:r>
              <a:rPr dirty="0" spc="-45"/>
              <a:t> </a:t>
            </a:r>
            <a:r>
              <a:rPr dirty="0" spc="-55"/>
              <a:t>shape</a:t>
            </a:r>
            <a:r>
              <a:rPr dirty="0" spc="-30"/>
              <a:t> </a:t>
            </a:r>
            <a:r>
              <a:rPr dirty="0" spc="-25"/>
              <a:t>is</a:t>
            </a:r>
          </a:p>
          <a:p>
            <a:pPr marL="289560">
              <a:lnSpc>
                <a:spcPts val="1200"/>
              </a:lnSpc>
              <a:spcBef>
                <a:spcPts val="175"/>
              </a:spcBef>
            </a:pPr>
            <a:r>
              <a:rPr dirty="0" sz="1000" b="1">
                <a:latin typeface="Corbel"/>
                <a:cs typeface="Corbel"/>
              </a:rPr>
              <a:t>full:</a:t>
            </a:r>
            <a:r>
              <a:rPr dirty="0" sz="1000" spc="175" b="1">
                <a:latin typeface="Corbel"/>
                <a:cs typeface="Corbel"/>
              </a:rPr>
              <a:t> </a:t>
            </a:r>
            <a:r>
              <a:rPr dirty="0" sz="1000"/>
              <a:t>Output</a:t>
            </a:r>
            <a:r>
              <a:rPr dirty="0" sz="1000" spc="-20"/>
              <a:t> </a:t>
            </a:r>
            <a:r>
              <a:rPr dirty="0" sz="1000" spc="-25"/>
              <a:t>size</a:t>
            </a:r>
            <a:r>
              <a:rPr dirty="0" sz="1000" spc="-20"/>
              <a:t> </a:t>
            </a:r>
            <a:r>
              <a:rPr dirty="0" sz="1000"/>
              <a:t>is</a:t>
            </a:r>
            <a:r>
              <a:rPr dirty="0" sz="1000" spc="-25"/>
              <a:t> </a:t>
            </a:r>
            <a:r>
              <a:rPr dirty="0" sz="1000"/>
              <a:t>of</a:t>
            </a:r>
            <a:r>
              <a:rPr dirty="0" sz="1000" spc="-25"/>
              <a:t> </a:t>
            </a:r>
            <a:r>
              <a:rPr dirty="0" sz="1000" spc="-35"/>
              <a:t>sizes</a:t>
            </a:r>
            <a:r>
              <a:rPr dirty="0" sz="1000" spc="-20"/>
              <a:t> </a:t>
            </a:r>
            <a:r>
              <a:rPr dirty="0" sz="1000"/>
              <a:t>of</a:t>
            </a:r>
            <a:r>
              <a:rPr dirty="0" sz="1000" spc="-15"/>
              <a:t> </a:t>
            </a:r>
            <a:r>
              <a:rPr dirty="0" sz="1000" i="1">
                <a:latin typeface="Arial"/>
                <a:cs typeface="Arial"/>
              </a:rPr>
              <a:t>f</a:t>
            </a:r>
            <a:r>
              <a:rPr dirty="0" sz="1000" spc="200" i="1">
                <a:latin typeface="Arial"/>
                <a:cs typeface="Arial"/>
              </a:rPr>
              <a:t> </a:t>
            </a:r>
            <a:r>
              <a:rPr dirty="0" sz="1000" spc="-25"/>
              <a:t>and</a:t>
            </a:r>
            <a:r>
              <a:rPr dirty="0" sz="1000" spc="-20"/>
              <a:t> </a:t>
            </a:r>
            <a:r>
              <a:rPr dirty="0" sz="1000" spc="-50" i="1">
                <a:latin typeface="Arial"/>
                <a:cs typeface="Arial"/>
              </a:rPr>
              <a:t>g</a:t>
            </a:r>
            <a:endParaRPr sz="1000">
              <a:latin typeface="Arial"/>
              <a:cs typeface="Arial"/>
            </a:endParaRPr>
          </a:p>
          <a:p>
            <a:pPr marL="289560">
              <a:lnSpc>
                <a:spcPts val="1195"/>
              </a:lnSpc>
            </a:pPr>
            <a:r>
              <a:rPr dirty="0" sz="1000" b="1">
                <a:latin typeface="Corbel"/>
                <a:cs typeface="Corbel"/>
              </a:rPr>
              <a:t>same:</a:t>
            </a:r>
            <a:r>
              <a:rPr dirty="0" sz="1000" spc="170" b="1">
                <a:latin typeface="Corbel"/>
                <a:cs typeface="Corbel"/>
              </a:rPr>
              <a:t> </a:t>
            </a:r>
            <a:r>
              <a:rPr dirty="0" sz="1000"/>
              <a:t>Output</a:t>
            </a:r>
            <a:r>
              <a:rPr dirty="0" sz="1000" spc="-30"/>
              <a:t> </a:t>
            </a:r>
            <a:r>
              <a:rPr dirty="0" sz="1000" spc="-25"/>
              <a:t>size </a:t>
            </a:r>
            <a:r>
              <a:rPr dirty="0" sz="1000"/>
              <a:t>is</a:t>
            </a:r>
            <a:r>
              <a:rPr dirty="0" sz="1000" spc="-30"/>
              <a:t> </a:t>
            </a:r>
            <a:r>
              <a:rPr dirty="0" sz="1000" spc="-55"/>
              <a:t>same</a:t>
            </a:r>
            <a:r>
              <a:rPr dirty="0" sz="1000" spc="-25"/>
              <a:t> </a:t>
            </a:r>
            <a:r>
              <a:rPr dirty="0" sz="1000"/>
              <a:t>of</a:t>
            </a:r>
            <a:r>
              <a:rPr dirty="0" sz="1000" spc="-20"/>
              <a:t> </a:t>
            </a:r>
            <a:r>
              <a:rPr dirty="0" sz="1000" spc="-50" i="1">
                <a:latin typeface="Arial"/>
                <a:cs typeface="Arial"/>
              </a:rPr>
              <a:t>f</a:t>
            </a:r>
            <a:endParaRPr sz="1000">
              <a:latin typeface="Arial"/>
              <a:cs typeface="Arial"/>
            </a:endParaRPr>
          </a:p>
          <a:p>
            <a:pPr marL="289560">
              <a:lnSpc>
                <a:spcPts val="1200"/>
              </a:lnSpc>
            </a:pPr>
            <a:r>
              <a:rPr dirty="0" sz="1000" b="1">
                <a:latin typeface="Corbel"/>
                <a:cs typeface="Corbel"/>
              </a:rPr>
              <a:t>valid:</a:t>
            </a:r>
            <a:r>
              <a:rPr dirty="0" sz="1000" spc="170" b="1">
                <a:latin typeface="Corbel"/>
                <a:cs typeface="Corbel"/>
              </a:rPr>
              <a:t> </a:t>
            </a:r>
            <a:r>
              <a:rPr dirty="0" sz="1000"/>
              <a:t>Output</a:t>
            </a:r>
            <a:r>
              <a:rPr dirty="0" sz="1000" spc="-25"/>
              <a:t> size</a:t>
            </a:r>
            <a:r>
              <a:rPr dirty="0" sz="1000" spc="-20"/>
              <a:t> </a:t>
            </a:r>
            <a:r>
              <a:rPr dirty="0" sz="1000"/>
              <a:t>is</a:t>
            </a:r>
            <a:r>
              <a:rPr dirty="0" sz="1000" spc="-20"/>
              <a:t> </a:t>
            </a:r>
            <a:r>
              <a:rPr dirty="0" sz="1000" spc="-40">
                <a:solidFill>
                  <a:srgbClr val="FF0000"/>
                </a:solidFill>
              </a:rPr>
              <a:t>difference</a:t>
            </a:r>
            <a:r>
              <a:rPr dirty="0" sz="1000" spc="-25">
                <a:solidFill>
                  <a:srgbClr val="FF0000"/>
                </a:solidFill>
              </a:rPr>
              <a:t> </a:t>
            </a:r>
            <a:r>
              <a:rPr dirty="0" sz="1000"/>
              <a:t>of</a:t>
            </a:r>
            <a:r>
              <a:rPr dirty="0" sz="1000" spc="-20"/>
              <a:t> </a:t>
            </a:r>
            <a:r>
              <a:rPr dirty="0" sz="1000" spc="-35"/>
              <a:t>sizes</a:t>
            </a:r>
            <a:r>
              <a:rPr dirty="0" sz="1000" spc="-25"/>
              <a:t> </a:t>
            </a:r>
            <a:r>
              <a:rPr dirty="0" sz="1000"/>
              <a:t>of</a:t>
            </a:r>
            <a:r>
              <a:rPr dirty="0" sz="1000" spc="-20"/>
              <a:t> </a:t>
            </a:r>
            <a:r>
              <a:rPr dirty="0" sz="1000" i="1">
                <a:latin typeface="Arial"/>
                <a:cs typeface="Arial"/>
              </a:rPr>
              <a:t>f</a:t>
            </a:r>
            <a:r>
              <a:rPr dirty="0" sz="1000" spc="200" i="1">
                <a:latin typeface="Arial"/>
                <a:cs typeface="Arial"/>
              </a:rPr>
              <a:t> </a:t>
            </a:r>
            <a:r>
              <a:rPr dirty="0" sz="1000" spc="-25"/>
              <a:t>and</a:t>
            </a:r>
            <a:r>
              <a:rPr dirty="0" sz="1000" spc="-20"/>
              <a:t> </a:t>
            </a:r>
            <a:r>
              <a:rPr dirty="0" sz="1000" spc="-50" i="1">
                <a:latin typeface="Arial"/>
                <a:cs typeface="Arial"/>
              </a:rPr>
              <a:t>g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95464" y="1522882"/>
            <a:ext cx="3408679" cy="1098042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006271" y="2773075"/>
            <a:ext cx="259651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30">
                <a:solidFill>
                  <a:srgbClr val="3333B2"/>
                </a:solidFill>
                <a:latin typeface="Tahoma"/>
                <a:cs typeface="Tahoma"/>
              </a:rPr>
              <a:t>Figure:</a:t>
            </a:r>
            <a:r>
              <a:rPr dirty="0" sz="1000" spc="-35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Boundary </a:t>
            </a:r>
            <a:r>
              <a:rPr dirty="0" sz="1000" spc="-35">
                <a:latin typeface="Tahoma"/>
                <a:cs typeface="Tahoma"/>
              </a:rPr>
              <a:t>problems.</a:t>
            </a:r>
            <a:r>
              <a:rPr dirty="0" sz="1000" spc="6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Source:</a:t>
            </a:r>
            <a:r>
              <a:rPr dirty="0" sz="1000" spc="6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S.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Lazebnik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2" name="object 12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45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320"/>
              <a:t> </a:t>
            </a:r>
            <a:r>
              <a:rPr dirty="0"/>
              <a:t>(CSIT</a:t>
            </a:r>
            <a:r>
              <a:rPr dirty="0" spc="70"/>
              <a:t> </a:t>
            </a:r>
            <a:r>
              <a:rPr dirty="0"/>
              <a:t>-</a:t>
            </a:r>
            <a:r>
              <a:rPr dirty="0" spc="60"/>
              <a:t> </a:t>
            </a:r>
            <a:r>
              <a:rPr dirty="0" spc="-20"/>
              <a:t>UoB)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648358" y="3351784"/>
            <a:ext cx="89217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Linearity</a:t>
            </a:r>
            <a:r>
              <a:rPr dirty="0" sz="600" spc="-5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and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7" action="ppaction://hlinksldjump"/>
              </a:rPr>
              <a:t>Convolution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June</a:t>
            </a:r>
            <a:r>
              <a:rPr dirty="0" spc="-5"/>
              <a:t> </a:t>
            </a:r>
            <a:r>
              <a:rPr dirty="0"/>
              <a:t>17,</a:t>
            </a:r>
            <a:r>
              <a:rPr dirty="0" spc="-5"/>
              <a:t> </a:t>
            </a:r>
            <a:r>
              <a:rPr dirty="0" spc="-20"/>
              <a:t>2026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15</a:t>
            </a:r>
            <a:r>
              <a:rPr dirty="0" spc="10"/>
              <a:t> </a:t>
            </a:r>
            <a:r>
              <a:rPr dirty="0" spc="90"/>
              <a:t>/</a:t>
            </a:r>
            <a:r>
              <a:rPr dirty="0" spc="10"/>
              <a:t> </a:t>
            </a:r>
            <a:r>
              <a:rPr dirty="0" spc="-25"/>
              <a:t>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14943"/>
            <a:ext cx="1448435" cy="45402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400" spc="-45">
                <a:solidFill>
                  <a:srgbClr val="FFFFFF"/>
                </a:solidFill>
                <a:latin typeface="Arial MT"/>
                <a:cs typeface="Arial MT"/>
              </a:rPr>
              <a:t>Boundary</a:t>
            </a:r>
            <a:r>
              <a:rPr dirty="0" sz="14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00" spc="-65">
                <a:solidFill>
                  <a:srgbClr val="FFFFFF"/>
                </a:solidFill>
                <a:latin typeface="Arial MT"/>
                <a:cs typeface="Arial MT"/>
              </a:rPr>
              <a:t>problems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>
                <a:solidFill>
                  <a:srgbClr val="FFFFFF"/>
                </a:solidFill>
                <a:latin typeface="Tahoma"/>
                <a:cs typeface="Tahoma"/>
              </a:rPr>
              <a:t>Size</a:t>
            </a:r>
            <a:r>
              <a:rPr dirty="0" sz="900" spc="-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dirty="0" sz="900" spc="-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dirty="0" sz="900" spc="-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Tahoma"/>
                <a:cs typeface="Tahoma"/>
              </a:rPr>
              <a:t>output?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2646" y="1790395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14489" y="1706942"/>
            <a:ext cx="99250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Tahoma"/>
                <a:cs typeface="Tahoma"/>
              </a:rPr>
              <a:t>clip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filter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(black)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87256" y="1157211"/>
            <a:ext cx="1223771" cy="1226566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45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320"/>
              <a:t> </a:t>
            </a:r>
            <a:r>
              <a:rPr dirty="0"/>
              <a:t>(CSIT</a:t>
            </a:r>
            <a:r>
              <a:rPr dirty="0" spc="70"/>
              <a:t> </a:t>
            </a:r>
            <a:r>
              <a:rPr dirty="0"/>
              <a:t>-</a:t>
            </a:r>
            <a:r>
              <a:rPr dirty="0" spc="60"/>
              <a:t> </a:t>
            </a:r>
            <a:r>
              <a:rPr dirty="0" spc="-20"/>
              <a:t>UoB)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648358" y="3351784"/>
            <a:ext cx="89217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Linearity</a:t>
            </a:r>
            <a:r>
              <a:rPr dirty="0" sz="600" spc="-5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and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Convolution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June</a:t>
            </a:r>
            <a:r>
              <a:rPr dirty="0" spc="-5"/>
              <a:t> </a:t>
            </a:r>
            <a:r>
              <a:rPr dirty="0"/>
              <a:t>17,</a:t>
            </a:r>
            <a:r>
              <a:rPr dirty="0" spc="-5"/>
              <a:t> </a:t>
            </a:r>
            <a:r>
              <a:rPr dirty="0" spc="-20"/>
              <a:t>2026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16</a:t>
            </a:r>
            <a:r>
              <a:rPr dirty="0" spc="10"/>
              <a:t> </a:t>
            </a:r>
            <a:r>
              <a:rPr dirty="0" spc="90"/>
              <a:t>/</a:t>
            </a:r>
            <a:r>
              <a:rPr dirty="0" spc="10"/>
              <a:t> </a:t>
            </a:r>
            <a:r>
              <a:rPr dirty="0" spc="-25"/>
              <a:t>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14943"/>
            <a:ext cx="1448435" cy="45402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400" spc="-45">
                <a:solidFill>
                  <a:srgbClr val="FFFFFF"/>
                </a:solidFill>
                <a:latin typeface="Arial MT"/>
                <a:cs typeface="Arial MT"/>
              </a:rPr>
              <a:t>Boundary</a:t>
            </a:r>
            <a:r>
              <a:rPr dirty="0" sz="14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00" spc="-65">
                <a:solidFill>
                  <a:srgbClr val="FFFFFF"/>
                </a:solidFill>
                <a:latin typeface="Arial MT"/>
                <a:cs typeface="Arial MT"/>
              </a:rPr>
              <a:t>problems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>
                <a:solidFill>
                  <a:srgbClr val="FFFFFF"/>
                </a:solidFill>
                <a:latin typeface="Tahoma"/>
                <a:cs typeface="Tahoma"/>
              </a:rPr>
              <a:t>Size</a:t>
            </a:r>
            <a:r>
              <a:rPr dirty="0" sz="900" spc="-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dirty="0" sz="900" spc="-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dirty="0" sz="900" spc="-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Tahoma"/>
                <a:cs typeface="Tahoma"/>
              </a:rPr>
              <a:t>output?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2646" y="1790395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14489" y="1706942"/>
            <a:ext cx="99250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Tahoma"/>
                <a:cs typeface="Tahoma"/>
              </a:rPr>
              <a:t>clip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filter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(black)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29166" y="1199121"/>
            <a:ext cx="1159509" cy="1142745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45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320"/>
              <a:t> </a:t>
            </a:r>
            <a:r>
              <a:rPr dirty="0"/>
              <a:t>(CSIT</a:t>
            </a:r>
            <a:r>
              <a:rPr dirty="0" spc="70"/>
              <a:t> </a:t>
            </a:r>
            <a:r>
              <a:rPr dirty="0"/>
              <a:t>-</a:t>
            </a:r>
            <a:r>
              <a:rPr dirty="0" spc="60"/>
              <a:t> </a:t>
            </a:r>
            <a:r>
              <a:rPr dirty="0" spc="-20"/>
              <a:t>UoB)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648358" y="3351784"/>
            <a:ext cx="89217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Linearity</a:t>
            </a:r>
            <a:r>
              <a:rPr dirty="0" sz="600" spc="-5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and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Convolution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June</a:t>
            </a:r>
            <a:r>
              <a:rPr dirty="0" spc="-5"/>
              <a:t> </a:t>
            </a:r>
            <a:r>
              <a:rPr dirty="0"/>
              <a:t>17,</a:t>
            </a:r>
            <a:r>
              <a:rPr dirty="0" spc="-5"/>
              <a:t> </a:t>
            </a:r>
            <a:r>
              <a:rPr dirty="0" spc="-20"/>
              <a:t>2026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17</a:t>
            </a:r>
            <a:r>
              <a:rPr dirty="0" spc="10"/>
              <a:t> </a:t>
            </a:r>
            <a:r>
              <a:rPr dirty="0" spc="90"/>
              <a:t>/</a:t>
            </a:r>
            <a:r>
              <a:rPr dirty="0" spc="10"/>
              <a:t> </a:t>
            </a:r>
            <a:r>
              <a:rPr dirty="0" spc="-25"/>
              <a:t>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45"/>
              <a:t>Contents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0" y="883818"/>
            <a:ext cx="160096" cy="16009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9743" y="883156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FAFAFD"/>
                </a:solidFill>
                <a:latin typeface="Tahoma"/>
                <a:cs typeface="Tahoma"/>
              </a:rPr>
              <a:t>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5173" y="855724"/>
            <a:ext cx="10744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solidFill>
                  <a:srgbClr val="D6D6EF"/>
                </a:solidFill>
                <a:latin typeface="Tahoma"/>
                <a:cs typeface="Tahoma"/>
                <a:hlinkClick r:id="rId3" action="ppaction://hlinksldjump"/>
              </a:rPr>
              <a:t>Filtering</a:t>
            </a:r>
            <a:r>
              <a:rPr dirty="0" sz="1100" spc="-75">
                <a:solidFill>
                  <a:srgbClr val="D6D6E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1100">
                <a:solidFill>
                  <a:srgbClr val="D6D6EF"/>
                </a:solidFill>
                <a:latin typeface="Tahoma"/>
                <a:cs typeface="Tahoma"/>
                <a:hlinkClick r:id="rId3" action="ppaction://hlinksldjump"/>
              </a:rPr>
              <a:t>an</a:t>
            </a:r>
            <a:r>
              <a:rPr dirty="0" sz="1100" spc="-65">
                <a:solidFill>
                  <a:srgbClr val="D6D6E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dirty="0" sz="1100" spc="-45">
                <a:solidFill>
                  <a:srgbClr val="D6D6EF"/>
                </a:solidFill>
                <a:latin typeface="Tahoma"/>
                <a:cs typeface="Tahoma"/>
                <a:hlinkClick r:id="rId3" action="ppaction://hlinksldjump"/>
              </a:rPr>
              <a:t>image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280" y="1315605"/>
            <a:ext cx="160096" cy="16009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9743" y="1314944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FAFAFD"/>
                </a:solidFill>
                <a:latin typeface="Tahoma"/>
                <a:cs typeface="Tahoma"/>
              </a:rPr>
              <a:t>2</a:t>
            </a:r>
            <a:endParaRPr sz="8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9582" y="1539405"/>
            <a:ext cx="65265" cy="6526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19582" y="1711477"/>
            <a:ext cx="65265" cy="6526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95173" y="1287512"/>
            <a:ext cx="1560830" cy="53594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51130" marR="5080" indent="-139065">
              <a:lnSpc>
                <a:spcPct val="102600"/>
              </a:lnSpc>
              <a:spcBef>
                <a:spcPts val="55"/>
              </a:spcBef>
            </a:pPr>
            <a:r>
              <a:rPr dirty="0" sz="1100" spc="-30">
                <a:solidFill>
                  <a:srgbClr val="D6D6EF"/>
                </a:solidFill>
                <a:latin typeface="Tahoma"/>
                <a:cs typeface="Tahoma"/>
                <a:hlinkClick r:id="rId7" action="ppaction://hlinksldjump"/>
              </a:rPr>
              <a:t>Correlation </a:t>
            </a:r>
            <a:r>
              <a:rPr dirty="0" sz="1100" spc="-20">
                <a:solidFill>
                  <a:srgbClr val="D6D6EF"/>
                </a:solidFill>
                <a:latin typeface="Tahoma"/>
                <a:cs typeface="Tahoma"/>
                <a:hlinkClick r:id="rId7" action="ppaction://hlinksldjump"/>
              </a:rPr>
              <a:t>vs</a:t>
            </a:r>
            <a:r>
              <a:rPr dirty="0" sz="1100" spc="-30">
                <a:solidFill>
                  <a:srgbClr val="D6D6EF"/>
                </a:solidFill>
                <a:latin typeface="Tahoma"/>
                <a:cs typeface="Tahoma"/>
                <a:hlinkClick r:id="rId7" action="ppaction://hlinksldjump"/>
              </a:rPr>
              <a:t> Convolution</a:t>
            </a:r>
            <a:r>
              <a:rPr dirty="0" sz="1100" spc="-30">
                <a:solidFill>
                  <a:srgbClr val="D6D6EF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Tahoma"/>
                <a:cs typeface="Tahoma"/>
                <a:hlinkClick r:id="rId8" action="ppaction://hlinksldjump"/>
              </a:rPr>
              <a:t>Correlation</a:t>
            </a:r>
            <a:endParaRPr sz="1100">
              <a:latin typeface="Tahoma"/>
              <a:cs typeface="Tahoma"/>
            </a:endParaRPr>
          </a:p>
          <a:p>
            <a:pPr marL="151130">
              <a:lnSpc>
                <a:spcPct val="100000"/>
              </a:lnSpc>
              <a:spcBef>
                <a:spcPts val="35"/>
              </a:spcBef>
            </a:pPr>
            <a:r>
              <a:rPr dirty="0" sz="1100" spc="-10">
                <a:solidFill>
                  <a:srgbClr val="CCCCCC"/>
                </a:solidFill>
                <a:latin typeface="Tahoma"/>
                <a:cs typeface="Tahoma"/>
                <a:hlinkClick r:id="rId9" action="ppaction://hlinksldjump"/>
              </a:rPr>
              <a:t>Convolution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9280" y="2091537"/>
            <a:ext cx="160096" cy="160096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29743" y="2090876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FAFAFD"/>
                </a:solidFill>
                <a:latin typeface="Tahoma"/>
                <a:cs typeface="Tahoma"/>
              </a:rPr>
              <a:t>3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5173" y="2063444"/>
            <a:ext cx="11360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0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Boundary</a:t>
            </a:r>
            <a:r>
              <a:rPr dirty="0" sz="1100" spc="-35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 </a:t>
            </a:r>
            <a:r>
              <a:rPr dirty="0" sz="1100" spc="-50">
                <a:solidFill>
                  <a:srgbClr val="D6D6EF"/>
                </a:solidFill>
                <a:latin typeface="Tahoma"/>
                <a:cs typeface="Tahoma"/>
                <a:hlinkClick r:id="rId11" action="ppaction://hlinksldjump"/>
              </a:rPr>
              <a:t>problems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9280" y="2523312"/>
            <a:ext cx="160096" cy="160096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29743" y="2522663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EAEAF7"/>
                </a:solidFill>
                <a:latin typeface="Tahoma"/>
                <a:cs typeface="Tahoma"/>
              </a:rPr>
              <a:t>4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95173" y="2495218"/>
            <a:ext cx="7429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5">
                <a:solidFill>
                  <a:srgbClr val="3333B2"/>
                </a:solidFill>
                <a:latin typeface="Tahoma"/>
                <a:cs typeface="Tahoma"/>
                <a:hlinkClick r:id="rId13" action="ppaction://hlinksldjump"/>
              </a:rPr>
              <a:t>Linear</a:t>
            </a:r>
            <a:r>
              <a:rPr dirty="0" sz="1100" spc="-45">
                <a:solidFill>
                  <a:srgbClr val="3333B2"/>
                </a:solidFill>
                <a:latin typeface="Tahoma"/>
                <a:cs typeface="Tahoma"/>
                <a:hlinkClick r:id="rId13" action="ppaction://hlinksldjump"/>
              </a:rPr>
              <a:t> </a:t>
            </a:r>
            <a:r>
              <a:rPr dirty="0" sz="1100" spc="-20">
                <a:solidFill>
                  <a:srgbClr val="3333B2"/>
                </a:solidFill>
                <a:latin typeface="Tahoma"/>
                <a:cs typeface="Tahoma"/>
                <a:hlinkClick r:id="rId13" action="ppaction://hlinksldjump"/>
              </a:rPr>
              <a:t>filters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9" name="object 19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45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320"/>
              <a:t> </a:t>
            </a:r>
            <a:r>
              <a:rPr dirty="0"/>
              <a:t>(CSIT</a:t>
            </a:r>
            <a:r>
              <a:rPr dirty="0" spc="70"/>
              <a:t> </a:t>
            </a:r>
            <a:r>
              <a:rPr dirty="0"/>
              <a:t>-</a:t>
            </a:r>
            <a:r>
              <a:rPr dirty="0" spc="60"/>
              <a:t> </a:t>
            </a:r>
            <a:r>
              <a:rPr dirty="0" spc="-20"/>
              <a:t>UoB)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648358" y="3351784"/>
            <a:ext cx="89217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Linearity</a:t>
            </a:r>
            <a:r>
              <a:rPr dirty="0" sz="600" spc="-5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and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14" action="ppaction://hlinksldjump"/>
              </a:rPr>
              <a:t>Convolution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June</a:t>
            </a:r>
            <a:r>
              <a:rPr dirty="0" spc="-5"/>
              <a:t> </a:t>
            </a:r>
            <a:r>
              <a:rPr dirty="0"/>
              <a:t>17,</a:t>
            </a:r>
            <a:r>
              <a:rPr dirty="0" spc="-5"/>
              <a:t> </a:t>
            </a:r>
            <a:r>
              <a:rPr dirty="0" spc="-20"/>
              <a:t>2026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18</a:t>
            </a:r>
            <a:r>
              <a:rPr dirty="0" spc="10"/>
              <a:t> </a:t>
            </a:r>
            <a:r>
              <a:rPr dirty="0" spc="90"/>
              <a:t>/</a:t>
            </a:r>
            <a:r>
              <a:rPr dirty="0" spc="10"/>
              <a:t> </a:t>
            </a:r>
            <a:r>
              <a:rPr dirty="0" spc="-25"/>
              <a:t>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59878"/>
            <a:ext cx="99314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45">
                <a:solidFill>
                  <a:srgbClr val="FFFFFF"/>
                </a:solidFill>
                <a:latin typeface="Arial MT"/>
                <a:cs typeface="Arial MT"/>
              </a:rPr>
              <a:t>Linear</a:t>
            </a:r>
            <a:r>
              <a:rPr dirty="0" sz="14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Arial MT"/>
                <a:cs typeface="Arial MT"/>
              </a:rPr>
              <a:t>Filters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014437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1878" y="1273403"/>
            <a:ext cx="2735579" cy="1017270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45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320"/>
              <a:t> </a:t>
            </a:r>
            <a:r>
              <a:rPr dirty="0"/>
              <a:t>(CSIT</a:t>
            </a:r>
            <a:r>
              <a:rPr dirty="0" spc="70"/>
              <a:t> </a:t>
            </a:r>
            <a:r>
              <a:rPr dirty="0"/>
              <a:t>-</a:t>
            </a:r>
            <a:r>
              <a:rPr dirty="0" spc="60"/>
              <a:t> </a:t>
            </a:r>
            <a:r>
              <a:rPr dirty="0" spc="-20"/>
              <a:t>UoB)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648358" y="3351784"/>
            <a:ext cx="89217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Linearity</a:t>
            </a:r>
            <a:r>
              <a:rPr dirty="0" sz="600" spc="-5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and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Convolution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June</a:t>
            </a:r>
            <a:r>
              <a:rPr dirty="0" spc="-5"/>
              <a:t> </a:t>
            </a:r>
            <a:r>
              <a:rPr dirty="0"/>
              <a:t>17,</a:t>
            </a:r>
            <a:r>
              <a:rPr dirty="0" spc="-5"/>
              <a:t> </a:t>
            </a:r>
            <a:r>
              <a:rPr dirty="0" spc="-20"/>
              <a:t>2026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19</a:t>
            </a:r>
            <a:r>
              <a:rPr dirty="0" spc="10"/>
              <a:t> </a:t>
            </a:r>
            <a:r>
              <a:rPr dirty="0" spc="90"/>
              <a:t>/</a:t>
            </a:r>
            <a:r>
              <a:rPr dirty="0" spc="10"/>
              <a:t> </a:t>
            </a:r>
            <a:r>
              <a:rPr dirty="0" spc="-25"/>
              <a:t>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59878"/>
            <a:ext cx="99314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45">
                <a:solidFill>
                  <a:srgbClr val="FFFFFF"/>
                </a:solidFill>
                <a:latin typeface="Arial MT"/>
                <a:cs typeface="Arial MT"/>
              </a:rPr>
              <a:t>Linear</a:t>
            </a:r>
            <a:r>
              <a:rPr dirty="0" sz="14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Arial MT"/>
                <a:cs typeface="Arial MT"/>
              </a:rPr>
              <a:t>Filters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003668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920215"/>
            <a:ext cx="12998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Tahoma"/>
                <a:cs typeface="Tahoma"/>
              </a:rPr>
              <a:t>Filter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with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no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change.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1878" y="1289558"/>
            <a:ext cx="3211829" cy="1150620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45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320"/>
              <a:t> </a:t>
            </a:r>
            <a:r>
              <a:rPr dirty="0"/>
              <a:t>(CSIT</a:t>
            </a:r>
            <a:r>
              <a:rPr dirty="0" spc="70"/>
              <a:t> </a:t>
            </a:r>
            <a:r>
              <a:rPr dirty="0"/>
              <a:t>-</a:t>
            </a:r>
            <a:r>
              <a:rPr dirty="0" spc="60"/>
              <a:t> </a:t>
            </a:r>
            <a:r>
              <a:rPr dirty="0" spc="-20"/>
              <a:t>UoB)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648358" y="3351784"/>
            <a:ext cx="89217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Linearity</a:t>
            </a:r>
            <a:r>
              <a:rPr dirty="0" sz="600" spc="-5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and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Convolution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June</a:t>
            </a:r>
            <a:r>
              <a:rPr dirty="0" spc="-5"/>
              <a:t> </a:t>
            </a:r>
            <a:r>
              <a:rPr dirty="0"/>
              <a:t>17,</a:t>
            </a:r>
            <a:r>
              <a:rPr dirty="0" spc="-5"/>
              <a:t> </a:t>
            </a:r>
            <a:r>
              <a:rPr dirty="0" spc="-20"/>
              <a:t>2026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20</a:t>
            </a:r>
            <a:r>
              <a:rPr dirty="0" spc="10"/>
              <a:t> </a:t>
            </a:r>
            <a:r>
              <a:rPr dirty="0" spc="90"/>
              <a:t>/</a:t>
            </a:r>
            <a:r>
              <a:rPr dirty="0" spc="10"/>
              <a:t> </a:t>
            </a:r>
            <a:r>
              <a:rPr dirty="0" spc="-25"/>
              <a:t>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59878"/>
            <a:ext cx="99314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45">
                <a:solidFill>
                  <a:srgbClr val="FFFFFF"/>
                </a:solidFill>
                <a:latin typeface="Arial MT"/>
                <a:cs typeface="Arial MT"/>
              </a:rPr>
              <a:t>Linear</a:t>
            </a:r>
            <a:r>
              <a:rPr dirty="0" sz="14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Arial MT"/>
                <a:cs typeface="Arial MT"/>
              </a:rPr>
              <a:t>Filters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948906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2333" y="1215491"/>
            <a:ext cx="3196590" cy="1021080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45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320"/>
              <a:t> </a:t>
            </a:r>
            <a:r>
              <a:rPr dirty="0"/>
              <a:t>(CSIT</a:t>
            </a:r>
            <a:r>
              <a:rPr dirty="0" spc="70"/>
              <a:t> </a:t>
            </a:r>
            <a:r>
              <a:rPr dirty="0"/>
              <a:t>-</a:t>
            </a:r>
            <a:r>
              <a:rPr dirty="0" spc="60"/>
              <a:t> </a:t>
            </a:r>
            <a:r>
              <a:rPr dirty="0" spc="-20"/>
              <a:t>UoB)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648358" y="3351784"/>
            <a:ext cx="89217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Linearity</a:t>
            </a:r>
            <a:r>
              <a:rPr dirty="0" sz="600" spc="-5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and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Convolution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June</a:t>
            </a:r>
            <a:r>
              <a:rPr dirty="0" spc="-5"/>
              <a:t> </a:t>
            </a:r>
            <a:r>
              <a:rPr dirty="0"/>
              <a:t>17,</a:t>
            </a:r>
            <a:r>
              <a:rPr dirty="0" spc="-5"/>
              <a:t> </a:t>
            </a:r>
            <a:r>
              <a:rPr dirty="0" spc="-20"/>
              <a:t>2026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21</a:t>
            </a:r>
            <a:r>
              <a:rPr dirty="0" spc="10"/>
              <a:t> </a:t>
            </a:r>
            <a:r>
              <a:rPr dirty="0" spc="90"/>
              <a:t>/</a:t>
            </a:r>
            <a:r>
              <a:rPr dirty="0" spc="10"/>
              <a:t> </a:t>
            </a:r>
            <a:r>
              <a:rPr dirty="0" spc="-25"/>
              <a:t>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59878"/>
            <a:ext cx="99314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45">
                <a:solidFill>
                  <a:srgbClr val="FFFFFF"/>
                </a:solidFill>
                <a:latin typeface="Arial MT"/>
                <a:cs typeface="Arial MT"/>
              </a:rPr>
              <a:t>Linear</a:t>
            </a:r>
            <a:r>
              <a:rPr dirty="0" sz="14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Arial MT"/>
                <a:cs typeface="Arial MT"/>
              </a:rPr>
              <a:t>Filters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938136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854683"/>
            <a:ext cx="12998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Tahoma"/>
                <a:cs typeface="Tahoma"/>
              </a:rPr>
              <a:t>Filter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with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no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change.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0903" y="1197356"/>
            <a:ext cx="3566160" cy="1367790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45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320"/>
              <a:t> </a:t>
            </a:r>
            <a:r>
              <a:rPr dirty="0"/>
              <a:t>(CSIT</a:t>
            </a:r>
            <a:r>
              <a:rPr dirty="0" spc="70"/>
              <a:t> </a:t>
            </a:r>
            <a:r>
              <a:rPr dirty="0"/>
              <a:t>-</a:t>
            </a:r>
            <a:r>
              <a:rPr dirty="0" spc="60"/>
              <a:t> </a:t>
            </a:r>
            <a:r>
              <a:rPr dirty="0" spc="-20"/>
              <a:t>UoB)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648358" y="3351784"/>
            <a:ext cx="89217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Linearity</a:t>
            </a:r>
            <a:r>
              <a:rPr dirty="0" sz="600" spc="-5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and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Convolution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June</a:t>
            </a:r>
            <a:r>
              <a:rPr dirty="0" spc="-5"/>
              <a:t> </a:t>
            </a:r>
            <a:r>
              <a:rPr dirty="0"/>
              <a:t>17,</a:t>
            </a:r>
            <a:r>
              <a:rPr dirty="0" spc="-5"/>
              <a:t> </a:t>
            </a:r>
            <a:r>
              <a:rPr dirty="0" spc="-20"/>
              <a:t>2026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22</a:t>
            </a:r>
            <a:r>
              <a:rPr dirty="0" spc="10"/>
              <a:t> </a:t>
            </a:r>
            <a:r>
              <a:rPr dirty="0" spc="90"/>
              <a:t>/</a:t>
            </a:r>
            <a:r>
              <a:rPr dirty="0" spc="10"/>
              <a:t> </a:t>
            </a:r>
            <a:r>
              <a:rPr dirty="0" spc="-25"/>
              <a:t>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59878"/>
            <a:ext cx="99314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45">
                <a:solidFill>
                  <a:srgbClr val="FFFFFF"/>
                </a:solidFill>
                <a:latin typeface="Arial MT"/>
                <a:cs typeface="Arial MT"/>
              </a:rPr>
              <a:t>Linear</a:t>
            </a:r>
            <a:r>
              <a:rPr dirty="0" sz="14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Arial MT"/>
                <a:cs typeface="Arial MT"/>
              </a:rPr>
              <a:t>Filters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869556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786103"/>
            <a:ext cx="12998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Tahoma"/>
                <a:cs typeface="Tahoma"/>
              </a:rPr>
              <a:t>Filter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with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no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change.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0010" y="1128776"/>
            <a:ext cx="2807969" cy="1539239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45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320"/>
              <a:t> </a:t>
            </a:r>
            <a:r>
              <a:rPr dirty="0"/>
              <a:t>(CSIT</a:t>
            </a:r>
            <a:r>
              <a:rPr dirty="0" spc="70"/>
              <a:t> </a:t>
            </a:r>
            <a:r>
              <a:rPr dirty="0"/>
              <a:t>-</a:t>
            </a:r>
            <a:r>
              <a:rPr dirty="0" spc="60"/>
              <a:t> </a:t>
            </a:r>
            <a:r>
              <a:rPr dirty="0" spc="-20"/>
              <a:t>UoB)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648358" y="3351784"/>
            <a:ext cx="89217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Linearity</a:t>
            </a:r>
            <a:r>
              <a:rPr dirty="0" sz="600" spc="-5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and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Convolution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June</a:t>
            </a:r>
            <a:r>
              <a:rPr dirty="0" spc="-5"/>
              <a:t> </a:t>
            </a:r>
            <a:r>
              <a:rPr dirty="0"/>
              <a:t>17,</a:t>
            </a:r>
            <a:r>
              <a:rPr dirty="0" spc="-5"/>
              <a:t> </a:t>
            </a:r>
            <a:r>
              <a:rPr dirty="0" spc="-20"/>
              <a:t>2026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23</a:t>
            </a:r>
            <a:r>
              <a:rPr dirty="0" spc="10"/>
              <a:t> </a:t>
            </a:r>
            <a:r>
              <a:rPr dirty="0" spc="90"/>
              <a:t>/</a:t>
            </a:r>
            <a:r>
              <a:rPr dirty="0" spc="10"/>
              <a:t> </a:t>
            </a:r>
            <a:r>
              <a:rPr dirty="0" spc="-25"/>
              <a:t>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59878"/>
            <a:ext cx="99314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45">
                <a:solidFill>
                  <a:srgbClr val="FFFFFF"/>
                </a:solidFill>
                <a:latin typeface="Arial MT"/>
                <a:cs typeface="Arial MT"/>
              </a:rPr>
              <a:t>Linear</a:t>
            </a:r>
            <a:r>
              <a:rPr dirty="0" sz="14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Arial MT"/>
                <a:cs typeface="Arial MT"/>
              </a:rPr>
              <a:t>Filters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572363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488923"/>
            <a:ext cx="12998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Tahoma"/>
                <a:cs typeface="Tahoma"/>
              </a:rPr>
              <a:t>Filter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with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no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change.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2788" y="831608"/>
            <a:ext cx="3882390" cy="2282190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45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320"/>
              <a:t> </a:t>
            </a:r>
            <a:r>
              <a:rPr dirty="0"/>
              <a:t>(CSIT</a:t>
            </a:r>
            <a:r>
              <a:rPr dirty="0" spc="70"/>
              <a:t> </a:t>
            </a:r>
            <a:r>
              <a:rPr dirty="0"/>
              <a:t>-</a:t>
            </a:r>
            <a:r>
              <a:rPr dirty="0" spc="60"/>
              <a:t> </a:t>
            </a:r>
            <a:r>
              <a:rPr dirty="0" spc="-20"/>
              <a:t>UoB)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648358" y="3351784"/>
            <a:ext cx="89217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Linearity</a:t>
            </a:r>
            <a:r>
              <a:rPr dirty="0" sz="600" spc="-5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and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Convolution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June</a:t>
            </a:r>
            <a:r>
              <a:rPr dirty="0" spc="-5"/>
              <a:t> </a:t>
            </a:r>
            <a:r>
              <a:rPr dirty="0"/>
              <a:t>17,</a:t>
            </a:r>
            <a:r>
              <a:rPr dirty="0" spc="-5"/>
              <a:t> </a:t>
            </a:r>
            <a:r>
              <a:rPr dirty="0" spc="-20"/>
              <a:t>2026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24</a:t>
            </a:r>
            <a:r>
              <a:rPr dirty="0" spc="10"/>
              <a:t> </a:t>
            </a:r>
            <a:r>
              <a:rPr dirty="0" spc="90"/>
              <a:t>/</a:t>
            </a:r>
            <a:r>
              <a:rPr dirty="0" spc="10"/>
              <a:t> </a:t>
            </a:r>
            <a:r>
              <a:rPr dirty="0" spc="-25"/>
              <a:t>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5300" y="59878"/>
            <a:ext cx="99314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45">
                <a:solidFill>
                  <a:srgbClr val="FFFFFF"/>
                </a:solidFill>
                <a:latin typeface="Arial MT"/>
                <a:cs typeface="Arial MT"/>
              </a:rPr>
              <a:t>Linear</a:t>
            </a:r>
            <a:r>
              <a:rPr dirty="0" sz="14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Arial MT"/>
                <a:cs typeface="Arial MT"/>
              </a:rPr>
              <a:t>Filters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572363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488923"/>
            <a:ext cx="12998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Tahoma"/>
                <a:cs typeface="Tahoma"/>
              </a:rPr>
              <a:t>Filter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with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no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change.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2788" y="831608"/>
            <a:ext cx="3882390" cy="2282190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45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320"/>
              <a:t> </a:t>
            </a:r>
            <a:r>
              <a:rPr dirty="0"/>
              <a:t>(CSIT</a:t>
            </a:r>
            <a:r>
              <a:rPr dirty="0" spc="70"/>
              <a:t> </a:t>
            </a:r>
            <a:r>
              <a:rPr dirty="0"/>
              <a:t>-</a:t>
            </a:r>
            <a:r>
              <a:rPr dirty="0" spc="60"/>
              <a:t> </a:t>
            </a:r>
            <a:r>
              <a:rPr dirty="0" spc="-20"/>
              <a:t>UoB)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648358" y="3351784"/>
            <a:ext cx="89217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Linearity</a:t>
            </a:r>
            <a:r>
              <a:rPr dirty="0" sz="600" spc="-5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and </a:t>
            </a:r>
            <a:r>
              <a:rPr dirty="0" sz="600" spc="-10">
                <a:solidFill>
                  <a:srgbClr val="FFFFFF"/>
                </a:solidFill>
                <a:latin typeface="Tahoma"/>
                <a:cs typeface="Tahoma"/>
                <a:hlinkClick r:id="rId4" action="ppaction://hlinksldjump"/>
              </a:rPr>
              <a:t>Convolution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June</a:t>
            </a:r>
            <a:r>
              <a:rPr dirty="0" spc="-5"/>
              <a:t> </a:t>
            </a:r>
            <a:r>
              <a:rPr dirty="0"/>
              <a:t>17,</a:t>
            </a:r>
            <a:r>
              <a:rPr dirty="0" spc="-5"/>
              <a:t> </a:t>
            </a:r>
            <a:r>
              <a:rPr dirty="0" spc="-20"/>
              <a:t>2026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r>
              <a:rPr dirty="0"/>
              <a:t>25</a:t>
            </a:r>
            <a:r>
              <a:rPr dirty="0" spc="10"/>
              <a:t> </a:t>
            </a:r>
            <a:r>
              <a:rPr dirty="0" spc="90"/>
              <a:t>/</a:t>
            </a:r>
            <a:r>
              <a:rPr dirty="0" spc="10"/>
              <a:t> </a:t>
            </a:r>
            <a:r>
              <a:rPr dirty="0" spc="-25"/>
              <a:t>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21306" y="1276751"/>
            <a:ext cx="765810" cy="2882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00" spc="-35">
                <a:latin typeface="Tahoma"/>
                <a:cs typeface="Tahoma"/>
              </a:rPr>
              <a:t>The</a:t>
            </a:r>
            <a:r>
              <a:rPr dirty="0" sz="1700" spc="-90">
                <a:latin typeface="Tahoma"/>
                <a:cs typeface="Tahoma"/>
              </a:rPr>
              <a:t> </a:t>
            </a:r>
            <a:r>
              <a:rPr dirty="0" sz="1700" spc="-55">
                <a:latin typeface="Tahoma"/>
                <a:cs typeface="Tahoma"/>
              </a:rPr>
              <a:t>End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86097" y="3341243"/>
            <a:ext cx="25400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 spc="-10">
                <a:latin typeface="Tahoma"/>
                <a:cs typeface="Tahoma"/>
              </a:rPr>
              <a:t>28</a:t>
            </a:r>
            <a:r>
              <a:rPr dirty="0" sz="600" spc="-85">
                <a:latin typeface="Tahoma"/>
                <a:cs typeface="Tahoma"/>
              </a:rPr>
              <a:t> </a:t>
            </a:r>
            <a:r>
              <a:rPr dirty="0" sz="600" spc="90">
                <a:latin typeface="Tahoma"/>
                <a:cs typeface="Tahoma"/>
              </a:rPr>
              <a:t>/</a:t>
            </a:r>
            <a:r>
              <a:rPr dirty="0" sz="600" spc="-85">
                <a:latin typeface="Tahoma"/>
                <a:cs typeface="Tahoma"/>
              </a:rPr>
              <a:t> </a:t>
            </a:r>
            <a:r>
              <a:rPr dirty="0" sz="600" spc="-35">
                <a:latin typeface="Tahoma"/>
                <a:cs typeface="Tahoma"/>
              </a:rPr>
              <a:t>28</a:t>
            </a:r>
            <a:endParaRPr sz="6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Dr. Abdul Basit</dc:creator>
  <dc:title>Introduction to Computer Vision - Lecture 04 - Linearity and Convolution</dc:title>
  <dcterms:created xsi:type="dcterms:W3CDTF">2026-06-21T00:50:02Z</dcterms:created>
  <dcterms:modified xsi:type="dcterms:W3CDTF">2026-06-21T00:50:02Z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2026-06-17T00:00:00Z</vt:filetime>
  </property>
  <property fmtid="{D5CDD505-2E9C-101B-9397-08002B2CF9AE}" pid="4" name="Creator">
    <vt:lpwstr>LaTeX with Beamer class</vt:lpwstr>
  </property>
  <property fmtid="{D5CDD505-2E9C-101B-9397-08002B2CF9AE}" pid="5" name="LastSaved">
    <vt:filetime>2026-06-21T00:00:00Z</vt:filetime>
  </property>
  <property fmtid="{D5CDD505-2E9C-101B-9397-08002B2CF9AE}" pid="6" name="PTEX.Fullbanner">
    <vt:lpwstr>This is pdfTeX, Version 3.141592653-2.6-1.40.22 (TeX Live 2022/dev/Debian) kpathsea version 6.3.4/dev</vt:lpwstr>
  </property>
  <property fmtid="{D5CDD505-2E9C-101B-9397-08002B2CF9AE}" pid="7" name="Producer">
    <vt:lpwstr>pdfTeX-1.40.22</vt:lpwstr>
  </property>
</Properties>
</file>