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0569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4252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06877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1797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94177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69640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793439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69640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4776" y="1556004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474726"/>
                </a:moveTo>
                <a:lnTo>
                  <a:pt x="438150" y="0"/>
                </a:lnTo>
                <a:lnTo>
                  <a:pt x="0" y="0"/>
                </a:lnTo>
                <a:lnTo>
                  <a:pt x="0" y="474726"/>
                </a:lnTo>
                <a:lnTo>
                  <a:pt x="438150" y="474726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7300" y="1556004"/>
            <a:ext cx="329184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98981" y="1978151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>
                <a:moveTo>
                  <a:pt x="422148" y="474725"/>
                </a:moveTo>
                <a:lnTo>
                  <a:pt x="422148" y="0"/>
                </a:lnTo>
                <a:lnTo>
                  <a:pt x="0" y="0"/>
                </a:lnTo>
                <a:lnTo>
                  <a:pt x="0" y="474725"/>
                </a:lnTo>
                <a:lnTo>
                  <a:pt x="422148" y="47472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4454" y="1905000"/>
            <a:ext cx="8542782" cy="54787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219200" y="1447800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1053084"/>
                </a:moveTo>
                <a:lnTo>
                  <a:pt x="32003" y="0"/>
                </a:lnTo>
                <a:lnTo>
                  <a:pt x="0" y="0"/>
                </a:lnTo>
                <a:lnTo>
                  <a:pt x="0" y="1053084"/>
                </a:lnTo>
                <a:lnTo>
                  <a:pt x="32004" y="1053084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902" y="601472"/>
            <a:ext cx="8203438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86560" y="1389380"/>
            <a:ext cx="32893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33339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4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5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6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58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5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9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0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1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6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64.png"/><Relationship Id="rId5" Type="http://schemas.openxmlformats.org/officeDocument/2006/relationships/image" Target="../media/image72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6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7.png"/><Relationship Id="rId5" Type="http://schemas.openxmlformats.org/officeDocument/2006/relationships/image" Target="../media/image78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79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0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jpg"/><Relationship Id="rId5" Type="http://schemas.openxmlformats.org/officeDocument/2006/relationships/image" Target="../media/image84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3" Type="http://schemas.openxmlformats.org/officeDocument/2006/relationships/image" Target="../media/image84.jpg"/><Relationship Id="rId4" Type="http://schemas.openxmlformats.org/officeDocument/2006/relationships/image" Target="../media/image82.png"/><Relationship Id="rId5" Type="http://schemas.openxmlformats.org/officeDocument/2006/relationships/image" Target="../media/image83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5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247467"/>
            <a:ext cx="203200" cy="58419"/>
            <a:chOff x="3517976" y="324746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4177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247467"/>
            <a:ext cx="203200" cy="58419"/>
            <a:chOff x="3793439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69640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87743" y="742962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87743" y="787384"/>
            <a:ext cx="4483735" cy="591820"/>
            <a:chOff x="87743" y="787384"/>
            <a:chExt cx="4483735" cy="59182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77302"/>
              <a:ext cx="101600" cy="101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64602"/>
              <a:ext cx="4381765" cy="11430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793521"/>
              <a:ext cx="50800" cy="48378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743" y="787384"/>
              <a:ext cx="4432935" cy="541020"/>
            </a:xfrm>
            <a:custGeom>
              <a:avLst/>
              <a:gdLst/>
              <a:ahLst/>
              <a:cxnLst/>
              <a:rect l="l" t="t" r="r" b="b"/>
              <a:pathLst>
                <a:path w="4432935" h="541019">
                  <a:moveTo>
                    <a:pt x="4432566" y="0"/>
                  </a:moveTo>
                  <a:lnTo>
                    <a:pt x="0" y="0"/>
                  </a:lnTo>
                  <a:lnTo>
                    <a:pt x="0" y="489917"/>
                  </a:lnTo>
                  <a:lnTo>
                    <a:pt x="4008" y="509642"/>
                  </a:lnTo>
                  <a:lnTo>
                    <a:pt x="14922" y="525795"/>
                  </a:lnTo>
                  <a:lnTo>
                    <a:pt x="31075" y="536709"/>
                  </a:lnTo>
                  <a:lnTo>
                    <a:pt x="50800" y="540718"/>
                  </a:lnTo>
                  <a:lnTo>
                    <a:pt x="4381765" y="540718"/>
                  </a:lnTo>
                  <a:lnTo>
                    <a:pt x="4401490" y="536709"/>
                  </a:lnTo>
                  <a:lnTo>
                    <a:pt x="4417643" y="525795"/>
                  </a:lnTo>
                  <a:lnTo>
                    <a:pt x="4428558" y="509642"/>
                  </a:lnTo>
                  <a:lnTo>
                    <a:pt x="4432566" y="48991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520310" y="831621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w="0" h="464819">
                  <a:moveTo>
                    <a:pt x="0" y="46473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520310" y="8189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520310" y="8062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520310" y="79352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1498866" y="739913"/>
            <a:ext cx="1610360" cy="507365"/>
          </a:xfrm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1400" spc="-20" b="0">
                <a:solidFill>
                  <a:srgbClr val="FFFFFF"/>
                </a:solidFill>
                <a:latin typeface="Trebuchet MS"/>
                <a:cs typeface="Trebuchet MS"/>
              </a:rPr>
              <a:t>Local</a:t>
            </a:r>
            <a:r>
              <a:rPr dirty="0" sz="1400" spc="-65" b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30" b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dirty="0" sz="1400" spc="-60" b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50" b="0">
                <a:solidFill>
                  <a:srgbClr val="FFFFFF"/>
                </a:solidFill>
                <a:latin typeface="Trebuchet MS"/>
                <a:cs typeface="Trebuchet MS"/>
              </a:rPr>
              <a:t>Features</a:t>
            </a:r>
            <a:endParaRPr sz="1400">
              <a:latin typeface="Trebuchet MS"/>
              <a:cs typeface="Trebuchet MS"/>
            </a:endParaRPr>
          </a:p>
          <a:p>
            <a:pPr algn="ctr" marL="635">
              <a:lnSpc>
                <a:spcPct val="100000"/>
              </a:lnSpc>
              <a:spcBef>
                <a:spcPts val="325"/>
              </a:spcBef>
            </a:pPr>
            <a:r>
              <a:rPr dirty="0" sz="1100" spc="-40" b="0">
                <a:solidFill>
                  <a:srgbClr val="FFFFFF"/>
                </a:solidFill>
                <a:latin typeface="Arial MT"/>
                <a:cs typeface="Arial MT"/>
              </a:rPr>
              <a:t>Computer</a:t>
            </a:r>
            <a:r>
              <a:rPr dirty="0" sz="1100" spc="-15" b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 b="0">
                <a:solidFill>
                  <a:srgbClr val="FFFFFF"/>
                </a:solidFill>
                <a:latin typeface="Arial MT"/>
                <a:cs typeface="Arial MT"/>
              </a:rPr>
              <a:t>Vision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04759" y="1538184"/>
            <a:ext cx="1199515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Dr.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Abdul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Basit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algn="ctr" marL="12700" marR="5080">
              <a:lnSpc>
                <a:spcPts val="950"/>
              </a:lnSpc>
            </a:pPr>
            <a:r>
              <a:rPr dirty="0" sz="800">
                <a:latin typeface="Arial MT"/>
                <a:cs typeface="Arial MT"/>
              </a:rPr>
              <a:t>Assitant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Profosser</a:t>
            </a:r>
            <a:r>
              <a:rPr dirty="0" sz="800" spc="5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6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CSIM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25">
                <a:latin typeface="Arial MT"/>
                <a:cs typeface="Arial MT"/>
              </a:rPr>
              <a:t>October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16,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2015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3346348"/>
            <a:ext cx="1070610" cy="109855"/>
          </a:xfrm>
          <a:custGeom>
            <a:avLst/>
            <a:gdLst/>
            <a:ahLst/>
            <a:cxnLst/>
            <a:rect l="l" t="t" r="r" b="b"/>
            <a:pathLst>
              <a:path w="1070610" h="109854">
                <a:moveTo>
                  <a:pt x="1070089" y="0"/>
                </a:moveTo>
                <a:lnTo>
                  <a:pt x="0" y="0"/>
                </a:lnTo>
                <a:lnTo>
                  <a:pt x="0" y="109651"/>
                </a:lnTo>
                <a:lnTo>
                  <a:pt x="1070089" y="109651"/>
                </a:lnTo>
                <a:lnTo>
                  <a:pt x="1070089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-9372" y="3333640"/>
            <a:ext cx="1089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70089" y="3346348"/>
            <a:ext cx="2048510" cy="109855"/>
          </a:xfrm>
          <a:prstGeom prst="rect">
            <a:avLst/>
          </a:prstGeom>
          <a:solidFill>
            <a:srgbClr val="262685"/>
          </a:solidFill>
        </p:spPr>
        <p:txBody>
          <a:bodyPr wrap="square" lIns="0" tIns="0" rIns="0" bIns="0" rtlCol="0" vert="horz">
            <a:spAutoFit/>
          </a:bodyPr>
          <a:lstStyle/>
          <a:p>
            <a:pPr marL="664210">
              <a:lnSpc>
                <a:spcPts val="720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118078" y="3346348"/>
            <a:ext cx="1490345" cy="109855"/>
          </a:xfrm>
          <a:custGeom>
            <a:avLst/>
            <a:gdLst/>
            <a:ahLst/>
            <a:cxnLst/>
            <a:rect l="l" t="t" r="r" b="b"/>
            <a:pathLst>
              <a:path w="1490345" h="109854">
                <a:moveTo>
                  <a:pt x="1489925" y="0"/>
                </a:moveTo>
                <a:lnTo>
                  <a:pt x="0" y="0"/>
                </a:lnTo>
                <a:lnTo>
                  <a:pt x="0" y="109651"/>
                </a:lnTo>
                <a:lnTo>
                  <a:pt x="1489925" y="109651"/>
                </a:lnTo>
                <a:lnTo>
                  <a:pt x="148992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3620566" y="3333640"/>
            <a:ext cx="6159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October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16,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2015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99179" y="3333640"/>
            <a:ext cx="200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17976" y="3247467"/>
            <a:ext cx="203200" cy="58419"/>
            <a:chOff x="3517976" y="324746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94177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793439" y="3247467"/>
            <a:ext cx="203200" cy="58419"/>
            <a:chOff x="3793439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69640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68834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0" b="0">
                <a:solidFill>
                  <a:srgbClr val="FFFFFF"/>
                </a:solidFill>
                <a:latin typeface="Trebuchet MS"/>
                <a:cs typeface="Trebuchet MS"/>
              </a:rPr>
              <a:t>Contents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1597088"/>
            <a:ext cx="160096" cy="16009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9743" y="1568994"/>
            <a:ext cx="2979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32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 spc="-50">
                <a:solidFill>
                  <a:srgbClr val="3333B2"/>
                </a:solidFill>
                <a:latin typeface="Arial MT"/>
                <a:cs typeface="Arial MT"/>
              </a:rPr>
              <a:t>Overview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</a:rPr>
              <a:t>of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3333B2"/>
                </a:solidFill>
                <a:latin typeface="Arial MT"/>
                <a:cs typeface="Arial MT"/>
              </a:rPr>
              <a:t>keypoint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</a:rPr>
              <a:t>Matching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3333B2"/>
                </a:solidFill>
                <a:latin typeface="Arial MT"/>
                <a:cs typeface="Arial MT"/>
              </a:rPr>
              <a:t>(Harris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100" spc="-40">
                <a:solidFill>
                  <a:srgbClr val="3333B2"/>
                </a:solidFill>
                <a:latin typeface="Arial MT"/>
                <a:cs typeface="Arial MT"/>
              </a:rPr>
              <a:t>Corners)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348"/>
            <a:ext cx="1070610" cy="109855"/>
          </a:xfrm>
          <a:custGeom>
            <a:avLst/>
            <a:gdLst/>
            <a:ahLst/>
            <a:cxnLst/>
            <a:rect l="l" t="t" r="r" b="b"/>
            <a:pathLst>
              <a:path w="1070610" h="109854">
                <a:moveTo>
                  <a:pt x="1070089" y="0"/>
                </a:moveTo>
                <a:lnTo>
                  <a:pt x="0" y="0"/>
                </a:lnTo>
                <a:lnTo>
                  <a:pt x="0" y="109651"/>
                </a:lnTo>
                <a:lnTo>
                  <a:pt x="1070089" y="109651"/>
                </a:lnTo>
                <a:lnTo>
                  <a:pt x="1070089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-9372" y="3333640"/>
            <a:ext cx="1089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Dr.</a:t>
            </a:r>
            <a:r>
              <a:rPr dirty="0" sz="6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Abdul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Basit</a:t>
            </a:r>
            <a:r>
              <a:rPr dirty="0" sz="600" spc="2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(CSIT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600" spc="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UoB)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70089" y="3346348"/>
            <a:ext cx="2048510" cy="109855"/>
          </a:xfrm>
          <a:prstGeom prst="rect">
            <a:avLst/>
          </a:prstGeom>
          <a:solidFill>
            <a:srgbClr val="262685"/>
          </a:solidFill>
        </p:spPr>
        <p:txBody>
          <a:bodyPr wrap="square" lIns="0" tIns="0" rIns="0" bIns="0" rtlCol="0" vert="horz">
            <a:spAutoFit/>
          </a:bodyPr>
          <a:lstStyle/>
          <a:p>
            <a:pPr marL="664210">
              <a:lnSpc>
                <a:spcPts val="720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Local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Image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18078" y="3346348"/>
            <a:ext cx="1490345" cy="109855"/>
          </a:xfrm>
          <a:custGeom>
            <a:avLst/>
            <a:gdLst/>
            <a:ahLst/>
            <a:cxnLst/>
            <a:rect l="l" t="t" r="r" b="b"/>
            <a:pathLst>
              <a:path w="1490345" h="109854">
                <a:moveTo>
                  <a:pt x="1489925" y="0"/>
                </a:moveTo>
                <a:lnTo>
                  <a:pt x="0" y="0"/>
                </a:lnTo>
                <a:lnTo>
                  <a:pt x="0" y="109651"/>
                </a:lnTo>
                <a:lnTo>
                  <a:pt x="1489925" y="109651"/>
                </a:lnTo>
                <a:lnTo>
                  <a:pt x="148992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620566" y="3333640"/>
            <a:ext cx="6159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October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16,</a:t>
            </a:r>
            <a:r>
              <a:rPr dirty="0" sz="600" spc="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Arial MT"/>
                <a:cs typeface="Arial MT"/>
              </a:rPr>
              <a:t>2015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99179" y="3333640"/>
            <a:ext cx="200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0804" y="-145135"/>
            <a:ext cx="6861809" cy="123317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dirty="0" sz="3950" b="0">
                <a:solidFill>
                  <a:srgbClr val="000000"/>
                </a:solidFill>
                <a:latin typeface="Calibri"/>
                <a:cs typeface="Calibri"/>
              </a:rPr>
              <a:t>This</a:t>
            </a:r>
            <a:r>
              <a:rPr dirty="0" sz="395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950" b="0">
                <a:solidFill>
                  <a:srgbClr val="000000"/>
                </a:solidFill>
                <a:latin typeface="Calibri"/>
                <a:cs typeface="Calibri"/>
              </a:rPr>
              <a:t>section:</a:t>
            </a:r>
            <a:r>
              <a:rPr dirty="0" sz="395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950" b="0">
                <a:solidFill>
                  <a:srgbClr val="000000"/>
                </a:solidFill>
                <a:latin typeface="Calibri"/>
                <a:cs typeface="Calibri"/>
              </a:rPr>
              <a:t>correspondence</a:t>
            </a:r>
            <a:r>
              <a:rPr dirty="0" sz="3950" spc="-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950" spc="-25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z="3950" spc="-10" b="0">
                <a:solidFill>
                  <a:srgbClr val="000000"/>
                </a:solidFill>
                <a:latin typeface="Calibri"/>
                <a:cs typeface="Calibri"/>
              </a:rPr>
              <a:t>alignment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04" y="1742770"/>
            <a:ext cx="8272145" cy="1099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9890" marR="5080" indent="-377825">
              <a:lnSpc>
                <a:spcPct val="100699"/>
              </a:lnSpc>
              <a:spcBef>
                <a:spcPts val="9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>
                <a:latin typeface="Calibri"/>
                <a:cs typeface="Calibri"/>
              </a:rPr>
              <a:t>Correspondence:</a:t>
            </a:r>
            <a:r>
              <a:rPr dirty="0" sz="3500" spc="-7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matching</a:t>
            </a:r>
            <a:r>
              <a:rPr dirty="0" sz="3500" spc="-5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points,</a:t>
            </a:r>
            <a:r>
              <a:rPr dirty="0" sz="3500" spc="-4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patches, </a:t>
            </a:r>
            <a:r>
              <a:rPr dirty="0" sz="3500">
                <a:latin typeface="Calibri"/>
                <a:cs typeface="Calibri"/>
              </a:rPr>
              <a:t>edges,</a:t>
            </a:r>
            <a:r>
              <a:rPr dirty="0" sz="3500" spc="-7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or</a:t>
            </a:r>
            <a:r>
              <a:rPr dirty="0" sz="3500" spc="-4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regions</a:t>
            </a:r>
            <a:r>
              <a:rPr dirty="0" sz="3500" spc="-5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across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images</a:t>
            </a:r>
            <a:endParaRPr sz="3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2621" y="3220182"/>
            <a:ext cx="2431415" cy="3158490"/>
            <a:chOff x="1312621" y="3220182"/>
            <a:chExt cx="2431415" cy="31584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2621" y="3220182"/>
              <a:ext cx="2186304" cy="31583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27351" y="3823030"/>
              <a:ext cx="754380" cy="976630"/>
            </a:xfrm>
            <a:custGeom>
              <a:avLst/>
              <a:gdLst/>
              <a:ahLst/>
              <a:cxnLst/>
              <a:rect l="l" t="t" r="r" b="b"/>
              <a:pathLst>
                <a:path w="754380" h="976629">
                  <a:moveTo>
                    <a:pt x="0" y="488251"/>
                  </a:moveTo>
                  <a:lnTo>
                    <a:pt x="2213" y="435056"/>
                  </a:lnTo>
                  <a:lnTo>
                    <a:pt x="8700" y="383519"/>
                  </a:lnTo>
                  <a:lnTo>
                    <a:pt x="19231" y="333938"/>
                  </a:lnTo>
                  <a:lnTo>
                    <a:pt x="33575" y="286611"/>
                  </a:lnTo>
                  <a:lnTo>
                    <a:pt x="51502" y="241836"/>
                  </a:lnTo>
                  <a:lnTo>
                    <a:pt x="72782" y="199910"/>
                  </a:lnTo>
                  <a:lnTo>
                    <a:pt x="97185" y="161133"/>
                  </a:lnTo>
                  <a:lnTo>
                    <a:pt x="124479" y="125801"/>
                  </a:lnTo>
                  <a:lnTo>
                    <a:pt x="154436" y="94213"/>
                  </a:lnTo>
                  <a:lnTo>
                    <a:pt x="186825" y="66667"/>
                  </a:lnTo>
                  <a:lnTo>
                    <a:pt x="221415" y="43462"/>
                  </a:lnTo>
                  <a:lnTo>
                    <a:pt x="257977" y="24894"/>
                  </a:lnTo>
                  <a:lnTo>
                    <a:pt x="296280" y="11262"/>
                  </a:lnTo>
                  <a:lnTo>
                    <a:pt x="336095" y="2865"/>
                  </a:lnTo>
                  <a:lnTo>
                    <a:pt x="377190" y="0"/>
                  </a:lnTo>
                  <a:lnTo>
                    <a:pt x="418284" y="2865"/>
                  </a:lnTo>
                  <a:lnTo>
                    <a:pt x="458099" y="11262"/>
                  </a:lnTo>
                  <a:lnTo>
                    <a:pt x="496402" y="24894"/>
                  </a:lnTo>
                  <a:lnTo>
                    <a:pt x="532964" y="43462"/>
                  </a:lnTo>
                  <a:lnTo>
                    <a:pt x="567554" y="66667"/>
                  </a:lnTo>
                  <a:lnTo>
                    <a:pt x="599943" y="94213"/>
                  </a:lnTo>
                  <a:lnTo>
                    <a:pt x="629900" y="125801"/>
                  </a:lnTo>
                  <a:lnTo>
                    <a:pt x="657195" y="161133"/>
                  </a:lnTo>
                  <a:lnTo>
                    <a:pt x="681597" y="199910"/>
                  </a:lnTo>
                  <a:lnTo>
                    <a:pt x="702877" y="241836"/>
                  </a:lnTo>
                  <a:lnTo>
                    <a:pt x="720804" y="286611"/>
                  </a:lnTo>
                  <a:lnTo>
                    <a:pt x="735148" y="333938"/>
                  </a:lnTo>
                  <a:lnTo>
                    <a:pt x="745679" y="383519"/>
                  </a:lnTo>
                  <a:lnTo>
                    <a:pt x="752166" y="435056"/>
                  </a:lnTo>
                  <a:lnTo>
                    <a:pt x="754380" y="488251"/>
                  </a:lnTo>
                  <a:lnTo>
                    <a:pt x="752166" y="541420"/>
                  </a:lnTo>
                  <a:lnTo>
                    <a:pt x="745679" y="592934"/>
                  </a:lnTo>
                  <a:lnTo>
                    <a:pt x="735148" y="642495"/>
                  </a:lnTo>
                  <a:lnTo>
                    <a:pt x="720804" y="689806"/>
                  </a:lnTo>
                  <a:lnTo>
                    <a:pt x="702877" y="734568"/>
                  </a:lnTo>
                  <a:lnTo>
                    <a:pt x="681597" y="776482"/>
                  </a:lnTo>
                  <a:lnTo>
                    <a:pt x="657195" y="815251"/>
                  </a:lnTo>
                  <a:lnTo>
                    <a:pt x="629900" y="850576"/>
                  </a:lnTo>
                  <a:lnTo>
                    <a:pt x="599943" y="882158"/>
                  </a:lnTo>
                  <a:lnTo>
                    <a:pt x="567554" y="909700"/>
                  </a:lnTo>
                  <a:lnTo>
                    <a:pt x="532964" y="932903"/>
                  </a:lnTo>
                  <a:lnTo>
                    <a:pt x="496402" y="951469"/>
                  </a:lnTo>
                  <a:lnTo>
                    <a:pt x="458099" y="965100"/>
                  </a:lnTo>
                  <a:lnTo>
                    <a:pt x="418284" y="973497"/>
                  </a:lnTo>
                  <a:lnTo>
                    <a:pt x="377190" y="976363"/>
                  </a:lnTo>
                  <a:lnTo>
                    <a:pt x="336095" y="973497"/>
                  </a:lnTo>
                  <a:lnTo>
                    <a:pt x="296280" y="965100"/>
                  </a:lnTo>
                  <a:lnTo>
                    <a:pt x="257977" y="951469"/>
                  </a:lnTo>
                  <a:lnTo>
                    <a:pt x="221415" y="932903"/>
                  </a:lnTo>
                  <a:lnTo>
                    <a:pt x="186825" y="909700"/>
                  </a:lnTo>
                  <a:lnTo>
                    <a:pt x="154436" y="882158"/>
                  </a:lnTo>
                  <a:lnTo>
                    <a:pt x="124479" y="850576"/>
                  </a:lnTo>
                  <a:lnTo>
                    <a:pt x="97185" y="815251"/>
                  </a:lnTo>
                  <a:lnTo>
                    <a:pt x="72782" y="776482"/>
                  </a:lnTo>
                  <a:lnTo>
                    <a:pt x="51502" y="734568"/>
                  </a:lnTo>
                  <a:lnTo>
                    <a:pt x="33575" y="689806"/>
                  </a:lnTo>
                  <a:lnTo>
                    <a:pt x="19231" y="642495"/>
                  </a:lnTo>
                  <a:lnTo>
                    <a:pt x="8700" y="592934"/>
                  </a:lnTo>
                  <a:lnTo>
                    <a:pt x="2213" y="541420"/>
                  </a:lnTo>
                  <a:lnTo>
                    <a:pt x="0" y="488251"/>
                  </a:lnTo>
                  <a:close/>
                </a:path>
              </a:pathLst>
            </a:custGeom>
            <a:ln w="4191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876981" y="4290885"/>
              <a:ext cx="866775" cy="278130"/>
            </a:xfrm>
            <a:custGeom>
              <a:avLst/>
              <a:gdLst/>
              <a:ahLst/>
              <a:cxnLst/>
              <a:rect l="l" t="t" r="r" b="b"/>
              <a:pathLst>
                <a:path w="866775" h="278129">
                  <a:moveTo>
                    <a:pt x="745893" y="216910"/>
                  </a:moveTo>
                  <a:lnTo>
                    <a:pt x="680758" y="236791"/>
                  </a:lnTo>
                  <a:lnTo>
                    <a:pt x="673388" y="240735"/>
                  </a:lnTo>
                  <a:lnTo>
                    <a:pt x="668324" y="246972"/>
                  </a:lnTo>
                  <a:lnTo>
                    <a:pt x="665984" y="254649"/>
                  </a:lnTo>
                  <a:lnTo>
                    <a:pt x="666788" y="262915"/>
                  </a:lnTo>
                  <a:lnTo>
                    <a:pt x="670732" y="270225"/>
                  </a:lnTo>
                  <a:lnTo>
                    <a:pt x="676968" y="275296"/>
                  </a:lnTo>
                  <a:lnTo>
                    <a:pt x="684645" y="277669"/>
                  </a:lnTo>
                  <a:lnTo>
                    <a:pt x="692912" y="276885"/>
                  </a:lnTo>
                  <a:lnTo>
                    <a:pt x="830915" y="234696"/>
                  </a:lnTo>
                  <a:lnTo>
                    <a:pt x="821156" y="234696"/>
                  </a:lnTo>
                  <a:lnTo>
                    <a:pt x="745893" y="216910"/>
                  </a:lnTo>
                  <a:close/>
                </a:path>
                <a:path w="866775" h="278129">
                  <a:moveTo>
                    <a:pt x="785609" y="204788"/>
                  </a:moveTo>
                  <a:lnTo>
                    <a:pt x="745893" y="216910"/>
                  </a:lnTo>
                  <a:lnTo>
                    <a:pt x="821156" y="234696"/>
                  </a:lnTo>
                  <a:lnTo>
                    <a:pt x="822378" y="229527"/>
                  </a:lnTo>
                  <a:lnTo>
                    <a:pt x="811657" y="229527"/>
                  </a:lnTo>
                  <a:lnTo>
                    <a:pt x="785609" y="204788"/>
                  </a:lnTo>
                  <a:close/>
                </a:path>
                <a:path w="866775" h="278129">
                  <a:moveTo>
                    <a:pt x="719996" y="93057"/>
                  </a:moveTo>
                  <a:lnTo>
                    <a:pt x="712153" y="94819"/>
                  </a:lnTo>
                  <a:lnTo>
                    <a:pt x="705345" y="99606"/>
                  </a:lnTo>
                  <a:lnTo>
                    <a:pt x="700916" y="106650"/>
                  </a:lnTo>
                  <a:lnTo>
                    <a:pt x="699565" y="114571"/>
                  </a:lnTo>
                  <a:lnTo>
                    <a:pt x="701278" y="122414"/>
                  </a:lnTo>
                  <a:lnTo>
                    <a:pt x="706043" y="129222"/>
                  </a:lnTo>
                  <a:lnTo>
                    <a:pt x="755407" y="176104"/>
                  </a:lnTo>
                  <a:lnTo>
                    <a:pt x="830795" y="193903"/>
                  </a:lnTo>
                  <a:lnTo>
                    <a:pt x="821156" y="234696"/>
                  </a:lnTo>
                  <a:lnTo>
                    <a:pt x="830915" y="234696"/>
                  </a:lnTo>
                  <a:lnTo>
                    <a:pt x="866559" y="223799"/>
                  </a:lnTo>
                  <a:lnTo>
                    <a:pt x="734961" y="98767"/>
                  </a:lnTo>
                  <a:lnTo>
                    <a:pt x="727917" y="94360"/>
                  </a:lnTo>
                  <a:lnTo>
                    <a:pt x="719996" y="93057"/>
                  </a:lnTo>
                  <a:close/>
                </a:path>
                <a:path w="866775" h="278129">
                  <a:moveTo>
                    <a:pt x="819899" y="194322"/>
                  </a:moveTo>
                  <a:lnTo>
                    <a:pt x="785609" y="204788"/>
                  </a:lnTo>
                  <a:lnTo>
                    <a:pt x="811657" y="229527"/>
                  </a:lnTo>
                  <a:lnTo>
                    <a:pt x="819899" y="194322"/>
                  </a:lnTo>
                  <a:close/>
                </a:path>
                <a:path w="866775" h="278129">
                  <a:moveTo>
                    <a:pt x="830696" y="194322"/>
                  </a:moveTo>
                  <a:lnTo>
                    <a:pt x="819899" y="194322"/>
                  </a:lnTo>
                  <a:lnTo>
                    <a:pt x="811657" y="229527"/>
                  </a:lnTo>
                  <a:lnTo>
                    <a:pt x="822378" y="229527"/>
                  </a:lnTo>
                  <a:lnTo>
                    <a:pt x="830696" y="194322"/>
                  </a:lnTo>
                  <a:close/>
                </a:path>
                <a:path w="866775" h="278129">
                  <a:moveTo>
                    <a:pt x="9499" y="0"/>
                  </a:moveTo>
                  <a:lnTo>
                    <a:pt x="0" y="40652"/>
                  </a:lnTo>
                  <a:lnTo>
                    <a:pt x="745893" y="216910"/>
                  </a:lnTo>
                  <a:lnTo>
                    <a:pt x="785609" y="204788"/>
                  </a:lnTo>
                  <a:lnTo>
                    <a:pt x="755407" y="176104"/>
                  </a:lnTo>
                  <a:lnTo>
                    <a:pt x="9499" y="0"/>
                  </a:lnTo>
                  <a:close/>
                </a:path>
                <a:path w="866775" h="278129">
                  <a:moveTo>
                    <a:pt x="755407" y="176104"/>
                  </a:moveTo>
                  <a:lnTo>
                    <a:pt x="785609" y="204788"/>
                  </a:lnTo>
                  <a:lnTo>
                    <a:pt x="819899" y="194322"/>
                  </a:lnTo>
                  <a:lnTo>
                    <a:pt x="830696" y="194322"/>
                  </a:lnTo>
                  <a:lnTo>
                    <a:pt x="830795" y="193903"/>
                  </a:lnTo>
                  <a:lnTo>
                    <a:pt x="755407" y="17610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791989" y="3485794"/>
            <a:ext cx="2765425" cy="2627630"/>
            <a:chOff x="4791989" y="3485794"/>
            <a:chExt cx="2765425" cy="26276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6991" y="3485794"/>
              <a:ext cx="1760220" cy="26271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1989" y="4184364"/>
              <a:ext cx="523875" cy="660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48526" y="4184294"/>
              <a:ext cx="754380" cy="976630"/>
            </a:xfrm>
            <a:custGeom>
              <a:avLst/>
              <a:gdLst/>
              <a:ahLst/>
              <a:cxnLst/>
              <a:rect l="l" t="t" r="r" b="b"/>
              <a:pathLst>
                <a:path w="754379" h="976629">
                  <a:moveTo>
                    <a:pt x="0" y="488111"/>
                  </a:moveTo>
                  <a:lnTo>
                    <a:pt x="2213" y="434918"/>
                  </a:lnTo>
                  <a:lnTo>
                    <a:pt x="8700" y="383387"/>
                  </a:lnTo>
                  <a:lnTo>
                    <a:pt x="19231" y="333813"/>
                  </a:lnTo>
                  <a:lnTo>
                    <a:pt x="33575" y="286496"/>
                  </a:lnTo>
                  <a:lnTo>
                    <a:pt x="51502" y="241732"/>
                  </a:lnTo>
                  <a:lnTo>
                    <a:pt x="72782" y="199820"/>
                  </a:lnTo>
                  <a:lnTo>
                    <a:pt x="97185" y="161056"/>
                  </a:lnTo>
                  <a:lnTo>
                    <a:pt x="124479" y="125738"/>
                  </a:lnTo>
                  <a:lnTo>
                    <a:pt x="154436" y="94164"/>
                  </a:lnTo>
                  <a:lnTo>
                    <a:pt x="186825" y="66631"/>
                  </a:lnTo>
                  <a:lnTo>
                    <a:pt x="221415" y="43437"/>
                  </a:lnTo>
                  <a:lnTo>
                    <a:pt x="257977" y="24880"/>
                  </a:lnTo>
                  <a:lnTo>
                    <a:pt x="296280" y="11256"/>
                  </a:lnTo>
                  <a:lnTo>
                    <a:pt x="336095" y="2863"/>
                  </a:lnTo>
                  <a:lnTo>
                    <a:pt x="377190" y="0"/>
                  </a:lnTo>
                  <a:lnTo>
                    <a:pt x="418284" y="2863"/>
                  </a:lnTo>
                  <a:lnTo>
                    <a:pt x="458099" y="11256"/>
                  </a:lnTo>
                  <a:lnTo>
                    <a:pt x="496402" y="24880"/>
                  </a:lnTo>
                  <a:lnTo>
                    <a:pt x="532964" y="43437"/>
                  </a:lnTo>
                  <a:lnTo>
                    <a:pt x="567554" y="66631"/>
                  </a:lnTo>
                  <a:lnTo>
                    <a:pt x="599943" y="94164"/>
                  </a:lnTo>
                  <a:lnTo>
                    <a:pt x="629900" y="125738"/>
                  </a:lnTo>
                  <a:lnTo>
                    <a:pt x="657195" y="161056"/>
                  </a:lnTo>
                  <a:lnTo>
                    <a:pt x="681597" y="199820"/>
                  </a:lnTo>
                  <a:lnTo>
                    <a:pt x="702877" y="241732"/>
                  </a:lnTo>
                  <a:lnTo>
                    <a:pt x="720804" y="286496"/>
                  </a:lnTo>
                  <a:lnTo>
                    <a:pt x="735148" y="333813"/>
                  </a:lnTo>
                  <a:lnTo>
                    <a:pt x="745679" y="383387"/>
                  </a:lnTo>
                  <a:lnTo>
                    <a:pt x="752166" y="434918"/>
                  </a:lnTo>
                  <a:lnTo>
                    <a:pt x="754380" y="488111"/>
                  </a:lnTo>
                  <a:lnTo>
                    <a:pt x="752166" y="541304"/>
                  </a:lnTo>
                  <a:lnTo>
                    <a:pt x="745679" y="592836"/>
                  </a:lnTo>
                  <a:lnTo>
                    <a:pt x="735148" y="642409"/>
                  </a:lnTo>
                  <a:lnTo>
                    <a:pt x="720804" y="689727"/>
                  </a:lnTo>
                  <a:lnTo>
                    <a:pt x="702877" y="734490"/>
                  </a:lnTo>
                  <a:lnTo>
                    <a:pt x="681597" y="776403"/>
                  </a:lnTo>
                  <a:lnTo>
                    <a:pt x="657195" y="815167"/>
                  </a:lnTo>
                  <a:lnTo>
                    <a:pt x="629900" y="850485"/>
                  </a:lnTo>
                  <a:lnTo>
                    <a:pt x="599943" y="882059"/>
                  </a:lnTo>
                  <a:lnTo>
                    <a:pt x="567554" y="909591"/>
                  </a:lnTo>
                  <a:lnTo>
                    <a:pt x="532964" y="932785"/>
                  </a:lnTo>
                  <a:lnTo>
                    <a:pt x="496402" y="951343"/>
                  </a:lnTo>
                  <a:lnTo>
                    <a:pt x="458099" y="964967"/>
                  </a:lnTo>
                  <a:lnTo>
                    <a:pt x="418284" y="973359"/>
                  </a:lnTo>
                  <a:lnTo>
                    <a:pt x="377190" y="976223"/>
                  </a:lnTo>
                  <a:lnTo>
                    <a:pt x="336095" y="973359"/>
                  </a:lnTo>
                  <a:lnTo>
                    <a:pt x="296280" y="964967"/>
                  </a:lnTo>
                  <a:lnTo>
                    <a:pt x="257977" y="951343"/>
                  </a:lnTo>
                  <a:lnTo>
                    <a:pt x="221415" y="932785"/>
                  </a:lnTo>
                  <a:lnTo>
                    <a:pt x="186825" y="909591"/>
                  </a:lnTo>
                  <a:lnTo>
                    <a:pt x="154436" y="882059"/>
                  </a:lnTo>
                  <a:lnTo>
                    <a:pt x="124479" y="850485"/>
                  </a:lnTo>
                  <a:lnTo>
                    <a:pt x="97185" y="815167"/>
                  </a:lnTo>
                  <a:lnTo>
                    <a:pt x="72782" y="776403"/>
                  </a:lnTo>
                  <a:lnTo>
                    <a:pt x="51502" y="734490"/>
                  </a:lnTo>
                  <a:lnTo>
                    <a:pt x="33575" y="689727"/>
                  </a:lnTo>
                  <a:lnTo>
                    <a:pt x="19231" y="642409"/>
                  </a:lnTo>
                  <a:lnTo>
                    <a:pt x="8700" y="592836"/>
                  </a:lnTo>
                  <a:lnTo>
                    <a:pt x="2213" y="541304"/>
                  </a:lnTo>
                  <a:lnTo>
                    <a:pt x="0" y="488111"/>
                  </a:lnTo>
                  <a:close/>
                </a:path>
              </a:pathLst>
            </a:custGeom>
            <a:ln w="4191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315724" y="4515824"/>
              <a:ext cx="1033144" cy="188595"/>
            </a:xfrm>
            <a:custGeom>
              <a:avLst/>
              <a:gdLst/>
              <a:ahLst/>
              <a:cxnLst/>
              <a:rect l="l" t="t" r="r" b="b"/>
              <a:pathLst>
                <a:path w="1033145" h="188595">
                  <a:moveTo>
                    <a:pt x="164658" y="0"/>
                  </a:moveTo>
                  <a:lnTo>
                    <a:pt x="156743" y="2632"/>
                  </a:lnTo>
                  <a:lnTo>
                    <a:pt x="0" y="94135"/>
                  </a:lnTo>
                  <a:lnTo>
                    <a:pt x="156743" y="185499"/>
                  </a:lnTo>
                  <a:lnTo>
                    <a:pt x="164658" y="188210"/>
                  </a:lnTo>
                  <a:lnTo>
                    <a:pt x="172704" y="187700"/>
                  </a:lnTo>
                  <a:lnTo>
                    <a:pt x="179964" y="184203"/>
                  </a:lnTo>
                  <a:lnTo>
                    <a:pt x="185521" y="177955"/>
                  </a:lnTo>
                  <a:lnTo>
                    <a:pt x="188154" y="170121"/>
                  </a:lnTo>
                  <a:lnTo>
                    <a:pt x="187617" y="162117"/>
                  </a:lnTo>
                  <a:lnTo>
                    <a:pt x="184146" y="154872"/>
                  </a:lnTo>
                  <a:lnTo>
                    <a:pt x="177977" y="149317"/>
                  </a:lnTo>
                  <a:lnTo>
                    <a:pt x="119303" y="115090"/>
                  </a:lnTo>
                  <a:lnTo>
                    <a:pt x="41630" y="115090"/>
                  </a:lnTo>
                  <a:lnTo>
                    <a:pt x="41630" y="73180"/>
                  </a:lnTo>
                  <a:lnTo>
                    <a:pt x="119064" y="73180"/>
                  </a:lnTo>
                  <a:lnTo>
                    <a:pt x="177977" y="38814"/>
                  </a:lnTo>
                  <a:lnTo>
                    <a:pt x="184146" y="33338"/>
                  </a:lnTo>
                  <a:lnTo>
                    <a:pt x="187617" y="26119"/>
                  </a:lnTo>
                  <a:lnTo>
                    <a:pt x="188154" y="18088"/>
                  </a:lnTo>
                  <a:lnTo>
                    <a:pt x="185521" y="10176"/>
                  </a:lnTo>
                  <a:lnTo>
                    <a:pt x="179964" y="4007"/>
                  </a:lnTo>
                  <a:lnTo>
                    <a:pt x="172704" y="536"/>
                  </a:lnTo>
                  <a:lnTo>
                    <a:pt x="164658" y="0"/>
                  </a:lnTo>
                  <a:close/>
                </a:path>
                <a:path w="1033145" h="188595">
                  <a:moveTo>
                    <a:pt x="119064" y="73180"/>
                  </a:moveTo>
                  <a:lnTo>
                    <a:pt x="41630" y="73180"/>
                  </a:lnTo>
                  <a:lnTo>
                    <a:pt x="41630" y="115090"/>
                  </a:lnTo>
                  <a:lnTo>
                    <a:pt x="119303" y="115090"/>
                  </a:lnTo>
                  <a:lnTo>
                    <a:pt x="114274" y="112157"/>
                  </a:lnTo>
                  <a:lnTo>
                    <a:pt x="52247" y="112157"/>
                  </a:lnTo>
                  <a:lnTo>
                    <a:pt x="52247" y="75974"/>
                  </a:lnTo>
                  <a:lnTo>
                    <a:pt x="114274" y="75974"/>
                  </a:lnTo>
                  <a:lnTo>
                    <a:pt x="119064" y="73180"/>
                  </a:lnTo>
                  <a:close/>
                </a:path>
                <a:path w="1033145" h="188595">
                  <a:moveTo>
                    <a:pt x="1032802" y="94135"/>
                  </a:moveTo>
                  <a:lnTo>
                    <a:pt x="83380" y="94135"/>
                  </a:lnTo>
                  <a:lnTo>
                    <a:pt x="119303" y="115090"/>
                  </a:lnTo>
                  <a:lnTo>
                    <a:pt x="1032802" y="115090"/>
                  </a:lnTo>
                  <a:lnTo>
                    <a:pt x="1032802" y="94135"/>
                  </a:lnTo>
                  <a:close/>
                </a:path>
                <a:path w="1033145" h="188595">
                  <a:moveTo>
                    <a:pt x="52247" y="75974"/>
                  </a:moveTo>
                  <a:lnTo>
                    <a:pt x="52247" y="112157"/>
                  </a:lnTo>
                  <a:lnTo>
                    <a:pt x="83141" y="94135"/>
                  </a:lnTo>
                  <a:lnTo>
                    <a:pt x="83380" y="94135"/>
                  </a:lnTo>
                  <a:lnTo>
                    <a:pt x="52247" y="75974"/>
                  </a:lnTo>
                  <a:close/>
                </a:path>
                <a:path w="1033145" h="188595">
                  <a:moveTo>
                    <a:pt x="1032802" y="73180"/>
                  </a:moveTo>
                  <a:lnTo>
                    <a:pt x="119064" y="73180"/>
                  </a:lnTo>
                  <a:lnTo>
                    <a:pt x="52247" y="112157"/>
                  </a:lnTo>
                  <a:lnTo>
                    <a:pt x="114274" y="112157"/>
                  </a:lnTo>
                  <a:lnTo>
                    <a:pt x="83380" y="94135"/>
                  </a:lnTo>
                  <a:lnTo>
                    <a:pt x="1032802" y="94135"/>
                  </a:lnTo>
                  <a:lnTo>
                    <a:pt x="1032802" y="73180"/>
                  </a:lnTo>
                  <a:close/>
                </a:path>
                <a:path w="1033145" h="188595">
                  <a:moveTo>
                    <a:pt x="114274" y="75974"/>
                  </a:moveTo>
                  <a:lnTo>
                    <a:pt x="52247" y="75974"/>
                  </a:lnTo>
                  <a:lnTo>
                    <a:pt x="83380" y="94135"/>
                  </a:lnTo>
                  <a:lnTo>
                    <a:pt x="83141" y="94135"/>
                  </a:lnTo>
                  <a:lnTo>
                    <a:pt x="114274" y="75974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11041" y="4230115"/>
            <a:ext cx="553044" cy="5692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502543" y="4265193"/>
            <a:ext cx="240029" cy="494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 spc="-50">
                <a:latin typeface="Arial MT"/>
                <a:cs typeface="Arial MT"/>
              </a:rPr>
              <a:t>≈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0804" y="119735"/>
            <a:ext cx="715518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Overview</a:t>
            </a:r>
            <a:r>
              <a:rPr dirty="0" spc="-1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dirty="0" spc="-1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Keypoint</a:t>
            </a:r>
            <a:r>
              <a:rPr dirty="0" spc="-1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08779" y="7071095"/>
            <a:ext cx="143891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solidFill>
                  <a:srgbClr val="888888"/>
                </a:solidFill>
                <a:latin typeface="Calibri"/>
                <a:cs typeface="Calibri"/>
              </a:rPr>
              <a:t>K.</a:t>
            </a:r>
            <a:r>
              <a:rPr dirty="0" sz="13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888888"/>
                </a:solidFill>
                <a:latin typeface="Calibri"/>
                <a:cs typeface="Calibri"/>
              </a:rPr>
              <a:t>Grauman,</a:t>
            </a:r>
            <a:r>
              <a:rPr dirty="0" sz="1300" spc="-1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888888"/>
                </a:solidFill>
                <a:latin typeface="Calibri"/>
                <a:cs typeface="Calibri"/>
              </a:rPr>
              <a:t>B.</a:t>
            </a:r>
            <a:r>
              <a:rPr dirty="0" sz="1300" spc="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888888"/>
                </a:solidFill>
                <a:latin typeface="Calibri"/>
                <a:cs typeface="Calibri"/>
              </a:rPr>
              <a:t>Leibe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5134" y="5031016"/>
            <a:ext cx="949960" cy="949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228" y="5031016"/>
            <a:ext cx="1026795" cy="95345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433127" y="5347017"/>
            <a:ext cx="674370" cy="278130"/>
          </a:xfrm>
          <a:custGeom>
            <a:avLst/>
            <a:gdLst/>
            <a:ahLst/>
            <a:cxnLst/>
            <a:rect l="l" t="t" r="r" b="b"/>
            <a:pathLst>
              <a:path w="674370" h="278129">
                <a:moveTo>
                  <a:pt x="0" y="138861"/>
                </a:moveTo>
                <a:lnTo>
                  <a:pt x="134810" y="0"/>
                </a:lnTo>
                <a:lnTo>
                  <a:pt x="134810" y="69430"/>
                </a:lnTo>
                <a:lnTo>
                  <a:pt x="539242" y="69430"/>
                </a:lnTo>
                <a:lnTo>
                  <a:pt x="539242" y="0"/>
                </a:lnTo>
                <a:lnTo>
                  <a:pt x="674052" y="138861"/>
                </a:lnTo>
                <a:lnTo>
                  <a:pt x="539242" y="277583"/>
                </a:lnTo>
                <a:lnTo>
                  <a:pt x="539242" y="208292"/>
                </a:lnTo>
                <a:lnTo>
                  <a:pt x="134810" y="208292"/>
                </a:lnTo>
                <a:lnTo>
                  <a:pt x="134810" y="277583"/>
                </a:lnTo>
                <a:lnTo>
                  <a:pt x="0" y="138861"/>
                </a:lnTo>
                <a:close/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2137410" y="5142789"/>
            <a:ext cx="939800" cy="642620"/>
            <a:chOff x="2137410" y="5142789"/>
            <a:chExt cx="939800" cy="642620"/>
          </a:xfrm>
        </p:grpSpPr>
        <p:sp>
          <p:nvSpPr>
            <p:cNvPr id="8" name="object 8"/>
            <p:cNvSpPr/>
            <p:nvPr/>
          </p:nvSpPr>
          <p:spPr>
            <a:xfrm>
              <a:off x="2137397" y="5196154"/>
              <a:ext cx="939800" cy="589280"/>
            </a:xfrm>
            <a:custGeom>
              <a:avLst/>
              <a:gdLst/>
              <a:ahLst/>
              <a:cxnLst/>
              <a:rect l="l" t="t" r="r" b="b"/>
              <a:pathLst>
                <a:path w="939800" h="589279">
                  <a:moveTo>
                    <a:pt x="939482" y="561314"/>
                  </a:moveTo>
                  <a:lnTo>
                    <a:pt x="925309" y="554189"/>
                  </a:lnTo>
                  <a:lnTo>
                    <a:pt x="883602" y="533234"/>
                  </a:lnTo>
                  <a:lnTo>
                    <a:pt x="883602" y="554189"/>
                  </a:lnTo>
                  <a:lnTo>
                    <a:pt x="34925" y="554189"/>
                  </a:lnTo>
                  <a:lnTo>
                    <a:pt x="34925" y="55880"/>
                  </a:lnTo>
                  <a:lnTo>
                    <a:pt x="55880" y="55880"/>
                  </a:lnTo>
                  <a:lnTo>
                    <a:pt x="48895" y="41910"/>
                  </a:lnTo>
                  <a:lnTo>
                    <a:pt x="27940" y="0"/>
                  </a:lnTo>
                  <a:lnTo>
                    <a:pt x="0" y="55880"/>
                  </a:lnTo>
                  <a:lnTo>
                    <a:pt x="20955" y="55880"/>
                  </a:lnTo>
                  <a:lnTo>
                    <a:pt x="20955" y="554189"/>
                  </a:lnTo>
                  <a:lnTo>
                    <a:pt x="20955" y="556145"/>
                  </a:lnTo>
                  <a:lnTo>
                    <a:pt x="20955" y="568159"/>
                  </a:lnTo>
                  <a:lnTo>
                    <a:pt x="883602" y="568299"/>
                  </a:lnTo>
                  <a:lnTo>
                    <a:pt x="883602" y="589254"/>
                  </a:lnTo>
                  <a:lnTo>
                    <a:pt x="925512" y="568299"/>
                  </a:lnTo>
                  <a:lnTo>
                    <a:pt x="939482" y="5613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223046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23046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278367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78367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36063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336063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393899" y="5333480"/>
              <a:ext cx="57785" cy="412115"/>
            </a:xfrm>
            <a:custGeom>
              <a:avLst/>
              <a:gdLst/>
              <a:ahLst/>
              <a:cxnLst/>
              <a:rect l="l" t="t" r="r" b="b"/>
              <a:pathLst>
                <a:path w="57785" h="412114">
                  <a:moveTo>
                    <a:pt x="57756" y="0"/>
                  </a:moveTo>
                  <a:lnTo>
                    <a:pt x="0" y="0"/>
                  </a:lnTo>
                  <a:lnTo>
                    <a:pt x="0" y="411821"/>
                  </a:lnTo>
                  <a:lnTo>
                    <a:pt x="57756" y="411821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393899" y="5333480"/>
              <a:ext cx="57785" cy="412115"/>
            </a:xfrm>
            <a:custGeom>
              <a:avLst/>
              <a:gdLst/>
              <a:ahLst/>
              <a:cxnLst/>
              <a:rect l="l" t="t" r="r" b="b"/>
              <a:pathLst>
                <a:path w="57785" h="412114">
                  <a:moveTo>
                    <a:pt x="0" y="411821"/>
                  </a:moveTo>
                  <a:lnTo>
                    <a:pt x="57756" y="411821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411821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449080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449080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506916" y="5242633"/>
              <a:ext cx="57785" cy="502920"/>
            </a:xfrm>
            <a:custGeom>
              <a:avLst/>
              <a:gdLst/>
              <a:ahLst/>
              <a:cxnLst/>
              <a:rect l="l" t="t" r="r" b="b"/>
              <a:pathLst>
                <a:path w="57785" h="502920">
                  <a:moveTo>
                    <a:pt x="57756" y="0"/>
                  </a:moveTo>
                  <a:lnTo>
                    <a:pt x="0" y="0"/>
                  </a:lnTo>
                  <a:lnTo>
                    <a:pt x="0" y="502668"/>
                  </a:lnTo>
                  <a:lnTo>
                    <a:pt x="57756" y="502668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506916" y="5242633"/>
              <a:ext cx="57785" cy="502920"/>
            </a:xfrm>
            <a:custGeom>
              <a:avLst/>
              <a:gdLst/>
              <a:ahLst/>
              <a:cxnLst/>
              <a:rect l="l" t="t" r="r" b="b"/>
              <a:pathLst>
                <a:path w="57785" h="502920">
                  <a:moveTo>
                    <a:pt x="0" y="502668"/>
                  </a:moveTo>
                  <a:lnTo>
                    <a:pt x="57756" y="502668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502668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564612" y="5196197"/>
              <a:ext cx="55244" cy="549275"/>
            </a:xfrm>
            <a:custGeom>
              <a:avLst/>
              <a:gdLst/>
              <a:ahLst/>
              <a:cxnLst/>
              <a:rect l="l" t="t" r="r" b="b"/>
              <a:pathLst>
                <a:path w="55244" h="549275">
                  <a:moveTo>
                    <a:pt x="55245" y="0"/>
                  </a:moveTo>
                  <a:lnTo>
                    <a:pt x="0" y="0"/>
                  </a:lnTo>
                  <a:lnTo>
                    <a:pt x="0" y="549104"/>
                  </a:lnTo>
                  <a:lnTo>
                    <a:pt x="55245" y="549104"/>
                  </a:lnTo>
                  <a:lnTo>
                    <a:pt x="55245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64612" y="5196197"/>
              <a:ext cx="55244" cy="549275"/>
            </a:xfrm>
            <a:custGeom>
              <a:avLst/>
              <a:gdLst/>
              <a:ahLst/>
              <a:cxnLst/>
              <a:rect l="l" t="t" r="r" b="b"/>
              <a:pathLst>
                <a:path w="55244" h="549275">
                  <a:moveTo>
                    <a:pt x="0" y="549104"/>
                  </a:moveTo>
                  <a:lnTo>
                    <a:pt x="55245" y="549104"/>
                  </a:lnTo>
                  <a:lnTo>
                    <a:pt x="55245" y="0"/>
                  </a:lnTo>
                  <a:lnTo>
                    <a:pt x="0" y="0"/>
                  </a:lnTo>
                  <a:lnTo>
                    <a:pt x="0" y="549104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619933" y="5149774"/>
              <a:ext cx="57785" cy="595630"/>
            </a:xfrm>
            <a:custGeom>
              <a:avLst/>
              <a:gdLst/>
              <a:ahLst/>
              <a:cxnLst/>
              <a:rect l="l" t="t" r="r" b="b"/>
              <a:pathLst>
                <a:path w="57785" h="595629">
                  <a:moveTo>
                    <a:pt x="57756" y="0"/>
                  </a:moveTo>
                  <a:lnTo>
                    <a:pt x="0" y="0"/>
                  </a:lnTo>
                  <a:lnTo>
                    <a:pt x="0" y="595527"/>
                  </a:lnTo>
                  <a:lnTo>
                    <a:pt x="57756" y="595527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619933" y="5149774"/>
              <a:ext cx="57785" cy="595630"/>
            </a:xfrm>
            <a:custGeom>
              <a:avLst/>
              <a:gdLst/>
              <a:ahLst/>
              <a:cxnLst/>
              <a:rect l="l" t="t" r="r" b="b"/>
              <a:pathLst>
                <a:path w="57785" h="595629">
                  <a:moveTo>
                    <a:pt x="0" y="595527"/>
                  </a:moveTo>
                  <a:lnTo>
                    <a:pt x="57756" y="595527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595527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677629" y="5149774"/>
              <a:ext cx="57785" cy="595630"/>
            </a:xfrm>
            <a:custGeom>
              <a:avLst/>
              <a:gdLst/>
              <a:ahLst/>
              <a:cxnLst/>
              <a:rect l="l" t="t" r="r" b="b"/>
              <a:pathLst>
                <a:path w="57785" h="595629">
                  <a:moveTo>
                    <a:pt x="57756" y="0"/>
                  </a:moveTo>
                  <a:lnTo>
                    <a:pt x="0" y="0"/>
                  </a:lnTo>
                  <a:lnTo>
                    <a:pt x="0" y="595527"/>
                  </a:lnTo>
                  <a:lnTo>
                    <a:pt x="57756" y="595527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77629" y="5149774"/>
              <a:ext cx="57785" cy="595630"/>
            </a:xfrm>
            <a:custGeom>
              <a:avLst/>
              <a:gdLst/>
              <a:ahLst/>
              <a:cxnLst/>
              <a:rect l="l" t="t" r="r" b="b"/>
              <a:pathLst>
                <a:path w="57785" h="595629">
                  <a:moveTo>
                    <a:pt x="0" y="595527"/>
                  </a:moveTo>
                  <a:lnTo>
                    <a:pt x="57756" y="595527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595527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735326" y="5196197"/>
              <a:ext cx="57785" cy="549275"/>
            </a:xfrm>
            <a:custGeom>
              <a:avLst/>
              <a:gdLst/>
              <a:ahLst/>
              <a:cxnLst/>
              <a:rect l="l" t="t" r="r" b="b"/>
              <a:pathLst>
                <a:path w="57785" h="549275">
                  <a:moveTo>
                    <a:pt x="57756" y="0"/>
                  </a:moveTo>
                  <a:lnTo>
                    <a:pt x="0" y="0"/>
                  </a:lnTo>
                  <a:lnTo>
                    <a:pt x="0" y="549104"/>
                  </a:lnTo>
                  <a:lnTo>
                    <a:pt x="57756" y="549104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35326" y="5196197"/>
              <a:ext cx="57785" cy="549275"/>
            </a:xfrm>
            <a:custGeom>
              <a:avLst/>
              <a:gdLst/>
              <a:ahLst/>
              <a:cxnLst/>
              <a:rect l="l" t="t" r="r" b="b"/>
              <a:pathLst>
                <a:path w="57785" h="549275">
                  <a:moveTo>
                    <a:pt x="0" y="549104"/>
                  </a:moveTo>
                  <a:lnTo>
                    <a:pt x="57756" y="549104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549104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790647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790647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848343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57756" y="0"/>
                  </a:moveTo>
                  <a:lnTo>
                    <a:pt x="0" y="0"/>
                  </a:lnTo>
                  <a:lnTo>
                    <a:pt x="0" y="274552"/>
                  </a:lnTo>
                  <a:lnTo>
                    <a:pt x="57756" y="274552"/>
                  </a:lnTo>
                  <a:lnTo>
                    <a:pt x="57756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848343" y="5470749"/>
              <a:ext cx="57785" cy="274955"/>
            </a:xfrm>
            <a:custGeom>
              <a:avLst/>
              <a:gdLst/>
              <a:ahLst/>
              <a:cxnLst/>
              <a:rect l="l" t="t" r="r" b="b"/>
              <a:pathLst>
                <a:path w="57785" h="274954">
                  <a:moveTo>
                    <a:pt x="0" y="274552"/>
                  </a:moveTo>
                  <a:lnTo>
                    <a:pt x="57756" y="274552"/>
                  </a:lnTo>
                  <a:lnTo>
                    <a:pt x="57756" y="0"/>
                  </a:lnTo>
                  <a:lnTo>
                    <a:pt x="0" y="0"/>
                  </a:lnTo>
                  <a:lnTo>
                    <a:pt x="0" y="274552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573169" y="4826927"/>
            <a:ext cx="13462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50" i="1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54288" y="4621861"/>
            <a:ext cx="110489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0" i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45419" y="5181067"/>
            <a:ext cx="861060" cy="602615"/>
            <a:chOff x="4545419" y="5181067"/>
            <a:chExt cx="861060" cy="602615"/>
          </a:xfrm>
        </p:grpSpPr>
        <p:sp>
          <p:nvSpPr>
            <p:cNvPr id="36" name="object 36"/>
            <p:cNvSpPr/>
            <p:nvPr/>
          </p:nvSpPr>
          <p:spPr>
            <a:xfrm>
              <a:off x="4545406" y="5188051"/>
              <a:ext cx="861060" cy="595630"/>
            </a:xfrm>
            <a:custGeom>
              <a:avLst/>
              <a:gdLst/>
              <a:ahLst/>
              <a:cxnLst/>
              <a:rect l="l" t="t" r="r" b="b"/>
              <a:pathLst>
                <a:path w="861060" h="595629">
                  <a:moveTo>
                    <a:pt x="860971" y="567601"/>
                  </a:moveTo>
                  <a:lnTo>
                    <a:pt x="847001" y="560616"/>
                  </a:lnTo>
                  <a:lnTo>
                    <a:pt x="805091" y="539661"/>
                  </a:lnTo>
                  <a:lnTo>
                    <a:pt x="805091" y="560616"/>
                  </a:lnTo>
                  <a:lnTo>
                    <a:pt x="34925" y="560616"/>
                  </a:lnTo>
                  <a:lnTo>
                    <a:pt x="34925" y="55880"/>
                  </a:lnTo>
                  <a:lnTo>
                    <a:pt x="55880" y="55880"/>
                  </a:lnTo>
                  <a:lnTo>
                    <a:pt x="48895" y="41910"/>
                  </a:lnTo>
                  <a:lnTo>
                    <a:pt x="27940" y="0"/>
                  </a:lnTo>
                  <a:lnTo>
                    <a:pt x="0" y="55880"/>
                  </a:lnTo>
                  <a:lnTo>
                    <a:pt x="20955" y="55880"/>
                  </a:lnTo>
                  <a:lnTo>
                    <a:pt x="21082" y="560616"/>
                  </a:lnTo>
                  <a:lnTo>
                    <a:pt x="20955" y="560616"/>
                  </a:lnTo>
                  <a:lnTo>
                    <a:pt x="20955" y="574586"/>
                  </a:lnTo>
                  <a:lnTo>
                    <a:pt x="805091" y="574586"/>
                  </a:lnTo>
                  <a:lnTo>
                    <a:pt x="805091" y="595541"/>
                  </a:lnTo>
                  <a:lnTo>
                    <a:pt x="847001" y="574586"/>
                  </a:lnTo>
                  <a:lnTo>
                    <a:pt x="860971" y="5676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626165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626165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676737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676737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729404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729404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782210" y="5326872"/>
              <a:ext cx="53340" cy="416559"/>
            </a:xfrm>
            <a:custGeom>
              <a:avLst/>
              <a:gdLst/>
              <a:ahLst/>
              <a:cxnLst/>
              <a:rect l="l" t="t" r="r" b="b"/>
              <a:pathLst>
                <a:path w="53339" h="416560">
                  <a:moveTo>
                    <a:pt x="52777" y="0"/>
                  </a:moveTo>
                  <a:lnTo>
                    <a:pt x="0" y="0"/>
                  </a:lnTo>
                  <a:lnTo>
                    <a:pt x="0" y="416473"/>
                  </a:lnTo>
                  <a:lnTo>
                    <a:pt x="52777" y="416473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782210" y="5326872"/>
              <a:ext cx="53340" cy="416559"/>
            </a:xfrm>
            <a:custGeom>
              <a:avLst/>
              <a:gdLst/>
              <a:ahLst/>
              <a:cxnLst/>
              <a:rect l="l" t="t" r="r" b="b"/>
              <a:pathLst>
                <a:path w="53339" h="416560">
                  <a:moveTo>
                    <a:pt x="0" y="416473"/>
                  </a:moveTo>
                  <a:lnTo>
                    <a:pt x="52777" y="416473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416473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832782" y="5279919"/>
              <a:ext cx="53340" cy="463550"/>
            </a:xfrm>
            <a:custGeom>
              <a:avLst/>
              <a:gdLst/>
              <a:ahLst/>
              <a:cxnLst/>
              <a:rect l="l" t="t" r="r" b="b"/>
              <a:pathLst>
                <a:path w="53339" h="463550">
                  <a:moveTo>
                    <a:pt x="52777" y="0"/>
                  </a:moveTo>
                  <a:lnTo>
                    <a:pt x="0" y="0"/>
                  </a:lnTo>
                  <a:lnTo>
                    <a:pt x="0" y="463426"/>
                  </a:lnTo>
                  <a:lnTo>
                    <a:pt x="52777" y="463426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832782" y="5279919"/>
              <a:ext cx="53340" cy="463550"/>
            </a:xfrm>
            <a:custGeom>
              <a:avLst/>
              <a:gdLst/>
              <a:ahLst/>
              <a:cxnLst/>
              <a:rect l="l" t="t" r="r" b="b"/>
              <a:pathLst>
                <a:path w="53339" h="463550">
                  <a:moveTo>
                    <a:pt x="0" y="463426"/>
                  </a:moveTo>
                  <a:lnTo>
                    <a:pt x="52777" y="463426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463426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885448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885448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938255" y="5188052"/>
              <a:ext cx="50800" cy="555625"/>
            </a:xfrm>
            <a:custGeom>
              <a:avLst/>
              <a:gdLst/>
              <a:ahLst/>
              <a:cxnLst/>
              <a:rect l="l" t="t" r="r" b="b"/>
              <a:pathLst>
                <a:path w="50800" h="555625">
                  <a:moveTo>
                    <a:pt x="50481" y="0"/>
                  </a:moveTo>
                  <a:lnTo>
                    <a:pt x="0" y="0"/>
                  </a:lnTo>
                  <a:lnTo>
                    <a:pt x="0" y="555293"/>
                  </a:lnTo>
                  <a:lnTo>
                    <a:pt x="50481" y="555293"/>
                  </a:lnTo>
                  <a:lnTo>
                    <a:pt x="50481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938255" y="5188052"/>
              <a:ext cx="50800" cy="555625"/>
            </a:xfrm>
            <a:custGeom>
              <a:avLst/>
              <a:gdLst/>
              <a:ahLst/>
              <a:cxnLst/>
              <a:rect l="l" t="t" r="r" b="b"/>
              <a:pathLst>
                <a:path w="50800" h="555625">
                  <a:moveTo>
                    <a:pt x="0" y="555293"/>
                  </a:moveTo>
                  <a:lnTo>
                    <a:pt x="50481" y="555293"/>
                  </a:lnTo>
                  <a:lnTo>
                    <a:pt x="50481" y="0"/>
                  </a:lnTo>
                  <a:lnTo>
                    <a:pt x="0" y="0"/>
                  </a:lnTo>
                  <a:lnTo>
                    <a:pt x="0" y="555293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988826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988826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041493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041493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094300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094300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144732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52777" y="0"/>
                  </a:moveTo>
                  <a:lnTo>
                    <a:pt x="0" y="0"/>
                  </a:lnTo>
                  <a:lnTo>
                    <a:pt x="0" y="277639"/>
                  </a:lnTo>
                  <a:lnTo>
                    <a:pt x="52777" y="277639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144732" y="5465706"/>
              <a:ext cx="53340" cy="278130"/>
            </a:xfrm>
            <a:custGeom>
              <a:avLst/>
              <a:gdLst/>
              <a:ahLst/>
              <a:cxnLst/>
              <a:rect l="l" t="t" r="r" b="b"/>
              <a:pathLst>
                <a:path w="53339" h="278129">
                  <a:moveTo>
                    <a:pt x="0" y="277639"/>
                  </a:moveTo>
                  <a:lnTo>
                    <a:pt x="52777" y="277639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277639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5197538" y="5279919"/>
              <a:ext cx="53340" cy="463550"/>
            </a:xfrm>
            <a:custGeom>
              <a:avLst/>
              <a:gdLst/>
              <a:ahLst/>
              <a:cxnLst/>
              <a:rect l="l" t="t" r="r" b="b"/>
              <a:pathLst>
                <a:path w="53339" h="463550">
                  <a:moveTo>
                    <a:pt x="52777" y="0"/>
                  </a:moveTo>
                  <a:lnTo>
                    <a:pt x="0" y="0"/>
                  </a:lnTo>
                  <a:lnTo>
                    <a:pt x="0" y="463426"/>
                  </a:lnTo>
                  <a:lnTo>
                    <a:pt x="52777" y="463426"/>
                  </a:lnTo>
                  <a:lnTo>
                    <a:pt x="52777" y="0"/>
                  </a:lnTo>
                  <a:close/>
                </a:path>
              </a:pathLst>
            </a:custGeom>
            <a:solidFill>
              <a:srgbClr val="EDEB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5197538" y="5279919"/>
              <a:ext cx="53340" cy="463550"/>
            </a:xfrm>
            <a:custGeom>
              <a:avLst/>
              <a:gdLst/>
              <a:ahLst/>
              <a:cxnLst/>
              <a:rect l="l" t="t" r="r" b="b"/>
              <a:pathLst>
                <a:path w="53339" h="463550">
                  <a:moveTo>
                    <a:pt x="0" y="463426"/>
                  </a:moveTo>
                  <a:lnTo>
                    <a:pt x="52777" y="463426"/>
                  </a:lnTo>
                  <a:lnTo>
                    <a:pt x="52777" y="0"/>
                  </a:lnTo>
                  <a:lnTo>
                    <a:pt x="0" y="0"/>
                  </a:lnTo>
                  <a:lnTo>
                    <a:pt x="0" y="463426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4933975" y="4867052"/>
            <a:ext cx="13462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50" i="1">
                <a:latin typeface="Times New Roman"/>
                <a:cs typeface="Times New Roman"/>
              </a:rPr>
              <a:t>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23879" y="4662015"/>
            <a:ext cx="110489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0" i="1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163002" y="2980848"/>
            <a:ext cx="515620" cy="490855"/>
            <a:chOff x="1163002" y="2980848"/>
            <a:chExt cx="515620" cy="490855"/>
          </a:xfrm>
        </p:grpSpPr>
        <p:sp>
          <p:nvSpPr>
            <p:cNvPr id="64" name="object 64"/>
            <p:cNvSpPr/>
            <p:nvPr/>
          </p:nvSpPr>
          <p:spPr>
            <a:xfrm>
              <a:off x="1176972" y="2994818"/>
              <a:ext cx="487680" cy="462915"/>
            </a:xfrm>
            <a:custGeom>
              <a:avLst/>
              <a:gdLst/>
              <a:ahLst/>
              <a:cxnLst/>
              <a:rect l="l" t="t" r="r" b="b"/>
              <a:pathLst>
                <a:path w="487680" h="462914">
                  <a:moveTo>
                    <a:pt x="0" y="462756"/>
                  </a:moveTo>
                  <a:lnTo>
                    <a:pt x="487203" y="462756"/>
                  </a:lnTo>
                  <a:lnTo>
                    <a:pt x="487203" y="0"/>
                  </a:lnTo>
                  <a:lnTo>
                    <a:pt x="0" y="0"/>
                  </a:lnTo>
                  <a:lnTo>
                    <a:pt x="0" y="462756"/>
                  </a:lnTo>
                  <a:close/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372552" y="3207931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4" h="80645">
                  <a:moveTo>
                    <a:pt x="0" y="0"/>
                  </a:moveTo>
                  <a:lnTo>
                    <a:pt x="80327" y="80327"/>
                  </a:lnTo>
                </a:path>
                <a:path w="80644" h="80645">
                  <a:moveTo>
                    <a:pt x="80327" y="0"/>
                  </a:moveTo>
                  <a:lnTo>
                    <a:pt x="1746" y="80327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/>
          <p:cNvGrpSpPr/>
          <p:nvPr/>
        </p:nvGrpSpPr>
        <p:grpSpPr>
          <a:xfrm>
            <a:off x="897572" y="1361655"/>
            <a:ext cx="6072505" cy="3402965"/>
            <a:chOff x="897572" y="1361655"/>
            <a:chExt cx="6072505" cy="3402965"/>
          </a:xfrm>
        </p:grpSpPr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3478" y="1361655"/>
              <a:ext cx="3306014" cy="340239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308600" y="3383952"/>
              <a:ext cx="684530" cy="704850"/>
            </a:xfrm>
            <a:custGeom>
              <a:avLst/>
              <a:gdLst/>
              <a:ahLst/>
              <a:cxnLst/>
              <a:rect l="l" t="t" r="r" b="b"/>
              <a:pathLst>
                <a:path w="684529" h="704850">
                  <a:moveTo>
                    <a:pt x="166801" y="704227"/>
                  </a:moveTo>
                  <a:lnTo>
                    <a:pt x="0" y="158140"/>
                  </a:lnTo>
                  <a:lnTo>
                    <a:pt x="517728" y="0"/>
                  </a:lnTo>
                  <a:lnTo>
                    <a:pt x="684530" y="546087"/>
                  </a:lnTo>
                  <a:lnTo>
                    <a:pt x="166801" y="704227"/>
                  </a:lnTo>
                  <a:close/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636922" y="2388869"/>
              <a:ext cx="1285875" cy="1685925"/>
            </a:xfrm>
            <a:custGeom>
              <a:avLst/>
              <a:gdLst/>
              <a:ahLst/>
              <a:cxnLst/>
              <a:rect l="l" t="t" r="r" b="b"/>
              <a:pathLst>
                <a:path w="1285875" h="1685925">
                  <a:moveTo>
                    <a:pt x="1195971" y="117487"/>
                  </a:moveTo>
                  <a:lnTo>
                    <a:pt x="1258417" y="0"/>
                  </a:lnTo>
                </a:path>
                <a:path w="1285875" h="1685925">
                  <a:moveTo>
                    <a:pt x="1168450" y="27381"/>
                  </a:moveTo>
                  <a:lnTo>
                    <a:pt x="1285379" y="88011"/>
                  </a:lnTo>
                </a:path>
                <a:path w="1285875" h="1685925">
                  <a:moveTo>
                    <a:pt x="27520" y="1685480"/>
                  </a:moveTo>
                  <a:lnTo>
                    <a:pt x="89966" y="1567992"/>
                  </a:lnTo>
                </a:path>
                <a:path w="1285875" h="1685925">
                  <a:moveTo>
                    <a:pt x="0" y="1595513"/>
                  </a:moveTo>
                  <a:lnTo>
                    <a:pt x="116789" y="1656143"/>
                  </a:lnTo>
                </a:path>
                <a:path w="1285875" h="1685925">
                  <a:moveTo>
                    <a:pt x="273113" y="1223213"/>
                  </a:moveTo>
                  <a:lnTo>
                    <a:pt x="335419" y="1105725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82514" y="3522116"/>
              <a:ext cx="116839" cy="60960"/>
            </a:xfrm>
            <a:custGeom>
              <a:avLst/>
              <a:gdLst/>
              <a:ahLst/>
              <a:cxnLst/>
              <a:rect l="l" t="t" r="r" b="b"/>
              <a:pathLst>
                <a:path w="116839" h="60960">
                  <a:moveTo>
                    <a:pt x="0" y="0"/>
                  </a:moveTo>
                  <a:lnTo>
                    <a:pt x="116789" y="60490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26763" y="2213686"/>
              <a:ext cx="1155065" cy="588645"/>
            </a:xfrm>
            <a:custGeom>
              <a:avLst/>
              <a:gdLst/>
              <a:ahLst/>
              <a:cxnLst/>
              <a:rect l="l" t="t" r="r" b="b"/>
              <a:pathLst>
                <a:path w="1155064" h="588644">
                  <a:moveTo>
                    <a:pt x="1065491" y="117487"/>
                  </a:moveTo>
                  <a:lnTo>
                    <a:pt x="1127937" y="0"/>
                  </a:lnTo>
                </a:path>
                <a:path w="1155064" h="588644">
                  <a:moveTo>
                    <a:pt x="1037971" y="27520"/>
                  </a:moveTo>
                  <a:lnTo>
                    <a:pt x="1154760" y="88150"/>
                  </a:lnTo>
                </a:path>
                <a:path w="1155064" h="588644">
                  <a:moveTo>
                    <a:pt x="0" y="588556"/>
                  </a:moveTo>
                  <a:lnTo>
                    <a:pt x="62445" y="471068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4199242" y="2712135"/>
              <a:ext cx="116839" cy="60960"/>
            </a:xfrm>
            <a:custGeom>
              <a:avLst/>
              <a:gdLst/>
              <a:ahLst/>
              <a:cxnLst/>
              <a:rect l="l" t="t" r="r" b="b"/>
              <a:pathLst>
                <a:path w="116839" h="60960">
                  <a:moveTo>
                    <a:pt x="0" y="0"/>
                  </a:moveTo>
                  <a:lnTo>
                    <a:pt x="116789" y="60629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641505" y="3664889"/>
              <a:ext cx="62865" cy="118110"/>
            </a:xfrm>
            <a:custGeom>
              <a:avLst/>
              <a:gdLst/>
              <a:ahLst/>
              <a:cxnLst/>
              <a:rect l="l" t="t" r="r" b="b"/>
              <a:pathLst>
                <a:path w="62864" h="118110">
                  <a:moveTo>
                    <a:pt x="0" y="117487"/>
                  </a:moveTo>
                  <a:lnTo>
                    <a:pt x="62445" y="0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613984" y="3692410"/>
              <a:ext cx="116839" cy="60960"/>
            </a:xfrm>
            <a:custGeom>
              <a:avLst/>
              <a:gdLst/>
              <a:ahLst/>
              <a:cxnLst/>
              <a:rect l="l" t="t" r="r" b="b"/>
              <a:pathLst>
                <a:path w="116839" h="60960">
                  <a:moveTo>
                    <a:pt x="0" y="0"/>
                  </a:moveTo>
                  <a:lnTo>
                    <a:pt x="116789" y="60629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8976" y="4055567"/>
              <a:ext cx="170434" cy="196621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3497" y="4134421"/>
              <a:ext cx="68592" cy="11958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80531" y="3712662"/>
              <a:ext cx="170294" cy="19670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75289" y="3793885"/>
              <a:ext cx="99311" cy="129728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9511" y="2278581"/>
              <a:ext cx="170294" cy="19662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684559" y="2360371"/>
              <a:ext cx="91440" cy="121920"/>
            </a:xfrm>
            <a:custGeom>
              <a:avLst/>
              <a:gdLst/>
              <a:ahLst/>
              <a:cxnLst/>
              <a:rect l="l" t="t" r="r" b="b"/>
              <a:pathLst>
                <a:path w="91439" h="121919">
                  <a:moveTo>
                    <a:pt x="38251" y="0"/>
                  </a:moveTo>
                  <a:lnTo>
                    <a:pt x="2514" y="22570"/>
                  </a:lnTo>
                  <a:lnTo>
                    <a:pt x="0" y="35352"/>
                  </a:lnTo>
                  <a:lnTo>
                    <a:pt x="392" y="42608"/>
                  </a:lnTo>
                  <a:lnTo>
                    <a:pt x="15201" y="40792"/>
                  </a:lnTo>
                  <a:lnTo>
                    <a:pt x="14223" y="33528"/>
                  </a:lnTo>
                  <a:lnTo>
                    <a:pt x="14921" y="27660"/>
                  </a:lnTo>
                  <a:lnTo>
                    <a:pt x="20090" y="18580"/>
                  </a:lnTo>
                  <a:lnTo>
                    <a:pt x="24141" y="15506"/>
                  </a:lnTo>
                  <a:lnTo>
                    <a:pt x="35178" y="12153"/>
                  </a:lnTo>
                  <a:lnTo>
                    <a:pt x="40207" y="12433"/>
                  </a:lnTo>
                  <a:lnTo>
                    <a:pt x="49287" y="17043"/>
                  </a:lnTo>
                  <a:lnTo>
                    <a:pt x="52361" y="20815"/>
                  </a:lnTo>
                  <a:lnTo>
                    <a:pt x="55853" y="32550"/>
                  </a:lnTo>
                  <a:lnTo>
                    <a:pt x="55015" y="37998"/>
                  </a:lnTo>
                  <a:lnTo>
                    <a:pt x="47332" y="47218"/>
                  </a:lnTo>
                  <a:lnTo>
                    <a:pt x="42302" y="50431"/>
                  </a:lnTo>
                  <a:lnTo>
                    <a:pt x="34060" y="52806"/>
                  </a:lnTo>
                  <a:lnTo>
                    <a:pt x="36295" y="65659"/>
                  </a:lnTo>
                  <a:lnTo>
                    <a:pt x="39928" y="63423"/>
                  </a:lnTo>
                  <a:lnTo>
                    <a:pt x="43001" y="61887"/>
                  </a:lnTo>
                  <a:lnTo>
                    <a:pt x="52221" y="59093"/>
                  </a:lnTo>
                  <a:lnTo>
                    <a:pt x="58228" y="59512"/>
                  </a:lnTo>
                  <a:lnTo>
                    <a:pt x="69265" y="65379"/>
                  </a:lnTo>
                  <a:lnTo>
                    <a:pt x="73036" y="69989"/>
                  </a:lnTo>
                  <a:lnTo>
                    <a:pt x="77088" y="83261"/>
                  </a:lnTo>
                  <a:lnTo>
                    <a:pt x="76529" y="89687"/>
                  </a:lnTo>
                  <a:lnTo>
                    <a:pt x="70242" y="101701"/>
                  </a:lnTo>
                  <a:lnTo>
                    <a:pt x="65353" y="105613"/>
                  </a:lnTo>
                  <a:lnTo>
                    <a:pt x="53059" y="109385"/>
                  </a:lnTo>
                  <a:lnTo>
                    <a:pt x="47890" y="109105"/>
                  </a:lnTo>
                  <a:lnTo>
                    <a:pt x="37832" y="104355"/>
                  </a:lnTo>
                  <a:lnTo>
                    <a:pt x="33362" y="99466"/>
                  </a:lnTo>
                  <a:lnTo>
                    <a:pt x="29310" y="92062"/>
                  </a:lnTo>
                  <a:lnTo>
                    <a:pt x="15759" y="98209"/>
                  </a:lnTo>
                  <a:lnTo>
                    <a:pt x="47663" y="121364"/>
                  </a:lnTo>
                  <a:lnTo>
                    <a:pt x="54751" y="121071"/>
                  </a:lnTo>
                  <a:lnTo>
                    <a:pt x="89820" y="93472"/>
                  </a:lnTo>
                  <a:lnTo>
                    <a:pt x="91355" y="86369"/>
                  </a:lnTo>
                  <a:lnTo>
                    <a:pt x="91344" y="79109"/>
                  </a:lnTo>
                  <a:lnTo>
                    <a:pt x="67029" y="49453"/>
                  </a:lnTo>
                  <a:lnTo>
                    <a:pt x="59765" y="49872"/>
                  </a:lnTo>
                  <a:lnTo>
                    <a:pt x="64235" y="45961"/>
                  </a:lnTo>
                  <a:lnTo>
                    <a:pt x="67169" y="41490"/>
                  </a:lnTo>
                  <a:lnTo>
                    <a:pt x="70103" y="31711"/>
                  </a:lnTo>
                  <a:lnTo>
                    <a:pt x="69963" y="26822"/>
                  </a:lnTo>
                  <a:lnTo>
                    <a:pt x="66890" y="16624"/>
                  </a:lnTo>
                  <a:lnTo>
                    <a:pt x="63956" y="12153"/>
                  </a:lnTo>
                  <a:lnTo>
                    <a:pt x="55574" y="4610"/>
                  </a:lnTo>
                  <a:lnTo>
                    <a:pt x="50405" y="2095"/>
                  </a:lnTo>
                  <a:lnTo>
                    <a:pt x="38251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7572" y="2006371"/>
              <a:ext cx="2355761" cy="2231707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1412786" y="2298064"/>
              <a:ext cx="1346835" cy="1466850"/>
            </a:xfrm>
            <a:custGeom>
              <a:avLst/>
              <a:gdLst/>
              <a:ahLst/>
              <a:cxnLst/>
              <a:rect l="l" t="t" r="r" b="b"/>
              <a:pathLst>
                <a:path w="1346835" h="1466850">
                  <a:moveTo>
                    <a:pt x="0" y="38417"/>
                  </a:moveTo>
                  <a:lnTo>
                    <a:pt x="80327" y="118745"/>
                  </a:lnTo>
                </a:path>
                <a:path w="1346835" h="1466850">
                  <a:moveTo>
                    <a:pt x="80327" y="38417"/>
                  </a:moveTo>
                  <a:lnTo>
                    <a:pt x="1676" y="118745"/>
                  </a:lnTo>
                </a:path>
                <a:path w="1346835" h="1466850">
                  <a:moveTo>
                    <a:pt x="316141" y="354558"/>
                  </a:moveTo>
                  <a:lnTo>
                    <a:pt x="396468" y="434886"/>
                  </a:lnTo>
                </a:path>
                <a:path w="1346835" h="1466850">
                  <a:moveTo>
                    <a:pt x="396468" y="354558"/>
                  </a:moveTo>
                  <a:lnTo>
                    <a:pt x="317817" y="434886"/>
                  </a:lnTo>
                </a:path>
                <a:path w="1346835" h="1466850">
                  <a:moveTo>
                    <a:pt x="1266240" y="988377"/>
                  </a:moveTo>
                  <a:lnTo>
                    <a:pt x="1346568" y="1068705"/>
                  </a:lnTo>
                </a:path>
                <a:path w="1346835" h="1466850">
                  <a:moveTo>
                    <a:pt x="1346568" y="988377"/>
                  </a:moveTo>
                  <a:lnTo>
                    <a:pt x="1268056" y="1068705"/>
                  </a:lnTo>
                </a:path>
                <a:path w="1346835" h="1466850">
                  <a:moveTo>
                    <a:pt x="988517" y="1386522"/>
                  </a:moveTo>
                  <a:lnTo>
                    <a:pt x="1068844" y="1466850"/>
                  </a:lnTo>
                </a:path>
                <a:path w="1346835" h="1466850">
                  <a:moveTo>
                    <a:pt x="1068844" y="1386522"/>
                  </a:moveTo>
                  <a:lnTo>
                    <a:pt x="990333" y="1466850"/>
                  </a:lnTo>
                </a:path>
                <a:path w="1346835" h="1466850">
                  <a:moveTo>
                    <a:pt x="1147495" y="0"/>
                  </a:moveTo>
                  <a:lnTo>
                    <a:pt x="1227823" y="80327"/>
                  </a:lnTo>
                </a:path>
                <a:path w="1346835" h="1466850">
                  <a:moveTo>
                    <a:pt x="1227823" y="0"/>
                  </a:moveTo>
                  <a:lnTo>
                    <a:pt x="1149172" y="80327"/>
                  </a:lnTo>
                </a:path>
              </a:pathLst>
            </a:custGeom>
            <a:ln w="2794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1515643" y="2249043"/>
            <a:ext cx="33718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00"/>
                </a:solidFill>
                <a:latin typeface="Arial MT"/>
                <a:cs typeface="Arial MT"/>
              </a:rPr>
              <a:t>A</a:t>
            </a:r>
            <a:r>
              <a:rPr dirty="0" baseline="-21367" sz="1950" spc="-37">
                <a:solidFill>
                  <a:srgbClr val="FFFF00"/>
                </a:solidFill>
                <a:latin typeface="Arial MT"/>
                <a:cs typeface="Arial MT"/>
              </a:rPr>
              <a:t>1</a:t>
            </a:r>
            <a:endParaRPr baseline="-21367" sz="195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435455" y="3160725"/>
            <a:ext cx="33718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00"/>
                </a:solidFill>
                <a:latin typeface="Arial MT"/>
                <a:cs typeface="Arial MT"/>
              </a:rPr>
              <a:t>A</a:t>
            </a:r>
            <a:r>
              <a:rPr dirty="0" baseline="-21367" sz="1950" spc="-37">
                <a:solidFill>
                  <a:srgbClr val="FFFF00"/>
                </a:solidFill>
                <a:latin typeface="Arial MT"/>
                <a:cs typeface="Arial MT"/>
              </a:rPr>
              <a:t>2</a:t>
            </a:r>
            <a:endParaRPr baseline="-21367" sz="195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743746" y="3239516"/>
            <a:ext cx="33718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5">
                <a:solidFill>
                  <a:srgbClr val="FFFF00"/>
                </a:solidFill>
                <a:latin typeface="Arial MT"/>
                <a:cs typeface="Arial MT"/>
              </a:rPr>
              <a:t>A</a:t>
            </a:r>
            <a:r>
              <a:rPr dirty="0" baseline="-21367" sz="1950" spc="-37">
                <a:solidFill>
                  <a:srgbClr val="FFFF00"/>
                </a:solidFill>
                <a:latin typeface="Arial MT"/>
                <a:cs typeface="Arial MT"/>
              </a:rPr>
              <a:t>3</a:t>
            </a:r>
            <a:endParaRPr baseline="-21367" sz="195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016520" y="6046784"/>
            <a:ext cx="1551305" cy="363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200" spc="135" i="1">
                <a:latin typeface="Times New Roman"/>
                <a:cs typeface="Times New Roman"/>
              </a:rPr>
              <a:t>d</a:t>
            </a:r>
            <a:r>
              <a:rPr dirty="0" sz="2200" spc="135">
                <a:latin typeface="Times New Roman"/>
                <a:cs typeface="Times New Roman"/>
              </a:rPr>
              <a:t>(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 i="1">
                <a:latin typeface="Times New Roman"/>
                <a:cs typeface="Times New Roman"/>
              </a:rPr>
              <a:t>f</a:t>
            </a:r>
            <a:r>
              <a:rPr dirty="0" sz="2200" spc="-325" i="1">
                <a:latin typeface="Times New Roman"/>
                <a:cs typeface="Times New Roman"/>
              </a:rPr>
              <a:t> </a:t>
            </a:r>
            <a:r>
              <a:rPr dirty="0" baseline="-23504" sz="1950" i="1">
                <a:latin typeface="Times New Roman"/>
                <a:cs typeface="Times New Roman"/>
              </a:rPr>
              <a:t>A</a:t>
            </a:r>
            <a:r>
              <a:rPr dirty="0" baseline="-23504" sz="1950" spc="-240" i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,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 spc="95" i="1">
                <a:latin typeface="Times New Roman"/>
                <a:cs typeface="Times New Roman"/>
              </a:rPr>
              <a:t>f</a:t>
            </a:r>
            <a:r>
              <a:rPr dirty="0" baseline="-23504" sz="1950" spc="142" i="1">
                <a:latin typeface="Times New Roman"/>
                <a:cs typeface="Times New Roman"/>
              </a:rPr>
              <a:t>B</a:t>
            </a:r>
            <a:r>
              <a:rPr dirty="0" baseline="-23504" sz="1950" spc="-82" i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)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Symbol"/>
                <a:cs typeface="Symbol"/>
              </a:rPr>
              <a:t></a:t>
            </a:r>
            <a:r>
              <a:rPr dirty="0" sz="2200" spc="-210">
                <a:latin typeface="Times New Roman"/>
                <a:cs typeface="Times New Roman"/>
              </a:rPr>
              <a:t> </a:t>
            </a:r>
            <a:r>
              <a:rPr dirty="0" sz="2200" spc="10" i="1">
                <a:latin typeface="Times New Roman"/>
                <a:cs typeface="Times New Roman"/>
              </a:rPr>
              <a:t>T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398397" y="3239363"/>
            <a:ext cx="4619625" cy="1798955"/>
            <a:chOff x="1398397" y="3239363"/>
            <a:chExt cx="4619625" cy="1798955"/>
          </a:xfrm>
        </p:grpSpPr>
        <p:sp>
          <p:nvSpPr>
            <p:cNvPr id="88" name="object 88"/>
            <p:cNvSpPr/>
            <p:nvPr/>
          </p:nvSpPr>
          <p:spPr>
            <a:xfrm>
              <a:off x="1655445" y="3249841"/>
              <a:ext cx="3735704" cy="562610"/>
            </a:xfrm>
            <a:custGeom>
              <a:avLst/>
              <a:gdLst/>
              <a:ahLst/>
              <a:cxnLst/>
              <a:rect l="l" t="t" r="r" b="b"/>
              <a:pathLst>
                <a:path w="3735704" h="562610">
                  <a:moveTo>
                    <a:pt x="0" y="0"/>
                  </a:moveTo>
                  <a:lnTo>
                    <a:pt x="3735298" y="562292"/>
                  </a:lnTo>
                </a:path>
              </a:pathLst>
            </a:custGeom>
            <a:ln w="20955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398384" y="3511372"/>
              <a:ext cx="4619625" cy="1526540"/>
            </a:xfrm>
            <a:custGeom>
              <a:avLst/>
              <a:gdLst/>
              <a:ahLst/>
              <a:cxnLst/>
              <a:rect l="l" t="t" r="r" b="b"/>
              <a:pathLst>
                <a:path w="4619625" h="1526539">
                  <a:moveTo>
                    <a:pt x="93878" y="1315834"/>
                  </a:moveTo>
                  <a:lnTo>
                    <a:pt x="65963" y="1316621"/>
                  </a:lnTo>
                  <a:lnTo>
                    <a:pt x="38557" y="367512"/>
                  </a:lnTo>
                  <a:lnTo>
                    <a:pt x="38557" y="1331480"/>
                  </a:lnTo>
                  <a:lnTo>
                    <a:pt x="38214" y="1319745"/>
                  </a:lnTo>
                  <a:lnTo>
                    <a:pt x="38544" y="1330642"/>
                  </a:lnTo>
                  <a:lnTo>
                    <a:pt x="38557" y="1331480"/>
                  </a:lnTo>
                  <a:lnTo>
                    <a:pt x="38557" y="367512"/>
                  </a:lnTo>
                  <a:lnTo>
                    <a:pt x="27965" y="698"/>
                  </a:lnTo>
                  <a:lnTo>
                    <a:pt x="27940" y="0"/>
                  </a:lnTo>
                  <a:lnTo>
                    <a:pt x="0" y="698"/>
                  </a:lnTo>
                  <a:lnTo>
                    <a:pt x="38112" y="1315834"/>
                  </a:lnTo>
                  <a:lnTo>
                    <a:pt x="38150" y="1317409"/>
                  </a:lnTo>
                  <a:lnTo>
                    <a:pt x="10198" y="1318209"/>
                  </a:lnTo>
                  <a:lnTo>
                    <a:pt x="54483" y="1400771"/>
                  </a:lnTo>
                  <a:lnTo>
                    <a:pt x="86626" y="1331480"/>
                  </a:lnTo>
                  <a:lnTo>
                    <a:pt x="93878" y="1315834"/>
                  </a:lnTo>
                  <a:close/>
                </a:path>
                <a:path w="4619625" h="1526539">
                  <a:moveTo>
                    <a:pt x="4619041" y="1436116"/>
                  </a:moveTo>
                  <a:lnTo>
                    <a:pt x="4591672" y="1441691"/>
                  </a:lnTo>
                  <a:lnTo>
                    <a:pt x="4404880" y="525272"/>
                  </a:lnTo>
                  <a:lnTo>
                    <a:pt x="4377499" y="530720"/>
                  </a:lnTo>
                  <a:lnTo>
                    <a:pt x="4564291" y="1447279"/>
                  </a:lnTo>
                  <a:lnTo>
                    <a:pt x="4536897" y="1452880"/>
                  </a:lnTo>
                  <a:lnTo>
                    <a:pt x="4594733" y="1526501"/>
                  </a:lnTo>
                  <a:lnTo>
                    <a:pt x="4612360" y="1460982"/>
                  </a:lnTo>
                  <a:lnTo>
                    <a:pt x="4619041" y="1436116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/>
          <p:cNvSpPr txBox="1"/>
          <p:nvPr/>
        </p:nvSpPr>
        <p:spPr>
          <a:xfrm>
            <a:off x="7004431" y="1151699"/>
            <a:ext cx="2466975" cy="1082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0995" marR="5080" indent="-328930">
              <a:lnSpc>
                <a:spcPct val="100499"/>
              </a:lnSpc>
              <a:spcBef>
                <a:spcPts val="95"/>
              </a:spcBef>
            </a:pPr>
            <a:r>
              <a:rPr dirty="0" sz="2300" b="1">
                <a:latin typeface="Arial"/>
                <a:cs typeface="Arial"/>
              </a:rPr>
              <a:t>1.</a:t>
            </a:r>
            <a:r>
              <a:rPr dirty="0" sz="2300" spc="-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Find</a:t>
            </a:r>
            <a:r>
              <a:rPr dirty="0" sz="2300" spc="2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a</a:t>
            </a:r>
            <a:r>
              <a:rPr dirty="0" sz="2300" spc="-1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set </a:t>
            </a:r>
            <a:r>
              <a:rPr dirty="0" sz="2300" spc="-25" b="1">
                <a:latin typeface="Arial"/>
                <a:cs typeface="Arial"/>
              </a:rPr>
              <a:t>of </a:t>
            </a:r>
            <a:r>
              <a:rPr dirty="0" sz="2300" b="1">
                <a:latin typeface="Arial"/>
                <a:cs typeface="Arial"/>
              </a:rPr>
              <a:t>distinctive</a:t>
            </a:r>
            <a:r>
              <a:rPr dirty="0" sz="2300" spc="-35" b="1">
                <a:latin typeface="Arial"/>
                <a:cs typeface="Arial"/>
              </a:rPr>
              <a:t> </a:t>
            </a:r>
            <a:r>
              <a:rPr dirty="0" sz="2300" spc="-20" b="1">
                <a:latin typeface="Arial"/>
                <a:cs typeface="Arial"/>
              </a:rPr>
              <a:t>key-</a:t>
            </a:r>
            <a:r>
              <a:rPr dirty="0" sz="2300" spc="-10" b="1">
                <a:latin typeface="Arial"/>
                <a:cs typeface="Arial"/>
              </a:rPr>
              <a:t>points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004431" y="3757802"/>
            <a:ext cx="3044190" cy="23723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7185" marR="657860" indent="-325120">
              <a:lnSpc>
                <a:spcPct val="100400"/>
              </a:lnSpc>
              <a:spcBef>
                <a:spcPts val="95"/>
              </a:spcBef>
              <a:buAutoNum type="arabicPeriod" startAt="3"/>
              <a:tabLst>
                <a:tab pos="340995" algn="l"/>
              </a:tabLst>
            </a:pPr>
            <a:r>
              <a:rPr dirty="0" sz="2300" b="1">
                <a:latin typeface="Arial"/>
                <a:cs typeface="Arial"/>
              </a:rPr>
              <a:t>Extract</a:t>
            </a:r>
            <a:r>
              <a:rPr dirty="0" sz="2300" spc="-25" b="1">
                <a:latin typeface="Arial"/>
                <a:cs typeface="Arial"/>
              </a:rPr>
              <a:t> and </a:t>
            </a:r>
            <a:r>
              <a:rPr dirty="0" sz="2300" spc="-25" b="1">
                <a:latin typeface="Arial"/>
                <a:cs typeface="Arial"/>
              </a:rPr>
              <a:t>	</a:t>
            </a:r>
            <a:r>
              <a:rPr dirty="0" sz="2300" b="1">
                <a:latin typeface="Arial"/>
                <a:cs typeface="Arial"/>
              </a:rPr>
              <a:t>normalize</a:t>
            </a:r>
            <a:r>
              <a:rPr dirty="0" sz="2300" spc="-20" b="1">
                <a:latin typeface="Arial"/>
                <a:cs typeface="Arial"/>
              </a:rPr>
              <a:t> </a:t>
            </a:r>
            <a:r>
              <a:rPr dirty="0" sz="2300" spc="-25" b="1">
                <a:latin typeface="Arial"/>
                <a:cs typeface="Arial"/>
              </a:rPr>
              <a:t>the </a:t>
            </a:r>
            <a:r>
              <a:rPr dirty="0" sz="2300" spc="-25" b="1">
                <a:latin typeface="Arial"/>
                <a:cs typeface="Arial"/>
              </a:rPr>
              <a:t>	</a:t>
            </a:r>
            <a:r>
              <a:rPr dirty="0" sz="2300" b="1">
                <a:latin typeface="Arial"/>
                <a:cs typeface="Arial"/>
              </a:rPr>
              <a:t>region</a:t>
            </a:r>
            <a:r>
              <a:rPr dirty="0" sz="2300" spc="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content</a:t>
            </a:r>
            <a:endParaRPr sz="2300">
              <a:latin typeface="Arial"/>
              <a:cs typeface="Arial"/>
            </a:endParaRPr>
          </a:p>
          <a:p>
            <a:pPr marL="337185" marR="5080" indent="-325120">
              <a:lnSpc>
                <a:spcPct val="100499"/>
              </a:lnSpc>
              <a:spcBef>
                <a:spcPts val="1845"/>
              </a:spcBef>
              <a:buAutoNum type="arabicPeriod" startAt="3"/>
              <a:tabLst>
                <a:tab pos="340995" algn="l"/>
              </a:tabLst>
            </a:pPr>
            <a:r>
              <a:rPr dirty="0" sz="2300" b="1">
                <a:latin typeface="Arial"/>
                <a:cs typeface="Arial"/>
              </a:rPr>
              <a:t>Compute a </a:t>
            </a:r>
            <a:r>
              <a:rPr dirty="0" sz="2300" spc="-10" b="1">
                <a:latin typeface="Arial"/>
                <a:cs typeface="Arial"/>
              </a:rPr>
              <a:t>local </a:t>
            </a:r>
            <a:r>
              <a:rPr dirty="0" sz="2300" spc="-10" b="1">
                <a:latin typeface="Arial"/>
                <a:cs typeface="Arial"/>
              </a:rPr>
              <a:t>	</a:t>
            </a:r>
            <a:r>
              <a:rPr dirty="0" sz="2300" b="1">
                <a:latin typeface="Arial"/>
                <a:cs typeface="Arial"/>
              </a:rPr>
              <a:t>descriptor</a:t>
            </a:r>
            <a:r>
              <a:rPr dirty="0" sz="2300" spc="-1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from</a:t>
            </a:r>
            <a:r>
              <a:rPr dirty="0" sz="2300" spc="5" b="1">
                <a:latin typeface="Arial"/>
                <a:cs typeface="Arial"/>
              </a:rPr>
              <a:t> </a:t>
            </a:r>
            <a:r>
              <a:rPr dirty="0" sz="2300" spc="-25" b="1">
                <a:latin typeface="Arial"/>
                <a:cs typeface="Arial"/>
              </a:rPr>
              <a:t>the </a:t>
            </a:r>
            <a:r>
              <a:rPr dirty="0" sz="2300" spc="-25" b="1">
                <a:latin typeface="Arial"/>
                <a:cs typeface="Arial"/>
              </a:rPr>
              <a:t>	</a:t>
            </a:r>
            <a:r>
              <a:rPr dirty="0" sz="2300" b="1">
                <a:latin typeface="Arial"/>
                <a:cs typeface="Arial"/>
              </a:rPr>
              <a:t>normalized</a:t>
            </a:r>
            <a:r>
              <a:rPr dirty="0" sz="2300" spc="-1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region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004431" y="2432189"/>
            <a:ext cx="2470150" cy="1082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0995" marR="5080" indent="-328930">
              <a:lnSpc>
                <a:spcPct val="100400"/>
              </a:lnSpc>
              <a:spcBef>
                <a:spcPts val="95"/>
              </a:spcBef>
            </a:pPr>
            <a:r>
              <a:rPr dirty="0" sz="2300" b="1">
                <a:latin typeface="Arial"/>
                <a:cs typeface="Arial"/>
              </a:rPr>
              <a:t>2.</a:t>
            </a:r>
            <a:r>
              <a:rPr dirty="0" sz="2300" spc="-10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Define a</a:t>
            </a:r>
            <a:r>
              <a:rPr dirty="0" sz="2300" spc="-5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region </a:t>
            </a:r>
            <a:r>
              <a:rPr dirty="0" sz="2300" b="1">
                <a:latin typeface="Arial"/>
                <a:cs typeface="Arial"/>
              </a:rPr>
              <a:t>around</a:t>
            </a:r>
            <a:r>
              <a:rPr dirty="0" sz="2300" spc="5" b="1">
                <a:latin typeface="Arial"/>
                <a:cs typeface="Arial"/>
              </a:rPr>
              <a:t> </a:t>
            </a:r>
            <a:r>
              <a:rPr dirty="0" sz="2300" spc="-20" b="1">
                <a:latin typeface="Arial"/>
                <a:cs typeface="Arial"/>
              </a:rPr>
              <a:t>each </a:t>
            </a:r>
            <a:r>
              <a:rPr dirty="0" sz="2300" spc="-10" b="1">
                <a:latin typeface="Arial"/>
                <a:cs typeface="Arial"/>
              </a:rPr>
              <a:t>keypoint</a:t>
            </a:r>
            <a:endParaRPr sz="23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004431" y="6402212"/>
            <a:ext cx="1951355" cy="729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0995" marR="5080" indent="-328930">
              <a:lnSpc>
                <a:spcPct val="100400"/>
              </a:lnSpc>
              <a:spcBef>
                <a:spcPts val="95"/>
              </a:spcBef>
            </a:pPr>
            <a:r>
              <a:rPr dirty="0" sz="2300" b="1">
                <a:latin typeface="Arial"/>
                <a:cs typeface="Arial"/>
              </a:rPr>
              <a:t>5.</a:t>
            </a:r>
            <a:r>
              <a:rPr dirty="0" sz="2300" spc="-5" b="1">
                <a:latin typeface="Arial"/>
                <a:cs typeface="Arial"/>
              </a:rPr>
              <a:t> </a:t>
            </a:r>
            <a:r>
              <a:rPr dirty="0" sz="2300" b="1">
                <a:latin typeface="Arial"/>
                <a:cs typeface="Arial"/>
              </a:rPr>
              <a:t>Match </a:t>
            </a:r>
            <a:r>
              <a:rPr dirty="0" sz="2300" spc="-10" b="1">
                <a:latin typeface="Arial"/>
                <a:cs typeface="Arial"/>
              </a:rPr>
              <a:t>local descriptors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0804" y="119735"/>
            <a:ext cx="695325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Review:</a:t>
            </a:r>
            <a:r>
              <a:rPr dirty="0" spc="-1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Harris</a:t>
            </a:r>
            <a:r>
              <a:rPr dirty="0" spc="-1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corner</a:t>
            </a:r>
            <a:r>
              <a:rPr dirty="0" spc="-1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detector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04" y="1045387"/>
            <a:ext cx="7613015" cy="367474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89890" marR="629285" indent="-377825">
              <a:lnSpc>
                <a:spcPts val="3800"/>
              </a:lnSpc>
              <a:spcBef>
                <a:spcPts val="58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 spc="-10">
                <a:latin typeface="Calibri"/>
                <a:cs typeface="Calibri"/>
              </a:rPr>
              <a:t>Approximate</a:t>
            </a:r>
            <a:r>
              <a:rPr dirty="0" sz="3500" spc="-8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distinctiveness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by</a:t>
            </a:r>
            <a:r>
              <a:rPr dirty="0" sz="3500" spc="-8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local auto-correlation.</a:t>
            </a:r>
            <a:endParaRPr sz="3500">
              <a:latin typeface="Calibri"/>
              <a:cs typeface="Calibri"/>
            </a:endParaRPr>
          </a:p>
          <a:p>
            <a:pPr marL="389890" marR="340360" indent="-377825">
              <a:lnSpc>
                <a:spcPts val="3800"/>
              </a:lnSpc>
              <a:spcBef>
                <a:spcPts val="850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 spc="-10">
                <a:latin typeface="Calibri"/>
                <a:cs typeface="Calibri"/>
              </a:rPr>
              <a:t>Approximate</a:t>
            </a:r>
            <a:r>
              <a:rPr dirty="0" sz="3500" spc="-8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local</a:t>
            </a:r>
            <a:r>
              <a:rPr dirty="0" sz="3500" spc="-9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auto-</a:t>
            </a:r>
            <a:r>
              <a:rPr dirty="0" sz="3500">
                <a:latin typeface="Calibri"/>
                <a:cs typeface="Calibri"/>
              </a:rPr>
              <a:t>correlation</a:t>
            </a:r>
            <a:r>
              <a:rPr dirty="0" sz="3500" spc="-80">
                <a:latin typeface="Calibri"/>
                <a:cs typeface="Calibri"/>
              </a:rPr>
              <a:t> </a:t>
            </a:r>
            <a:r>
              <a:rPr dirty="0" sz="3500" spc="-25">
                <a:latin typeface="Calibri"/>
                <a:cs typeface="Calibri"/>
              </a:rPr>
              <a:t>by </a:t>
            </a:r>
            <a:r>
              <a:rPr dirty="0" sz="3500">
                <a:latin typeface="Calibri"/>
                <a:cs typeface="Calibri"/>
              </a:rPr>
              <a:t>second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moment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matrix</a:t>
            </a:r>
            <a:endParaRPr sz="3500">
              <a:latin typeface="Calibri"/>
              <a:cs typeface="Calibri"/>
            </a:endParaRPr>
          </a:p>
          <a:p>
            <a:pPr marL="389890" marR="5080" indent="-377825">
              <a:lnSpc>
                <a:spcPct val="90500"/>
              </a:lnSpc>
              <a:spcBef>
                <a:spcPts val="785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>
                <a:latin typeface="Calibri"/>
                <a:cs typeface="Calibri"/>
              </a:rPr>
              <a:t>Quantify</a:t>
            </a:r>
            <a:r>
              <a:rPr dirty="0" sz="3500" spc="-3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distinctiveness</a:t>
            </a:r>
            <a:r>
              <a:rPr dirty="0" sz="3500" spc="-2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(or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cornerness) </a:t>
            </a:r>
            <a:r>
              <a:rPr dirty="0" sz="3500">
                <a:latin typeface="Calibri"/>
                <a:cs typeface="Calibri"/>
              </a:rPr>
              <a:t>as</a:t>
            </a:r>
            <a:r>
              <a:rPr dirty="0" sz="3500" spc="-3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function</a:t>
            </a:r>
            <a:r>
              <a:rPr dirty="0" sz="3500" spc="-1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of</a:t>
            </a:r>
            <a:r>
              <a:rPr dirty="0" sz="3500" spc="-3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the</a:t>
            </a:r>
            <a:r>
              <a:rPr dirty="0" sz="3500" spc="-3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eigenvalues</a:t>
            </a:r>
            <a:r>
              <a:rPr dirty="0" sz="3500" spc="-5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of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 spc="-25">
                <a:latin typeface="Calibri"/>
                <a:cs typeface="Calibri"/>
              </a:rPr>
              <a:t>the </a:t>
            </a:r>
            <a:r>
              <a:rPr dirty="0" sz="3500">
                <a:latin typeface="Calibri"/>
                <a:cs typeface="Calibri"/>
              </a:rPr>
              <a:t>second</a:t>
            </a:r>
            <a:r>
              <a:rPr dirty="0" sz="3500" spc="-6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moment</a:t>
            </a:r>
            <a:r>
              <a:rPr dirty="0" sz="3500" spc="-4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matrix.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804" y="4747577"/>
            <a:ext cx="6256020" cy="201168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89890" marR="5080" indent="-377825">
              <a:lnSpc>
                <a:spcPct val="90500"/>
              </a:lnSpc>
              <a:spcBef>
                <a:spcPts val="520"/>
              </a:spcBef>
              <a:buFont typeface="Arial MT"/>
              <a:buChar char="•"/>
              <a:tabLst>
                <a:tab pos="389890" algn="l"/>
              </a:tabLst>
            </a:pPr>
            <a:r>
              <a:rPr dirty="0" sz="3500">
                <a:latin typeface="Calibri"/>
                <a:cs typeface="Calibri"/>
              </a:rPr>
              <a:t>But</a:t>
            </a:r>
            <a:r>
              <a:rPr dirty="0" sz="3500" spc="-2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we</a:t>
            </a:r>
            <a:r>
              <a:rPr dirty="0" sz="3500" spc="-2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don’t</a:t>
            </a:r>
            <a:r>
              <a:rPr dirty="0" sz="3500" spc="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actually</a:t>
            </a:r>
            <a:r>
              <a:rPr dirty="0" sz="3500" spc="1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need</a:t>
            </a:r>
            <a:r>
              <a:rPr dirty="0" sz="3500" spc="-10">
                <a:latin typeface="Calibri"/>
                <a:cs typeface="Calibri"/>
              </a:rPr>
              <a:t> </a:t>
            </a:r>
            <a:r>
              <a:rPr dirty="0" sz="3500" spc="-25">
                <a:latin typeface="Calibri"/>
                <a:cs typeface="Calibri"/>
              </a:rPr>
              <a:t>to </a:t>
            </a:r>
            <a:r>
              <a:rPr dirty="0" sz="3500">
                <a:latin typeface="Calibri"/>
                <a:cs typeface="Calibri"/>
              </a:rPr>
              <a:t>compute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the</a:t>
            </a:r>
            <a:r>
              <a:rPr dirty="0" sz="3500" spc="-6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eigenvalues</a:t>
            </a:r>
            <a:r>
              <a:rPr dirty="0" sz="3500" spc="-85">
                <a:latin typeface="Calibri"/>
                <a:cs typeface="Calibri"/>
              </a:rPr>
              <a:t> </a:t>
            </a:r>
            <a:r>
              <a:rPr dirty="0" sz="3500" spc="-25">
                <a:latin typeface="Calibri"/>
                <a:cs typeface="Calibri"/>
              </a:rPr>
              <a:t>by </a:t>
            </a:r>
            <a:r>
              <a:rPr dirty="0" sz="3500">
                <a:latin typeface="Calibri"/>
                <a:cs typeface="Calibri"/>
              </a:rPr>
              <a:t>using</a:t>
            </a:r>
            <a:r>
              <a:rPr dirty="0" sz="3500" spc="-3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the</a:t>
            </a:r>
            <a:r>
              <a:rPr dirty="0" sz="3500" spc="-3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determinant</a:t>
            </a:r>
            <a:r>
              <a:rPr dirty="0" sz="3500" spc="-25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and</a:t>
            </a:r>
            <a:r>
              <a:rPr dirty="0" sz="3500" spc="-25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trace </a:t>
            </a:r>
            <a:r>
              <a:rPr dirty="0" sz="3500">
                <a:latin typeface="Calibri"/>
                <a:cs typeface="Calibri"/>
              </a:rPr>
              <a:t>of</a:t>
            </a:r>
            <a:r>
              <a:rPr dirty="0" sz="3500" spc="-4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the</a:t>
            </a:r>
            <a:r>
              <a:rPr dirty="0" sz="3500" spc="-2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second</a:t>
            </a:r>
            <a:r>
              <a:rPr dirty="0" sz="3500" spc="-30">
                <a:latin typeface="Calibri"/>
                <a:cs typeface="Calibri"/>
              </a:rPr>
              <a:t> </a:t>
            </a:r>
            <a:r>
              <a:rPr dirty="0" sz="3500">
                <a:latin typeface="Calibri"/>
                <a:cs typeface="Calibri"/>
              </a:rPr>
              <a:t>moment</a:t>
            </a:r>
            <a:r>
              <a:rPr dirty="0" sz="3500" spc="-20">
                <a:latin typeface="Calibri"/>
                <a:cs typeface="Calibri"/>
              </a:rPr>
              <a:t> </a:t>
            </a:r>
            <a:r>
              <a:rPr dirty="0" sz="3500" spc="-10">
                <a:latin typeface="Calibri"/>
                <a:cs typeface="Calibri"/>
              </a:rPr>
              <a:t>matrix.</a:t>
            </a:r>
            <a:endParaRPr sz="3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21700" y="804993"/>
            <a:ext cx="1145540" cy="1151255"/>
            <a:chOff x="8521700" y="804993"/>
            <a:chExt cx="1145540" cy="11512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49639" y="832933"/>
              <a:ext cx="1089659" cy="10949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35670" y="818963"/>
              <a:ext cx="1117600" cy="1123315"/>
            </a:xfrm>
            <a:custGeom>
              <a:avLst/>
              <a:gdLst/>
              <a:ahLst/>
              <a:cxnLst/>
              <a:rect l="l" t="t" r="r" b="b"/>
              <a:pathLst>
                <a:path w="1117600" h="1123314">
                  <a:moveTo>
                    <a:pt x="0" y="1122866"/>
                  </a:moveTo>
                  <a:lnTo>
                    <a:pt x="1117600" y="1122866"/>
                  </a:lnTo>
                  <a:lnTo>
                    <a:pt x="1117600" y="0"/>
                  </a:lnTo>
                  <a:lnTo>
                    <a:pt x="0" y="0"/>
                  </a:lnTo>
                  <a:lnTo>
                    <a:pt x="0" y="1122866"/>
                  </a:lnTo>
                  <a:close/>
                </a:path>
              </a:pathLst>
            </a:custGeom>
            <a:ln w="2794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798458" y="474852"/>
            <a:ext cx="55689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Times New Roman"/>
                <a:cs typeface="Times New Roman"/>
              </a:rPr>
              <a:t>E</a:t>
            </a:r>
            <a:r>
              <a:rPr dirty="0" sz="1550">
                <a:latin typeface="Times New Roman"/>
                <a:cs typeface="Times New Roman"/>
              </a:rPr>
              <a:t>(</a:t>
            </a:r>
            <a:r>
              <a:rPr dirty="0" sz="1550" i="1">
                <a:latin typeface="Times New Roman"/>
                <a:cs typeface="Times New Roman"/>
              </a:rPr>
              <a:t>u</a:t>
            </a:r>
            <a:r>
              <a:rPr dirty="0" sz="1550">
                <a:latin typeface="Times New Roman"/>
                <a:cs typeface="Times New Roman"/>
              </a:rPr>
              <a:t>,</a:t>
            </a:r>
            <a:r>
              <a:rPr dirty="0" sz="1550" spc="-55">
                <a:latin typeface="Times New Roman"/>
                <a:cs typeface="Times New Roman"/>
              </a:rPr>
              <a:t> </a:t>
            </a:r>
            <a:r>
              <a:rPr dirty="0" sz="1550" spc="-25" i="1">
                <a:latin typeface="Times New Roman"/>
                <a:cs typeface="Times New Roman"/>
              </a:rPr>
              <a:t>v</a:t>
            </a:r>
            <a:r>
              <a:rPr dirty="0" sz="1550" spc="-25"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46795" y="2346960"/>
            <a:ext cx="1543964" cy="150876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167362" y="4698376"/>
            <a:ext cx="2680970" cy="1591945"/>
            <a:chOff x="7167362" y="4698376"/>
            <a:chExt cx="2680970" cy="1591945"/>
          </a:xfrm>
        </p:grpSpPr>
        <p:sp>
          <p:nvSpPr>
            <p:cNvPr id="11" name="object 11"/>
            <p:cNvSpPr/>
            <p:nvPr/>
          </p:nvSpPr>
          <p:spPr>
            <a:xfrm>
              <a:off x="7177840" y="4708853"/>
              <a:ext cx="2660015" cy="1570990"/>
            </a:xfrm>
            <a:custGeom>
              <a:avLst/>
              <a:gdLst/>
              <a:ahLst/>
              <a:cxnLst/>
              <a:rect l="l" t="t" r="r" b="b"/>
              <a:pathLst>
                <a:path w="2660015" h="1570989">
                  <a:moveTo>
                    <a:pt x="1908731" y="107"/>
                  </a:moveTo>
                  <a:lnTo>
                    <a:pt x="1856992" y="0"/>
                  </a:lnTo>
                  <a:lnTo>
                    <a:pt x="1804192" y="1333"/>
                  </a:lnTo>
                  <a:lnTo>
                    <a:pt x="1750397" y="4116"/>
                  </a:lnTo>
                  <a:lnTo>
                    <a:pt x="1695677" y="8359"/>
                  </a:lnTo>
                  <a:lnTo>
                    <a:pt x="1640098" y="14071"/>
                  </a:lnTo>
                  <a:lnTo>
                    <a:pt x="1583727" y="21261"/>
                  </a:lnTo>
                  <a:lnTo>
                    <a:pt x="1526632" y="29939"/>
                  </a:lnTo>
                  <a:lnTo>
                    <a:pt x="1468882" y="40115"/>
                  </a:lnTo>
                  <a:lnTo>
                    <a:pt x="1410542" y="51798"/>
                  </a:lnTo>
                  <a:lnTo>
                    <a:pt x="1351682" y="64997"/>
                  </a:lnTo>
                  <a:lnTo>
                    <a:pt x="1292367" y="79722"/>
                  </a:lnTo>
                  <a:lnTo>
                    <a:pt x="1232666" y="95982"/>
                  </a:lnTo>
                  <a:lnTo>
                    <a:pt x="1172647" y="113788"/>
                  </a:lnTo>
                  <a:lnTo>
                    <a:pt x="1112376" y="133147"/>
                  </a:lnTo>
                  <a:lnTo>
                    <a:pt x="1052542" y="153850"/>
                  </a:lnTo>
                  <a:lnTo>
                    <a:pt x="993843" y="175644"/>
                  </a:lnTo>
                  <a:lnTo>
                    <a:pt x="936327" y="198482"/>
                  </a:lnTo>
                  <a:lnTo>
                    <a:pt x="880042" y="222317"/>
                  </a:lnTo>
                  <a:lnTo>
                    <a:pt x="825037" y="247099"/>
                  </a:lnTo>
                  <a:lnTo>
                    <a:pt x="771360" y="272781"/>
                  </a:lnTo>
                  <a:lnTo>
                    <a:pt x="719059" y="299314"/>
                  </a:lnTo>
                  <a:lnTo>
                    <a:pt x="668183" y="326652"/>
                  </a:lnTo>
                  <a:lnTo>
                    <a:pt x="618779" y="354744"/>
                  </a:lnTo>
                  <a:lnTo>
                    <a:pt x="570896" y="383545"/>
                  </a:lnTo>
                  <a:lnTo>
                    <a:pt x="524583" y="413004"/>
                  </a:lnTo>
                  <a:lnTo>
                    <a:pt x="479887" y="443075"/>
                  </a:lnTo>
                  <a:lnTo>
                    <a:pt x="436857" y="473708"/>
                  </a:lnTo>
                  <a:lnTo>
                    <a:pt x="395541" y="504857"/>
                  </a:lnTo>
                  <a:lnTo>
                    <a:pt x="355988" y="536473"/>
                  </a:lnTo>
                  <a:lnTo>
                    <a:pt x="318245" y="568507"/>
                  </a:lnTo>
                  <a:lnTo>
                    <a:pt x="282361" y="600912"/>
                  </a:lnTo>
                  <a:lnTo>
                    <a:pt x="248384" y="633640"/>
                  </a:lnTo>
                  <a:lnTo>
                    <a:pt x="216363" y="666643"/>
                  </a:lnTo>
                  <a:lnTo>
                    <a:pt x="186346" y="699871"/>
                  </a:lnTo>
                  <a:lnTo>
                    <a:pt x="158380" y="733279"/>
                  </a:lnTo>
                  <a:lnTo>
                    <a:pt x="132515" y="766816"/>
                  </a:lnTo>
                  <a:lnTo>
                    <a:pt x="108798" y="800436"/>
                  </a:lnTo>
                  <a:lnTo>
                    <a:pt x="87278" y="834090"/>
                  </a:lnTo>
                  <a:lnTo>
                    <a:pt x="68004" y="867729"/>
                  </a:lnTo>
                  <a:lnTo>
                    <a:pt x="36383" y="934774"/>
                  </a:lnTo>
                  <a:lnTo>
                    <a:pt x="14322" y="1001186"/>
                  </a:lnTo>
                  <a:lnTo>
                    <a:pt x="2207" y="1066580"/>
                  </a:lnTo>
                  <a:lnTo>
                    <a:pt x="0" y="1098775"/>
                  </a:lnTo>
                  <a:lnTo>
                    <a:pt x="424" y="1130572"/>
                  </a:lnTo>
                  <a:lnTo>
                    <a:pt x="9359" y="1192775"/>
                  </a:lnTo>
                  <a:lnTo>
                    <a:pt x="29274" y="1252490"/>
                  </a:lnTo>
                  <a:lnTo>
                    <a:pt x="59462" y="1307589"/>
                  </a:lnTo>
                  <a:lnTo>
                    <a:pt x="99297" y="1357684"/>
                  </a:lnTo>
                  <a:lnTo>
                    <a:pt x="148238" y="1402698"/>
                  </a:lnTo>
                  <a:lnTo>
                    <a:pt x="205745" y="1442556"/>
                  </a:lnTo>
                  <a:lnTo>
                    <a:pt x="271279" y="1477182"/>
                  </a:lnTo>
                  <a:lnTo>
                    <a:pt x="306887" y="1492509"/>
                  </a:lnTo>
                  <a:lnTo>
                    <a:pt x="344299" y="1506500"/>
                  </a:lnTo>
                  <a:lnTo>
                    <a:pt x="383447" y="1519145"/>
                  </a:lnTo>
                  <a:lnTo>
                    <a:pt x="424265" y="1530435"/>
                  </a:lnTo>
                  <a:lnTo>
                    <a:pt x="466684" y="1540360"/>
                  </a:lnTo>
                  <a:lnTo>
                    <a:pt x="510637" y="1548911"/>
                  </a:lnTo>
                  <a:lnTo>
                    <a:pt x="556056" y="1556078"/>
                  </a:lnTo>
                  <a:lnTo>
                    <a:pt x="602874" y="1561851"/>
                  </a:lnTo>
                  <a:lnTo>
                    <a:pt x="651024" y="1566222"/>
                  </a:lnTo>
                  <a:lnTo>
                    <a:pt x="700438" y="1569181"/>
                  </a:lnTo>
                  <a:lnTo>
                    <a:pt x="751048" y="1570718"/>
                  </a:lnTo>
                  <a:lnTo>
                    <a:pt x="802787" y="1570825"/>
                  </a:lnTo>
                  <a:lnTo>
                    <a:pt x="855587" y="1569490"/>
                  </a:lnTo>
                  <a:lnTo>
                    <a:pt x="909381" y="1566706"/>
                  </a:lnTo>
                  <a:lnTo>
                    <a:pt x="964102" y="1562462"/>
                  </a:lnTo>
                  <a:lnTo>
                    <a:pt x="1019681" y="1556749"/>
                  </a:lnTo>
                  <a:lnTo>
                    <a:pt x="1076052" y="1549557"/>
                  </a:lnTo>
                  <a:lnTo>
                    <a:pt x="1133146" y="1540878"/>
                  </a:lnTo>
                  <a:lnTo>
                    <a:pt x="1190897" y="1530701"/>
                  </a:lnTo>
                  <a:lnTo>
                    <a:pt x="1249236" y="1519018"/>
                  </a:lnTo>
                  <a:lnTo>
                    <a:pt x="1308097" y="1505818"/>
                  </a:lnTo>
                  <a:lnTo>
                    <a:pt x="1367412" y="1491092"/>
                  </a:lnTo>
                  <a:lnTo>
                    <a:pt x="1427112" y="1474832"/>
                  </a:lnTo>
                  <a:lnTo>
                    <a:pt x="1487132" y="1457026"/>
                  </a:lnTo>
                  <a:lnTo>
                    <a:pt x="1547402" y="1437666"/>
                  </a:lnTo>
                  <a:lnTo>
                    <a:pt x="1607236" y="1416964"/>
                  </a:lnTo>
                  <a:lnTo>
                    <a:pt x="1665935" y="1395170"/>
                  </a:lnTo>
                  <a:lnTo>
                    <a:pt x="1723451" y="1372331"/>
                  </a:lnTo>
                  <a:lnTo>
                    <a:pt x="1779736" y="1348497"/>
                  </a:lnTo>
                  <a:lnTo>
                    <a:pt x="1834741" y="1323715"/>
                  </a:lnTo>
                  <a:lnTo>
                    <a:pt x="1888418" y="1298033"/>
                  </a:lnTo>
                  <a:lnTo>
                    <a:pt x="1940719" y="1271499"/>
                  </a:lnTo>
                  <a:lnTo>
                    <a:pt x="1991596" y="1244162"/>
                  </a:lnTo>
                  <a:lnTo>
                    <a:pt x="2040999" y="1216069"/>
                  </a:lnTo>
                  <a:lnTo>
                    <a:pt x="2088882" y="1187269"/>
                  </a:lnTo>
                  <a:lnTo>
                    <a:pt x="2135196" y="1157810"/>
                  </a:lnTo>
                  <a:lnTo>
                    <a:pt x="2179891" y="1127739"/>
                  </a:lnTo>
                  <a:lnTo>
                    <a:pt x="2222921" y="1097105"/>
                  </a:lnTo>
                  <a:lnTo>
                    <a:pt x="2264237" y="1065957"/>
                  </a:lnTo>
                  <a:lnTo>
                    <a:pt x="2303791" y="1034341"/>
                  </a:lnTo>
                  <a:lnTo>
                    <a:pt x="2341534" y="1002306"/>
                  </a:lnTo>
                  <a:lnTo>
                    <a:pt x="2377418" y="969901"/>
                  </a:lnTo>
                  <a:lnTo>
                    <a:pt x="2411394" y="937173"/>
                  </a:lnTo>
                  <a:lnTo>
                    <a:pt x="2443416" y="904171"/>
                  </a:lnTo>
                  <a:lnTo>
                    <a:pt x="2473433" y="870942"/>
                  </a:lnTo>
                  <a:lnTo>
                    <a:pt x="2501399" y="837535"/>
                  </a:lnTo>
                  <a:lnTo>
                    <a:pt x="2527264" y="803997"/>
                  </a:lnTo>
                  <a:lnTo>
                    <a:pt x="2550980" y="770378"/>
                  </a:lnTo>
                  <a:lnTo>
                    <a:pt x="2572500" y="736724"/>
                  </a:lnTo>
                  <a:lnTo>
                    <a:pt x="2591775" y="703084"/>
                  </a:lnTo>
                  <a:lnTo>
                    <a:pt x="2623396" y="636039"/>
                  </a:lnTo>
                  <a:lnTo>
                    <a:pt x="2645457" y="569627"/>
                  </a:lnTo>
                  <a:lnTo>
                    <a:pt x="2657572" y="504233"/>
                  </a:lnTo>
                  <a:lnTo>
                    <a:pt x="2659779" y="472038"/>
                  </a:lnTo>
                  <a:lnTo>
                    <a:pt x="2659355" y="440242"/>
                  </a:lnTo>
                  <a:lnTo>
                    <a:pt x="2650420" y="378038"/>
                  </a:lnTo>
                  <a:lnTo>
                    <a:pt x="2630504" y="318327"/>
                  </a:lnTo>
                  <a:lnTo>
                    <a:pt x="2600316" y="263233"/>
                  </a:lnTo>
                  <a:lnTo>
                    <a:pt x="2560482" y="213143"/>
                  </a:lnTo>
                  <a:lnTo>
                    <a:pt x="2511541" y="168132"/>
                  </a:lnTo>
                  <a:lnTo>
                    <a:pt x="2454033" y="128275"/>
                  </a:lnTo>
                  <a:lnTo>
                    <a:pt x="2388500" y="93650"/>
                  </a:lnTo>
                  <a:lnTo>
                    <a:pt x="2352892" y="78323"/>
                  </a:lnTo>
                  <a:lnTo>
                    <a:pt x="2315480" y="64332"/>
                  </a:lnTo>
                  <a:lnTo>
                    <a:pt x="2276331" y="51687"/>
                  </a:lnTo>
                  <a:lnTo>
                    <a:pt x="2235514" y="40396"/>
                  </a:lnTo>
                  <a:lnTo>
                    <a:pt x="2193095" y="30471"/>
                  </a:lnTo>
                  <a:lnTo>
                    <a:pt x="2149142" y="21919"/>
                  </a:lnTo>
                  <a:lnTo>
                    <a:pt x="2103723" y="14752"/>
                  </a:lnTo>
                  <a:lnTo>
                    <a:pt x="2056904" y="8977"/>
                  </a:lnTo>
                  <a:lnTo>
                    <a:pt x="2008754" y="4605"/>
                  </a:lnTo>
                  <a:lnTo>
                    <a:pt x="1959341" y="1645"/>
                  </a:lnTo>
                  <a:lnTo>
                    <a:pt x="1908731" y="107"/>
                  </a:lnTo>
                  <a:close/>
                </a:path>
              </a:pathLst>
            </a:custGeom>
            <a:solidFill>
              <a:srgbClr val="7BF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77840" y="4708853"/>
              <a:ext cx="2660015" cy="1570990"/>
            </a:xfrm>
            <a:custGeom>
              <a:avLst/>
              <a:gdLst/>
              <a:ahLst/>
              <a:cxnLst/>
              <a:rect l="l" t="t" r="r" b="b"/>
              <a:pathLst>
                <a:path w="2660015" h="1570989">
                  <a:moveTo>
                    <a:pt x="17967" y="1223087"/>
                  </a:moveTo>
                  <a:lnTo>
                    <a:pt x="9359" y="1192775"/>
                  </a:lnTo>
                  <a:lnTo>
                    <a:pt x="3527" y="1161921"/>
                  </a:lnTo>
                  <a:lnTo>
                    <a:pt x="424" y="1130572"/>
                  </a:lnTo>
                  <a:lnTo>
                    <a:pt x="0" y="1098775"/>
                  </a:lnTo>
                  <a:lnTo>
                    <a:pt x="2207" y="1066580"/>
                  </a:lnTo>
                  <a:lnTo>
                    <a:pt x="14322" y="1001186"/>
                  </a:lnTo>
                  <a:lnTo>
                    <a:pt x="36383" y="934774"/>
                  </a:lnTo>
                  <a:lnTo>
                    <a:pt x="68004" y="867729"/>
                  </a:lnTo>
                  <a:lnTo>
                    <a:pt x="87278" y="834090"/>
                  </a:lnTo>
                  <a:lnTo>
                    <a:pt x="108798" y="800436"/>
                  </a:lnTo>
                  <a:lnTo>
                    <a:pt x="132515" y="766816"/>
                  </a:lnTo>
                  <a:lnTo>
                    <a:pt x="158380" y="733279"/>
                  </a:lnTo>
                  <a:lnTo>
                    <a:pt x="186346" y="699871"/>
                  </a:lnTo>
                  <a:lnTo>
                    <a:pt x="216363" y="666643"/>
                  </a:lnTo>
                  <a:lnTo>
                    <a:pt x="248384" y="633640"/>
                  </a:lnTo>
                  <a:lnTo>
                    <a:pt x="282361" y="600912"/>
                  </a:lnTo>
                  <a:lnTo>
                    <a:pt x="318245" y="568507"/>
                  </a:lnTo>
                  <a:lnTo>
                    <a:pt x="355988" y="536473"/>
                  </a:lnTo>
                  <a:lnTo>
                    <a:pt x="395541" y="504857"/>
                  </a:lnTo>
                  <a:lnTo>
                    <a:pt x="436857" y="473708"/>
                  </a:lnTo>
                  <a:lnTo>
                    <a:pt x="479887" y="443075"/>
                  </a:lnTo>
                  <a:lnTo>
                    <a:pt x="524583" y="413004"/>
                  </a:lnTo>
                  <a:lnTo>
                    <a:pt x="570896" y="383545"/>
                  </a:lnTo>
                  <a:lnTo>
                    <a:pt x="618779" y="354744"/>
                  </a:lnTo>
                  <a:lnTo>
                    <a:pt x="668183" y="326652"/>
                  </a:lnTo>
                  <a:lnTo>
                    <a:pt x="719059" y="299314"/>
                  </a:lnTo>
                  <a:lnTo>
                    <a:pt x="771360" y="272781"/>
                  </a:lnTo>
                  <a:lnTo>
                    <a:pt x="825037" y="247099"/>
                  </a:lnTo>
                  <a:lnTo>
                    <a:pt x="880042" y="222317"/>
                  </a:lnTo>
                  <a:lnTo>
                    <a:pt x="936327" y="198482"/>
                  </a:lnTo>
                  <a:lnTo>
                    <a:pt x="993843" y="175644"/>
                  </a:lnTo>
                  <a:lnTo>
                    <a:pt x="1052542" y="153850"/>
                  </a:lnTo>
                  <a:lnTo>
                    <a:pt x="1112376" y="133147"/>
                  </a:lnTo>
                  <a:lnTo>
                    <a:pt x="1172647" y="113788"/>
                  </a:lnTo>
                  <a:lnTo>
                    <a:pt x="1232666" y="95982"/>
                  </a:lnTo>
                  <a:lnTo>
                    <a:pt x="1292367" y="79722"/>
                  </a:lnTo>
                  <a:lnTo>
                    <a:pt x="1351682" y="64997"/>
                  </a:lnTo>
                  <a:lnTo>
                    <a:pt x="1410542" y="51798"/>
                  </a:lnTo>
                  <a:lnTo>
                    <a:pt x="1468882" y="40115"/>
                  </a:lnTo>
                  <a:lnTo>
                    <a:pt x="1526632" y="29939"/>
                  </a:lnTo>
                  <a:lnTo>
                    <a:pt x="1583727" y="21261"/>
                  </a:lnTo>
                  <a:lnTo>
                    <a:pt x="1640098" y="14071"/>
                  </a:lnTo>
                  <a:lnTo>
                    <a:pt x="1695677" y="8359"/>
                  </a:lnTo>
                  <a:lnTo>
                    <a:pt x="1750397" y="4116"/>
                  </a:lnTo>
                  <a:lnTo>
                    <a:pt x="1804192" y="1333"/>
                  </a:lnTo>
                  <a:lnTo>
                    <a:pt x="1856992" y="0"/>
                  </a:lnTo>
                  <a:lnTo>
                    <a:pt x="1908731" y="107"/>
                  </a:lnTo>
                  <a:lnTo>
                    <a:pt x="1959341" y="1645"/>
                  </a:lnTo>
                  <a:lnTo>
                    <a:pt x="2008754" y="4605"/>
                  </a:lnTo>
                  <a:lnTo>
                    <a:pt x="2056904" y="8977"/>
                  </a:lnTo>
                  <a:lnTo>
                    <a:pt x="2103723" y="14752"/>
                  </a:lnTo>
                  <a:lnTo>
                    <a:pt x="2149142" y="21919"/>
                  </a:lnTo>
                  <a:lnTo>
                    <a:pt x="2193095" y="30471"/>
                  </a:lnTo>
                  <a:lnTo>
                    <a:pt x="2235514" y="40396"/>
                  </a:lnTo>
                  <a:lnTo>
                    <a:pt x="2276331" y="51687"/>
                  </a:lnTo>
                  <a:lnTo>
                    <a:pt x="2315480" y="64332"/>
                  </a:lnTo>
                  <a:lnTo>
                    <a:pt x="2352892" y="78323"/>
                  </a:lnTo>
                  <a:lnTo>
                    <a:pt x="2388500" y="93650"/>
                  </a:lnTo>
                  <a:lnTo>
                    <a:pt x="2454033" y="128275"/>
                  </a:lnTo>
                  <a:lnTo>
                    <a:pt x="2511541" y="168132"/>
                  </a:lnTo>
                  <a:lnTo>
                    <a:pt x="2560482" y="213143"/>
                  </a:lnTo>
                  <a:lnTo>
                    <a:pt x="2600316" y="263233"/>
                  </a:lnTo>
                  <a:lnTo>
                    <a:pt x="2630504" y="318327"/>
                  </a:lnTo>
                  <a:lnTo>
                    <a:pt x="2650420" y="378038"/>
                  </a:lnTo>
                  <a:lnTo>
                    <a:pt x="2659355" y="440242"/>
                  </a:lnTo>
                  <a:lnTo>
                    <a:pt x="2659779" y="472038"/>
                  </a:lnTo>
                  <a:lnTo>
                    <a:pt x="2657572" y="504233"/>
                  </a:lnTo>
                  <a:lnTo>
                    <a:pt x="2645457" y="569627"/>
                  </a:lnTo>
                  <a:lnTo>
                    <a:pt x="2623396" y="636039"/>
                  </a:lnTo>
                  <a:lnTo>
                    <a:pt x="2591775" y="703084"/>
                  </a:lnTo>
                  <a:lnTo>
                    <a:pt x="2572500" y="736724"/>
                  </a:lnTo>
                  <a:lnTo>
                    <a:pt x="2550980" y="770378"/>
                  </a:lnTo>
                  <a:lnTo>
                    <a:pt x="2527264" y="803997"/>
                  </a:lnTo>
                  <a:lnTo>
                    <a:pt x="2501399" y="837535"/>
                  </a:lnTo>
                  <a:lnTo>
                    <a:pt x="2473433" y="870942"/>
                  </a:lnTo>
                  <a:lnTo>
                    <a:pt x="2443416" y="904171"/>
                  </a:lnTo>
                  <a:lnTo>
                    <a:pt x="2411394" y="937173"/>
                  </a:lnTo>
                  <a:lnTo>
                    <a:pt x="2377418" y="969901"/>
                  </a:lnTo>
                  <a:lnTo>
                    <a:pt x="2341534" y="1002306"/>
                  </a:lnTo>
                  <a:lnTo>
                    <a:pt x="2303791" y="1034341"/>
                  </a:lnTo>
                  <a:lnTo>
                    <a:pt x="2264237" y="1065957"/>
                  </a:lnTo>
                  <a:lnTo>
                    <a:pt x="2222921" y="1097105"/>
                  </a:lnTo>
                  <a:lnTo>
                    <a:pt x="2179891" y="1127739"/>
                  </a:lnTo>
                  <a:lnTo>
                    <a:pt x="2135196" y="1157810"/>
                  </a:lnTo>
                  <a:lnTo>
                    <a:pt x="2088882" y="1187269"/>
                  </a:lnTo>
                  <a:lnTo>
                    <a:pt x="2040999" y="1216069"/>
                  </a:lnTo>
                  <a:lnTo>
                    <a:pt x="1991596" y="1244162"/>
                  </a:lnTo>
                  <a:lnTo>
                    <a:pt x="1940719" y="1271499"/>
                  </a:lnTo>
                  <a:lnTo>
                    <a:pt x="1888418" y="1298033"/>
                  </a:lnTo>
                  <a:lnTo>
                    <a:pt x="1834741" y="1323715"/>
                  </a:lnTo>
                  <a:lnTo>
                    <a:pt x="1779736" y="1348497"/>
                  </a:lnTo>
                  <a:lnTo>
                    <a:pt x="1723451" y="1372331"/>
                  </a:lnTo>
                  <a:lnTo>
                    <a:pt x="1665935" y="1395170"/>
                  </a:lnTo>
                  <a:lnTo>
                    <a:pt x="1607236" y="1416964"/>
                  </a:lnTo>
                  <a:lnTo>
                    <a:pt x="1547402" y="1437666"/>
                  </a:lnTo>
                  <a:lnTo>
                    <a:pt x="1487132" y="1457026"/>
                  </a:lnTo>
                  <a:lnTo>
                    <a:pt x="1427112" y="1474832"/>
                  </a:lnTo>
                  <a:lnTo>
                    <a:pt x="1367412" y="1491092"/>
                  </a:lnTo>
                  <a:lnTo>
                    <a:pt x="1308097" y="1505818"/>
                  </a:lnTo>
                  <a:lnTo>
                    <a:pt x="1249236" y="1519018"/>
                  </a:lnTo>
                  <a:lnTo>
                    <a:pt x="1190897" y="1530701"/>
                  </a:lnTo>
                  <a:lnTo>
                    <a:pt x="1133146" y="1540878"/>
                  </a:lnTo>
                  <a:lnTo>
                    <a:pt x="1076052" y="1549557"/>
                  </a:lnTo>
                  <a:lnTo>
                    <a:pt x="1019681" y="1556749"/>
                  </a:lnTo>
                  <a:lnTo>
                    <a:pt x="964102" y="1562462"/>
                  </a:lnTo>
                  <a:lnTo>
                    <a:pt x="909381" y="1566706"/>
                  </a:lnTo>
                  <a:lnTo>
                    <a:pt x="855587" y="1569490"/>
                  </a:lnTo>
                  <a:lnTo>
                    <a:pt x="802787" y="1570825"/>
                  </a:lnTo>
                  <a:lnTo>
                    <a:pt x="751048" y="1570718"/>
                  </a:lnTo>
                  <a:lnTo>
                    <a:pt x="700438" y="1569181"/>
                  </a:lnTo>
                  <a:lnTo>
                    <a:pt x="651024" y="1566222"/>
                  </a:lnTo>
                  <a:lnTo>
                    <a:pt x="602874" y="1561851"/>
                  </a:lnTo>
                  <a:lnTo>
                    <a:pt x="556056" y="1556078"/>
                  </a:lnTo>
                  <a:lnTo>
                    <a:pt x="510637" y="1548911"/>
                  </a:lnTo>
                  <a:lnTo>
                    <a:pt x="466684" y="1540360"/>
                  </a:lnTo>
                  <a:lnTo>
                    <a:pt x="424265" y="1530435"/>
                  </a:lnTo>
                  <a:lnTo>
                    <a:pt x="383447" y="1519145"/>
                  </a:lnTo>
                  <a:lnTo>
                    <a:pt x="344299" y="1506500"/>
                  </a:lnTo>
                  <a:lnTo>
                    <a:pt x="306887" y="1492509"/>
                  </a:lnTo>
                  <a:lnTo>
                    <a:pt x="271279" y="1477182"/>
                  </a:lnTo>
                  <a:lnTo>
                    <a:pt x="205745" y="1442556"/>
                  </a:lnTo>
                  <a:lnTo>
                    <a:pt x="148238" y="1402698"/>
                  </a:lnTo>
                  <a:lnTo>
                    <a:pt x="99297" y="1357684"/>
                  </a:lnTo>
                  <a:lnTo>
                    <a:pt x="59462" y="1307589"/>
                  </a:lnTo>
                  <a:lnTo>
                    <a:pt x="29274" y="1252490"/>
                  </a:lnTo>
                  <a:lnTo>
                    <a:pt x="17967" y="1223087"/>
                  </a:lnTo>
                  <a:close/>
                </a:path>
              </a:pathLst>
            </a:custGeom>
            <a:ln w="20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211732" y="5056301"/>
              <a:ext cx="2621915" cy="889635"/>
            </a:xfrm>
            <a:custGeom>
              <a:avLst/>
              <a:gdLst/>
              <a:ahLst/>
              <a:cxnLst/>
              <a:rect l="l" t="t" r="r" b="b"/>
              <a:pathLst>
                <a:path w="2621915" h="889635">
                  <a:moveTo>
                    <a:pt x="2525406" y="21204"/>
                  </a:moveTo>
                  <a:lnTo>
                    <a:pt x="0" y="869353"/>
                  </a:lnTo>
                  <a:lnTo>
                    <a:pt x="6705" y="889330"/>
                  </a:lnTo>
                  <a:lnTo>
                    <a:pt x="2532073" y="41055"/>
                  </a:lnTo>
                  <a:lnTo>
                    <a:pt x="2541981" y="26682"/>
                  </a:lnTo>
                  <a:lnTo>
                    <a:pt x="2525406" y="21204"/>
                  </a:lnTo>
                  <a:close/>
                </a:path>
                <a:path w="2621915" h="889635">
                  <a:moveTo>
                    <a:pt x="2597756" y="16764"/>
                  </a:moveTo>
                  <a:lnTo>
                    <a:pt x="2538628" y="16764"/>
                  </a:lnTo>
                  <a:lnTo>
                    <a:pt x="2545334" y="36601"/>
                  </a:lnTo>
                  <a:lnTo>
                    <a:pt x="2532073" y="41055"/>
                  </a:lnTo>
                  <a:lnTo>
                    <a:pt x="2502306" y="84239"/>
                  </a:lnTo>
                  <a:lnTo>
                    <a:pt x="2597756" y="16764"/>
                  </a:lnTo>
                  <a:close/>
                </a:path>
                <a:path w="2621915" h="889635">
                  <a:moveTo>
                    <a:pt x="2541981" y="26682"/>
                  </a:moveTo>
                  <a:lnTo>
                    <a:pt x="2532073" y="41055"/>
                  </a:lnTo>
                  <a:lnTo>
                    <a:pt x="2545334" y="36601"/>
                  </a:lnTo>
                  <a:lnTo>
                    <a:pt x="2541981" y="26682"/>
                  </a:lnTo>
                  <a:close/>
                </a:path>
                <a:path w="2621915" h="889635">
                  <a:moveTo>
                    <a:pt x="2538628" y="16764"/>
                  </a:moveTo>
                  <a:lnTo>
                    <a:pt x="2525406" y="21204"/>
                  </a:lnTo>
                  <a:lnTo>
                    <a:pt x="2541981" y="26682"/>
                  </a:lnTo>
                  <a:lnTo>
                    <a:pt x="2538628" y="16764"/>
                  </a:lnTo>
                  <a:close/>
                </a:path>
                <a:path w="2621915" h="889635">
                  <a:moveTo>
                    <a:pt x="2621470" y="0"/>
                  </a:moveTo>
                  <a:lnTo>
                    <a:pt x="2475623" y="4749"/>
                  </a:lnTo>
                  <a:lnTo>
                    <a:pt x="2525406" y="21204"/>
                  </a:lnTo>
                  <a:lnTo>
                    <a:pt x="2538628" y="16764"/>
                  </a:lnTo>
                  <a:lnTo>
                    <a:pt x="2597756" y="16764"/>
                  </a:lnTo>
                  <a:lnTo>
                    <a:pt x="2621470" y="0"/>
                  </a:lnTo>
                  <a:close/>
                </a:path>
              </a:pathLst>
            </a:custGeom>
            <a:solidFill>
              <a:srgbClr val="FF3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298040" y="4829289"/>
              <a:ext cx="463550" cy="1321435"/>
            </a:xfrm>
            <a:custGeom>
              <a:avLst/>
              <a:gdLst/>
              <a:ahLst/>
              <a:cxnLst/>
              <a:rect l="l" t="t" r="r" b="b"/>
              <a:pathLst>
                <a:path w="463550" h="1321435">
                  <a:moveTo>
                    <a:pt x="27241" y="79349"/>
                  </a:moveTo>
                  <a:lnTo>
                    <a:pt x="21876" y="95933"/>
                  </a:lnTo>
                  <a:lnTo>
                    <a:pt x="443407" y="1320877"/>
                  </a:lnTo>
                  <a:lnTo>
                    <a:pt x="463245" y="1314018"/>
                  </a:lnTo>
                  <a:lnTo>
                    <a:pt x="41735" y="89152"/>
                  </a:lnTo>
                  <a:lnTo>
                    <a:pt x="27241" y="79349"/>
                  </a:lnTo>
                  <a:close/>
                </a:path>
                <a:path w="463550" h="1321435">
                  <a:moveTo>
                    <a:pt x="0" y="0"/>
                  </a:moveTo>
                  <a:lnTo>
                    <a:pt x="5727" y="145846"/>
                  </a:lnTo>
                  <a:lnTo>
                    <a:pt x="21876" y="95933"/>
                  </a:lnTo>
                  <a:lnTo>
                    <a:pt x="17322" y="82702"/>
                  </a:lnTo>
                  <a:lnTo>
                    <a:pt x="37160" y="75857"/>
                  </a:lnTo>
                  <a:lnTo>
                    <a:pt x="54477" y="75857"/>
                  </a:lnTo>
                  <a:lnTo>
                    <a:pt x="0" y="0"/>
                  </a:lnTo>
                  <a:close/>
                </a:path>
                <a:path w="463550" h="1321435">
                  <a:moveTo>
                    <a:pt x="54477" y="75857"/>
                  </a:moveTo>
                  <a:lnTo>
                    <a:pt x="37160" y="75857"/>
                  </a:lnTo>
                  <a:lnTo>
                    <a:pt x="41735" y="89152"/>
                  </a:lnTo>
                  <a:lnTo>
                    <a:pt x="85077" y="118465"/>
                  </a:lnTo>
                  <a:lnTo>
                    <a:pt x="54477" y="75857"/>
                  </a:lnTo>
                  <a:close/>
                </a:path>
                <a:path w="463550" h="1321435">
                  <a:moveTo>
                    <a:pt x="37160" y="75857"/>
                  </a:moveTo>
                  <a:lnTo>
                    <a:pt x="17322" y="82702"/>
                  </a:lnTo>
                  <a:lnTo>
                    <a:pt x="21876" y="95933"/>
                  </a:lnTo>
                  <a:lnTo>
                    <a:pt x="27241" y="79349"/>
                  </a:lnTo>
                  <a:lnTo>
                    <a:pt x="38362" y="79349"/>
                  </a:lnTo>
                  <a:lnTo>
                    <a:pt x="37160" y="75857"/>
                  </a:lnTo>
                  <a:close/>
                </a:path>
                <a:path w="463550" h="1321435">
                  <a:moveTo>
                    <a:pt x="38362" y="79349"/>
                  </a:moveTo>
                  <a:lnTo>
                    <a:pt x="27241" y="79349"/>
                  </a:lnTo>
                  <a:lnTo>
                    <a:pt x="41735" y="89152"/>
                  </a:lnTo>
                  <a:lnTo>
                    <a:pt x="38362" y="79349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596858" y="5152135"/>
              <a:ext cx="1175385" cy="426084"/>
            </a:xfrm>
            <a:custGeom>
              <a:avLst/>
              <a:gdLst/>
              <a:ahLst/>
              <a:cxnLst/>
              <a:rect l="l" t="t" r="r" b="b"/>
              <a:pathLst>
                <a:path w="1175384" h="426085">
                  <a:moveTo>
                    <a:pt x="1174877" y="0"/>
                  </a:moveTo>
                  <a:lnTo>
                    <a:pt x="1160819" y="53470"/>
                  </a:lnTo>
                  <a:lnTo>
                    <a:pt x="1097622" y="94576"/>
                  </a:lnTo>
                  <a:lnTo>
                    <a:pt x="695007" y="227571"/>
                  </a:lnTo>
                  <a:lnTo>
                    <a:pt x="658515" y="245059"/>
                  </a:lnTo>
                  <a:lnTo>
                    <a:pt x="631793" y="268678"/>
                  </a:lnTo>
                  <a:lnTo>
                    <a:pt x="617329" y="295386"/>
                  </a:lnTo>
                  <a:lnTo>
                    <a:pt x="617613" y="322148"/>
                  </a:lnTo>
                  <a:lnTo>
                    <a:pt x="601932" y="300464"/>
                  </a:lnTo>
                  <a:lnTo>
                    <a:pt x="574411" y="287607"/>
                  </a:lnTo>
                  <a:lnTo>
                    <a:pt x="538875" y="284547"/>
                  </a:lnTo>
                  <a:lnTo>
                    <a:pt x="499148" y="292252"/>
                  </a:lnTo>
                  <a:lnTo>
                    <a:pt x="118465" y="417982"/>
                  </a:lnTo>
                  <a:lnTo>
                    <a:pt x="78758" y="425626"/>
                  </a:lnTo>
                  <a:lnTo>
                    <a:pt x="43254" y="422557"/>
                  </a:lnTo>
                  <a:lnTo>
                    <a:pt x="15740" y="409692"/>
                  </a:lnTo>
                  <a:lnTo>
                    <a:pt x="0" y="387946"/>
                  </a:lnTo>
                </a:path>
              </a:pathLst>
            </a:custGeom>
            <a:ln w="10477">
              <a:solidFill>
                <a:srgbClr val="FF33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204554" y="4902072"/>
              <a:ext cx="254000" cy="553085"/>
            </a:xfrm>
            <a:custGeom>
              <a:avLst/>
              <a:gdLst/>
              <a:ahLst/>
              <a:cxnLst/>
              <a:rect l="l" t="t" r="r" b="b"/>
              <a:pathLst>
                <a:path w="254000" h="553085">
                  <a:moveTo>
                    <a:pt x="253581" y="545947"/>
                  </a:moveTo>
                  <a:lnTo>
                    <a:pt x="223345" y="552703"/>
                  </a:lnTo>
                  <a:lnTo>
                    <a:pt x="196199" y="551378"/>
                  </a:lnTo>
                  <a:lnTo>
                    <a:pt x="175079" y="542588"/>
                  </a:lnTo>
                  <a:lnTo>
                    <a:pt x="162916" y="526948"/>
                  </a:lnTo>
                  <a:lnTo>
                    <a:pt x="96139" y="339890"/>
                  </a:lnTo>
                  <a:lnTo>
                    <a:pt x="83974" y="324272"/>
                  </a:lnTo>
                  <a:lnTo>
                    <a:pt x="62838" y="315529"/>
                  </a:lnTo>
                  <a:lnTo>
                    <a:pt x="35651" y="314252"/>
                  </a:lnTo>
                  <a:lnTo>
                    <a:pt x="5334" y="321030"/>
                  </a:lnTo>
                  <a:lnTo>
                    <a:pt x="33100" y="307115"/>
                  </a:lnTo>
                  <a:lnTo>
                    <a:pt x="53321" y="288917"/>
                  </a:lnTo>
                  <a:lnTo>
                    <a:pt x="64113" y="268754"/>
                  </a:lnTo>
                  <a:lnTo>
                    <a:pt x="63589" y="248945"/>
                  </a:lnTo>
                  <a:lnTo>
                    <a:pt x="445" y="72085"/>
                  </a:lnTo>
                  <a:lnTo>
                    <a:pt x="0" y="52276"/>
                  </a:lnTo>
                  <a:lnTo>
                    <a:pt x="10818" y="32113"/>
                  </a:lnTo>
                  <a:lnTo>
                    <a:pt x="31013" y="13915"/>
                  </a:lnTo>
                  <a:lnTo>
                    <a:pt x="58700" y="0"/>
                  </a:lnTo>
                </a:path>
              </a:pathLst>
            </a:custGeom>
            <a:ln w="10477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338034" y="4986967"/>
            <a:ext cx="27368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5">
                <a:solidFill>
                  <a:srgbClr val="0033CC"/>
                </a:solidFill>
                <a:latin typeface="Times New Roman"/>
                <a:cs typeface="Times New Roman"/>
              </a:rPr>
              <a:t>(</a:t>
            </a:r>
            <a:r>
              <a:rPr dirty="0" sz="2200" spc="-25">
                <a:solidFill>
                  <a:srgbClr val="0033CC"/>
                </a:solidFill>
                <a:latin typeface="Symbol"/>
                <a:cs typeface="Symbol"/>
              </a:rPr>
              <a:t>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86141" y="5149578"/>
            <a:ext cx="345440" cy="2495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25">
                <a:solidFill>
                  <a:srgbClr val="0033CC"/>
                </a:solidFill>
                <a:latin typeface="Times New Roman"/>
                <a:cs typeface="Times New Roman"/>
              </a:rPr>
              <a:t>max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80934" y="4903147"/>
            <a:ext cx="47117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6414" sz="3300" spc="-15">
                <a:solidFill>
                  <a:srgbClr val="0033CC"/>
                </a:solidFill>
                <a:latin typeface="Times New Roman"/>
                <a:cs typeface="Times New Roman"/>
              </a:rPr>
              <a:t>)</a:t>
            </a:r>
            <a:r>
              <a:rPr dirty="0" sz="1450" spc="-10">
                <a:solidFill>
                  <a:srgbClr val="0033CC"/>
                </a:solidFill>
                <a:latin typeface="Times New Roman"/>
                <a:cs typeface="Times New Roman"/>
              </a:rPr>
              <a:t>-</a:t>
            </a:r>
            <a:r>
              <a:rPr dirty="0" sz="1450" spc="-25">
                <a:solidFill>
                  <a:srgbClr val="0033CC"/>
                </a:solidFill>
                <a:latin typeface="Times New Roman"/>
                <a:cs typeface="Times New Roman"/>
              </a:rPr>
              <a:t>1/2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36152" y="5502655"/>
            <a:ext cx="27305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200" spc="-25">
                <a:solidFill>
                  <a:srgbClr val="FF3300"/>
                </a:solidFill>
                <a:latin typeface="Times New Roman"/>
                <a:cs typeface="Times New Roman"/>
              </a:rPr>
              <a:t>(</a:t>
            </a:r>
            <a:r>
              <a:rPr dirty="0" sz="2200" spc="-25">
                <a:solidFill>
                  <a:srgbClr val="FF3300"/>
                </a:solidFill>
                <a:latin typeface="Symbol"/>
                <a:cs typeface="Symbol"/>
              </a:rPr>
              <a:t>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84259" y="5665266"/>
            <a:ext cx="31432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450" spc="-25">
                <a:solidFill>
                  <a:srgbClr val="FF3300"/>
                </a:solidFill>
                <a:latin typeface="Times New Roman"/>
                <a:cs typeface="Times New Roman"/>
              </a:rPr>
              <a:t>min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48876" y="5418835"/>
            <a:ext cx="47117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6414" sz="3300" spc="-15">
                <a:solidFill>
                  <a:srgbClr val="FF3300"/>
                </a:solidFill>
                <a:latin typeface="Times New Roman"/>
                <a:cs typeface="Times New Roman"/>
              </a:rPr>
              <a:t>)</a:t>
            </a:r>
            <a:r>
              <a:rPr dirty="0" sz="1450" spc="-10">
                <a:solidFill>
                  <a:srgbClr val="FF3300"/>
                </a:solidFill>
                <a:latin typeface="Times New Roman"/>
                <a:cs typeface="Times New Roman"/>
              </a:rPr>
              <a:t>-</a:t>
            </a:r>
            <a:r>
              <a:rPr dirty="0" sz="1450" spc="-25">
                <a:solidFill>
                  <a:srgbClr val="FF3300"/>
                </a:solidFill>
                <a:latin typeface="Times New Roman"/>
                <a:cs typeface="Times New Roman"/>
              </a:rPr>
              <a:t>1/2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0804" y="426460"/>
            <a:ext cx="4662805" cy="62992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Harris</a:t>
            </a:r>
            <a:r>
              <a:rPr dirty="0" sz="395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Detector</a:t>
            </a:r>
            <a:r>
              <a:rPr dirty="0" sz="3950" spc="-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2200" spc="-10" b="0">
                <a:solidFill>
                  <a:srgbClr val="000000"/>
                </a:solidFill>
                <a:latin typeface="Arial MT"/>
                <a:cs typeface="Arial MT"/>
              </a:rPr>
              <a:t>[</a:t>
            </a:r>
            <a:r>
              <a:rPr dirty="0" sz="2200" spc="-10" b="0">
                <a:solidFill>
                  <a:srgbClr val="000000"/>
                </a:solidFill>
                <a:latin typeface="Calibri"/>
                <a:cs typeface="Calibri"/>
              </a:rPr>
              <a:t>Harris88</a:t>
            </a:r>
            <a:r>
              <a:rPr dirty="0" sz="2200" spc="-10" b="0">
                <a:solidFill>
                  <a:srgbClr val="000000"/>
                </a:solidFill>
                <a:latin typeface="Arial MT"/>
                <a:cs typeface="Arial MT"/>
              </a:rPr>
              <a:t>]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04" y="1353845"/>
            <a:ext cx="4112895" cy="494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90525" algn="l"/>
              </a:tabLst>
            </a:pPr>
            <a:r>
              <a:rPr dirty="0" sz="3050">
                <a:latin typeface="Calibri"/>
                <a:cs typeface="Calibri"/>
              </a:rPr>
              <a:t>Second moment</a:t>
            </a:r>
            <a:r>
              <a:rPr dirty="0" sz="3050" spc="-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matrix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2288" y="2448803"/>
            <a:ext cx="11874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-50">
                <a:latin typeface="Symbol"/>
                <a:cs typeface="Symbol"/>
              </a:rPr>
              <a:t>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43319" y="2221501"/>
            <a:ext cx="11874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spc="-50">
                <a:latin typeface="Symbol"/>
                <a:cs typeface="Symbol"/>
              </a:rPr>
              <a:t>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86793" y="2221501"/>
            <a:ext cx="20383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3003" sz="2775" spc="-37">
                <a:latin typeface="Times New Roman"/>
                <a:cs typeface="Times New Roman"/>
              </a:rPr>
              <a:t>)</a:t>
            </a:r>
            <a:r>
              <a:rPr dirty="0" sz="1850" spc="-25">
                <a:latin typeface="Symbol"/>
                <a:cs typeface="Symbol"/>
              </a:rPr>
              <a:t>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8515" y="2582922"/>
            <a:ext cx="96520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50" spc="-5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2736" y="2226697"/>
            <a:ext cx="96520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50" spc="-5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20438" y="2748572"/>
            <a:ext cx="47561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60045" algn="l"/>
              </a:tabLst>
            </a:pPr>
            <a:r>
              <a:rPr dirty="0" sz="1050" spc="-50" i="1">
                <a:latin typeface="Times New Roman"/>
                <a:cs typeface="Times New Roman"/>
              </a:rPr>
              <a:t>y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9905" y="2748572"/>
            <a:ext cx="65849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05740" algn="l"/>
                <a:tab pos="542925" algn="l"/>
              </a:tabLst>
            </a:pPr>
            <a:r>
              <a:rPr dirty="0" sz="1050" spc="-50" i="1">
                <a:latin typeface="Times New Roman"/>
                <a:cs typeface="Times New Roman"/>
              </a:rPr>
              <a:t>x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y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8749" y="2392335"/>
            <a:ext cx="164528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65760" algn="l"/>
                <a:tab pos="999490" algn="l"/>
                <a:tab pos="1192530" algn="l"/>
                <a:tab pos="1530350" algn="l"/>
              </a:tabLst>
            </a:pPr>
            <a:r>
              <a:rPr dirty="0" sz="1050" spc="-50" i="1">
                <a:latin typeface="Times New Roman"/>
                <a:cs typeface="Times New Roman"/>
              </a:rPr>
              <a:t>x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x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y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4011" y="2568818"/>
            <a:ext cx="7302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050" spc="-50" i="1"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8790" y="2568818"/>
            <a:ext cx="461009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346075" algn="l"/>
              </a:tabLst>
            </a:pPr>
            <a:r>
              <a:rPr dirty="0" sz="1050" spc="-50" i="1">
                <a:latin typeface="Times New Roman"/>
                <a:cs typeface="Times New Roman"/>
              </a:rPr>
              <a:t>I</a:t>
            </a:r>
            <a:r>
              <a:rPr dirty="0" sz="1050" i="1">
                <a:latin typeface="Times New Roman"/>
                <a:cs typeface="Times New Roman"/>
              </a:rPr>
              <a:t>	</a:t>
            </a:r>
            <a:r>
              <a:rPr dirty="0" sz="1050" spc="-50" i="1">
                <a:latin typeface="Times New Roman"/>
                <a:cs typeface="Times New Roman"/>
              </a:rPr>
              <a:t>D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5919" y="2234216"/>
            <a:ext cx="306705" cy="3105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850" i="1">
                <a:latin typeface="Times New Roman"/>
                <a:cs typeface="Times New Roman"/>
              </a:rPr>
              <a:t>I</a:t>
            </a:r>
            <a:r>
              <a:rPr dirty="0" sz="1850" spc="65" i="1">
                <a:latin typeface="Times New Roman"/>
                <a:cs typeface="Times New Roman"/>
              </a:rPr>
              <a:t>  </a:t>
            </a:r>
            <a:r>
              <a:rPr dirty="0" sz="1850" spc="-50">
                <a:latin typeface="Times New Roman"/>
                <a:cs typeface="Times New Roman"/>
              </a:rPr>
              <a:t>(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66028" y="2577091"/>
            <a:ext cx="662940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44805" algn="l"/>
              </a:tabLst>
            </a:pPr>
            <a:r>
              <a:rPr dirty="0" sz="1950" spc="-50">
                <a:latin typeface="Symbol"/>
                <a:cs typeface="Symbol"/>
              </a:rPr>
              <a:t>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850">
                <a:latin typeface="Times New Roman"/>
                <a:cs typeface="Times New Roman"/>
              </a:rPr>
              <a:t>)</a:t>
            </a:r>
            <a:r>
              <a:rPr dirty="0" sz="1850" spc="280">
                <a:latin typeface="Times New Roman"/>
                <a:cs typeface="Times New Roman"/>
              </a:rPr>
              <a:t> </a:t>
            </a:r>
            <a:r>
              <a:rPr dirty="0" baseline="-12012" sz="2775" spc="-562">
                <a:latin typeface="Symbol"/>
                <a:cs typeface="Symbol"/>
              </a:rPr>
              <a:t></a:t>
            </a:r>
            <a:r>
              <a:rPr dirty="0" baseline="-21021" sz="2775" spc="-562">
                <a:latin typeface="Symbol"/>
                <a:cs typeface="Symbol"/>
              </a:rPr>
              <a:t></a:t>
            </a:r>
            <a:endParaRPr baseline="-21021" sz="277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05219" y="2577091"/>
            <a:ext cx="1637664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918844" algn="l"/>
                <a:tab pos="1318895" algn="l"/>
              </a:tabLst>
            </a:pPr>
            <a:r>
              <a:rPr dirty="0" baseline="-21021" sz="2775" spc="-165">
                <a:latin typeface="Symbol"/>
                <a:cs typeface="Symbol"/>
              </a:rPr>
              <a:t></a:t>
            </a:r>
            <a:r>
              <a:rPr dirty="0" baseline="-12012" sz="2775" spc="-165">
                <a:latin typeface="Symbol"/>
                <a:cs typeface="Symbol"/>
              </a:rPr>
              <a:t></a:t>
            </a:r>
            <a:r>
              <a:rPr dirty="0" sz="1850" spc="-110" i="1">
                <a:latin typeface="Times New Roman"/>
                <a:cs typeface="Times New Roman"/>
              </a:rPr>
              <a:t>I</a:t>
            </a:r>
            <a:r>
              <a:rPr dirty="0" sz="1850" spc="254" i="1">
                <a:latin typeface="Times New Roman"/>
                <a:cs typeface="Times New Roman"/>
              </a:rPr>
              <a:t> </a:t>
            </a:r>
            <a:r>
              <a:rPr dirty="0" sz="1850" i="1">
                <a:latin typeface="Times New Roman"/>
                <a:cs typeface="Times New Roman"/>
              </a:rPr>
              <a:t>I</a:t>
            </a:r>
            <a:r>
              <a:rPr dirty="0" sz="1850" spc="360" i="1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(</a:t>
            </a:r>
            <a:r>
              <a:rPr dirty="0" sz="1950" spc="-25">
                <a:latin typeface="Symbol"/>
                <a:cs typeface="Symbol"/>
              </a:rPr>
              <a:t>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)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i="1">
                <a:latin typeface="Times New Roman"/>
                <a:cs typeface="Times New Roman"/>
              </a:rPr>
              <a:t>I</a:t>
            </a:r>
            <a:r>
              <a:rPr dirty="0" sz="1850" spc="60" i="1">
                <a:latin typeface="Times New Roman"/>
                <a:cs typeface="Times New Roman"/>
              </a:rPr>
              <a:t>  </a:t>
            </a:r>
            <a:r>
              <a:rPr dirty="0" sz="1850" spc="-50">
                <a:latin typeface="Times New Roman"/>
                <a:cs typeface="Times New Roman"/>
              </a:rPr>
              <a:t>(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5649" y="2220858"/>
            <a:ext cx="1336040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20040" algn="l"/>
                <a:tab pos="720090" algn="l"/>
              </a:tabLst>
            </a:pPr>
            <a:r>
              <a:rPr dirty="0" sz="1950" spc="-50">
                <a:latin typeface="Symbol"/>
                <a:cs typeface="Symbol"/>
              </a:rPr>
              <a:t>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)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i="1">
                <a:latin typeface="Times New Roman"/>
                <a:cs typeface="Times New Roman"/>
              </a:rPr>
              <a:t>I</a:t>
            </a:r>
            <a:r>
              <a:rPr dirty="0" sz="1850" spc="380" i="1">
                <a:latin typeface="Times New Roman"/>
                <a:cs typeface="Times New Roman"/>
              </a:rPr>
              <a:t> </a:t>
            </a:r>
            <a:r>
              <a:rPr dirty="0" sz="1850" i="1">
                <a:latin typeface="Times New Roman"/>
                <a:cs typeface="Times New Roman"/>
              </a:rPr>
              <a:t>I</a:t>
            </a:r>
            <a:r>
              <a:rPr dirty="0" sz="1850" spc="25" i="1">
                <a:latin typeface="Times New Roman"/>
                <a:cs typeface="Times New Roman"/>
              </a:rPr>
              <a:t>  </a:t>
            </a:r>
            <a:r>
              <a:rPr dirty="0" sz="1850" spc="-25">
                <a:latin typeface="Times New Roman"/>
                <a:cs typeface="Times New Roman"/>
              </a:rPr>
              <a:t>(</a:t>
            </a:r>
            <a:r>
              <a:rPr dirty="0" sz="1950" spc="-25">
                <a:latin typeface="Symbol"/>
                <a:cs typeface="Symbol"/>
              </a:rPr>
              <a:t>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7525" y="2397321"/>
            <a:ext cx="1229995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850">
                <a:latin typeface="Times New Roman"/>
                <a:cs typeface="Times New Roman"/>
              </a:rPr>
              <a:t>)</a:t>
            </a:r>
            <a:r>
              <a:rPr dirty="0" sz="1850" spc="-30">
                <a:latin typeface="Times New Roman"/>
                <a:cs typeface="Times New Roman"/>
              </a:rPr>
              <a:t> </a:t>
            </a:r>
            <a:r>
              <a:rPr dirty="0" sz="1850">
                <a:latin typeface="Symbol"/>
                <a:cs typeface="Symbol"/>
              </a:rPr>
              <a:t></a:t>
            </a:r>
            <a:r>
              <a:rPr dirty="0" sz="1850" spc="60">
                <a:latin typeface="Times New Roman"/>
                <a:cs typeface="Times New Roman"/>
              </a:rPr>
              <a:t> </a:t>
            </a:r>
            <a:r>
              <a:rPr dirty="0" sz="1850" i="1">
                <a:latin typeface="Times New Roman"/>
                <a:cs typeface="Times New Roman"/>
              </a:rPr>
              <a:t>g</a:t>
            </a:r>
            <a:r>
              <a:rPr dirty="0" sz="1850">
                <a:latin typeface="Times New Roman"/>
                <a:cs typeface="Times New Roman"/>
              </a:rPr>
              <a:t>(</a:t>
            </a:r>
            <a:r>
              <a:rPr dirty="0" sz="1950">
                <a:latin typeface="Symbol"/>
                <a:cs typeface="Symbol"/>
              </a:rPr>
              <a:t></a:t>
            </a:r>
            <a:r>
              <a:rPr dirty="0" sz="1950" spc="5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)</a:t>
            </a:r>
            <a:r>
              <a:rPr dirty="0" sz="1850" spc="-229">
                <a:latin typeface="Times New Roman"/>
                <a:cs typeface="Times New Roman"/>
              </a:rPr>
              <a:t> </a:t>
            </a:r>
            <a:r>
              <a:rPr dirty="0" sz="1850">
                <a:latin typeface="Symbol"/>
                <a:cs typeface="Symbol"/>
              </a:rPr>
              <a:t></a:t>
            </a:r>
            <a:r>
              <a:rPr dirty="0" sz="1850" spc="-215">
                <a:latin typeface="Times New Roman"/>
                <a:cs typeface="Times New Roman"/>
              </a:rPr>
              <a:t> </a:t>
            </a:r>
            <a:r>
              <a:rPr dirty="0" baseline="-9009" sz="2775" spc="-75">
                <a:latin typeface="Symbol"/>
                <a:cs typeface="Symbol"/>
              </a:rPr>
              <a:t></a:t>
            </a:r>
            <a:endParaRPr baseline="-9009" sz="2775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9032" y="2397321"/>
            <a:ext cx="728345" cy="326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50">
                <a:latin typeface="Symbol"/>
                <a:cs typeface="Symbol"/>
              </a:rPr>
              <a:t></a:t>
            </a:r>
            <a:r>
              <a:rPr dirty="0" sz="1850">
                <a:latin typeface="Times New Roman"/>
                <a:cs typeface="Times New Roman"/>
              </a:rPr>
              <a:t>(</a:t>
            </a:r>
            <a:r>
              <a:rPr dirty="0" sz="1950">
                <a:latin typeface="Symbol"/>
                <a:cs typeface="Symbol"/>
              </a:rPr>
              <a:t></a:t>
            </a:r>
            <a:r>
              <a:rPr dirty="0" sz="1950" spc="390">
                <a:latin typeface="Times New Roman"/>
                <a:cs typeface="Times New Roman"/>
              </a:rPr>
              <a:t> </a:t>
            </a:r>
            <a:r>
              <a:rPr dirty="0" sz="1850" spc="-25">
                <a:latin typeface="Times New Roman"/>
                <a:cs typeface="Times New Roman"/>
              </a:rPr>
              <a:t>,</a:t>
            </a:r>
            <a:r>
              <a:rPr dirty="0" sz="1950" spc="-25">
                <a:latin typeface="Symbol"/>
                <a:cs typeface="Symbol"/>
              </a:rPr>
              <a:t>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69399" y="7125706"/>
            <a:ext cx="85090" cy="167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50"/>
              </a:lnSpc>
            </a:pPr>
            <a:r>
              <a:rPr dirty="0" sz="1300" spc="-5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420417" y="1342866"/>
            <a:ext cx="1215390" cy="951865"/>
            <a:chOff x="8420417" y="1342866"/>
            <a:chExt cx="1215390" cy="95186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62266" y="1393421"/>
              <a:ext cx="972795" cy="81858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427402" y="1349851"/>
              <a:ext cx="1201420" cy="937894"/>
            </a:xfrm>
            <a:custGeom>
              <a:avLst/>
              <a:gdLst/>
              <a:ahLst/>
              <a:cxnLst/>
              <a:rect l="l" t="t" r="r" b="b"/>
              <a:pathLst>
                <a:path w="1201420" h="937894">
                  <a:moveTo>
                    <a:pt x="0" y="937736"/>
                  </a:moveTo>
                  <a:lnTo>
                    <a:pt x="1201420" y="937736"/>
                  </a:lnTo>
                  <a:lnTo>
                    <a:pt x="1201420" y="0"/>
                  </a:lnTo>
                  <a:lnTo>
                    <a:pt x="0" y="0"/>
                  </a:lnTo>
                  <a:lnTo>
                    <a:pt x="0" y="937736"/>
                  </a:lnTo>
                  <a:close/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129404" y="3450742"/>
            <a:ext cx="1243330" cy="5613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dirty="0" sz="1750">
                <a:latin typeface="Arial MT"/>
                <a:cs typeface="Arial MT"/>
              </a:rPr>
              <a:t>2.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Square</a:t>
            </a:r>
            <a:r>
              <a:rPr dirty="0" sz="1750" spc="-10">
                <a:latin typeface="Arial MT"/>
                <a:cs typeface="Arial MT"/>
              </a:rPr>
              <a:t> </a:t>
            </a:r>
            <a:r>
              <a:rPr dirty="0" sz="1750" spc="-25">
                <a:latin typeface="Arial MT"/>
                <a:cs typeface="Arial MT"/>
              </a:rPr>
              <a:t>of </a:t>
            </a:r>
            <a:r>
              <a:rPr dirty="0" sz="1750" spc="-10">
                <a:latin typeface="Arial MT"/>
                <a:cs typeface="Arial MT"/>
              </a:rPr>
              <a:t>derivatives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63771" y="4400981"/>
            <a:ext cx="1270635" cy="56388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89560" marR="30480" indent="-252095">
              <a:lnSpc>
                <a:spcPts val="2110"/>
              </a:lnSpc>
              <a:spcBef>
                <a:spcPts val="165"/>
              </a:spcBef>
            </a:pPr>
            <a:r>
              <a:rPr dirty="0" sz="1750">
                <a:latin typeface="Arial MT"/>
                <a:cs typeface="Arial MT"/>
              </a:rPr>
              <a:t>3.</a:t>
            </a:r>
            <a:r>
              <a:rPr dirty="0" sz="1750" spc="15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Gaussian </a:t>
            </a:r>
            <a:r>
              <a:rPr dirty="0" sz="1750">
                <a:latin typeface="Arial MT"/>
                <a:cs typeface="Arial MT"/>
              </a:rPr>
              <a:t>filter</a:t>
            </a:r>
            <a:r>
              <a:rPr dirty="0" sz="1750" spc="-5">
                <a:latin typeface="Arial MT"/>
                <a:cs typeface="Arial MT"/>
              </a:rPr>
              <a:t> </a:t>
            </a:r>
            <a:r>
              <a:rPr dirty="0" sz="1750" spc="-20" i="1">
                <a:latin typeface="Arial"/>
                <a:cs typeface="Arial"/>
              </a:rPr>
              <a:t>g(</a:t>
            </a:r>
            <a:r>
              <a:rPr dirty="0" sz="1850" spc="-20">
                <a:latin typeface="Symbol"/>
                <a:cs typeface="Symbol"/>
              </a:rPr>
              <a:t></a:t>
            </a:r>
            <a:r>
              <a:rPr dirty="0" baseline="-19323" sz="1725" spc="-30" i="1">
                <a:latin typeface="Arial"/>
                <a:cs typeface="Arial"/>
              </a:rPr>
              <a:t>I</a:t>
            </a:r>
            <a:r>
              <a:rPr dirty="0" sz="1750" spc="-20" i="1">
                <a:latin typeface="Arial"/>
                <a:cs typeface="Arial"/>
              </a:rPr>
              <a:t>)</a:t>
            </a:r>
            <a:endParaRPr sz="17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089775" y="2404795"/>
            <a:ext cx="2557145" cy="894080"/>
            <a:chOff x="7089775" y="2404795"/>
            <a:chExt cx="2557145" cy="89408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89775" y="2404795"/>
              <a:ext cx="1231539" cy="893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00021" y="2404795"/>
              <a:ext cx="1246473" cy="89254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108226" y="2378544"/>
            <a:ext cx="23050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5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7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432163" y="2378544"/>
            <a:ext cx="230504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5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7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baseline="-21367" sz="19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647372" y="3328282"/>
            <a:ext cx="4016375" cy="923925"/>
            <a:chOff x="5647372" y="3328282"/>
            <a:chExt cx="4016375" cy="923925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47074" y="3328282"/>
              <a:ext cx="1316672" cy="9202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47372" y="3337013"/>
              <a:ext cx="1316672" cy="91503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02462" y="3337083"/>
              <a:ext cx="1314926" cy="91328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599745" y="3318027"/>
            <a:ext cx="3238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ts val="844"/>
              </a:lnSpc>
              <a:spcBef>
                <a:spcPts val="130"/>
              </a:spcBef>
            </a:pPr>
            <a:r>
              <a:rPr dirty="0" sz="1950" spc="-25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7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endParaRPr baseline="-21367" sz="1950">
              <a:latin typeface="Arial"/>
              <a:cs typeface="Arial"/>
            </a:endParaRPr>
          </a:p>
          <a:p>
            <a:pPr marL="191770">
              <a:lnSpc>
                <a:spcPts val="770"/>
              </a:lnSpc>
            </a:pPr>
            <a:r>
              <a:rPr dirty="0" sz="1300" spc="-50" i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946593" y="3290087"/>
            <a:ext cx="3238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ts val="844"/>
              </a:lnSpc>
              <a:spcBef>
                <a:spcPts val="130"/>
              </a:spcBef>
            </a:pPr>
            <a:r>
              <a:rPr dirty="0" sz="1950" spc="-25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7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baseline="-21367" sz="1950">
              <a:latin typeface="Arial"/>
              <a:cs typeface="Arial"/>
            </a:endParaRPr>
          </a:p>
          <a:p>
            <a:pPr marL="191770">
              <a:lnSpc>
                <a:spcPts val="770"/>
              </a:lnSpc>
            </a:pPr>
            <a:r>
              <a:rPr dirty="0" sz="1300" spc="-50" i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14649" y="3290087"/>
            <a:ext cx="38481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spc="-20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0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1950" spc="-20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-21367" sz="1950" spc="-30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baseline="-21367" sz="19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23205" y="2377566"/>
            <a:ext cx="2019300" cy="800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40385">
              <a:lnSpc>
                <a:spcPct val="100000"/>
              </a:lnSpc>
              <a:spcBef>
                <a:spcPts val="105"/>
              </a:spcBef>
            </a:pPr>
            <a:r>
              <a:rPr dirty="0" sz="1750">
                <a:latin typeface="Arial MT"/>
                <a:cs typeface="Arial MT"/>
              </a:rPr>
              <a:t>1.</a:t>
            </a:r>
            <a:r>
              <a:rPr dirty="0" sz="1750" spc="1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Image</a:t>
            </a:r>
            <a:endParaRPr sz="1750">
              <a:latin typeface="Arial MT"/>
              <a:cs typeface="Arial MT"/>
            </a:endParaRPr>
          </a:p>
          <a:p>
            <a:pPr marL="540385">
              <a:lnSpc>
                <a:spcPts val="1989"/>
              </a:lnSpc>
              <a:spcBef>
                <a:spcPts val="15"/>
              </a:spcBef>
            </a:pPr>
            <a:r>
              <a:rPr dirty="0" sz="1750" spc="-10">
                <a:latin typeface="Arial MT"/>
                <a:cs typeface="Arial MT"/>
              </a:rPr>
              <a:t>derivatives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ts val="1989"/>
              </a:lnSpc>
            </a:pPr>
            <a:r>
              <a:rPr dirty="0" sz="1750" spc="-10">
                <a:latin typeface="Arial MT"/>
                <a:cs typeface="Arial MT"/>
              </a:rPr>
              <a:t>(optionally,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>
                <a:latin typeface="Arial MT"/>
                <a:cs typeface="Arial MT"/>
              </a:rPr>
              <a:t>blur</a:t>
            </a:r>
            <a:r>
              <a:rPr dirty="0" sz="1750" spc="-30">
                <a:latin typeface="Arial MT"/>
                <a:cs typeface="Arial MT"/>
              </a:rPr>
              <a:t> </a:t>
            </a:r>
            <a:r>
              <a:rPr dirty="0" sz="1750" spc="-10">
                <a:latin typeface="Arial MT"/>
                <a:cs typeface="Arial MT"/>
              </a:rPr>
              <a:t>first)</a:t>
            </a:r>
            <a:endParaRPr sz="1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63158" y="4327137"/>
            <a:ext cx="2625090" cy="906780"/>
            <a:chOff x="5663158" y="4327137"/>
            <a:chExt cx="2625090" cy="906780"/>
          </a:xfrm>
        </p:grpSpPr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63158" y="4327137"/>
              <a:ext cx="1300956" cy="9063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6816" y="4327137"/>
              <a:ext cx="1300956" cy="906303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357552" y="4327137"/>
            <a:ext cx="1300956" cy="895826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669151" y="4398886"/>
            <a:ext cx="11874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 i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66141" y="4390504"/>
            <a:ext cx="63182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i="1">
                <a:solidFill>
                  <a:srgbClr val="FFFFFF"/>
                </a:solidFill>
                <a:latin typeface="Arial"/>
                <a:cs typeface="Arial"/>
              </a:rPr>
              <a:t>g(I</a:t>
            </a:r>
            <a:r>
              <a:rPr dirty="0" baseline="-21367" sz="1950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baseline="-21367" sz="1950" spc="60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50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010270" y="4398886"/>
            <a:ext cx="11874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 i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07681" y="4390504"/>
            <a:ext cx="6311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1950" i="1">
                <a:solidFill>
                  <a:srgbClr val="FFFFFF"/>
                </a:solidFill>
                <a:latin typeface="Arial"/>
                <a:cs typeface="Arial"/>
              </a:rPr>
              <a:t>g(I</a:t>
            </a:r>
            <a:r>
              <a:rPr dirty="0" baseline="-21367" sz="1950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baseline="-21367" sz="1950" spc="592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50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22308" y="4452530"/>
            <a:ext cx="26416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i="1">
                <a:solidFill>
                  <a:srgbClr val="FFFFFF"/>
                </a:solidFill>
                <a:latin typeface="Arial"/>
                <a:cs typeface="Arial"/>
              </a:rPr>
              <a:t>x</a:t>
            </a:r>
            <a:r>
              <a:rPr dirty="0" sz="1300" spc="19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60" i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13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928937" y="4306684"/>
            <a:ext cx="6413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i="1">
                <a:solidFill>
                  <a:srgbClr val="FFFFFF"/>
                </a:solidFill>
                <a:latin typeface="Arial"/>
                <a:cs typeface="Arial"/>
              </a:rPr>
              <a:t>g(I</a:t>
            </a:r>
            <a:r>
              <a:rPr dirty="0" sz="1950" spc="1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i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950" spc="1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50" i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71030" y="5355747"/>
            <a:ext cx="2692717" cy="2085022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5867641" y="6267951"/>
            <a:ext cx="46609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54965" algn="l"/>
              </a:tabLst>
            </a:pPr>
            <a:r>
              <a:rPr dirty="0" sz="1450" spc="-50">
                <a:latin typeface="Times New Roman"/>
                <a:cs typeface="Times New Roman"/>
              </a:rPr>
              <a:t>2</a:t>
            </a:r>
            <a:r>
              <a:rPr dirty="0" sz="1450">
                <a:latin typeface="Times New Roman"/>
                <a:cs typeface="Times New Roman"/>
              </a:rPr>
              <a:t>	</a:t>
            </a:r>
            <a:r>
              <a:rPr dirty="0" sz="1450" spc="-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58182" y="6267951"/>
            <a:ext cx="12382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652845" y="6267951"/>
            <a:ext cx="12382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247761" y="6267951"/>
            <a:ext cx="8528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1045" algn="l"/>
              </a:tabLst>
            </a:pPr>
            <a:r>
              <a:rPr dirty="0" sz="1450" spc="-50">
                <a:latin typeface="Times New Roman"/>
                <a:cs typeface="Times New Roman"/>
              </a:rPr>
              <a:t>2</a:t>
            </a:r>
            <a:r>
              <a:rPr dirty="0" sz="1450">
                <a:latin typeface="Times New Roman"/>
                <a:cs typeface="Times New Roman"/>
              </a:rPr>
              <a:t>	</a:t>
            </a:r>
            <a:r>
              <a:rPr dirty="0" sz="1450" spc="-5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856464" y="6492845"/>
            <a:ext cx="11303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 i="1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98973" y="6277950"/>
            <a:ext cx="838200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05" i="1">
                <a:latin typeface="Times New Roman"/>
                <a:cs typeface="Times New Roman"/>
              </a:rPr>
              <a:t>g</a:t>
            </a:r>
            <a:r>
              <a:rPr dirty="0" sz="2550" spc="105">
                <a:latin typeface="Times New Roman"/>
                <a:cs typeface="Times New Roman"/>
              </a:rPr>
              <a:t>(</a:t>
            </a:r>
            <a:r>
              <a:rPr dirty="0" sz="2550" spc="105" i="1">
                <a:latin typeface="Times New Roman"/>
                <a:cs typeface="Times New Roman"/>
              </a:rPr>
              <a:t>I</a:t>
            </a:r>
            <a:r>
              <a:rPr dirty="0" sz="2550" spc="55" i="1">
                <a:latin typeface="Times New Roman"/>
                <a:cs typeface="Times New Roman"/>
              </a:rPr>
              <a:t>  </a:t>
            </a:r>
            <a:r>
              <a:rPr dirty="0" sz="2550" spc="-25">
                <a:latin typeface="Times New Roman"/>
                <a:cs typeface="Times New Roman"/>
              </a:rPr>
              <a:t>)]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38754" y="6492845"/>
            <a:ext cx="11303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50" i="1">
                <a:latin typeface="Times New Roman"/>
                <a:cs typeface="Times New Roman"/>
              </a:rPr>
              <a:t>x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28279" y="6492845"/>
            <a:ext cx="219710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9935" algn="l"/>
                <a:tab pos="1836420" algn="l"/>
                <a:tab pos="2096770" algn="l"/>
              </a:tabLst>
            </a:pPr>
            <a:r>
              <a:rPr dirty="0" sz="1450" spc="-50" i="1">
                <a:latin typeface="Times New Roman"/>
                <a:cs typeface="Times New Roman"/>
              </a:rPr>
              <a:t>x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y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x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y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79098" y="6259128"/>
            <a:ext cx="4578985" cy="43560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110" i="1">
                <a:latin typeface="Times New Roman"/>
                <a:cs typeface="Times New Roman"/>
              </a:rPr>
              <a:t>g</a:t>
            </a:r>
            <a:r>
              <a:rPr dirty="0" sz="2550" spc="110">
                <a:latin typeface="Times New Roman"/>
                <a:cs typeface="Times New Roman"/>
              </a:rPr>
              <a:t>(</a:t>
            </a:r>
            <a:r>
              <a:rPr dirty="0" sz="2550" spc="110" i="1">
                <a:latin typeface="Times New Roman"/>
                <a:cs typeface="Times New Roman"/>
              </a:rPr>
              <a:t>I</a:t>
            </a:r>
            <a:r>
              <a:rPr dirty="0" sz="2550" spc="60" i="1">
                <a:latin typeface="Times New Roman"/>
                <a:cs typeface="Times New Roman"/>
              </a:rPr>
              <a:t>  </a:t>
            </a:r>
            <a:r>
              <a:rPr dirty="0" sz="2550" spc="120">
                <a:latin typeface="Times New Roman"/>
                <a:cs typeface="Times New Roman"/>
              </a:rPr>
              <a:t>)</a:t>
            </a:r>
            <a:r>
              <a:rPr dirty="0" sz="2550" spc="120" i="1">
                <a:latin typeface="Times New Roman"/>
                <a:cs typeface="Times New Roman"/>
              </a:rPr>
              <a:t>g</a:t>
            </a:r>
            <a:r>
              <a:rPr dirty="0" sz="2550" spc="120">
                <a:latin typeface="Times New Roman"/>
                <a:cs typeface="Times New Roman"/>
              </a:rPr>
              <a:t>(</a:t>
            </a:r>
            <a:r>
              <a:rPr dirty="0" sz="2550" spc="120" i="1">
                <a:latin typeface="Times New Roman"/>
                <a:cs typeface="Times New Roman"/>
              </a:rPr>
              <a:t>I</a:t>
            </a:r>
            <a:r>
              <a:rPr dirty="0" sz="2550" spc="65" i="1">
                <a:latin typeface="Times New Roman"/>
                <a:cs typeface="Times New Roman"/>
              </a:rPr>
              <a:t>  </a:t>
            </a:r>
            <a:r>
              <a:rPr dirty="0" sz="2550">
                <a:latin typeface="Times New Roman"/>
                <a:cs typeface="Times New Roman"/>
              </a:rPr>
              <a:t>)</a:t>
            </a:r>
            <a:r>
              <a:rPr dirty="0" sz="2550" spc="-254">
                <a:latin typeface="Times New Roman"/>
                <a:cs typeface="Times New Roman"/>
              </a:rPr>
              <a:t> </a:t>
            </a:r>
            <a:r>
              <a:rPr dirty="0" sz="2550" spc="140">
                <a:latin typeface="Symbol"/>
                <a:cs typeface="Symbol"/>
              </a:rPr>
              <a:t></a:t>
            </a:r>
            <a:r>
              <a:rPr dirty="0" sz="2550" spc="140">
                <a:latin typeface="Times New Roman"/>
                <a:cs typeface="Times New Roman"/>
              </a:rPr>
              <a:t>[</a:t>
            </a:r>
            <a:r>
              <a:rPr dirty="0" sz="2550" spc="140" i="1">
                <a:latin typeface="Times New Roman"/>
                <a:cs typeface="Times New Roman"/>
              </a:rPr>
              <a:t>g</a:t>
            </a:r>
            <a:r>
              <a:rPr dirty="0" sz="2550" spc="140">
                <a:latin typeface="Times New Roman"/>
                <a:cs typeface="Times New Roman"/>
              </a:rPr>
              <a:t>(</a:t>
            </a:r>
            <a:r>
              <a:rPr dirty="0" sz="2550" spc="140" i="1">
                <a:latin typeface="Times New Roman"/>
                <a:cs typeface="Times New Roman"/>
              </a:rPr>
              <a:t>I</a:t>
            </a:r>
            <a:r>
              <a:rPr dirty="0" sz="2550" spc="490" i="1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I</a:t>
            </a:r>
            <a:r>
              <a:rPr dirty="0" sz="2550" spc="10" i="1">
                <a:latin typeface="Times New Roman"/>
                <a:cs typeface="Times New Roman"/>
              </a:rPr>
              <a:t>  </a:t>
            </a:r>
            <a:r>
              <a:rPr dirty="0" sz="2550">
                <a:latin typeface="Times New Roman"/>
                <a:cs typeface="Times New Roman"/>
              </a:rPr>
              <a:t>)]</a:t>
            </a:r>
            <a:r>
              <a:rPr dirty="0" sz="2550" spc="55">
                <a:latin typeface="Times New Roman"/>
                <a:cs typeface="Times New Roman"/>
              </a:rPr>
              <a:t>  </a:t>
            </a:r>
            <a:r>
              <a:rPr dirty="0" sz="2550" spc="120">
                <a:latin typeface="Symbol"/>
                <a:cs typeface="Symbol"/>
              </a:rPr>
              <a:t></a:t>
            </a:r>
            <a:r>
              <a:rPr dirty="0" sz="2700" spc="120">
                <a:latin typeface="Symbol"/>
                <a:cs typeface="Symbol"/>
              </a:rPr>
              <a:t></a:t>
            </a:r>
            <a:r>
              <a:rPr dirty="0" sz="2550" spc="120">
                <a:latin typeface="Times New Roman"/>
                <a:cs typeface="Times New Roman"/>
              </a:rPr>
              <a:t>[</a:t>
            </a:r>
            <a:r>
              <a:rPr dirty="0" sz="2550" spc="120" i="1">
                <a:latin typeface="Times New Roman"/>
                <a:cs typeface="Times New Roman"/>
              </a:rPr>
              <a:t>g</a:t>
            </a:r>
            <a:r>
              <a:rPr dirty="0" sz="2550" spc="120">
                <a:latin typeface="Times New Roman"/>
                <a:cs typeface="Times New Roman"/>
              </a:rPr>
              <a:t>(</a:t>
            </a:r>
            <a:r>
              <a:rPr dirty="0" sz="2550" spc="120" i="1">
                <a:latin typeface="Times New Roman"/>
                <a:cs typeface="Times New Roman"/>
              </a:rPr>
              <a:t>I</a:t>
            </a:r>
            <a:r>
              <a:rPr dirty="0" sz="2550" spc="60" i="1">
                <a:latin typeface="Times New Roman"/>
                <a:cs typeface="Times New Roman"/>
              </a:rPr>
              <a:t>  </a:t>
            </a:r>
            <a:r>
              <a:rPr dirty="0" sz="2550">
                <a:latin typeface="Times New Roman"/>
                <a:cs typeface="Times New Roman"/>
              </a:rPr>
              <a:t>)</a:t>
            </a:r>
            <a:r>
              <a:rPr dirty="0" sz="2550" spc="-23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Symbol"/>
                <a:cs typeface="Symbol"/>
              </a:rPr>
              <a:t>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68964" y="5242792"/>
            <a:ext cx="5959475" cy="93980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680"/>
              </a:spcBef>
            </a:pPr>
            <a:r>
              <a:rPr dirty="0" sz="1950">
                <a:latin typeface="Arial MT"/>
                <a:cs typeface="Arial MT"/>
              </a:rPr>
              <a:t>4.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Cornerness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function</a:t>
            </a:r>
            <a:r>
              <a:rPr dirty="0" sz="1950" spc="40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–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both</a:t>
            </a:r>
            <a:r>
              <a:rPr dirty="0" sz="1950" spc="2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eigenvalues</a:t>
            </a:r>
            <a:r>
              <a:rPr dirty="0" sz="1950" spc="6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are</a:t>
            </a:r>
            <a:r>
              <a:rPr dirty="0" sz="1950" spc="15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strong</a:t>
            </a:r>
            <a:endParaRPr sz="1950">
              <a:latin typeface="Arial MT"/>
              <a:cs typeface="Arial MT"/>
            </a:endParaRPr>
          </a:p>
          <a:p>
            <a:pPr marL="135255">
              <a:lnSpc>
                <a:spcPts val="2445"/>
              </a:lnSpc>
              <a:spcBef>
                <a:spcPts val="760"/>
              </a:spcBef>
            </a:pPr>
            <a:r>
              <a:rPr dirty="0" sz="2500" i="1">
                <a:latin typeface="Times New Roman"/>
                <a:cs typeface="Times New Roman"/>
              </a:rPr>
              <a:t>har</a:t>
            </a:r>
            <a:r>
              <a:rPr dirty="0" sz="2500" spc="10" i="1">
                <a:latin typeface="Times New Roman"/>
                <a:cs typeface="Times New Roman"/>
              </a:rPr>
              <a:t> </a:t>
            </a:r>
            <a:r>
              <a:rPr dirty="0" sz="2500">
                <a:latin typeface="Symbol"/>
                <a:cs typeface="Symbol"/>
              </a:rPr>
              <a:t></a:t>
            </a:r>
            <a:r>
              <a:rPr dirty="0" sz="2500" spc="-114">
                <a:latin typeface="Times New Roman"/>
                <a:cs typeface="Times New Roman"/>
              </a:rPr>
              <a:t> </a:t>
            </a:r>
            <a:r>
              <a:rPr dirty="0" sz="2500" spc="-185">
                <a:latin typeface="Times New Roman"/>
                <a:cs typeface="Times New Roman"/>
              </a:rPr>
              <a:t>det[</a:t>
            </a:r>
            <a:r>
              <a:rPr dirty="0" sz="2600" spc="-185">
                <a:latin typeface="Symbol"/>
                <a:cs typeface="Symbol"/>
              </a:rPr>
              <a:t></a:t>
            </a:r>
            <a:r>
              <a:rPr dirty="0" sz="2500" spc="-185">
                <a:latin typeface="Times New Roman"/>
                <a:cs typeface="Times New Roman"/>
              </a:rPr>
              <a:t>(</a:t>
            </a:r>
            <a:r>
              <a:rPr dirty="0" sz="2600" spc="-185">
                <a:latin typeface="Symbol"/>
                <a:cs typeface="Symbol"/>
              </a:rPr>
              <a:t>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500" spc="-190">
                <a:latin typeface="Times New Roman"/>
                <a:cs typeface="Times New Roman"/>
              </a:rPr>
              <a:t>,</a:t>
            </a:r>
            <a:r>
              <a:rPr dirty="0" sz="2600" spc="-190">
                <a:latin typeface="Symbol"/>
                <a:cs typeface="Symbol"/>
              </a:rPr>
              <a:t></a:t>
            </a:r>
            <a:r>
              <a:rPr dirty="0" sz="2600" spc="11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)]</a:t>
            </a:r>
            <a:r>
              <a:rPr dirty="0" sz="2500" spc="-295">
                <a:latin typeface="Times New Roman"/>
                <a:cs typeface="Times New Roman"/>
              </a:rPr>
              <a:t> </a:t>
            </a:r>
            <a:r>
              <a:rPr dirty="0" sz="2500" spc="-165">
                <a:latin typeface="Symbol"/>
                <a:cs typeface="Symbol"/>
              </a:rPr>
              <a:t></a:t>
            </a:r>
            <a:r>
              <a:rPr dirty="0" sz="2600" spc="-165">
                <a:latin typeface="Symbol"/>
                <a:cs typeface="Symbol"/>
              </a:rPr>
              <a:t></a:t>
            </a:r>
            <a:r>
              <a:rPr dirty="0" sz="2500" spc="-165">
                <a:latin typeface="Times New Roman"/>
                <a:cs typeface="Times New Roman"/>
              </a:rPr>
              <a:t>[trace(</a:t>
            </a:r>
            <a:r>
              <a:rPr dirty="0" sz="2600" spc="-165">
                <a:latin typeface="Symbol"/>
                <a:cs typeface="Symbol"/>
              </a:rPr>
              <a:t></a:t>
            </a:r>
            <a:r>
              <a:rPr dirty="0" sz="2500" spc="-165">
                <a:latin typeface="Times New Roman"/>
                <a:cs typeface="Times New Roman"/>
              </a:rPr>
              <a:t>(</a:t>
            </a:r>
            <a:r>
              <a:rPr dirty="0" sz="2600" spc="-165">
                <a:latin typeface="Symbol"/>
                <a:cs typeface="Symbol"/>
              </a:rPr>
              <a:t>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500" spc="-190">
                <a:latin typeface="Times New Roman"/>
                <a:cs typeface="Times New Roman"/>
              </a:rPr>
              <a:t>,</a:t>
            </a:r>
            <a:r>
              <a:rPr dirty="0" sz="2600" spc="-190">
                <a:latin typeface="Symbol"/>
                <a:cs typeface="Symbol"/>
              </a:rPr>
              <a:t></a:t>
            </a:r>
            <a:r>
              <a:rPr dirty="0" sz="2600" spc="11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))</a:t>
            </a:r>
            <a:r>
              <a:rPr dirty="0" baseline="42145" sz="2175">
                <a:latin typeface="Times New Roman"/>
                <a:cs typeface="Times New Roman"/>
              </a:rPr>
              <a:t>2</a:t>
            </a:r>
            <a:r>
              <a:rPr dirty="0" baseline="42145" sz="2175" spc="-37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]</a:t>
            </a:r>
            <a:r>
              <a:rPr dirty="0" sz="2500" spc="-145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Symbol"/>
                <a:cs typeface="Symbol"/>
              </a:rPr>
              <a:t></a:t>
            </a:r>
            <a:endParaRPr sz="2500">
              <a:latin typeface="Symbol"/>
              <a:cs typeface="Symbol"/>
            </a:endParaRPr>
          </a:p>
          <a:p>
            <a:pPr marL="1945639">
              <a:lnSpc>
                <a:spcPts val="1065"/>
              </a:lnSpc>
              <a:tabLst>
                <a:tab pos="2386330" algn="l"/>
                <a:tab pos="4570730" algn="l"/>
                <a:tab pos="5012055" algn="l"/>
              </a:tabLst>
            </a:pPr>
            <a:r>
              <a:rPr dirty="0" sz="1450" spc="-50" i="1">
                <a:latin typeface="Times New Roman"/>
                <a:cs typeface="Times New Roman"/>
              </a:rPr>
              <a:t>I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D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I</a:t>
            </a:r>
            <a:r>
              <a:rPr dirty="0" sz="1450" i="1">
                <a:latin typeface="Times New Roman"/>
                <a:cs typeface="Times New Roman"/>
              </a:rPr>
              <a:t>	</a:t>
            </a:r>
            <a:r>
              <a:rPr dirty="0" sz="1450" spc="-50" i="1">
                <a:latin typeface="Times New Roman"/>
                <a:cs typeface="Times New Roman"/>
              </a:rPr>
              <a:t>D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9129686" y="7073107"/>
            <a:ext cx="3873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25" i="1">
                <a:solidFill>
                  <a:srgbClr val="FFFFFF"/>
                </a:solidFill>
                <a:latin typeface="Arial"/>
                <a:cs typeface="Arial"/>
              </a:rPr>
              <a:t>har</a:t>
            </a:r>
            <a:endParaRPr sz="19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1664" y="7008733"/>
            <a:ext cx="315150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>
                <a:latin typeface="Arial MT"/>
                <a:cs typeface="Arial MT"/>
              </a:rPr>
              <a:t>5.</a:t>
            </a:r>
            <a:r>
              <a:rPr dirty="0" sz="1950" spc="45">
                <a:latin typeface="Arial MT"/>
                <a:cs typeface="Arial MT"/>
              </a:rPr>
              <a:t> </a:t>
            </a:r>
            <a:r>
              <a:rPr dirty="0" sz="1950">
                <a:latin typeface="Arial MT"/>
                <a:cs typeface="Arial MT"/>
              </a:rPr>
              <a:t>Non-maxima</a:t>
            </a:r>
            <a:r>
              <a:rPr dirty="0" sz="1950" spc="60">
                <a:latin typeface="Arial MT"/>
                <a:cs typeface="Arial MT"/>
              </a:rPr>
              <a:t> </a:t>
            </a:r>
            <a:r>
              <a:rPr dirty="0" sz="1950" spc="-10">
                <a:latin typeface="Arial MT"/>
                <a:cs typeface="Arial MT"/>
              </a:rPr>
              <a:t>suppression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830065" y="4002003"/>
            <a:ext cx="2825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Times New Roman"/>
                <a:cs typeface="Times New Roman"/>
              </a:rPr>
              <a:t>1</a:t>
            </a:r>
            <a:r>
              <a:rPr dirty="0" sz="1050" spc="215">
                <a:latin typeface="Times New Roman"/>
                <a:cs typeface="Times New Roman"/>
              </a:rPr>
              <a:t>  </a:t>
            </a:r>
            <a:r>
              <a:rPr dirty="0" sz="1050" spc="-5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33924" y="3830999"/>
            <a:ext cx="116014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latin typeface="Times New Roman"/>
                <a:cs typeface="Times New Roman"/>
              </a:rPr>
              <a:t>det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 spc="280" i="1">
                <a:latin typeface="Times New Roman"/>
                <a:cs typeface="Times New Roman"/>
              </a:rPr>
              <a:t> </a:t>
            </a:r>
            <a:r>
              <a:rPr dirty="0" sz="1800">
                <a:latin typeface="Symbol"/>
                <a:cs typeface="Symbol"/>
              </a:rPr>
              <a:t>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900" spc="125">
                <a:latin typeface="Symbol"/>
                <a:cs typeface="Symbol"/>
              </a:rPr>
              <a:t></a:t>
            </a:r>
            <a:r>
              <a:rPr dirty="0" sz="1900" spc="125">
                <a:latin typeface="Times New Roman"/>
                <a:cs typeface="Times New Roman"/>
              </a:rPr>
              <a:t> 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23526" y="4178726"/>
            <a:ext cx="1605915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latin typeface="Times New Roman"/>
                <a:cs typeface="Times New Roman"/>
              </a:rPr>
              <a:t>trace</a:t>
            </a:r>
            <a:r>
              <a:rPr dirty="0" sz="1800" spc="-190">
                <a:latin typeface="Times New Roman"/>
                <a:cs typeface="Times New Roman"/>
              </a:rPr>
              <a:t> </a:t>
            </a:r>
            <a:r>
              <a:rPr dirty="0" sz="1800" i="1">
                <a:latin typeface="Times New Roman"/>
                <a:cs typeface="Times New Roman"/>
              </a:rPr>
              <a:t>M</a:t>
            </a:r>
            <a:r>
              <a:rPr dirty="0" sz="1800" spc="229" i="1">
                <a:latin typeface="Times New Roman"/>
                <a:cs typeface="Times New Roman"/>
              </a:rPr>
              <a:t> </a:t>
            </a:r>
            <a:r>
              <a:rPr dirty="0" sz="1800">
                <a:latin typeface="Symbol"/>
                <a:cs typeface="Symbol"/>
              </a:rPr>
              <a:t>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900" spc="-25">
                <a:latin typeface="Symbol"/>
                <a:cs typeface="Symbol"/>
              </a:rPr>
              <a:t></a:t>
            </a:r>
            <a:r>
              <a:rPr dirty="0" baseline="-23809" sz="1575" spc="-37">
                <a:latin typeface="Times New Roman"/>
                <a:cs typeface="Times New Roman"/>
              </a:rPr>
              <a:t>1</a:t>
            </a:r>
            <a:r>
              <a:rPr dirty="0" baseline="-23809" sz="1575" spc="202">
                <a:latin typeface="Times New Roman"/>
                <a:cs typeface="Times New Roman"/>
              </a:rPr>
              <a:t> </a:t>
            </a:r>
            <a:r>
              <a:rPr dirty="0" sz="1800">
                <a:latin typeface="Symbol"/>
                <a:cs typeface="Symbol"/>
              </a:rPr>
              <a:t></a:t>
            </a:r>
            <a:r>
              <a:rPr dirty="0" sz="1800" spc="-160">
                <a:latin typeface="Times New Roman"/>
                <a:cs typeface="Times New Roman"/>
              </a:rPr>
              <a:t> </a:t>
            </a:r>
            <a:r>
              <a:rPr dirty="0" sz="1900" spc="-25">
                <a:latin typeface="Symbol"/>
                <a:cs typeface="Symbol"/>
              </a:rPr>
              <a:t></a:t>
            </a:r>
            <a:r>
              <a:rPr dirty="0" baseline="-23809" sz="1575" spc="-37">
                <a:latin typeface="Times New Roman"/>
                <a:cs typeface="Times New Roman"/>
              </a:rPr>
              <a:t>2</a:t>
            </a:r>
            <a:endParaRPr baseline="-23809" sz="157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0804" y="175056"/>
            <a:ext cx="8709025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So</a:t>
            </a:r>
            <a:r>
              <a:rPr dirty="0" sz="395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far:</a:t>
            </a:r>
            <a:r>
              <a:rPr dirty="0" sz="395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can</a:t>
            </a:r>
            <a:r>
              <a:rPr dirty="0" sz="3950" spc="-4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localize</a:t>
            </a:r>
            <a:r>
              <a:rPr dirty="0" sz="3950" spc="-4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dirty="0" sz="3950" spc="-5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x-</a:t>
            </a:r>
            <a:r>
              <a:rPr dirty="0" sz="3950" spc="-20" b="0">
                <a:solidFill>
                  <a:srgbClr val="000000"/>
                </a:solidFill>
                <a:latin typeface="Arial MT"/>
                <a:cs typeface="Arial MT"/>
              </a:rPr>
              <a:t>y,</a:t>
            </a:r>
            <a:r>
              <a:rPr dirty="0" sz="395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but</a:t>
            </a:r>
            <a:r>
              <a:rPr dirty="0" sz="395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b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dirty="0" sz="3950" spc="-3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950" spc="-10" b="0">
                <a:solidFill>
                  <a:srgbClr val="000000"/>
                </a:solidFill>
                <a:latin typeface="Arial MT"/>
                <a:cs typeface="Arial MT"/>
              </a:rPr>
              <a:t>scale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19" y="1424870"/>
            <a:ext cx="7208520" cy="5785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SIFT</a:t>
            </a:r>
            <a:r>
              <a:rPr dirty="0" spc="-60"/>
              <a:t> </a:t>
            </a:r>
            <a:r>
              <a:rPr dirty="0"/>
              <a:t>-</a:t>
            </a:r>
            <a:r>
              <a:rPr dirty="0" spc="-65"/>
              <a:t> </a:t>
            </a:r>
            <a:r>
              <a:rPr dirty="0"/>
              <a:t>Key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60"/>
              <a:t> </a:t>
            </a:r>
            <a:r>
              <a:rPr dirty="0" spc="-10"/>
              <a:t>Extraction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29" y="2448560"/>
            <a:ext cx="8745855" cy="475488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537970" marR="1268730" indent="-342900">
              <a:lnSpc>
                <a:spcPts val="3460"/>
              </a:lnSpc>
              <a:spcBef>
                <a:spcPts val="53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1537970" algn="l"/>
              </a:tabLst>
            </a:pPr>
            <a:r>
              <a:rPr dirty="0" sz="3200">
                <a:latin typeface="Arial MT"/>
                <a:cs typeface="Arial MT"/>
              </a:rPr>
              <a:t>Stands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scale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invariant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feature transform</a:t>
            </a:r>
            <a:endParaRPr sz="3200">
              <a:latin typeface="Arial MT"/>
              <a:cs typeface="Arial MT"/>
            </a:endParaRPr>
          </a:p>
          <a:p>
            <a:pPr marL="1537970" marR="1517015" indent="-342900">
              <a:lnSpc>
                <a:spcPts val="3460"/>
              </a:lnSpc>
              <a:spcBef>
                <a:spcPts val="76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1537970" algn="l"/>
              </a:tabLst>
            </a:pPr>
            <a:r>
              <a:rPr dirty="0" sz="3200">
                <a:latin typeface="Arial MT"/>
                <a:cs typeface="Arial MT"/>
              </a:rPr>
              <a:t>Patented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by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university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British Columbia</a:t>
            </a:r>
            <a:endParaRPr sz="3200">
              <a:latin typeface="Arial MT"/>
              <a:cs typeface="Arial MT"/>
            </a:endParaRPr>
          </a:p>
          <a:p>
            <a:pPr marL="1537970" marR="5080" indent="-342900">
              <a:lnSpc>
                <a:spcPts val="3460"/>
              </a:lnSpc>
              <a:spcBef>
                <a:spcPts val="76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1537970" algn="l"/>
              </a:tabLst>
            </a:pPr>
            <a:r>
              <a:rPr dirty="0" sz="3200">
                <a:latin typeface="Arial MT"/>
                <a:cs typeface="Arial MT"/>
              </a:rPr>
              <a:t>Similar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one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used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primate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visual </a:t>
            </a:r>
            <a:r>
              <a:rPr dirty="0" sz="3200">
                <a:latin typeface="Arial MT"/>
                <a:cs typeface="Arial MT"/>
              </a:rPr>
              <a:t>system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(human,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ape,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monkey,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etc.)</a:t>
            </a:r>
            <a:endParaRPr sz="3200">
              <a:latin typeface="Arial MT"/>
              <a:cs typeface="Arial MT"/>
            </a:endParaRPr>
          </a:p>
          <a:p>
            <a:pPr marL="1537970" marR="1066800" indent="-342900">
              <a:lnSpc>
                <a:spcPts val="3460"/>
              </a:lnSpc>
              <a:spcBef>
                <a:spcPts val="76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1537970" algn="l"/>
              </a:tabLst>
            </a:pPr>
            <a:r>
              <a:rPr dirty="0" sz="3200">
                <a:latin typeface="Arial MT"/>
                <a:cs typeface="Arial MT"/>
              </a:rPr>
              <a:t>Transforms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image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data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into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scale-</a:t>
            </a:r>
            <a:r>
              <a:rPr dirty="0" sz="3200">
                <a:latin typeface="Arial MT"/>
                <a:cs typeface="Arial MT"/>
              </a:rPr>
              <a:t>invariant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coordinates</a:t>
            </a:r>
            <a:endParaRPr sz="3200">
              <a:latin typeface="Arial MT"/>
              <a:cs typeface="Arial MT"/>
            </a:endParaRPr>
          </a:p>
          <a:p>
            <a:pPr marL="12700" marR="484505">
              <a:lnSpc>
                <a:spcPts val="1920"/>
              </a:lnSpc>
              <a:spcBef>
                <a:spcPts val="3070"/>
              </a:spcBef>
            </a:pP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D.</a:t>
            </a:r>
            <a:r>
              <a:rPr dirty="0" sz="1600" spc="-3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Lowe.</a:t>
            </a:r>
            <a:r>
              <a:rPr dirty="0" sz="1600" spc="-3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767676"/>
                </a:solidFill>
                <a:latin typeface="Tahoma"/>
                <a:cs typeface="Tahoma"/>
              </a:rPr>
              <a:t>Distinctive</a:t>
            </a:r>
            <a:r>
              <a:rPr dirty="0" sz="1700" spc="-8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767676"/>
                </a:solidFill>
                <a:latin typeface="Tahoma"/>
                <a:cs typeface="Tahoma"/>
              </a:rPr>
              <a:t>image</a:t>
            </a:r>
            <a:r>
              <a:rPr dirty="0" sz="1700" spc="-7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767676"/>
                </a:solidFill>
                <a:latin typeface="Tahoma"/>
                <a:cs typeface="Tahoma"/>
              </a:rPr>
              <a:t>features</a:t>
            </a:r>
            <a:r>
              <a:rPr dirty="0" sz="1700" spc="-8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767676"/>
                </a:solidFill>
                <a:latin typeface="Tahoma"/>
                <a:cs typeface="Tahoma"/>
              </a:rPr>
              <a:t>from</a:t>
            </a:r>
            <a:r>
              <a:rPr dirty="0" sz="1700" spc="-6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55">
                <a:solidFill>
                  <a:srgbClr val="767676"/>
                </a:solidFill>
                <a:latin typeface="Tahoma"/>
                <a:cs typeface="Tahoma"/>
              </a:rPr>
              <a:t>scale-</a:t>
            </a:r>
            <a:r>
              <a:rPr dirty="0" sz="1700" spc="-50">
                <a:solidFill>
                  <a:srgbClr val="767676"/>
                </a:solidFill>
                <a:latin typeface="Tahoma"/>
                <a:cs typeface="Tahoma"/>
              </a:rPr>
              <a:t>invariant</a:t>
            </a:r>
            <a:r>
              <a:rPr dirty="0" sz="1700" spc="-8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50">
                <a:solidFill>
                  <a:srgbClr val="767676"/>
                </a:solidFill>
                <a:latin typeface="Tahoma"/>
                <a:cs typeface="Tahoma"/>
              </a:rPr>
              <a:t>key</a:t>
            </a:r>
            <a:r>
              <a:rPr dirty="0" sz="1700" spc="-7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700" spc="-45">
                <a:solidFill>
                  <a:srgbClr val="767676"/>
                </a:solidFill>
                <a:latin typeface="Tahoma"/>
                <a:cs typeface="Tahoma"/>
              </a:rPr>
              <a:t>points</a:t>
            </a:r>
            <a:r>
              <a:rPr dirty="0" sz="1600" spc="-45">
                <a:solidFill>
                  <a:srgbClr val="767676"/>
                </a:solidFill>
                <a:latin typeface="Tahoma"/>
                <a:cs typeface="Tahoma"/>
              </a:rPr>
              <a:t>.,</a:t>
            </a:r>
            <a:r>
              <a:rPr dirty="0" sz="1600" spc="-3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International</a:t>
            </a:r>
            <a:r>
              <a:rPr dirty="0" sz="1600" spc="-4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Journal</a:t>
            </a:r>
            <a:r>
              <a:rPr dirty="0" sz="1600" spc="-5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767676"/>
                </a:solidFill>
                <a:latin typeface="Tahoma"/>
                <a:cs typeface="Tahoma"/>
              </a:rPr>
              <a:t>of </a:t>
            </a: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Computer</a:t>
            </a:r>
            <a:r>
              <a:rPr dirty="0" sz="1600" spc="-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767676"/>
                </a:solidFill>
                <a:latin typeface="Tahoma"/>
                <a:cs typeface="Tahoma"/>
              </a:rPr>
              <a:t>Vision</a:t>
            </a:r>
            <a:r>
              <a:rPr dirty="0" sz="1600" spc="-1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767676"/>
                </a:solidFill>
                <a:latin typeface="Tahoma"/>
                <a:cs typeface="Tahoma"/>
              </a:rPr>
              <a:t>2004.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Goal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11261"/>
            <a:ext cx="7006590" cy="412496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Extracting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distinctive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invariant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features</a:t>
            </a:r>
            <a:endParaRPr sz="28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Arial MT"/>
                <a:cs typeface="Arial MT"/>
              </a:rPr>
              <a:t>Correctly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matched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against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large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database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features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many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images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Invariance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image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scale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rotation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Robustness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Affine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distortion,</a:t>
            </a:r>
            <a:endParaRPr sz="24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Change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viewpoint,</a:t>
            </a:r>
            <a:endParaRPr sz="24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Addition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noise,</a:t>
            </a:r>
            <a:endParaRPr sz="24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Change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illumination.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12745"/>
            <a:ext cx="7240905" cy="275717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55600" marR="523240" indent="-342900">
              <a:lnSpc>
                <a:spcPct val="80000"/>
              </a:lnSpc>
              <a:spcBef>
                <a:spcPts val="7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 b="1">
                <a:latin typeface="Arial"/>
                <a:cs typeface="Arial"/>
              </a:rPr>
              <a:t>Locality: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features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local,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robust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occlusion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clutter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8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 spc="-10" b="1">
                <a:latin typeface="Arial"/>
                <a:cs typeface="Arial"/>
              </a:rPr>
              <a:t>Distinctiveness:</a:t>
            </a:r>
            <a:r>
              <a:rPr dirty="0" sz="2800" spc="-70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individual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features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be </a:t>
            </a:r>
            <a:r>
              <a:rPr dirty="0" sz="2800">
                <a:latin typeface="Arial MT"/>
                <a:cs typeface="Arial MT"/>
              </a:rPr>
              <a:t>matched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large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objects</a:t>
            </a:r>
            <a:endParaRPr sz="2800">
              <a:latin typeface="Arial MT"/>
              <a:cs typeface="Arial MT"/>
            </a:endParaRPr>
          </a:p>
          <a:p>
            <a:pPr marL="355600" marR="86995" indent="-342900">
              <a:lnSpc>
                <a:spcPct val="8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 b="1">
                <a:latin typeface="Arial"/>
                <a:cs typeface="Arial"/>
              </a:rPr>
              <a:t>Quantity: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many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features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generated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even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small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objects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 b="1">
                <a:latin typeface="Arial"/>
                <a:cs typeface="Arial"/>
              </a:rPr>
              <a:t>Efficiency:</a:t>
            </a:r>
            <a:r>
              <a:rPr dirty="0" sz="2800" spc="-6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close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real-</a:t>
            </a:r>
            <a:r>
              <a:rPr dirty="0" sz="2800">
                <a:latin typeface="Arial MT"/>
                <a:cs typeface="Arial MT"/>
              </a:rPr>
              <a:t>time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performance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Invariant</a:t>
            </a:r>
            <a:r>
              <a:rPr dirty="0" spc="-145"/>
              <a:t> </a:t>
            </a:r>
            <a:r>
              <a:rPr dirty="0"/>
              <a:t>Local</a:t>
            </a:r>
            <a:r>
              <a:rPr dirty="0" spc="-140"/>
              <a:t> </a:t>
            </a:r>
            <a:r>
              <a:rPr dirty="0" spc="-10"/>
              <a:t>Features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0304" y="2838450"/>
            <a:ext cx="6355841" cy="31097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485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Steps</a:t>
            </a:r>
            <a:r>
              <a:rPr dirty="0" spc="-110"/>
              <a:t> </a:t>
            </a:r>
            <a:r>
              <a:rPr dirty="0"/>
              <a:t>for</a:t>
            </a:r>
            <a:r>
              <a:rPr dirty="0" spc="-105"/>
              <a:t> </a:t>
            </a:r>
            <a:r>
              <a:rPr dirty="0"/>
              <a:t>Extracting</a:t>
            </a:r>
            <a:r>
              <a:rPr dirty="0" spc="-110"/>
              <a:t> </a:t>
            </a:r>
            <a:r>
              <a:rPr dirty="0" spc="-25"/>
              <a:t>Key </a:t>
            </a:r>
            <a:r>
              <a:rPr dirty="0" spc="-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11261"/>
            <a:ext cx="7056755" cy="419862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Scale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space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peak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selection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Potential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locations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finding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features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localization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9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Accurately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locating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feature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points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Orientation</a:t>
            </a:r>
            <a:r>
              <a:rPr dirty="0" sz="2800" spc="-1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Assignment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Assigning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orientation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points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descriptor</a:t>
            </a:r>
            <a:endParaRPr sz="28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Arial MT"/>
                <a:cs typeface="Arial MT"/>
              </a:rPr>
              <a:t>Describing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high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dimensional vector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Scales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97327"/>
            <a:ext cx="7576184" cy="4392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30175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What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should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be</a:t>
            </a:r>
            <a:r>
              <a:rPr dirty="0" sz="3200" spc="-20">
                <a:latin typeface="Arial MT"/>
                <a:cs typeface="Arial MT"/>
              </a:rPr>
              <a:t>  </a:t>
            </a:r>
            <a:r>
              <a:rPr dirty="0" sz="3200">
                <a:latin typeface="Arial MT"/>
                <a:cs typeface="Arial MT"/>
              </a:rPr>
              <a:t>sigma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value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Canny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LG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edge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detection?</a:t>
            </a:r>
            <a:endParaRPr sz="3200">
              <a:latin typeface="Arial MT"/>
              <a:cs typeface="Arial MT"/>
            </a:endParaRPr>
          </a:p>
          <a:p>
            <a:pPr marL="355600" marR="35687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If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use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multiple</a:t>
            </a:r>
            <a:r>
              <a:rPr dirty="0" sz="3200" spc="-20">
                <a:latin typeface="Arial MT"/>
                <a:cs typeface="Arial MT"/>
              </a:rPr>
              <a:t>  </a:t>
            </a:r>
            <a:r>
              <a:rPr dirty="0" sz="3200">
                <a:latin typeface="Arial MT"/>
                <a:cs typeface="Arial MT"/>
              </a:rPr>
              <a:t>sigma</a:t>
            </a:r>
            <a:r>
              <a:rPr dirty="0" sz="3200" spc="-15">
                <a:latin typeface="Arial MT"/>
                <a:cs typeface="Arial MT"/>
              </a:rPr>
              <a:t>  </a:t>
            </a:r>
            <a:r>
              <a:rPr dirty="0" sz="3200">
                <a:latin typeface="Arial MT"/>
                <a:cs typeface="Arial MT"/>
              </a:rPr>
              <a:t>values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(scales), </a:t>
            </a:r>
            <a:r>
              <a:rPr dirty="0" sz="3200">
                <a:latin typeface="Arial MT"/>
                <a:cs typeface="Arial MT"/>
              </a:rPr>
              <a:t>how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do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you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combine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multiple</a:t>
            </a:r>
            <a:r>
              <a:rPr dirty="0" sz="3200" spc="-20">
                <a:latin typeface="Arial MT"/>
                <a:cs typeface="Arial MT"/>
              </a:rPr>
              <a:t> edge </a:t>
            </a:r>
            <a:r>
              <a:rPr dirty="0" sz="3200" spc="-10">
                <a:latin typeface="Arial MT"/>
                <a:cs typeface="Arial MT"/>
              </a:rPr>
              <a:t>maps?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 spc="-20">
                <a:latin typeface="Arial MT"/>
                <a:cs typeface="Arial MT"/>
              </a:rPr>
              <a:t>Marr-</a:t>
            </a:r>
            <a:r>
              <a:rPr dirty="0" sz="2800" spc="-10">
                <a:latin typeface="Arial MT"/>
                <a:cs typeface="Arial MT"/>
              </a:rPr>
              <a:t>Hildreth: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015" algn="l"/>
              </a:tabLst>
            </a:pPr>
            <a:r>
              <a:rPr dirty="0" sz="2800" i="1">
                <a:latin typeface="Arial"/>
                <a:cs typeface="Arial"/>
              </a:rPr>
              <a:t>Spatial</a:t>
            </a:r>
            <a:r>
              <a:rPr dirty="0" sz="2800" spc="-12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Coincidence</a:t>
            </a:r>
            <a:r>
              <a:rPr dirty="0" sz="2800" spc="-105" i="1">
                <a:latin typeface="Arial"/>
                <a:cs typeface="Arial"/>
              </a:rPr>
              <a:t> </a:t>
            </a:r>
            <a:r>
              <a:rPr dirty="0" sz="2800" spc="-10">
                <a:latin typeface="Arial MT"/>
                <a:cs typeface="Arial MT"/>
              </a:rPr>
              <a:t>assumption:</a:t>
            </a:r>
            <a:endParaRPr sz="2800">
              <a:latin typeface="Arial MT"/>
              <a:cs typeface="Arial MT"/>
            </a:endParaRPr>
          </a:p>
          <a:p>
            <a:pPr lvl="2" marL="1155700" marR="5080" indent="-228600">
              <a:lnSpc>
                <a:spcPct val="100000"/>
              </a:lnSpc>
              <a:spcBef>
                <a:spcPts val="58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dirty="0" sz="2400" spc="-10">
                <a:latin typeface="Arial MT"/>
                <a:cs typeface="Arial MT"/>
              </a:rPr>
              <a:t>Zerocrossings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coincide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over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several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scales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physically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significant.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1739" y="858266"/>
            <a:ext cx="704786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25"/>
              <a:t> </a:t>
            </a:r>
            <a:r>
              <a:rPr dirty="0"/>
              <a:t>Space</a:t>
            </a:r>
            <a:r>
              <a:rPr dirty="0" spc="-125"/>
              <a:t> </a:t>
            </a:r>
            <a:r>
              <a:rPr dirty="0"/>
              <a:t>(Witkin,</a:t>
            </a:r>
            <a:r>
              <a:rPr dirty="0" spc="-125"/>
              <a:t> </a:t>
            </a:r>
            <a:r>
              <a:rPr dirty="0" spc="-10"/>
              <a:t>IJCAI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528800"/>
            <a:ext cx="145542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10" b="1">
                <a:solidFill>
                  <a:srgbClr val="33339A"/>
                </a:solidFill>
                <a:latin typeface="Arial"/>
                <a:cs typeface="Arial"/>
              </a:rPr>
              <a:t>1983)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2376475"/>
            <a:ext cx="7512050" cy="9645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Apply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whole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spectrum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scales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Plot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zerocrossings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scales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scale-</a:t>
            </a:r>
            <a:r>
              <a:rPr dirty="0" sz="2800" spc="-10">
                <a:latin typeface="Arial MT"/>
                <a:cs typeface="Arial MT"/>
              </a:rPr>
              <a:t>space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05"/>
              <a:t> </a:t>
            </a:r>
            <a:r>
              <a:rPr dirty="0" spc="-20"/>
              <a:t>Space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67221" y="3332226"/>
            <a:ext cx="3018790" cy="2618740"/>
            <a:chOff x="5967221" y="3332226"/>
            <a:chExt cx="3018790" cy="2618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9" y="3657600"/>
              <a:ext cx="2889504" cy="22928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67221" y="3332226"/>
              <a:ext cx="100330" cy="2597785"/>
            </a:xfrm>
            <a:custGeom>
              <a:avLst/>
              <a:gdLst/>
              <a:ahLst/>
              <a:cxnLst/>
              <a:rect l="l" t="t" r="r" b="b"/>
              <a:pathLst>
                <a:path w="100329" h="2597785">
                  <a:moveTo>
                    <a:pt x="99822" y="86106"/>
                  </a:moveTo>
                  <a:lnTo>
                    <a:pt x="98298" y="83820"/>
                  </a:lnTo>
                  <a:lnTo>
                    <a:pt x="49529" y="0"/>
                  </a:lnTo>
                  <a:lnTo>
                    <a:pt x="1524" y="83820"/>
                  </a:lnTo>
                  <a:lnTo>
                    <a:pt x="0" y="86106"/>
                  </a:lnTo>
                  <a:lnTo>
                    <a:pt x="762" y="88391"/>
                  </a:lnTo>
                  <a:lnTo>
                    <a:pt x="5333" y="91439"/>
                  </a:lnTo>
                  <a:lnTo>
                    <a:pt x="8381" y="90677"/>
                  </a:lnTo>
                  <a:lnTo>
                    <a:pt x="9143" y="88391"/>
                  </a:lnTo>
                  <a:lnTo>
                    <a:pt x="44958" y="27690"/>
                  </a:lnTo>
                  <a:lnTo>
                    <a:pt x="44958" y="9906"/>
                  </a:lnTo>
                  <a:lnTo>
                    <a:pt x="54863" y="9906"/>
                  </a:lnTo>
                  <a:lnTo>
                    <a:pt x="54863" y="27957"/>
                  </a:lnTo>
                  <a:lnTo>
                    <a:pt x="89915" y="88391"/>
                  </a:lnTo>
                  <a:lnTo>
                    <a:pt x="91439" y="90677"/>
                  </a:lnTo>
                  <a:lnTo>
                    <a:pt x="94487" y="91439"/>
                  </a:lnTo>
                  <a:lnTo>
                    <a:pt x="99060" y="88391"/>
                  </a:lnTo>
                  <a:lnTo>
                    <a:pt x="99822" y="86106"/>
                  </a:lnTo>
                  <a:close/>
                </a:path>
                <a:path w="100329" h="2597785">
                  <a:moveTo>
                    <a:pt x="54863" y="27957"/>
                  </a:moveTo>
                  <a:lnTo>
                    <a:pt x="54863" y="9906"/>
                  </a:lnTo>
                  <a:lnTo>
                    <a:pt x="44958" y="9906"/>
                  </a:lnTo>
                  <a:lnTo>
                    <a:pt x="44958" y="27690"/>
                  </a:lnTo>
                  <a:lnTo>
                    <a:pt x="45719" y="26398"/>
                  </a:lnTo>
                  <a:lnTo>
                    <a:pt x="45719" y="12191"/>
                  </a:lnTo>
                  <a:lnTo>
                    <a:pt x="54101" y="12191"/>
                  </a:lnTo>
                  <a:lnTo>
                    <a:pt x="54101" y="26643"/>
                  </a:lnTo>
                  <a:lnTo>
                    <a:pt x="54863" y="27957"/>
                  </a:lnTo>
                  <a:close/>
                </a:path>
                <a:path w="100329" h="2597785">
                  <a:moveTo>
                    <a:pt x="54864" y="2597658"/>
                  </a:moveTo>
                  <a:lnTo>
                    <a:pt x="54863" y="27957"/>
                  </a:lnTo>
                  <a:lnTo>
                    <a:pt x="49875" y="19356"/>
                  </a:lnTo>
                  <a:lnTo>
                    <a:pt x="44958" y="27690"/>
                  </a:lnTo>
                  <a:lnTo>
                    <a:pt x="44958" y="2597658"/>
                  </a:lnTo>
                  <a:lnTo>
                    <a:pt x="54864" y="2597658"/>
                  </a:lnTo>
                  <a:close/>
                </a:path>
                <a:path w="100329" h="2597785">
                  <a:moveTo>
                    <a:pt x="54101" y="12191"/>
                  </a:moveTo>
                  <a:lnTo>
                    <a:pt x="45719" y="12191"/>
                  </a:lnTo>
                  <a:lnTo>
                    <a:pt x="49875" y="19356"/>
                  </a:lnTo>
                  <a:lnTo>
                    <a:pt x="54101" y="12191"/>
                  </a:lnTo>
                  <a:close/>
                </a:path>
                <a:path w="100329" h="2597785">
                  <a:moveTo>
                    <a:pt x="49875" y="19356"/>
                  </a:moveTo>
                  <a:lnTo>
                    <a:pt x="45719" y="12191"/>
                  </a:lnTo>
                  <a:lnTo>
                    <a:pt x="45719" y="26398"/>
                  </a:lnTo>
                  <a:lnTo>
                    <a:pt x="49875" y="19356"/>
                  </a:lnTo>
                  <a:close/>
                </a:path>
                <a:path w="100329" h="2597785">
                  <a:moveTo>
                    <a:pt x="54101" y="26643"/>
                  </a:moveTo>
                  <a:lnTo>
                    <a:pt x="54101" y="12191"/>
                  </a:lnTo>
                  <a:lnTo>
                    <a:pt x="49875" y="19356"/>
                  </a:lnTo>
                  <a:lnTo>
                    <a:pt x="54101" y="266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176" y="3749040"/>
            <a:ext cx="2194559" cy="21945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8340" y="6508495"/>
            <a:ext cx="36309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Multiple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smooth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versions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of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signal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7540" y="6432303"/>
            <a:ext cx="3107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Zerocrossings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at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multiple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scale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50669" y="3352800"/>
            <a:ext cx="100330" cy="2597785"/>
          </a:xfrm>
          <a:custGeom>
            <a:avLst/>
            <a:gdLst/>
            <a:ahLst/>
            <a:cxnLst/>
            <a:rect l="l" t="t" r="r" b="b"/>
            <a:pathLst>
              <a:path w="100330" h="2597785">
                <a:moveTo>
                  <a:pt x="99822" y="86105"/>
                </a:moveTo>
                <a:lnTo>
                  <a:pt x="98298" y="83820"/>
                </a:lnTo>
                <a:lnTo>
                  <a:pt x="49530" y="0"/>
                </a:lnTo>
                <a:lnTo>
                  <a:pt x="1524" y="83820"/>
                </a:lnTo>
                <a:lnTo>
                  <a:pt x="0" y="86105"/>
                </a:lnTo>
                <a:lnTo>
                  <a:pt x="762" y="89153"/>
                </a:lnTo>
                <a:lnTo>
                  <a:pt x="3048" y="89915"/>
                </a:lnTo>
                <a:lnTo>
                  <a:pt x="5334" y="91439"/>
                </a:lnTo>
                <a:lnTo>
                  <a:pt x="8382" y="90677"/>
                </a:lnTo>
                <a:lnTo>
                  <a:pt x="9906" y="88391"/>
                </a:lnTo>
                <a:lnTo>
                  <a:pt x="44958" y="27957"/>
                </a:lnTo>
                <a:lnTo>
                  <a:pt x="44958" y="9906"/>
                </a:lnTo>
                <a:lnTo>
                  <a:pt x="54864" y="9906"/>
                </a:lnTo>
                <a:lnTo>
                  <a:pt x="54864" y="27957"/>
                </a:lnTo>
                <a:lnTo>
                  <a:pt x="89916" y="88391"/>
                </a:lnTo>
                <a:lnTo>
                  <a:pt x="91440" y="90677"/>
                </a:lnTo>
                <a:lnTo>
                  <a:pt x="94488" y="91439"/>
                </a:lnTo>
                <a:lnTo>
                  <a:pt x="96774" y="89915"/>
                </a:lnTo>
                <a:lnTo>
                  <a:pt x="99060" y="89153"/>
                </a:lnTo>
                <a:lnTo>
                  <a:pt x="99822" y="86105"/>
                </a:lnTo>
                <a:close/>
              </a:path>
              <a:path w="100330" h="2597785">
                <a:moveTo>
                  <a:pt x="54864" y="27957"/>
                </a:moveTo>
                <a:lnTo>
                  <a:pt x="54864" y="9906"/>
                </a:lnTo>
                <a:lnTo>
                  <a:pt x="44958" y="9906"/>
                </a:lnTo>
                <a:lnTo>
                  <a:pt x="44958" y="27957"/>
                </a:lnTo>
                <a:lnTo>
                  <a:pt x="45720" y="26643"/>
                </a:lnTo>
                <a:lnTo>
                  <a:pt x="45720" y="12191"/>
                </a:lnTo>
                <a:lnTo>
                  <a:pt x="54102" y="12191"/>
                </a:lnTo>
                <a:lnTo>
                  <a:pt x="54102" y="26643"/>
                </a:lnTo>
                <a:lnTo>
                  <a:pt x="54864" y="27957"/>
                </a:lnTo>
                <a:close/>
              </a:path>
              <a:path w="100330" h="2597785">
                <a:moveTo>
                  <a:pt x="54864" y="2597658"/>
                </a:moveTo>
                <a:lnTo>
                  <a:pt x="54864" y="27957"/>
                </a:lnTo>
                <a:lnTo>
                  <a:pt x="49911" y="19417"/>
                </a:lnTo>
                <a:lnTo>
                  <a:pt x="44958" y="27957"/>
                </a:lnTo>
                <a:lnTo>
                  <a:pt x="44958" y="2597658"/>
                </a:lnTo>
                <a:lnTo>
                  <a:pt x="54864" y="2597658"/>
                </a:lnTo>
                <a:close/>
              </a:path>
              <a:path w="100330" h="2597785">
                <a:moveTo>
                  <a:pt x="54102" y="12191"/>
                </a:moveTo>
                <a:lnTo>
                  <a:pt x="45720" y="12191"/>
                </a:lnTo>
                <a:lnTo>
                  <a:pt x="49911" y="19417"/>
                </a:lnTo>
                <a:lnTo>
                  <a:pt x="54102" y="12191"/>
                </a:lnTo>
                <a:close/>
              </a:path>
              <a:path w="100330" h="2597785">
                <a:moveTo>
                  <a:pt x="49911" y="19417"/>
                </a:moveTo>
                <a:lnTo>
                  <a:pt x="45720" y="12191"/>
                </a:lnTo>
                <a:lnTo>
                  <a:pt x="45720" y="26643"/>
                </a:lnTo>
                <a:lnTo>
                  <a:pt x="49911" y="19417"/>
                </a:lnTo>
                <a:close/>
              </a:path>
              <a:path w="100330" h="2597785">
                <a:moveTo>
                  <a:pt x="54102" y="26643"/>
                </a:moveTo>
                <a:lnTo>
                  <a:pt x="54102" y="12191"/>
                </a:lnTo>
                <a:lnTo>
                  <a:pt x="49911" y="19417"/>
                </a:lnTo>
                <a:lnTo>
                  <a:pt x="54102" y="266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69339" y="4767326"/>
            <a:ext cx="525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ahoma"/>
                <a:cs typeface="Tahoma"/>
              </a:rPr>
              <a:t>scale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5891" y="4748276"/>
            <a:ext cx="525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ahoma"/>
                <a:cs typeface="Tahoma"/>
              </a:rPr>
              <a:t>scale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05"/>
              <a:t> </a:t>
            </a:r>
            <a:r>
              <a:rPr dirty="0" spc="-20"/>
              <a:t>Space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3657600"/>
            <a:ext cx="2889504" cy="22928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9851" y="2965740"/>
            <a:ext cx="2890188" cy="291461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77338" y="6016244"/>
            <a:ext cx="12223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Scale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Space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77738" y="6092436"/>
            <a:ext cx="1304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Interval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30">
                <a:latin typeface="Tahoma"/>
                <a:cs typeface="Tahoma"/>
              </a:rPr>
              <a:t>Tree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21739" y="858266"/>
            <a:ext cx="704786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25"/>
              <a:t> </a:t>
            </a:r>
            <a:r>
              <a:rPr dirty="0"/>
              <a:t>Space</a:t>
            </a:r>
            <a:r>
              <a:rPr dirty="0" spc="-125"/>
              <a:t> </a:t>
            </a:r>
            <a:r>
              <a:rPr dirty="0"/>
              <a:t>(Witkin,</a:t>
            </a:r>
            <a:r>
              <a:rPr dirty="0" spc="-125"/>
              <a:t> </a:t>
            </a:r>
            <a:r>
              <a:rPr dirty="0" spc="-10"/>
              <a:t>IJCAI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1739" y="1528800"/>
            <a:ext cx="1455420" cy="695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10" b="1">
                <a:solidFill>
                  <a:srgbClr val="33339A"/>
                </a:solidFill>
                <a:latin typeface="Arial"/>
                <a:cs typeface="Arial"/>
              </a:rPr>
              <a:t>1983)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1739" y="2376475"/>
            <a:ext cx="7512050" cy="433832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Apply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whole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spectrum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scales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Plot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zerocrossings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scales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scale-</a:t>
            </a:r>
            <a:r>
              <a:rPr dirty="0" sz="2800" spc="-10">
                <a:latin typeface="Arial MT"/>
                <a:cs typeface="Arial MT"/>
              </a:rPr>
              <a:t>space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Interpret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scale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space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contours</a:t>
            </a:r>
            <a:endParaRPr sz="2800">
              <a:latin typeface="Arial MT"/>
              <a:cs typeface="Arial MT"/>
            </a:endParaRPr>
          </a:p>
          <a:p>
            <a:pPr lvl="1" marL="755650" marR="225425" indent="-285750">
              <a:lnSpc>
                <a:spcPts val="2590"/>
              </a:lnSpc>
              <a:spcBef>
                <a:spcPts val="62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Arial MT"/>
                <a:cs typeface="Arial MT"/>
              </a:rPr>
              <a:t>Contours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arches,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open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bottom,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closed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top</a:t>
            </a:r>
            <a:endParaRPr sz="24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254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Interval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  <a:p>
            <a:pPr lvl="2" marL="1155700" marR="429259" indent="-228600">
              <a:lnSpc>
                <a:spcPts val="2160"/>
              </a:lnSpc>
              <a:spcBef>
                <a:spcPts val="52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interval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corresponds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node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tree,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whose </a:t>
            </a:r>
            <a:r>
              <a:rPr dirty="0" sz="2000">
                <a:latin typeface="Arial MT"/>
                <a:cs typeface="Arial MT"/>
              </a:rPr>
              <a:t>parent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node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represents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larger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interval,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which </a:t>
            </a:r>
            <a:r>
              <a:rPr dirty="0" sz="2000">
                <a:latin typeface="Arial MT"/>
                <a:cs typeface="Arial MT"/>
              </a:rPr>
              <a:t>interval</a:t>
            </a:r>
            <a:r>
              <a:rPr dirty="0" sz="2000" spc="4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emerged,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whose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off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springs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represent </a:t>
            </a:r>
            <a:r>
              <a:rPr dirty="0" sz="2000">
                <a:latin typeface="Arial MT"/>
                <a:cs typeface="Arial MT"/>
              </a:rPr>
              <a:t>smaller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intervals.</a:t>
            </a:r>
            <a:endParaRPr sz="2000">
              <a:latin typeface="Arial MT"/>
              <a:cs typeface="Arial MT"/>
            </a:endParaRPr>
          </a:p>
          <a:p>
            <a:pPr lvl="2" marL="1155700" marR="776605" indent="-228600">
              <a:lnSpc>
                <a:spcPts val="2160"/>
              </a:lnSpc>
              <a:spcBef>
                <a:spcPts val="480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dirty="0" sz="2000">
                <a:latin typeface="Arial MT"/>
                <a:cs typeface="Arial MT"/>
              </a:rPr>
              <a:t>Stability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node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scale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range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which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interval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exits.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05"/>
              <a:t> </a:t>
            </a:r>
            <a:r>
              <a:rPr dirty="0" spc="-2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398704"/>
            <a:ext cx="7498715" cy="197866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Top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level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description</a:t>
            </a:r>
            <a:endParaRPr sz="32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Arial MT"/>
                <a:cs typeface="Arial MT"/>
              </a:rPr>
              <a:t>Iteratively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remove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nodes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tree, </a:t>
            </a:r>
            <a:r>
              <a:rPr dirty="0" sz="2800">
                <a:latin typeface="Arial MT"/>
                <a:cs typeface="Arial MT"/>
              </a:rPr>
              <a:t>splicing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nodes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less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stable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than </a:t>
            </a:r>
            <a:r>
              <a:rPr dirty="0" sz="2800">
                <a:latin typeface="Arial MT"/>
                <a:cs typeface="Arial MT"/>
              </a:rPr>
              <a:t>any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their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parents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off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springs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05"/>
              <a:t> </a:t>
            </a:r>
            <a:r>
              <a:rPr dirty="0" spc="-20"/>
              <a:t>Space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3358" y="3221735"/>
            <a:ext cx="3103582" cy="3541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5940" y="3612896"/>
            <a:ext cx="293560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A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top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level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description</a:t>
            </a:r>
            <a:r>
              <a:rPr dirty="0" sz="1800" spc="-2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of </a:t>
            </a:r>
            <a:r>
              <a:rPr dirty="0" sz="1800">
                <a:latin typeface="Tahoma"/>
                <a:cs typeface="Tahoma"/>
              </a:rPr>
              <a:t>several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signals</a:t>
            </a:r>
            <a:r>
              <a:rPr dirty="0" sz="1800" spc="-6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stability criterion.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527" y="2506104"/>
            <a:ext cx="236854" cy="44430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>
              <a:lnSpc>
                <a:spcPts val="1825"/>
              </a:lnSpc>
            </a:pP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Perceptual</a:t>
            </a:r>
            <a:r>
              <a:rPr dirty="0" sz="1600" spc="-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60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Sensory</a:t>
            </a:r>
            <a:r>
              <a:rPr dirty="0" sz="16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Augmented</a:t>
            </a:r>
            <a:r>
              <a:rPr dirty="0" sz="16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9486"/>
            <a:ext cx="381000" cy="68557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5682" y="3639168"/>
            <a:ext cx="252729" cy="33286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Recognition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Tutorial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93902" y="890269"/>
            <a:ext cx="5305425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Laplacian-of-Gaussian</a:t>
            </a:r>
            <a:r>
              <a:rPr dirty="0" sz="3200" spc="-25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 spc="-10">
                <a:solidFill>
                  <a:srgbClr val="00009A"/>
                </a:solidFill>
                <a:latin typeface="Trebuchet MS"/>
                <a:cs typeface="Trebuchet MS"/>
              </a:rPr>
              <a:t>(LoG)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502" y="1624076"/>
            <a:ext cx="25609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0"/>
              </a:spcBef>
              <a:buClr>
                <a:srgbClr val="00009A"/>
              </a:buClr>
              <a:buSzPct val="114583"/>
              <a:buFont typeface="Trebuchet MS"/>
              <a:buChar char="•"/>
              <a:tabLst>
                <a:tab pos="354330" algn="l"/>
              </a:tabLst>
            </a:pPr>
            <a:r>
              <a:rPr dirty="0" sz="2400" b="1">
                <a:latin typeface="Trebuchet MS"/>
                <a:cs typeface="Trebuchet MS"/>
              </a:rPr>
              <a:t>Interest</a:t>
            </a:r>
            <a:r>
              <a:rPr dirty="0" sz="2400" spc="-55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points: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4402" y="2062988"/>
            <a:ext cx="315658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rebuchet MS"/>
                <a:cs typeface="Trebuchet MS"/>
              </a:rPr>
              <a:t>Local</a:t>
            </a:r>
            <a:r>
              <a:rPr dirty="0" sz="2400" spc="-45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maxima</a:t>
            </a:r>
            <a:r>
              <a:rPr dirty="0" sz="2400" spc="-4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in</a:t>
            </a:r>
            <a:r>
              <a:rPr dirty="0" sz="2400" spc="-40" b="1">
                <a:latin typeface="Trebuchet MS"/>
                <a:cs typeface="Trebuchet MS"/>
              </a:rPr>
              <a:t> </a:t>
            </a:r>
            <a:r>
              <a:rPr dirty="0" sz="2400" spc="-10" b="1">
                <a:latin typeface="Trebuchet MS"/>
                <a:cs typeface="Trebuchet MS"/>
              </a:rPr>
              <a:t>scale </a:t>
            </a:r>
            <a:r>
              <a:rPr dirty="0" sz="2400" b="1">
                <a:latin typeface="Trebuchet MS"/>
                <a:cs typeface="Trebuchet MS"/>
              </a:rPr>
              <a:t>space</a:t>
            </a:r>
            <a:r>
              <a:rPr dirty="0" sz="2400" spc="-6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of</a:t>
            </a:r>
            <a:r>
              <a:rPr dirty="0" sz="2400" spc="-6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Laplacian-</a:t>
            </a:r>
            <a:r>
              <a:rPr dirty="0" sz="2400" spc="-25" b="1">
                <a:latin typeface="Trebuchet MS"/>
                <a:cs typeface="Trebuchet MS"/>
              </a:rPr>
              <a:t>of-</a:t>
            </a:r>
            <a:r>
              <a:rPr dirty="0" sz="2400" spc="-10" b="1">
                <a:latin typeface="Trebuchet MS"/>
                <a:cs typeface="Trebuchet MS"/>
              </a:rPr>
              <a:t>Gaussian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7182" y="703884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rebuchet MS"/>
                <a:cs typeface="Trebuchet MS"/>
              </a:rPr>
              <a:t>K.</a:t>
            </a:r>
            <a:r>
              <a:rPr dirty="0" sz="1200" spc="-45" b="1">
                <a:latin typeface="Trebuchet MS"/>
                <a:cs typeface="Trebuchet MS"/>
              </a:rPr>
              <a:t> </a:t>
            </a:r>
            <a:r>
              <a:rPr dirty="0" sz="1200" spc="-30" b="1">
                <a:latin typeface="Trebuchet MS"/>
                <a:cs typeface="Trebuchet MS"/>
              </a:rPr>
              <a:t>Grauman,</a:t>
            </a:r>
            <a:r>
              <a:rPr dirty="0" sz="1200" spc="-60" b="1">
                <a:latin typeface="Trebuchet MS"/>
                <a:cs typeface="Trebuchet MS"/>
              </a:rPr>
              <a:t> </a:t>
            </a:r>
            <a:r>
              <a:rPr dirty="0" sz="1200" b="1">
                <a:latin typeface="Trebuchet MS"/>
                <a:cs typeface="Trebuchet MS"/>
              </a:rPr>
              <a:t>B.</a:t>
            </a:r>
            <a:r>
              <a:rPr dirty="0" sz="1200" spc="-45" b="1">
                <a:latin typeface="Trebuchet MS"/>
                <a:cs typeface="Trebuchet MS"/>
              </a:rPr>
              <a:t> </a:t>
            </a:r>
            <a:r>
              <a:rPr dirty="0" sz="1200" spc="-20" b="1">
                <a:latin typeface="Trebuchet MS"/>
                <a:cs typeface="Trebuchet MS"/>
              </a:rPr>
              <a:t>Leibe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205" y="3390836"/>
            <a:ext cx="1684432" cy="144329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295138" y="1616202"/>
            <a:ext cx="1235710" cy="4930775"/>
            <a:chOff x="5295138" y="1616202"/>
            <a:chExt cx="1235710" cy="49307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3455" y="5589969"/>
              <a:ext cx="1226884" cy="9567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95138" y="3598926"/>
              <a:ext cx="1235202" cy="19499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95138" y="1616202"/>
              <a:ext cx="1235202" cy="195452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951998" y="3827182"/>
            <a:ext cx="169037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050" i="1">
                <a:latin typeface="Times New Roman"/>
                <a:cs typeface="Times New Roman"/>
              </a:rPr>
              <a:t>L</a:t>
            </a:r>
            <a:r>
              <a:rPr dirty="0" baseline="-23148" sz="1800" i="1">
                <a:latin typeface="Times New Roman"/>
                <a:cs typeface="Times New Roman"/>
              </a:rPr>
              <a:t>xx</a:t>
            </a:r>
            <a:r>
              <a:rPr dirty="0" baseline="-23148" sz="1800" spc="-75" i="1">
                <a:latin typeface="Times New Roman"/>
                <a:cs typeface="Times New Roman"/>
              </a:rPr>
              <a:t> </a:t>
            </a:r>
            <a:r>
              <a:rPr dirty="0" sz="2050" spc="-100">
                <a:latin typeface="Times New Roman"/>
                <a:cs typeface="Times New Roman"/>
              </a:rPr>
              <a:t>(</a:t>
            </a:r>
            <a:r>
              <a:rPr dirty="0" sz="2200" spc="-100">
                <a:latin typeface="Symbol"/>
                <a:cs typeface="Symbol"/>
              </a:rPr>
              <a:t></a:t>
            </a:r>
            <a:r>
              <a:rPr dirty="0" sz="2200" spc="-20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)</a:t>
            </a:r>
            <a:r>
              <a:rPr dirty="0" sz="2050" spc="-150">
                <a:latin typeface="Times New Roman"/>
                <a:cs typeface="Times New Roman"/>
              </a:rPr>
              <a:t> </a:t>
            </a:r>
            <a:r>
              <a:rPr dirty="0" sz="2050">
                <a:latin typeface="Symbol"/>
                <a:cs typeface="Symbol"/>
              </a:rPr>
              <a:t></a:t>
            </a:r>
            <a:r>
              <a:rPr dirty="0" sz="2050" spc="-40">
                <a:latin typeface="Times New Roman"/>
                <a:cs typeface="Times New Roman"/>
              </a:rPr>
              <a:t> </a:t>
            </a:r>
            <a:r>
              <a:rPr dirty="0" sz="2050" i="1">
                <a:latin typeface="Times New Roman"/>
                <a:cs typeface="Times New Roman"/>
              </a:rPr>
              <a:t>L</a:t>
            </a:r>
            <a:r>
              <a:rPr dirty="0" baseline="-23148" sz="1800" i="1">
                <a:latin typeface="Times New Roman"/>
                <a:cs typeface="Times New Roman"/>
              </a:rPr>
              <a:t>yy</a:t>
            </a:r>
            <a:r>
              <a:rPr dirty="0" baseline="-23148" sz="1800" spc="-15" i="1">
                <a:latin typeface="Times New Roman"/>
                <a:cs typeface="Times New Roman"/>
              </a:rPr>
              <a:t> </a:t>
            </a:r>
            <a:r>
              <a:rPr dirty="0" sz="2050" spc="-100">
                <a:latin typeface="Times New Roman"/>
                <a:cs typeface="Times New Roman"/>
              </a:rPr>
              <a:t>(</a:t>
            </a:r>
            <a:r>
              <a:rPr dirty="0" sz="2200" spc="-100">
                <a:latin typeface="Symbol"/>
                <a:cs typeface="Symbol"/>
              </a:rPr>
              <a:t></a:t>
            </a:r>
            <a:r>
              <a:rPr dirty="0" sz="2200" spc="-195">
                <a:latin typeface="Times New Roman"/>
                <a:cs typeface="Times New Roman"/>
              </a:rPr>
              <a:t> </a:t>
            </a:r>
            <a:r>
              <a:rPr dirty="0" sz="2050" spc="-5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68850" y="5908755"/>
            <a:ext cx="16383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50">
                <a:latin typeface="Symbol"/>
                <a:cs typeface="Symbol"/>
              </a:rPr>
              <a:t>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43441" y="4832811"/>
            <a:ext cx="2914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081" sz="2850" spc="-37">
                <a:latin typeface="Symbol"/>
                <a:cs typeface="Symbol"/>
              </a:rPr>
              <a:t></a:t>
            </a:r>
            <a:r>
              <a:rPr dirty="0" sz="1250" spc="-25">
                <a:latin typeface="Symbol"/>
                <a:cs typeface="Symbol"/>
              </a:rPr>
              <a:t>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0026" y="3873453"/>
            <a:ext cx="2914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081" sz="2850" spc="-37">
                <a:latin typeface="Symbol"/>
                <a:cs typeface="Symbol"/>
              </a:rPr>
              <a:t></a:t>
            </a:r>
            <a:r>
              <a:rPr dirty="0" sz="1250" spc="-25">
                <a:latin typeface="Symbol"/>
                <a:cs typeface="Symbol"/>
              </a:rPr>
              <a:t>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15078" y="2865327"/>
            <a:ext cx="2914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081" sz="2850" spc="-37">
                <a:latin typeface="Symbol"/>
                <a:cs typeface="Symbol"/>
              </a:rPr>
              <a:t></a:t>
            </a:r>
            <a:r>
              <a:rPr dirty="0" sz="1250" spc="-25">
                <a:latin typeface="Symbol"/>
                <a:cs typeface="Symbol"/>
              </a:rPr>
              <a:t>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51653" y="1892253"/>
            <a:ext cx="29146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081" sz="2850" spc="-37">
                <a:latin typeface="Symbol"/>
                <a:cs typeface="Symbol"/>
              </a:rPr>
              <a:t></a:t>
            </a:r>
            <a:r>
              <a:rPr dirty="0" sz="1250" spc="-25">
                <a:latin typeface="Symbol"/>
                <a:cs typeface="Symbol"/>
              </a:rPr>
              <a:t>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25824" y="4348733"/>
            <a:ext cx="801370" cy="1557020"/>
          </a:xfrm>
          <a:custGeom>
            <a:avLst/>
            <a:gdLst/>
            <a:ahLst/>
            <a:cxnLst/>
            <a:rect l="l" t="t" r="r" b="b"/>
            <a:pathLst>
              <a:path w="801370" h="1557020">
                <a:moveTo>
                  <a:pt x="764286" y="1556766"/>
                </a:moveTo>
                <a:lnTo>
                  <a:pt x="763524" y="1472184"/>
                </a:lnTo>
                <a:lnTo>
                  <a:pt x="735139" y="1486547"/>
                </a:lnTo>
                <a:lnTo>
                  <a:pt x="11430" y="72390"/>
                </a:lnTo>
                <a:lnTo>
                  <a:pt x="0" y="77724"/>
                </a:lnTo>
                <a:lnTo>
                  <a:pt x="723582" y="1492389"/>
                </a:lnTo>
                <a:lnTo>
                  <a:pt x="695706" y="1506474"/>
                </a:lnTo>
                <a:lnTo>
                  <a:pt x="740664" y="1539443"/>
                </a:lnTo>
                <a:lnTo>
                  <a:pt x="764286" y="1556766"/>
                </a:lnTo>
                <a:close/>
              </a:path>
              <a:path w="801370" h="1557020">
                <a:moveTo>
                  <a:pt x="800862" y="621792"/>
                </a:moveTo>
                <a:lnTo>
                  <a:pt x="773430" y="541020"/>
                </a:lnTo>
                <a:lnTo>
                  <a:pt x="751484" y="563270"/>
                </a:lnTo>
                <a:lnTo>
                  <a:pt x="188976" y="0"/>
                </a:lnTo>
                <a:lnTo>
                  <a:pt x="180594" y="9144"/>
                </a:lnTo>
                <a:lnTo>
                  <a:pt x="742416" y="572477"/>
                </a:lnTo>
                <a:lnTo>
                  <a:pt x="720090" y="595122"/>
                </a:lnTo>
                <a:lnTo>
                  <a:pt x="760476" y="608457"/>
                </a:lnTo>
                <a:lnTo>
                  <a:pt x="800862" y="6217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04182" y="4032503"/>
            <a:ext cx="258445" cy="76200"/>
          </a:xfrm>
          <a:custGeom>
            <a:avLst/>
            <a:gdLst/>
            <a:ahLst/>
            <a:cxnLst/>
            <a:rect l="l" t="t" r="r" b="b"/>
            <a:pathLst>
              <a:path w="258445" h="76200">
                <a:moveTo>
                  <a:pt x="195072" y="44196"/>
                </a:moveTo>
                <a:lnTo>
                  <a:pt x="195072" y="32004"/>
                </a:lnTo>
                <a:lnTo>
                  <a:pt x="0" y="32004"/>
                </a:lnTo>
                <a:lnTo>
                  <a:pt x="0" y="44196"/>
                </a:lnTo>
                <a:lnTo>
                  <a:pt x="195072" y="44196"/>
                </a:lnTo>
                <a:close/>
              </a:path>
              <a:path w="258445" h="76200">
                <a:moveTo>
                  <a:pt x="258317" y="38100"/>
                </a:moveTo>
                <a:lnTo>
                  <a:pt x="182117" y="0"/>
                </a:lnTo>
                <a:lnTo>
                  <a:pt x="182117" y="32004"/>
                </a:lnTo>
                <a:lnTo>
                  <a:pt x="195072" y="32004"/>
                </a:lnTo>
                <a:lnTo>
                  <a:pt x="195072" y="69723"/>
                </a:lnTo>
                <a:lnTo>
                  <a:pt x="258317" y="38100"/>
                </a:lnTo>
                <a:close/>
              </a:path>
              <a:path w="258445" h="76200">
                <a:moveTo>
                  <a:pt x="195072" y="69723"/>
                </a:moveTo>
                <a:lnTo>
                  <a:pt x="195072" y="44196"/>
                </a:lnTo>
                <a:lnTo>
                  <a:pt x="182117" y="44196"/>
                </a:lnTo>
                <a:lnTo>
                  <a:pt x="182117" y="76200"/>
                </a:lnTo>
                <a:lnTo>
                  <a:pt x="195072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925824" y="2197607"/>
            <a:ext cx="908685" cy="1593850"/>
          </a:xfrm>
          <a:custGeom>
            <a:avLst/>
            <a:gdLst/>
            <a:ahLst/>
            <a:cxnLst/>
            <a:rect l="l" t="t" r="r" b="b"/>
            <a:pathLst>
              <a:path w="908685" h="1593850">
                <a:moveTo>
                  <a:pt x="836676" y="973074"/>
                </a:moveTo>
                <a:lnTo>
                  <a:pt x="755142" y="997458"/>
                </a:lnTo>
                <a:lnTo>
                  <a:pt x="777100" y="1020699"/>
                </a:lnTo>
                <a:lnTo>
                  <a:pt x="180594" y="1584198"/>
                </a:lnTo>
                <a:lnTo>
                  <a:pt x="188976" y="1593342"/>
                </a:lnTo>
                <a:lnTo>
                  <a:pt x="785977" y="1030097"/>
                </a:lnTo>
                <a:lnTo>
                  <a:pt x="795528" y="1040193"/>
                </a:lnTo>
                <a:lnTo>
                  <a:pt x="807720" y="1053084"/>
                </a:lnTo>
                <a:lnTo>
                  <a:pt x="836676" y="973074"/>
                </a:lnTo>
                <a:close/>
              </a:path>
              <a:path w="908685" h="1593850">
                <a:moveTo>
                  <a:pt x="908304" y="0"/>
                </a:moveTo>
                <a:lnTo>
                  <a:pt x="836676" y="45720"/>
                </a:lnTo>
                <a:lnTo>
                  <a:pt x="863803" y="61810"/>
                </a:lnTo>
                <a:lnTo>
                  <a:pt x="0" y="1513332"/>
                </a:lnTo>
                <a:lnTo>
                  <a:pt x="10668" y="1520190"/>
                </a:lnTo>
                <a:lnTo>
                  <a:pt x="875258" y="68605"/>
                </a:lnTo>
                <a:lnTo>
                  <a:pt x="881634" y="72390"/>
                </a:lnTo>
                <a:lnTo>
                  <a:pt x="902208" y="84582"/>
                </a:lnTo>
                <a:lnTo>
                  <a:pt x="908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6589014" y="2081022"/>
            <a:ext cx="2907030" cy="2745740"/>
            <a:chOff x="6589014" y="2081022"/>
            <a:chExt cx="2907030" cy="274574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2710" y="2566884"/>
              <a:ext cx="2042826" cy="18280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589001" y="2081021"/>
              <a:ext cx="1090930" cy="2745740"/>
            </a:xfrm>
            <a:custGeom>
              <a:avLst/>
              <a:gdLst/>
              <a:ahLst/>
              <a:cxnLst/>
              <a:rect l="l" t="t" r="r" b="b"/>
              <a:pathLst>
                <a:path w="1090929" h="2745740">
                  <a:moveTo>
                    <a:pt x="945654" y="1340358"/>
                  </a:moveTo>
                  <a:lnTo>
                    <a:pt x="932700" y="1255776"/>
                  </a:lnTo>
                  <a:lnTo>
                    <a:pt x="906983" y="1274191"/>
                  </a:lnTo>
                  <a:lnTo>
                    <a:pt x="10668" y="0"/>
                  </a:lnTo>
                  <a:lnTo>
                    <a:pt x="0" y="6858"/>
                  </a:lnTo>
                  <a:lnTo>
                    <a:pt x="896327" y="1281823"/>
                  </a:lnTo>
                  <a:lnTo>
                    <a:pt x="870978" y="1299972"/>
                  </a:lnTo>
                  <a:lnTo>
                    <a:pt x="914412" y="1323467"/>
                  </a:lnTo>
                  <a:lnTo>
                    <a:pt x="945654" y="1340358"/>
                  </a:lnTo>
                  <a:close/>
                </a:path>
                <a:path w="1090929" h="2745740">
                  <a:moveTo>
                    <a:pt x="982230" y="2745486"/>
                  </a:moveTo>
                  <a:lnTo>
                    <a:pt x="947178" y="2667762"/>
                  </a:lnTo>
                  <a:lnTo>
                    <a:pt x="927125" y="2692273"/>
                  </a:lnTo>
                  <a:lnTo>
                    <a:pt x="8394" y="1943862"/>
                  </a:lnTo>
                  <a:lnTo>
                    <a:pt x="12" y="1953768"/>
                  </a:lnTo>
                  <a:lnTo>
                    <a:pt x="918908" y="2702318"/>
                  </a:lnTo>
                  <a:lnTo>
                    <a:pt x="899172" y="2726436"/>
                  </a:lnTo>
                  <a:lnTo>
                    <a:pt x="937272" y="2735186"/>
                  </a:lnTo>
                  <a:lnTo>
                    <a:pt x="982230" y="2745486"/>
                  </a:lnTo>
                  <a:close/>
                </a:path>
                <a:path w="1090929" h="2745740">
                  <a:moveTo>
                    <a:pt x="1090434" y="2132838"/>
                  </a:moveTo>
                  <a:lnTo>
                    <a:pt x="1063002" y="2052066"/>
                  </a:lnTo>
                  <a:lnTo>
                    <a:pt x="1040358" y="2074392"/>
                  </a:lnTo>
                  <a:lnTo>
                    <a:pt x="9144" y="1043940"/>
                  </a:lnTo>
                  <a:lnTo>
                    <a:pt x="0" y="1053084"/>
                  </a:lnTo>
                  <a:lnTo>
                    <a:pt x="1031532" y="2083104"/>
                  </a:lnTo>
                  <a:lnTo>
                    <a:pt x="1008900" y="2105406"/>
                  </a:lnTo>
                  <a:lnTo>
                    <a:pt x="1049286" y="2118995"/>
                  </a:lnTo>
                  <a:lnTo>
                    <a:pt x="1090434" y="21328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7608823" y="5493511"/>
            <a:ext cx="127952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>
                <a:latin typeface="Symbol"/>
                <a:cs typeface="Symbol"/>
              </a:rPr>
              <a:t>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rebuchet MS"/>
                <a:cs typeface="Trebuchet MS"/>
              </a:rPr>
              <a:t>List</a:t>
            </a:r>
            <a:r>
              <a:rPr dirty="0" sz="2000" spc="-15" b="1">
                <a:latin typeface="Trebuchet MS"/>
                <a:cs typeface="Trebuchet MS"/>
              </a:rPr>
              <a:t> </a:t>
            </a:r>
            <a:r>
              <a:rPr dirty="0" sz="2000" spc="-25" b="1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  <a:p>
            <a:pPr marL="316865">
              <a:lnSpc>
                <a:spcPct val="100000"/>
              </a:lnSpc>
            </a:pPr>
            <a:r>
              <a:rPr dirty="0" sz="2000" b="1" i="1">
                <a:latin typeface="Trebuchet MS"/>
                <a:cs typeface="Trebuchet MS"/>
              </a:rPr>
              <a:t>(x,</a:t>
            </a:r>
            <a:r>
              <a:rPr dirty="0" sz="2000" spc="-60" b="1" i="1">
                <a:latin typeface="Trebuchet MS"/>
                <a:cs typeface="Trebuchet MS"/>
              </a:rPr>
              <a:t> </a:t>
            </a:r>
            <a:r>
              <a:rPr dirty="0" sz="2000" spc="-50" b="1" i="1">
                <a:latin typeface="Trebuchet MS"/>
                <a:cs typeface="Trebuchet MS"/>
              </a:rPr>
              <a:t>y,</a:t>
            </a:r>
            <a:r>
              <a:rPr dirty="0" sz="2000" spc="-70" b="1" i="1">
                <a:latin typeface="Trebuchet MS"/>
                <a:cs typeface="Trebuchet MS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σ</a:t>
            </a:r>
            <a:r>
              <a:rPr dirty="0" sz="2000" spc="-25" b="1" i="1">
                <a:latin typeface="Trebuchet MS"/>
                <a:cs typeface="Trebuchet MS"/>
              </a:rPr>
              <a:t>)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2367" y="5382620"/>
            <a:ext cx="1580428" cy="12225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527" y="2506104"/>
            <a:ext cx="236854" cy="44430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>
              <a:lnSpc>
                <a:spcPts val="1825"/>
              </a:lnSpc>
            </a:pP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Perceptual</a:t>
            </a:r>
            <a:r>
              <a:rPr dirty="0" sz="1600" spc="-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1600" spc="-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Sensory</a:t>
            </a:r>
            <a:r>
              <a:rPr dirty="0" sz="16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FFFFFF"/>
                </a:solidFill>
                <a:latin typeface="Trebuchet MS"/>
                <a:cs typeface="Trebuchet MS"/>
              </a:rPr>
              <a:t>Augmented</a:t>
            </a:r>
            <a:r>
              <a:rPr dirty="0" sz="1600" spc="-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Trebuchet MS"/>
                <a:cs typeface="Trebuchet MS"/>
              </a:rPr>
              <a:t>Computing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8382" y="3651868"/>
            <a:ext cx="227329" cy="33032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>
              <a:lnSpc>
                <a:spcPts val="177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Recognition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Tutorial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9486"/>
            <a:ext cx="381000" cy="68557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5682" y="3639168"/>
            <a:ext cx="252729" cy="33286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Object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Recognition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Tutorial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993902" y="890269"/>
            <a:ext cx="7006590" cy="5130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What</a:t>
            </a:r>
            <a:r>
              <a:rPr dirty="0" sz="3200" spc="-65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Is</a:t>
            </a:r>
            <a:r>
              <a:rPr dirty="0" sz="3200" spc="-75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A</a:t>
            </a:r>
            <a:r>
              <a:rPr dirty="0" sz="3200" spc="-65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Useful</a:t>
            </a:r>
            <a:r>
              <a:rPr dirty="0" sz="3200" spc="-60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>
                <a:solidFill>
                  <a:srgbClr val="00009A"/>
                </a:solidFill>
                <a:latin typeface="Trebuchet MS"/>
                <a:cs typeface="Trebuchet MS"/>
              </a:rPr>
              <a:t>Signature</a:t>
            </a:r>
            <a:r>
              <a:rPr dirty="0" sz="3200" spc="-65">
                <a:solidFill>
                  <a:srgbClr val="00009A"/>
                </a:solidFill>
                <a:latin typeface="Trebuchet MS"/>
                <a:cs typeface="Trebuchet MS"/>
              </a:rPr>
              <a:t> </a:t>
            </a:r>
            <a:r>
              <a:rPr dirty="0" sz="3200" spc="-10">
                <a:solidFill>
                  <a:srgbClr val="00009A"/>
                </a:solidFill>
                <a:latin typeface="Trebuchet MS"/>
                <a:cs typeface="Trebuchet MS"/>
              </a:rPr>
              <a:t>Function?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902" y="1826005"/>
            <a:ext cx="612965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00"/>
              </a:spcBef>
              <a:buClr>
                <a:srgbClr val="00009A"/>
              </a:buClr>
              <a:buSzPct val="114583"/>
              <a:buFont typeface="Trebuchet MS"/>
              <a:buChar char="•"/>
              <a:tabLst>
                <a:tab pos="354330" algn="l"/>
              </a:tabLst>
            </a:pPr>
            <a:r>
              <a:rPr dirty="0" sz="2400" spc="-10" b="1">
                <a:latin typeface="Trebuchet MS"/>
                <a:cs typeface="Trebuchet MS"/>
              </a:rPr>
              <a:t>Laplacian-of-</a:t>
            </a:r>
            <a:r>
              <a:rPr dirty="0" sz="2400" b="1">
                <a:latin typeface="Trebuchet MS"/>
                <a:cs typeface="Trebuchet MS"/>
              </a:rPr>
              <a:t>Gaussian</a:t>
            </a:r>
            <a:r>
              <a:rPr dirty="0" sz="2400" spc="-3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=</a:t>
            </a:r>
            <a:r>
              <a:rPr dirty="0" sz="2400" spc="-30" b="1">
                <a:latin typeface="Trebuchet MS"/>
                <a:cs typeface="Trebuchet MS"/>
              </a:rPr>
              <a:t> </a:t>
            </a:r>
            <a:r>
              <a:rPr dirty="0" sz="2400" b="1">
                <a:latin typeface="Trebuchet MS"/>
                <a:cs typeface="Trebuchet MS"/>
              </a:rPr>
              <a:t>“blob” </a:t>
            </a:r>
            <a:r>
              <a:rPr dirty="0" sz="2400" spc="-10" b="1">
                <a:latin typeface="Trebuchet MS"/>
                <a:cs typeface="Trebuchet MS"/>
              </a:rPr>
              <a:t>detector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7182" y="7038847"/>
            <a:ext cx="1487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K.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Grauman,</a:t>
            </a:r>
            <a:r>
              <a:rPr dirty="0" sz="1200" spc="-4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B.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Leibe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9294" y="2352050"/>
            <a:ext cx="1579418" cy="218300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9681" y="4721454"/>
            <a:ext cx="711116" cy="54913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06630" y="5511034"/>
            <a:ext cx="428547" cy="3290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562350" y="2316479"/>
            <a:ext cx="3840479" cy="3694429"/>
            <a:chOff x="3562350" y="2316479"/>
            <a:chExt cx="3840479" cy="3694429"/>
          </a:xfrm>
        </p:grpSpPr>
        <p:sp>
          <p:nvSpPr>
            <p:cNvPr id="13" name="object 13"/>
            <p:cNvSpPr/>
            <p:nvPr/>
          </p:nvSpPr>
          <p:spPr>
            <a:xfrm>
              <a:off x="3562350" y="2316479"/>
              <a:ext cx="3840479" cy="3694429"/>
            </a:xfrm>
            <a:custGeom>
              <a:avLst/>
              <a:gdLst/>
              <a:ahLst/>
              <a:cxnLst/>
              <a:rect l="l" t="t" r="r" b="b"/>
              <a:pathLst>
                <a:path w="3840479" h="3694429">
                  <a:moveTo>
                    <a:pt x="3840480" y="3681222"/>
                  </a:moveTo>
                  <a:lnTo>
                    <a:pt x="13017" y="3681222"/>
                  </a:lnTo>
                  <a:lnTo>
                    <a:pt x="48628" y="76644"/>
                  </a:lnTo>
                  <a:lnTo>
                    <a:pt x="48768" y="76644"/>
                  </a:lnTo>
                  <a:lnTo>
                    <a:pt x="80772" y="76962"/>
                  </a:lnTo>
                  <a:lnTo>
                    <a:pt x="43434" y="0"/>
                  </a:lnTo>
                  <a:lnTo>
                    <a:pt x="4572" y="76200"/>
                  </a:lnTo>
                  <a:lnTo>
                    <a:pt x="36436" y="76530"/>
                  </a:lnTo>
                  <a:lnTo>
                    <a:pt x="0" y="3688080"/>
                  </a:lnTo>
                  <a:lnTo>
                    <a:pt x="6858" y="3688080"/>
                  </a:lnTo>
                  <a:lnTo>
                    <a:pt x="6858" y="3694176"/>
                  </a:lnTo>
                  <a:lnTo>
                    <a:pt x="3840480" y="3694176"/>
                  </a:lnTo>
                  <a:lnTo>
                    <a:pt x="3840480" y="36812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3690" y="2497768"/>
              <a:ext cx="573851" cy="33258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0792" y="2497768"/>
              <a:ext cx="573851" cy="33258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32623" y="2497768"/>
              <a:ext cx="574602" cy="3325849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67555" y="6393370"/>
            <a:ext cx="171450" cy="17016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093208" y="6248437"/>
            <a:ext cx="533400" cy="531495"/>
          </a:xfrm>
          <a:custGeom>
            <a:avLst/>
            <a:gdLst/>
            <a:ahLst/>
            <a:cxnLst/>
            <a:rect l="l" t="t" r="r" b="b"/>
            <a:pathLst>
              <a:path w="533400" h="531495">
                <a:moveTo>
                  <a:pt x="533400" y="265150"/>
                </a:moveTo>
                <a:lnTo>
                  <a:pt x="522935" y="194449"/>
                </a:lnTo>
                <a:lnTo>
                  <a:pt x="509092" y="155524"/>
                </a:lnTo>
                <a:lnTo>
                  <a:pt x="490829" y="120929"/>
                </a:lnTo>
                <a:lnTo>
                  <a:pt x="443191" y="64731"/>
                </a:lnTo>
                <a:lnTo>
                  <a:pt x="384340" y="25946"/>
                </a:lnTo>
                <a:lnTo>
                  <a:pt x="384162" y="25844"/>
                </a:lnTo>
                <a:lnTo>
                  <a:pt x="351688" y="12903"/>
                </a:lnTo>
                <a:lnTo>
                  <a:pt x="317919" y="4279"/>
                </a:lnTo>
                <a:lnTo>
                  <a:pt x="283387" y="0"/>
                </a:lnTo>
                <a:lnTo>
                  <a:pt x="248602" y="38"/>
                </a:lnTo>
                <a:lnTo>
                  <a:pt x="180378" y="13093"/>
                </a:lnTo>
                <a:lnTo>
                  <a:pt x="117398" y="43472"/>
                </a:lnTo>
                <a:lnTo>
                  <a:pt x="63830" y="91173"/>
                </a:lnTo>
                <a:lnTo>
                  <a:pt x="23812" y="156171"/>
                </a:lnTo>
                <a:lnTo>
                  <a:pt x="10198" y="195160"/>
                </a:lnTo>
                <a:lnTo>
                  <a:pt x="1524" y="238480"/>
                </a:lnTo>
                <a:lnTo>
                  <a:pt x="0" y="252196"/>
                </a:lnTo>
                <a:lnTo>
                  <a:pt x="0" y="279628"/>
                </a:lnTo>
                <a:lnTo>
                  <a:pt x="3048" y="306298"/>
                </a:lnTo>
                <a:lnTo>
                  <a:pt x="13970" y="348195"/>
                </a:lnTo>
                <a:lnTo>
                  <a:pt x="25146" y="375539"/>
                </a:lnTo>
                <a:lnTo>
                  <a:pt x="29286" y="385686"/>
                </a:lnTo>
                <a:lnTo>
                  <a:pt x="48514" y="418795"/>
                </a:lnTo>
                <a:lnTo>
                  <a:pt x="96862" y="472046"/>
                </a:lnTo>
                <a:lnTo>
                  <a:pt x="155244" y="508228"/>
                </a:lnTo>
                <a:lnTo>
                  <a:pt x="219913" y="527646"/>
                </a:lnTo>
                <a:lnTo>
                  <a:pt x="253415" y="531152"/>
                </a:lnTo>
                <a:lnTo>
                  <a:pt x="283387" y="530644"/>
                </a:lnTo>
                <a:lnTo>
                  <a:pt x="353009" y="517321"/>
                </a:lnTo>
                <a:lnTo>
                  <a:pt x="413931" y="488175"/>
                </a:lnTo>
                <a:lnTo>
                  <a:pt x="466077" y="443407"/>
                </a:lnTo>
                <a:lnTo>
                  <a:pt x="505701" y="383336"/>
                </a:lnTo>
                <a:lnTo>
                  <a:pt x="519633" y="347649"/>
                </a:lnTo>
                <a:lnTo>
                  <a:pt x="529018" y="308241"/>
                </a:lnTo>
                <a:lnTo>
                  <a:pt x="533400" y="265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68034" y="6064758"/>
            <a:ext cx="828675" cy="828675"/>
          </a:xfrm>
          <a:custGeom>
            <a:avLst/>
            <a:gdLst/>
            <a:ahLst/>
            <a:cxnLst/>
            <a:rect l="l" t="t" r="r" b="b"/>
            <a:pathLst>
              <a:path w="828675" h="828675">
                <a:moveTo>
                  <a:pt x="828294" y="392430"/>
                </a:moveTo>
                <a:lnTo>
                  <a:pt x="823722" y="350520"/>
                </a:lnTo>
                <a:lnTo>
                  <a:pt x="813231" y="302907"/>
                </a:lnTo>
                <a:lnTo>
                  <a:pt x="797725" y="257683"/>
                </a:lnTo>
                <a:lnTo>
                  <a:pt x="777506" y="215138"/>
                </a:lnTo>
                <a:lnTo>
                  <a:pt x="752881" y="175552"/>
                </a:lnTo>
                <a:lnTo>
                  <a:pt x="724154" y="139217"/>
                </a:lnTo>
                <a:lnTo>
                  <a:pt x="691667" y="106426"/>
                </a:lnTo>
                <a:lnTo>
                  <a:pt x="655726" y="77457"/>
                </a:lnTo>
                <a:lnTo>
                  <a:pt x="616635" y="52603"/>
                </a:lnTo>
                <a:lnTo>
                  <a:pt x="574700" y="32143"/>
                </a:lnTo>
                <a:lnTo>
                  <a:pt x="530263" y="16357"/>
                </a:lnTo>
                <a:lnTo>
                  <a:pt x="483628" y="5549"/>
                </a:lnTo>
                <a:lnTo>
                  <a:pt x="435864" y="88"/>
                </a:lnTo>
                <a:lnTo>
                  <a:pt x="413766" y="0"/>
                </a:lnTo>
                <a:lnTo>
                  <a:pt x="392430" y="762"/>
                </a:lnTo>
                <a:lnTo>
                  <a:pt x="344525" y="5689"/>
                </a:lnTo>
                <a:lnTo>
                  <a:pt x="298196" y="16179"/>
                </a:lnTo>
                <a:lnTo>
                  <a:pt x="253847" y="31915"/>
                </a:lnTo>
                <a:lnTo>
                  <a:pt x="211810" y="52527"/>
                </a:lnTo>
                <a:lnTo>
                  <a:pt x="172504" y="77685"/>
                </a:lnTo>
                <a:lnTo>
                  <a:pt x="136258" y="107010"/>
                </a:lnTo>
                <a:lnTo>
                  <a:pt x="103479" y="140182"/>
                </a:lnTo>
                <a:lnTo>
                  <a:pt x="74536" y="176834"/>
                </a:lnTo>
                <a:lnTo>
                  <a:pt x="49796" y="216623"/>
                </a:lnTo>
                <a:lnTo>
                  <a:pt x="29641" y="259194"/>
                </a:lnTo>
                <a:lnTo>
                  <a:pt x="14439" y="304190"/>
                </a:lnTo>
                <a:lnTo>
                  <a:pt x="4572" y="351282"/>
                </a:lnTo>
                <a:lnTo>
                  <a:pt x="0" y="393192"/>
                </a:lnTo>
                <a:lnTo>
                  <a:pt x="0" y="435864"/>
                </a:lnTo>
                <a:lnTo>
                  <a:pt x="4572" y="477774"/>
                </a:lnTo>
                <a:lnTo>
                  <a:pt x="8382" y="498348"/>
                </a:lnTo>
                <a:lnTo>
                  <a:pt x="20586" y="543610"/>
                </a:lnTo>
                <a:lnTo>
                  <a:pt x="25146" y="555244"/>
                </a:lnTo>
                <a:lnTo>
                  <a:pt x="37350" y="586409"/>
                </a:lnTo>
                <a:lnTo>
                  <a:pt x="58356" y="626516"/>
                </a:lnTo>
                <a:lnTo>
                  <a:pt x="83324" y="663702"/>
                </a:lnTo>
                <a:lnTo>
                  <a:pt x="111925" y="697725"/>
                </a:lnTo>
                <a:lnTo>
                  <a:pt x="143891" y="728357"/>
                </a:lnTo>
                <a:lnTo>
                  <a:pt x="178879" y="755370"/>
                </a:lnTo>
                <a:lnTo>
                  <a:pt x="216623" y="778522"/>
                </a:lnTo>
                <a:lnTo>
                  <a:pt x="256806" y="797585"/>
                </a:lnTo>
                <a:lnTo>
                  <a:pt x="299110" y="812330"/>
                </a:lnTo>
                <a:lnTo>
                  <a:pt x="343268" y="822515"/>
                </a:lnTo>
                <a:lnTo>
                  <a:pt x="388950" y="827925"/>
                </a:lnTo>
                <a:lnTo>
                  <a:pt x="434340" y="828294"/>
                </a:lnTo>
                <a:lnTo>
                  <a:pt x="435864" y="828294"/>
                </a:lnTo>
                <a:lnTo>
                  <a:pt x="456438" y="826008"/>
                </a:lnTo>
                <a:lnTo>
                  <a:pt x="477774" y="823722"/>
                </a:lnTo>
                <a:lnTo>
                  <a:pt x="525360" y="813295"/>
                </a:lnTo>
                <a:lnTo>
                  <a:pt x="570572" y="797801"/>
                </a:lnTo>
                <a:lnTo>
                  <a:pt x="613117" y="777582"/>
                </a:lnTo>
                <a:lnTo>
                  <a:pt x="652703" y="752944"/>
                </a:lnTo>
                <a:lnTo>
                  <a:pt x="689038" y="724217"/>
                </a:lnTo>
                <a:lnTo>
                  <a:pt x="721855" y="691692"/>
                </a:lnTo>
                <a:lnTo>
                  <a:pt x="750836" y="655726"/>
                </a:lnTo>
                <a:lnTo>
                  <a:pt x="775703" y="616610"/>
                </a:lnTo>
                <a:lnTo>
                  <a:pt x="796175" y="574675"/>
                </a:lnTo>
                <a:lnTo>
                  <a:pt x="811961" y="530225"/>
                </a:lnTo>
                <a:lnTo>
                  <a:pt x="822756" y="483603"/>
                </a:lnTo>
                <a:lnTo>
                  <a:pt x="828294" y="435102"/>
                </a:lnTo>
                <a:lnTo>
                  <a:pt x="828294" y="392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276350"/>
            <a:ext cx="7772400" cy="38100"/>
          </a:xfrm>
          <a:custGeom>
            <a:avLst/>
            <a:gdLst/>
            <a:ahLst/>
            <a:cxnLst/>
            <a:rect l="l" t="t" r="r" b="b"/>
            <a:pathLst>
              <a:path w="7772400" h="38100">
                <a:moveTo>
                  <a:pt x="7772400" y="38100"/>
                </a:moveTo>
                <a:lnTo>
                  <a:pt x="7772400" y="0"/>
                </a:lnTo>
                <a:lnTo>
                  <a:pt x="0" y="0"/>
                </a:lnTo>
                <a:lnTo>
                  <a:pt x="0" y="38100"/>
                </a:lnTo>
                <a:lnTo>
                  <a:pt x="77724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</a:pP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Scale-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space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blob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detector:</a:t>
            </a:r>
            <a:r>
              <a:rPr dirty="0" sz="34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209800"/>
            <a:ext cx="5181600" cy="37421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1140" y="7053326"/>
            <a:ext cx="17189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Source: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Lana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Lazebnik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276350"/>
            <a:ext cx="7772400" cy="38100"/>
          </a:xfrm>
          <a:custGeom>
            <a:avLst/>
            <a:gdLst/>
            <a:ahLst/>
            <a:cxnLst/>
            <a:rect l="l" t="t" r="r" b="b"/>
            <a:pathLst>
              <a:path w="7772400" h="38100">
                <a:moveTo>
                  <a:pt x="7772400" y="38100"/>
                </a:moveTo>
                <a:lnTo>
                  <a:pt x="7772400" y="0"/>
                </a:lnTo>
                <a:lnTo>
                  <a:pt x="0" y="0"/>
                </a:lnTo>
                <a:lnTo>
                  <a:pt x="0" y="38100"/>
                </a:lnTo>
                <a:lnTo>
                  <a:pt x="77724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</a:pP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Scale-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space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blob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detector:</a:t>
            </a:r>
            <a:r>
              <a:rPr dirty="0" sz="34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1827" y="1671828"/>
            <a:ext cx="6864857" cy="51480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1140" y="7053326"/>
            <a:ext cx="17189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Source: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Lana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Lazebnik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276350"/>
            <a:ext cx="7772400" cy="38100"/>
          </a:xfrm>
          <a:custGeom>
            <a:avLst/>
            <a:gdLst/>
            <a:ahLst/>
            <a:cxnLst/>
            <a:rect l="l" t="t" r="r" b="b"/>
            <a:pathLst>
              <a:path w="7772400" h="38100">
                <a:moveTo>
                  <a:pt x="7772400" y="38100"/>
                </a:moveTo>
                <a:lnTo>
                  <a:pt x="7772400" y="0"/>
                </a:lnTo>
                <a:lnTo>
                  <a:pt x="0" y="0"/>
                </a:lnTo>
                <a:lnTo>
                  <a:pt x="0" y="38100"/>
                </a:lnTo>
                <a:lnTo>
                  <a:pt x="77724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</a:pP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Scale-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space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blob</a:t>
            </a:r>
            <a:r>
              <a:rPr dirty="0" sz="3400" spc="-30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b="0">
                <a:solidFill>
                  <a:srgbClr val="000000"/>
                </a:solidFill>
                <a:latin typeface="Arial MT"/>
                <a:cs typeface="Arial MT"/>
              </a:rPr>
              <a:t>detector:</a:t>
            </a:r>
            <a:r>
              <a:rPr dirty="0" sz="3400" spc="-15" b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 sz="3400" spc="-10" b="0">
                <a:solidFill>
                  <a:srgbClr val="000000"/>
                </a:solidFill>
                <a:latin typeface="Arial MT"/>
                <a:cs typeface="Arial MT"/>
              </a:rPr>
              <a:t>Example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127" y="2228850"/>
            <a:ext cx="5148071" cy="37147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51140" y="7053326"/>
            <a:ext cx="17189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latin typeface="Arial MT"/>
                <a:cs typeface="Arial MT"/>
              </a:rPr>
              <a:t>Source:</a:t>
            </a:r>
            <a:r>
              <a:rPr dirty="0" sz="1300" spc="-45">
                <a:latin typeface="Arial MT"/>
                <a:cs typeface="Arial MT"/>
              </a:rPr>
              <a:t> </a:t>
            </a:r>
            <a:r>
              <a:rPr dirty="0" sz="1300">
                <a:latin typeface="Arial MT"/>
                <a:cs typeface="Arial MT"/>
              </a:rPr>
              <a:t>Lana</a:t>
            </a:r>
            <a:r>
              <a:rPr dirty="0" sz="1300" spc="-40">
                <a:latin typeface="Arial MT"/>
                <a:cs typeface="Arial MT"/>
              </a:rPr>
              <a:t> </a:t>
            </a:r>
            <a:r>
              <a:rPr dirty="0" sz="1300" spc="-10">
                <a:latin typeface="Arial MT"/>
                <a:cs typeface="Arial MT"/>
              </a:rPr>
              <a:t>Lazebnik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Building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/>
              <a:t>Scale</a:t>
            </a:r>
            <a:r>
              <a:rPr dirty="0" spc="-100"/>
              <a:t> </a:t>
            </a:r>
            <a:r>
              <a:rPr dirty="0" spc="-1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99614"/>
            <a:ext cx="7528559" cy="156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1014094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scales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examined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identify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scale-</a:t>
            </a:r>
            <a:r>
              <a:rPr dirty="0" sz="2400">
                <a:latin typeface="Arial MT"/>
                <a:cs typeface="Arial MT"/>
              </a:rPr>
              <a:t>invariant</a:t>
            </a:r>
            <a:r>
              <a:rPr dirty="0" sz="2400" spc="-114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features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efficient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compute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Laplacian </a:t>
            </a:r>
            <a:r>
              <a:rPr dirty="0" sz="2400">
                <a:latin typeface="Arial MT"/>
                <a:cs typeface="Arial MT"/>
              </a:rPr>
              <a:t>Pyramid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(Difference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Gaussian)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(Burt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&amp;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Adelson,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1983)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8635" y="4442143"/>
            <a:ext cx="5269605" cy="20693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485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Approximation</a:t>
            </a:r>
            <a:r>
              <a:rPr dirty="0" spc="-130"/>
              <a:t> </a:t>
            </a:r>
            <a:r>
              <a:rPr dirty="0"/>
              <a:t>of</a:t>
            </a:r>
            <a:r>
              <a:rPr dirty="0" spc="-130"/>
              <a:t> </a:t>
            </a:r>
            <a:r>
              <a:rPr dirty="0"/>
              <a:t>LoG</a:t>
            </a:r>
            <a:r>
              <a:rPr dirty="0" spc="-125"/>
              <a:t> </a:t>
            </a:r>
            <a:r>
              <a:rPr dirty="0" spc="-25"/>
              <a:t>by </a:t>
            </a:r>
            <a:r>
              <a:rPr dirty="0"/>
              <a:t>Difference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 spc="-10"/>
              <a:t>Gaussians</a:t>
            </a:r>
          </a:p>
        </p:txBody>
      </p:sp>
      <p:sp>
        <p:nvSpPr>
          <p:cNvPr id="3" name="object 3"/>
          <p:cNvSpPr/>
          <p:nvPr/>
        </p:nvSpPr>
        <p:spPr>
          <a:xfrm>
            <a:off x="2510027" y="3089910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 h="0">
                <a:moveTo>
                  <a:pt x="0" y="0"/>
                </a:moveTo>
                <a:lnTo>
                  <a:pt x="576072" y="0"/>
                </a:lnTo>
              </a:path>
            </a:pathLst>
          </a:custGeom>
          <a:ln w="179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494809" y="2729336"/>
            <a:ext cx="1986280" cy="572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35130" sz="5100">
                <a:latin typeface="Symbol"/>
                <a:cs typeface="Symbol"/>
              </a:rPr>
              <a:t></a:t>
            </a:r>
            <a:r>
              <a:rPr dirty="0" baseline="35130" sz="5100" i="1">
                <a:latin typeface="Times New Roman"/>
                <a:cs typeface="Times New Roman"/>
              </a:rPr>
              <a:t>G</a:t>
            </a:r>
            <a:r>
              <a:rPr dirty="0" baseline="35130" sz="5100" spc="397" i="1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</a:t>
            </a:r>
            <a:r>
              <a:rPr dirty="0" sz="3400" spc="-335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Symbol"/>
                <a:cs typeface="Symbol"/>
              </a:rPr>
              <a:t></a:t>
            </a:r>
            <a:r>
              <a:rPr dirty="0" sz="3400" spc="-20">
                <a:latin typeface="Symbol"/>
                <a:cs typeface="Symbol"/>
              </a:rPr>
              <a:t></a:t>
            </a:r>
            <a:r>
              <a:rPr dirty="0" baseline="42735" sz="2925" spc="-30">
                <a:latin typeface="Times New Roman"/>
                <a:cs typeface="Times New Roman"/>
              </a:rPr>
              <a:t>2</a:t>
            </a:r>
            <a:r>
              <a:rPr dirty="0" sz="3400" spc="-20" i="1">
                <a:latin typeface="Times New Roman"/>
                <a:cs typeface="Times New Roman"/>
              </a:rPr>
              <a:t>G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0209" y="3066149"/>
            <a:ext cx="494030" cy="572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400" spc="-55">
                <a:latin typeface="Symbol"/>
                <a:cs typeface="Symbol"/>
              </a:rPr>
              <a:t></a:t>
            </a:r>
            <a:r>
              <a:rPr dirty="0" sz="3600" spc="-55">
                <a:latin typeface="Symbol"/>
                <a:cs typeface="Symbol"/>
              </a:rPr>
              <a:t>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0260" y="4461509"/>
            <a:ext cx="576580" cy="0"/>
          </a:xfrm>
          <a:custGeom>
            <a:avLst/>
            <a:gdLst/>
            <a:ahLst/>
            <a:cxnLst/>
            <a:rect l="l" t="t" r="r" b="b"/>
            <a:pathLst>
              <a:path w="576580" h="0">
                <a:moveTo>
                  <a:pt x="0" y="0"/>
                </a:moveTo>
                <a:lnTo>
                  <a:pt x="576072" y="0"/>
                </a:lnTo>
              </a:path>
            </a:pathLst>
          </a:custGeom>
          <a:ln w="179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13532" y="4461509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741" y="0"/>
                </a:lnTo>
              </a:path>
            </a:pathLst>
          </a:custGeom>
          <a:ln w="179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69940" y="3003296"/>
            <a:ext cx="1452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Heat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Equation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830995" y="6484035"/>
            <a:ext cx="525145" cy="455930"/>
            <a:chOff x="8830995" y="6484035"/>
            <a:chExt cx="525145" cy="455930"/>
          </a:xfrm>
        </p:grpSpPr>
        <p:sp>
          <p:nvSpPr>
            <p:cNvPr id="10" name="object 10"/>
            <p:cNvSpPr/>
            <p:nvPr/>
          </p:nvSpPr>
          <p:spPr>
            <a:xfrm>
              <a:off x="8839962" y="6768845"/>
              <a:ext cx="55244" cy="32384"/>
            </a:xfrm>
            <a:custGeom>
              <a:avLst/>
              <a:gdLst/>
              <a:ahLst/>
              <a:cxnLst/>
              <a:rect l="l" t="t" r="r" b="b"/>
              <a:pathLst>
                <a:path w="55245" h="32384">
                  <a:moveTo>
                    <a:pt x="0" y="32003"/>
                  </a:moveTo>
                  <a:lnTo>
                    <a:pt x="54864" y="0"/>
                  </a:lnTo>
                </a:path>
              </a:pathLst>
            </a:custGeom>
            <a:ln w="179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894826" y="6777989"/>
              <a:ext cx="80010" cy="144145"/>
            </a:xfrm>
            <a:custGeom>
              <a:avLst/>
              <a:gdLst/>
              <a:ahLst/>
              <a:cxnLst/>
              <a:rect l="l" t="t" r="r" b="b"/>
              <a:pathLst>
                <a:path w="80009" h="144145">
                  <a:moveTo>
                    <a:pt x="0" y="0"/>
                  </a:moveTo>
                  <a:lnTo>
                    <a:pt x="80010" y="144018"/>
                  </a:lnTo>
                </a:path>
              </a:pathLst>
            </a:custGeom>
            <a:ln w="35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983218" y="6493001"/>
              <a:ext cx="363855" cy="429259"/>
            </a:xfrm>
            <a:custGeom>
              <a:avLst/>
              <a:gdLst/>
              <a:ahLst/>
              <a:cxnLst/>
              <a:rect l="l" t="t" r="r" b="b"/>
              <a:pathLst>
                <a:path w="363854" h="429259">
                  <a:moveTo>
                    <a:pt x="0" y="429005"/>
                  </a:moveTo>
                  <a:lnTo>
                    <a:pt x="105155" y="0"/>
                  </a:lnTo>
                  <a:lnTo>
                    <a:pt x="363473" y="0"/>
                  </a:lnTo>
                </a:path>
              </a:pathLst>
            </a:custGeom>
            <a:ln w="179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09585" y="3767335"/>
            <a:ext cx="8760460" cy="324040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algn="ctr" marR="2160270">
              <a:lnSpc>
                <a:spcPct val="100000"/>
              </a:lnSpc>
              <a:spcBef>
                <a:spcPts val="575"/>
              </a:spcBef>
            </a:pPr>
            <a:r>
              <a:rPr dirty="0" baseline="-33179" sz="5400" spc="-37">
                <a:latin typeface="Symbol"/>
                <a:cs typeface="Symbol"/>
              </a:rPr>
              <a:t></a:t>
            </a:r>
            <a:r>
              <a:rPr dirty="0" baseline="-35130" sz="5100" spc="-37">
                <a:latin typeface="Symbol"/>
                <a:cs typeface="Symbol"/>
              </a:rPr>
              <a:t></a:t>
            </a:r>
            <a:r>
              <a:rPr dirty="0" baseline="-17094" sz="2925" spc="-37">
                <a:latin typeface="Times New Roman"/>
                <a:cs typeface="Times New Roman"/>
              </a:rPr>
              <a:t>2</a:t>
            </a:r>
            <a:r>
              <a:rPr dirty="0" baseline="-35130" sz="5100" spc="-37" i="1">
                <a:latin typeface="Times New Roman"/>
                <a:cs typeface="Times New Roman"/>
              </a:rPr>
              <a:t>G</a:t>
            </a:r>
            <a:r>
              <a:rPr dirty="0" baseline="-35130" sz="5100" i="1">
                <a:latin typeface="Times New Roman"/>
                <a:cs typeface="Times New Roman"/>
              </a:rPr>
              <a:t> </a:t>
            </a:r>
            <a:r>
              <a:rPr dirty="0" baseline="-35130" sz="5100">
                <a:latin typeface="Symbol"/>
                <a:cs typeface="Symbol"/>
              </a:rPr>
              <a:t></a:t>
            </a:r>
            <a:r>
              <a:rPr dirty="0" baseline="-35130" sz="5100" spc="217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</a:t>
            </a:r>
            <a:r>
              <a:rPr dirty="0" sz="3400" i="1">
                <a:latin typeface="Times New Roman"/>
                <a:cs typeface="Times New Roman"/>
              </a:rPr>
              <a:t>G</a:t>
            </a:r>
            <a:r>
              <a:rPr dirty="0" sz="3400" spc="300" i="1">
                <a:latin typeface="Times New Roman"/>
                <a:cs typeface="Times New Roman"/>
              </a:rPr>
              <a:t> </a:t>
            </a:r>
            <a:r>
              <a:rPr dirty="0" baseline="-35130" sz="5100">
                <a:latin typeface="Symbol"/>
                <a:cs typeface="Symbol"/>
              </a:rPr>
              <a:t></a:t>
            </a:r>
            <a:r>
              <a:rPr dirty="0" baseline="-35130" sz="5100" spc="142">
                <a:latin typeface="Times New Roman"/>
                <a:cs typeface="Times New Roman"/>
              </a:rPr>
              <a:t> </a:t>
            </a:r>
            <a:r>
              <a:rPr dirty="0" sz="3400" spc="90" i="1">
                <a:latin typeface="Times New Roman"/>
                <a:cs typeface="Times New Roman"/>
              </a:rPr>
              <a:t>G</a:t>
            </a:r>
            <a:r>
              <a:rPr dirty="0" sz="3400" spc="90">
                <a:latin typeface="Times New Roman"/>
                <a:cs typeface="Times New Roman"/>
              </a:rPr>
              <a:t>(</a:t>
            </a:r>
            <a:r>
              <a:rPr dirty="0" sz="3400" spc="90" i="1">
                <a:latin typeface="Times New Roman"/>
                <a:cs typeface="Times New Roman"/>
              </a:rPr>
              <a:t>x</a:t>
            </a:r>
            <a:r>
              <a:rPr dirty="0" sz="3400" spc="90">
                <a:latin typeface="Times New Roman"/>
                <a:cs typeface="Times New Roman"/>
              </a:rPr>
              <a:t>,</a:t>
            </a:r>
            <a:r>
              <a:rPr dirty="0" sz="3400" spc="-114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y</a:t>
            </a:r>
            <a:r>
              <a:rPr dirty="0" sz="3400">
                <a:latin typeface="Times New Roman"/>
                <a:cs typeface="Times New Roman"/>
              </a:rPr>
              <a:t>,</a:t>
            </a:r>
            <a:r>
              <a:rPr dirty="0" sz="3400" spc="-430">
                <a:latin typeface="Times New Roman"/>
                <a:cs typeface="Times New Roman"/>
              </a:rPr>
              <a:t> </a:t>
            </a:r>
            <a:r>
              <a:rPr dirty="0" sz="3400" spc="-95" i="1">
                <a:latin typeface="Times New Roman"/>
                <a:cs typeface="Times New Roman"/>
              </a:rPr>
              <a:t>k</a:t>
            </a:r>
            <a:r>
              <a:rPr dirty="0" sz="3600" spc="-95">
                <a:latin typeface="Symbol"/>
                <a:cs typeface="Symbol"/>
              </a:rPr>
              <a:t></a:t>
            </a:r>
            <a:r>
              <a:rPr dirty="0" sz="3600" spc="-360">
                <a:latin typeface="Times New Roman"/>
                <a:cs typeface="Times New Roman"/>
              </a:rPr>
              <a:t> </a:t>
            </a:r>
            <a:r>
              <a:rPr dirty="0" sz="3400" spc="-20">
                <a:latin typeface="Times New Roman"/>
                <a:cs typeface="Times New Roman"/>
              </a:rPr>
              <a:t>)</a:t>
            </a:r>
            <a:r>
              <a:rPr dirty="0" sz="3400" spc="-285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</a:t>
            </a:r>
            <a:r>
              <a:rPr dirty="0" sz="3400" spc="-390">
                <a:latin typeface="Times New Roman"/>
                <a:cs typeface="Times New Roman"/>
              </a:rPr>
              <a:t> </a:t>
            </a:r>
            <a:r>
              <a:rPr dirty="0" sz="3400" spc="90" i="1">
                <a:latin typeface="Times New Roman"/>
                <a:cs typeface="Times New Roman"/>
              </a:rPr>
              <a:t>G</a:t>
            </a:r>
            <a:r>
              <a:rPr dirty="0" sz="3400" spc="90">
                <a:latin typeface="Times New Roman"/>
                <a:cs typeface="Times New Roman"/>
              </a:rPr>
              <a:t>(</a:t>
            </a:r>
            <a:r>
              <a:rPr dirty="0" sz="3400" spc="90" i="1">
                <a:latin typeface="Times New Roman"/>
                <a:cs typeface="Times New Roman"/>
              </a:rPr>
              <a:t>x</a:t>
            </a:r>
            <a:r>
              <a:rPr dirty="0" sz="3400" spc="90">
                <a:latin typeface="Times New Roman"/>
                <a:cs typeface="Times New Roman"/>
              </a:rPr>
              <a:t>,</a:t>
            </a:r>
            <a:r>
              <a:rPr dirty="0" sz="3400" spc="-130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y</a:t>
            </a:r>
            <a:r>
              <a:rPr dirty="0" sz="3400">
                <a:latin typeface="Times New Roman"/>
                <a:cs typeface="Times New Roman"/>
              </a:rPr>
              <a:t>,</a:t>
            </a:r>
            <a:r>
              <a:rPr dirty="0" sz="3600">
                <a:latin typeface="Symbol"/>
                <a:cs typeface="Symbol"/>
              </a:rPr>
              <a:t></a:t>
            </a:r>
            <a:r>
              <a:rPr dirty="0" sz="3600" spc="-360">
                <a:latin typeface="Times New Roman"/>
                <a:cs typeface="Times New Roman"/>
              </a:rPr>
              <a:t> </a:t>
            </a:r>
            <a:r>
              <a:rPr dirty="0" sz="3400" spc="-50">
                <a:latin typeface="Times New Roman"/>
                <a:cs typeface="Times New Roman"/>
              </a:rPr>
              <a:t>)</a:t>
            </a:r>
            <a:endParaRPr sz="3400">
              <a:latin typeface="Times New Roman"/>
              <a:cs typeface="Times New Roman"/>
            </a:endParaRPr>
          </a:p>
          <a:p>
            <a:pPr algn="ctr" marR="2206625">
              <a:lnSpc>
                <a:spcPct val="100000"/>
              </a:lnSpc>
              <a:spcBef>
                <a:spcPts val="475"/>
              </a:spcBef>
              <a:tabLst>
                <a:tab pos="2437765" algn="l"/>
              </a:tabLst>
            </a:pPr>
            <a:r>
              <a:rPr dirty="0" sz="3400" spc="-25">
                <a:latin typeface="Symbol"/>
                <a:cs typeface="Symbol"/>
              </a:rPr>
              <a:t></a:t>
            </a:r>
            <a:r>
              <a:rPr dirty="0" sz="3600" spc="-25">
                <a:latin typeface="Symbol"/>
                <a:cs typeface="Symbol"/>
              </a:rPr>
              <a:t></a:t>
            </a:r>
            <a:r>
              <a:rPr dirty="0" sz="3600">
                <a:latin typeface="Times New Roman"/>
                <a:cs typeface="Times New Roman"/>
              </a:rPr>
              <a:t>	</a:t>
            </a:r>
            <a:r>
              <a:rPr dirty="0" sz="3400" i="1">
                <a:latin typeface="Times New Roman"/>
                <a:cs typeface="Times New Roman"/>
              </a:rPr>
              <a:t>k</a:t>
            </a:r>
            <a:r>
              <a:rPr dirty="0" sz="3600">
                <a:latin typeface="Symbol"/>
                <a:cs typeface="Symbol"/>
              </a:rPr>
              <a:t></a:t>
            </a:r>
            <a:r>
              <a:rPr dirty="0" sz="3600" spc="-5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</a:t>
            </a:r>
            <a:r>
              <a:rPr dirty="0" sz="3400" spc="-545">
                <a:latin typeface="Times New Roman"/>
                <a:cs typeface="Times New Roman"/>
              </a:rPr>
              <a:t> </a:t>
            </a:r>
            <a:r>
              <a:rPr dirty="0" sz="3600" spc="-50">
                <a:latin typeface="Symbol"/>
                <a:cs typeface="Symbol"/>
              </a:rPr>
              <a:t></a:t>
            </a:r>
            <a:endParaRPr sz="36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3400">
              <a:latin typeface="Symbol"/>
              <a:cs typeface="Symbol"/>
            </a:endParaRPr>
          </a:p>
          <a:p>
            <a:pPr marL="248920">
              <a:lnSpc>
                <a:spcPct val="100000"/>
              </a:lnSpc>
              <a:spcBef>
                <a:spcPts val="5"/>
              </a:spcBef>
            </a:pPr>
            <a:r>
              <a:rPr dirty="0" sz="3400" spc="90" i="1">
                <a:latin typeface="Times New Roman"/>
                <a:cs typeface="Times New Roman"/>
              </a:rPr>
              <a:t>G</a:t>
            </a:r>
            <a:r>
              <a:rPr dirty="0" sz="3400" spc="90">
                <a:latin typeface="Times New Roman"/>
                <a:cs typeface="Times New Roman"/>
              </a:rPr>
              <a:t>(</a:t>
            </a:r>
            <a:r>
              <a:rPr dirty="0" sz="3400" spc="90" i="1">
                <a:latin typeface="Times New Roman"/>
                <a:cs typeface="Times New Roman"/>
              </a:rPr>
              <a:t>x</a:t>
            </a:r>
            <a:r>
              <a:rPr dirty="0" sz="3400" spc="90">
                <a:latin typeface="Times New Roman"/>
                <a:cs typeface="Times New Roman"/>
              </a:rPr>
              <a:t>,</a:t>
            </a:r>
            <a:r>
              <a:rPr dirty="0" sz="3400" spc="-90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y</a:t>
            </a:r>
            <a:r>
              <a:rPr dirty="0" sz="3400">
                <a:latin typeface="Times New Roman"/>
                <a:cs typeface="Times New Roman"/>
              </a:rPr>
              <a:t>,</a:t>
            </a:r>
            <a:r>
              <a:rPr dirty="0" sz="3400" spc="-409">
                <a:latin typeface="Times New Roman"/>
                <a:cs typeface="Times New Roman"/>
              </a:rPr>
              <a:t> </a:t>
            </a:r>
            <a:r>
              <a:rPr dirty="0" sz="3400" spc="-95" i="1">
                <a:latin typeface="Times New Roman"/>
                <a:cs typeface="Times New Roman"/>
              </a:rPr>
              <a:t>k</a:t>
            </a:r>
            <a:r>
              <a:rPr dirty="0" sz="3600" spc="-95">
                <a:latin typeface="Symbol"/>
                <a:cs typeface="Symbol"/>
              </a:rPr>
              <a:t></a:t>
            </a:r>
            <a:r>
              <a:rPr dirty="0" sz="3600" spc="-340">
                <a:latin typeface="Times New Roman"/>
                <a:cs typeface="Times New Roman"/>
              </a:rPr>
              <a:t> </a:t>
            </a:r>
            <a:r>
              <a:rPr dirty="0" sz="3400" spc="-20">
                <a:latin typeface="Times New Roman"/>
                <a:cs typeface="Times New Roman"/>
              </a:rPr>
              <a:t>)</a:t>
            </a:r>
            <a:r>
              <a:rPr dirty="0" sz="3400" spc="-260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</a:t>
            </a:r>
            <a:r>
              <a:rPr dirty="0" sz="3400" spc="-375">
                <a:latin typeface="Times New Roman"/>
                <a:cs typeface="Times New Roman"/>
              </a:rPr>
              <a:t> </a:t>
            </a:r>
            <a:r>
              <a:rPr dirty="0" sz="3400" spc="90" i="1">
                <a:latin typeface="Times New Roman"/>
                <a:cs typeface="Times New Roman"/>
              </a:rPr>
              <a:t>G</a:t>
            </a:r>
            <a:r>
              <a:rPr dirty="0" sz="3400" spc="90">
                <a:latin typeface="Times New Roman"/>
                <a:cs typeface="Times New Roman"/>
              </a:rPr>
              <a:t>(</a:t>
            </a:r>
            <a:r>
              <a:rPr dirty="0" sz="3400" spc="90" i="1">
                <a:latin typeface="Times New Roman"/>
                <a:cs typeface="Times New Roman"/>
              </a:rPr>
              <a:t>x</a:t>
            </a:r>
            <a:r>
              <a:rPr dirty="0" sz="3400" spc="90">
                <a:latin typeface="Times New Roman"/>
                <a:cs typeface="Times New Roman"/>
              </a:rPr>
              <a:t>,</a:t>
            </a:r>
            <a:r>
              <a:rPr dirty="0" sz="3400" spc="-90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y</a:t>
            </a:r>
            <a:r>
              <a:rPr dirty="0" sz="3400">
                <a:latin typeface="Times New Roman"/>
                <a:cs typeface="Times New Roman"/>
              </a:rPr>
              <a:t>,</a:t>
            </a:r>
            <a:r>
              <a:rPr dirty="0" sz="3600">
                <a:latin typeface="Symbol"/>
                <a:cs typeface="Symbol"/>
              </a:rPr>
              <a:t></a:t>
            </a:r>
            <a:r>
              <a:rPr dirty="0" sz="3600" spc="-340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)</a:t>
            </a:r>
            <a:r>
              <a:rPr dirty="0" sz="3400" spc="-40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</a:t>
            </a:r>
            <a:r>
              <a:rPr dirty="0" sz="3400" spc="-95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(</a:t>
            </a:r>
            <a:r>
              <a:rPr dirty="0" sz="3400" i="1">
                <a:latin typeface="Times New Roman"/>
                <a:cs typeface="Times New Roman"/>
              </a:rPr>
              <a:t>k</a:t>
            </a:r>
            <a:r>
              <a:rPr dirty="0" sz="3400" spc="-5" i="1">
                <a:latin typeface="Times New Roman"/>
                <a:cs typeface="Times New Roman"/>
              </a:rPr>
              <a:t> </a:t>
            </a:r>
            <a:r>
              <a:rPr dirty="0" sz="3400" spc="-105">
                <a:latin typeface="Symbol"/>
                <a:cs typeface="Symbol"/>
              </a:rPr>
              <a:t></a:t>
            </a:r>
            <a:r>
              <a:rPr dirty="0" sz="3400" spc="-105">
                <a:latin typeface="Times New Roman"/>
                <a:cs typeface="Times New Roman"/>
              </a:rPr>
              <a:t>1)</a:t>
            </a:r>
            <a:r>
              <a:rPr dirty="0" sz="3600" spc="-105">
                <a:latin typeface="Symbol"/>
                <a:cs typeface="Symbol"/>
              </a:rPr>
              <a:t></a:t>
            </a:r>
            <a:r>
              <a:rPr dirty="0" sz="3600" spc="-204">
                <a:latin typeface="Times New Roman"/>
                <a:cs typeface="Times New Roman"/>
              </a:rPr>
              <a:t> </a:t>
            </a:r>
            <a:r>
              <a:rPr dirty="0" baseline="42735" sz="2925" spc="-30">
                <a:latin typeface="Times New Roman"/>
                <a:cs typeface="Times New Roman"/>
              </a:rPr>
              <a:t>2</a:t>
            </a:r>
            <a:r>
              <a:rPr dirty="0" sz="3400" spc="-20">
                <a:latin typeface="Symbol"/>
                <a:cs typeface="Symbol"/>
              </a:rPr>
              <a:t></a:t>
            </a:r>
            <a:r>
              <a:rPr dirty="0" baseline="42735" sz="2925" spc="-30">
                <a:latin typeface="Times New Roman"/>
                <a:cs typeface="Times New Roman"/>
              </a:rPr>
              <a:t>2</a:t>
            </a:r>
            <a:r>
              <a:rPr dirty="0" sz="3400" spc="-20" i="1">
                <a:latin typeface="Times New Roman"/>
                <a:cs typeface="Times New Roman"/>
              </a:rPr>
              <a:t>G</a:t>
            </a:r>
            <a:endParaRPr sz="3400">
              <a:latin typeface="Times New Roman"/>
              <a:cs typeface="Times New Roman"/>
            </a:endParaRPr>
          </a:p>
          <a:p>
            <a:pPr marL="3334385">
              <a:lnSpc>
                <a:spcPct val="100000"/>
              </a:lnSpc>
              <a:spcBef>
                <a:spcPts val="2005"/>
              </a:spcBef>
              <a:tabLst>
                <a:tab pos="8505825" algn="l"/>
              </a:tabLst>
            </a:pPr>
            <a:r>
              <a:rPr dirty="0" sz="3400" spc="-20">
                <a:latin typeface="Times New Roman"/>
                <a:cs typeface="Times New Roman"/>
              </a:rPr>
              <a:t>Typical</a:t>
            </a:r>
            <a:r>
              <a:rPr dirty="0" sz="3400" spc="-245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values:</a:t>
            </a:r>
            <a:r>
              <a:rPr dirty="0" sz="3550">
                <a:latin typeface="Symbol"/>
                <a:cs typeface="Symbol"/>
              </a:rPr>
              <a:t></a:t>
            </a:r>
            <a:r>
              <a:rPr dirty="0" sz="3550" spc="450">
                <a:latin typeface="Times New Roman"/>
                <a:cs typeface="Times New Roman"/>
              </a:rPr>
              <a:t> </a:t>
            </a:r>
            <a:r>
              <a:rPr dirty="0" sz="3400">
                <a:latin typeface="Symbol"/>
                <a:cs typeface="Symbol"/>
              </a:rPr>
              <a:t></a:t>
            </a:r>
            <a:r>
              <a:rPr dirty="0" sz="3400" spc="-425">
                <a:latin typeface="Times New Roman"/>
                <a:cs typeface="Times New Roman"/>
              </a:rPr>
              <a:t> </a:t>
            </a:r>
            <a:r>
              <a:rPr dirty="0" sz="3400">
                <a:latin typeface="Times New Roman"/>
                <a:cs typeface="Times New Roman"/>
              </a:rPr>
              <a:t>1.6;</a:t>
            </a:r>
            <a:r>
              <a:rPr dirty="0" sz="3400" spc="640">
                <a:latin typeface="Times New Roman"/>
                <a:cs typeface="Times New Roman"/>
              </a:rPr>
              <a:t> </a:t>
            </a:r>
            <a:r>
              <a:rPr dirty="0" sz="3400" i="1">
                <a:latin typeface="Times New Roman"/>
                <a:cs typeface="Times New Roman"/>
              </a:rPr>
              <a:t>k</a:t>
            </a:r>
            <a:r>
              <a:rPr dirty="0" sz="3400" spc="220" i="1">
                <a:latin typeface="Times New Roman"/>
                <a:cs typeface="Times New Roman"/>
              </a:rPr>
              <a:t> </a:t>
            </a:r>
            <a:r>
              <a:rPr dirty="0" sz="3400" spc="-50">
                <a:latin typeface="Symbol"/>
                <a:cs typeface="Symbol"/>
              </a:rPr>
              <a:t></a:t>
            </a:r>
            <a:r>
              <a:rPr dirty="0" sz="3400">
                <a:latin typeface="Times New Roman"/>
                <a:cs typeface="Times New Roman"/>
              </a:rPr>
              <a:t>	</a:t>
            </a:r>
            <a:r>
              <a:rPr dirty="0" sz="3400" spc="-50">
                <a:latin typeface="Times New Roman"/>
                <a:cs typeface="Times New Roman"/>
              </a:rPr>
              <a:t>2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Building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/>
              <a:t>Scale</a:t>
            </a:r>
            <a:r>
              <a:rPr dirty="0" spc="-100"/>
              <a:t> </a:t>
            </a:r>
            <a:r>
              <a:rPr dirty="0" spc="-10"/>
              <a:t>Space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35515" y="2659519"/>
            <a:ext cx="7019925" cy="4568825"/>
            <a:chOff x="735515" y="2659519"/>
            <a:chExt cx="7019925" cy="45688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515" y="2672541"/>
              <a:ext cx="6201864" cy="45553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15861" y="2666237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 h="0">
                  <a:moveTo>
                    <a:pt x="0" y="0"/>
                  </a:moveTo>
                  <a:lnTo>
                    <a:pt x="1239012" y="0"/>
                  </a:lnTo>
                </a:path>
              </a:pathLst>
            </a:custGeom>
            <a:ln w="134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99870" y="2160142"/>
            <a:ext cx="1242060" cy="9213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39370">
              <a:lnSpc>
                <a:spcPct val="100000"/>
              </a:lnSpc>
              <a:spcBef>
                <a:spcPts val="470"/>
              </a:spcBef>
            </a:pPr>
            <a:r>
              <a:rPr dirty="0" sz="2550" spc="-5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2550" spc="-85">
                <a:latin typeface="Times New Roman"/>
                <a:cs typeface="Times New Roman"/>
              </a:rPr>
              <a:t>2</a:t>
            </a:r>
            <a:r>
              <a:rPr dirty="0" sz="2650" spc="-85">
                <a:latin typeface="Symbol"/>
                <a:cs typeface="Symbol"/>
              </a:rPr>
              <a:t></a:t>
            </a:r>
            <a:r>
              <a:rPr dirty="0" sz="2650" spc="-40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(</a:t>
            </a:r>
            <a:r>
              <a:rPr dirty="0" sz="2550" spc="-215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k</a:t>
            </a:r>
            <a:r>
              <a:rPr dirty="0" sz="2650">
                <a:latin typeface="Symbol"/>
                <a:cs typeface="Symbol"/>
              </a:rPr>
              <a:t>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550" spc="-25">
                <a:latin typeface="Times New Roman"/>
                <a:cs typeface="Times New Roman"/>
              </a:rPr>
              <a:t>)</a:t>
            </a:r>
            <a:r>
              <a:rPr dirty="0" baseline="44061" sz="2175" spc="-37">
                <a:latin typeface="Times New Roman"/>
                <a:cs typeface="Times New Roman"/>
              </a:rPr>
              <a:t>2</a:t>
            </a:r>
            <a:endParaRPr baseline="44061" sz="21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7066" y="2266441"/>
            <a:ext cx="1708150" cy="413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5054" sz="3825" i="1">
                <a:latin typeface="Times New Roman"/>
                <a:cs typeface="Times New Roman"/>
              </a:rPr>
              <a:t>e</a:t>
            </a:r>
            <a:r>
              <a:rPr dirty="0" sz="1450">
                <a:latin typeface="Symbol"/>
                <a:cs typeface="Symbol"/>
              </a:rPr>
              <a:t></a:t>
            </a:r>
            <a:r>
              <a:rPr dirty="0" sz="1450">
                <a:latin typeface="Times New Roman"/>
                <a:cs typeface="Times New Roman"/>
              </a:rPr>
              <a:t>(</a:t>
            </a:r>
            <a:r>
              <a:rPr dirty="0" sz="1450" spc="65">
                <a:latin typeface="Times New Roman"/>
                <a:cs typeface="Times New Roman"/>
              </a:rPr>
              <a:t> </a:t>
            </a:r>
            <a:r>
              <a:rPr dirty="0" sz="1450" spc="60" i="1">
                <a:latin typeface="Times New Roman"/>
                <a:cs typeface="Times New Roman"/>
              </a:rPr>
              <a:t>x</a:t>
            </a:r>
            <a:r>
              <a:rPr dirty="0" baseline="34391" sz="1575" spc="89">
                <a:latin typeface="Times New Roman"/>
                <a:cs typeface="Times New Roman"/>
              </a:rPr>
              <a:t>2</a:t>
            </a:r>
            <a:r>
              <a:rPr dirty="0" baseline="34391" sz="1575" spc="15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</a:t>
            </a:r>
            <a:r>
              <a:rPr dirty="0" sz="1450" spc="-95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y</a:t>
            </a:r>
            <a:r>
              <a:rPr dirty="0" sz="1450" spc="-220" i="1">
                <a:latin typeface="Times New Roman"/>
                <a:cs typeface="Times New Roman"/>
              </a:rPr>
              <a:t> </a:t>
            </a:r>
            <a:r>
              <a:rPr dirty="0" baseline="34391" sz="1575">
                <a:latin typeface="Times New Roman"/>
                <a:cs typeface="Times New Roman"/>
              </a:rPr>
              <a:t>2</a:t>
            </a:r>
            <a:r>
              <a:rPr dirty="0" baseline="34391" sz="1575" spc="419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)</a:t>
            </a:r>
            <a:r>
              <a:rPr dirty="0" sz="1450" spc="-16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/</a:t>
            </a:r>
            <a:r>
              <a:rPr dirty="0" sz="1450" spc="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</a:t>
            </a:r>
            <a:r>
              <a:rPr dirty="0" sz="1450" spc="-220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k</a:t>
            </a:r>
            <a:r>
              <a:rPr dirty="0" sz="1450" spc="-150" i="1">
                <a:latin typeface="Times New Roman"/>
                <a:cs typeface="Times New Roman"/>
              </a:rPr>
              <a:t> </a:t>
            </a:r>
            <a:r>
              <a:rPr dirty="0" baseline="34391" sz="1575" spc="-60">
                <a:latin typeface="Times New Roman"/>
                <a:cs typeface="Times New Roman"/>
              </a:rPr>
              <a:t>2</a:t>
            </a:r>
            <a:r>
              <a:rPr dirty="0" sz="1550" spc="-40">
                <a:latin typeface="Symbol"/>
                <a:cs typeface="Symbol"/>
              </a:rPr>
              <a:t></a:t>
            </a:r>
            <a:r>
              <a:rPr dirty="0" sz="1550" spc="-50">
                <a:latin typeface="Times New Roman"/>
                <a:cs typeface="Times New Roman"/>
              </a:rPr>
              <a:t> </a:t>
            </a:r>
            <a:r>
              <a:rPr dirty="0" baseline="34391" sz="1575" spc="-75">
                <a:latin typeface="Times New Roman"/>
                <a:cs typeface="Times New Roman"/>
              </a:rPr>
              <a:t>2</a:t>
            </a:r>
            <a:endParaRPr baseline="34391" sz="15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82744" y="2392847"/>
            <a:ext cx="176593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50" i="1">
                <a:latin typeface="Times New Roman"/>
                <a:cs typeface="Times New Roman"/>
              </a:rPr>
              <a:t>G</a:t>
            </a:r>
            <a:r>
              <a:rPr dirty="0" sz="2550">
                <a:latin typeface="Times New Roman"/>
                <a:cs typeface="Times New Roman"/>
              </a:rPr>
              <a:t>(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 spc="60" i="1">
                <a:latin typeface="Times New Roman"/>
                <a:cs typeface="Times New Roman"/>
              </a:rPr>
              <a:t>x</a:t>
            </a:r>
            <a:r>
              <a:rPr dirty="0" sz="2550" spc="60">
                <a:latin typeface="Times New Roman"/>
                <a:cs typeface="Times New Roman"/>
              </a:rPr>
              <a:t>,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y</a:t>
            </a:r>
            <a:r>
              <a:rPr dirty="0" sz="2550">
                <a:latin typeface="Times New Roman"/>
                <a:cs typeface="Times New Roman"/>
              </a:rPr>
              <a:t>,</a:t>
            </a:r>
            <a:r>
              <a:rPr dirty="0" sz="2550" i="1">
                <a:latin typeface="Times New Roman"/>
                <a:cs typeface="Times New Roman"/>
              </a:rPr>
              <a:t>k</a:t>
            </a:r>
            <a:r>
              <a:rPr dirty="0" sz="2650">
                <a:latin typeface="Symbol"/>
                <a:cs typeface="Symbol"/>
              </a:rPr>
              <a:t></a:t>
            </a:r>
            <a:r>
              <a:rPr dirty="0" sz="2650" spc="19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)</a:t>
            </a:r>
            <a:r>
              <a:rPr dirty="0" sz="2550" spc="-15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38184" y="6139992"/>
            <a:ext cx="414655" cy="358775"/>
            <a:chOff x="8438184" y="6139992"/>
            <a:chExt cx="414655" cy="358775"/>
          </a:xfrm>
        </p:grpSpPr>
        <p:sp>
          <p:nvSpPr>
            <p:cNvPr id="16" name="object 16"/>
            <p:cNvSpPr/>
            <p:nvPr/>
          </p:nvSpPr>
          <p:spPr>
            <a:xfrm>
              <a:off x="8445246" y="6364985"/>
              <a:ext cx="43815" cy="25400"/>
            </a:xfrm>
            <a:custGeom>
              <a:avLst/>
              <a:gdLst/>
              <a:ahLst/>
              <a:cxnLst/>
              <a:rect l="l" t="t" r="r" b="b"/>
              <a:pathLst>
                <a:path w="43815" h="25400">
                  <a:moveTo>
                    <a:pt x="0" y="25146"/>
                  </a:moveTo>
                  <a:lnTo>
                    <a:pt x="43434" y="0"/>
                  </a:lnTo>
                </a:path>
              </a:pathLst>
            </a:custGeom>
            <a:ln w="14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488680" y="6372605"/>
              <a:ext cx="63500" cy="112395"/>
            </a:xfrm>
            <a:custGeom>
              <a:avLst/>
              <a:gdLst/>
              <a:ahLst/>
              <a:cxnLst/>
              <a:rect l="l" t="t" r="r" b="b"/>
              <a:pathLst>
                <a:path w="63500" h="112395">
                  <a:moveTo>
                    <a:pt x="0" y="0"/>
                  </a:moveTo>
                  <a:lnTo>
                    <a:pt x="63246" y="112014"/>
                  </a:lnTo>
                </a:path>
              </a:pathLst>
            </a:custGeom>
            <a:ln w="28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558784" y="6147053"/>
              <a:ext cx="287020" cy="337820"/>
            </a:xfrm>
            <a:custGeom>
              <a:avLst/>
              <a:gdLst/>
              <a:ahLst/>
              <a:cxnLst/>
              <a:rect l="l" t="t" r="r" b="b"/>
              <a:pathLst>
                <a:path w="287020" h="337820">
                  <a:moveTo>
                    <a:pt x="0" y="337565"/>
                  </a:moveTo>
                  <a:lnTo>
                    <a:pt x="83057" y="0"/>
                  </a:lnTo>
                  <a:lnTo>
                    <a:pt x="286512" y="0"/>
                  </a:lnTo>
                </a:path>
              </a:pathLst>
            </a:custGeom>
            <a:ln w="14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892305" y="6118262"/>
            <a:ext cx="949960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6445" algn="l"/>
              </a:tabLst>
            </a:pPr>
            <a:r>
              <a:rPr dirty="0" sz="2650" i="1">
                <a:latin typeface="Times New Roman"/>
                <a:cs typeface="Times New Roman"/>
              </a:rPr>
              <a:t>k</a:t>
            </a:r>
            <a:r>
              <a:rPr dirty="0" sz="2650" spc="185" i="1">
                <a:latin typeface="Times New Roman"/>
                <a:cs typeface="Times New Roman"/>
              </a:rPr>
              <a:t> </a:t>
            </a:r>
            <a:r>
              <a:rPr dirty="0" sz="2650" spc="-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spc="-50">
                <a:latin typeface="Times New Roman"/>
                <a:cs typeface="Times New Roman"/>
              </a:rPr>
              <a:t>2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Building</a:t>
            </a:r>
            <a:r>
              <a:rPr dirty="0" spc="-100"/>
              <a:t> </a:t>
            </a:r>
            <a:r>
              <a:rPr dirty="0"/>
              <a:t>a</a:t>
            </a:r>
            <a:r>
              <a:rPr dirty="0" spc="-100"/>
              <a:t> </a:t>
            </a:r>
            <a:r>
              <a:rPr dirty="0"/>
              <a:t>Scale</a:t>
            </a:r>
            <a:r>
              <a:rPr dirty="0" spc="-100"/>
              <a:t> </a:t>
            </a:r>
            <a:r>
              <a:rPr dirty="0" spc="-10"/>
              <a:t>Space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735515" y="2659519"/>
            <a:ext cx="7019925" cy="4568825"/>
            <a:chOff x="735515" y="2659519"/>
            <a:chExt cx="7019925" cy="45688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515" y="2672541"/>
              <a:ext cx="6201864" cy="45553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15861" y="2666237"/>
              <a:ext cx="1239520" cy="0"/>
            </a:xfrm>
            <a:custGeom>
              <a:avLst/>
              <a:gdLst/>
              <a:ahLst/>
              <a:cxnLst/>
              <a:rect l="l" t="t" r="r" b="b"/>
              <a:pathLst>
                <a:path w="1239520" h="0">
                  <a:moveTo>
                    <a:pt x="0" y="0"/>
                  </a:moveTo>
                  <a:lnTo>
                    <a:pt x="1239012" y="0"/>
                  </a:lnTo>
                </a:path>
              </a:pathLst>
            </a:custGeom>
            <a:ln w="134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99870" y="2160142"/>
            <a:ext cx="1242060" cy="9213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L="39370">
              <a:lnSpc>
                <a:spcPct val="100000"/>
              </a:lnSpc>
              <a:spcBef>
                <a:spcPts val="470"/>
              </a:spcBef>
            </a:pPr>
            <a:r>
              <a:rPr dirty="0" sz="2550" spc="-50">
                <a:latin typeface="Times New Roman"/>
                <a:cs typeface="Times New Roman"/>
              </a:rPr>
              <a:t>1</a:t>
            </a: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30"/>
              </a:spcBef>
            </a:pPr>
            <a:r>
              <a:rPr dirty="0" sz="2550" spc="-85">
                <a:latin typeface="Times New Roman"/>
                <a:cs typeface="Times New Roman"/>
              </a:rPr>
              <a:t>2</a:t>
            </a:r>
            <a:r>
              <a:rPr dirty="0" sz="2650" spc="-85">
                <a:latin typeface="Symbol"/>
                <a:cs typeface="Symbol"/>
              </a:rPr>
              <a:t></a:t>
            </a:r>
            <a:r>
              <a:rPr dirty="0" sz="2650" spc="-40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(</a:t>
            </a:r>
            <a:r>
              <a:rPr dirty="0" sz="2550" spc="-215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k</a:t>
            </a:r>
            <a:r>
              <a:rPr dirty="0" sz="2650">
                <a:latin typeface="Symbol"/>
                <a:cs typeface="Symbol"/>
              </a:rPr>
              <a:t></a:t>
            </a:r>
            <a:r>
              <a:rPr dirty="0" sz="2650" spc="50">
                <a:latin typeface="Times New Roman"/>
                <a:cs typeface="Times New Roman"/>
              </a:rPr>
              <a:t> </a:t>
            </a:r>
            <a:r>
              <a:rPr dirty="0" sz="2550" spc="-25">
                <a:latin typeface="Times New Roman"/>
                <a:cs typeface="Times New Roman"/>
              </a:rPr>
              <a:t>)</a:t>
            </a:r>
            <a:r>
              <a:rPr dirty="0" baseline="44061" sz="2175" spc="-37">
                <a:latin typeface="Times New Roman"/>
                <a:cs typeface="Times New Roman"/>
              </a:rPr>
              <a:t>2</a:t>
            </a:r>
            <a:endParaRPr baseline="44061" sz="21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7066" y="2266441"/>
            <a:ext cx="1708150" cy="4133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25054" sz="3825" i="1">
                <a:latin typeface="Times New Roman"/>
                <a:cs typeface="Times New Roman"/>
              </a:rPr>
              <a:t>e</a:t>
            </a:r>
            <a:r>
              <a:rPr dirty="0" sz="1450">
                <a:latin typeface="Symbol"/>
                <a:cs typeface="Symbol"/>
              </a:rPr>
              <a:t></a:t>
            </a:r>
            <a:r>
              <a:rPr dirty="0" sz="1450">
                <a:latin typeface="Times New Roman"/>
                <a:cs typeface="Times New Roman"/>
              </a:rPr>
              <a:t>(</a:t>
            </a:r>
            <a:r>
              <a:rPr dirty="0" sz="1450" spc="65">
                <a:latin typeface="Times New Roman"/>
                <a:cs typeface="Times New Roman"/>
              </a:rPr>
              <a:t> </a:t>
            </a:r>
            <a:r>
              <a:rPr dirty="0" sz="1450" spc="60" i="1">
                <a:latin typeface="Times New Roman"/>
                <a:cs typeface="Times New Roman"/>
              </a:rPr>
              <a:t>x</a:t>
            </a:r>
            <a:r>
              <a:rPr dirty="0" baseline="34391" sz="1575" spc="89">
                <a:latin typeface="Times New Roman"/>
                <a:cs typeface="Times New Roman"/>
              </a:rPr>
              <a:t>2</a:t>
            </a:r>
            <a:r>
              <a:rPr dirty="0" baseline="34391" sz="1575" spc="15">
                <a:latin typeface="Times New Roman"/>
                <a:cs typeface="Times New Roman"/>
              </a:rPr>
              <a:t> </a:t>
            </a:r>
            <a:r>
              <a:rPr dirty="0" sz="1450">
                <a:latin typeface="Symbol"/>
                <a:cs typeface="Symbol"/>
              </a:rPr>
              <a:t></a:t>
            </a:r>
            <a:r>
              <a:rPr dirty="0" sz="1450" spc="-95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y</a:t>
            </a:r>
            <a:r>
              <a:rPr dirty="0" sz="1450" spc="-220" i="1">
                <a:latin typeface="Times New Roman"/>
                <a:cs typeface="Times New Roman"/>
              </a:rPr>
              <a:t> </a:t>
            </a:r>
            <a:r>
              <a:rPr dirty="0" baseline="34391" sz="1575">
                <a:latin typeface="Times New Roman"/>
                <a:cs typeface="Times New Roman"/>
              </a:rPr>
              <a:t>2</a:t>
            </a:r>
            <a:r>
              <a:rPr dirty="0" baseline="34391" sz="1575" spc="419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)</a:t>
            </a:r>
            <a:r>
              <a:rPr dirty="0" sz="1450" spc="-16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/</a:t>
            </a:r>
            <a:r>
              <a:rPr dirty="0" sz="1450" spc="20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2</a:t>
            </a:r>
            <a:r>
              <a:rPr dirty="0" sz="1450" spc="-220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k</a:t>
            </a:r>
            <a:r>
              <a:rPr dirty="0" sz="1450" spc="-150" i="1">
                <a:latin typeface="Times New Roman"/>
                <a:cs typeface="Times New Roman"/>
              </a:rPr>
              <a:t> </a:t>
            </a:r>
            <a:r>
              <a:rPr dirty="0" baseline="34391" sz="1575" spc="-60">
                <a:latin typeface="Times New Roman"/>
                <a:cs typeface="Times New Roman"/>
              </a:rPr>
              <a:t>2</a:t>
            </a:r>
            <a:r>
              <a:rPr dirty="0" sz="1550" spc="-40">
                <a:latin typeface="Symbol"/>
                <a:cs typeface="Symbol"/>
              </a:rPr>
              <a:t></a:t>
            </a:r>
            <a:r>
              <a:rPr dirty="0" sz="1550" spc="-50">
                <a:latin typeface="Times New Roman"/>
                <a:cs typeface="Times New Roman"/>
              </a:rPr>
              <a:t> </a:t>
            </a:r>
            <a:r>
              <a:rPr dirty="0" baseline="34391" sz="1575" spc="-75">
                <a:latin typeface="Times New Roman"/>
                <a:cs typeface="Times New Roman"/>
              </a:rPr>
              <a:t>2</a:t>
            </a:r>
            <a:endParaRPr baseline="34391" sz="15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82744" y="2392847"/>
            <a:ext cx="1765935" cy="43560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50" i="1">
                <a:latin typeface="Times New Roman"/>
                <a:cs typeface="Times New Roman"/>
              </a:rPr>
              <a:t>G</a:t>
            </a:r>
            <a:r>
              <a:rPr dirty="0" sz="2550">
                <a:latin typeface="Times New Roman"/>
                <a:cs typeface="Times New Roman"/>
              </a:rPr>
              <a:t>(</a:t>
            </a:r>
            <a:r>
              <a:rPr dirty="0" sz="2550" spc="-65">
                <a:latin typeface="Times New Roman"/>
                <a:cs typeface="Times New Roman"/>
              </a:rPr>
              <a:t> </a:t>
            </a:r>
            <a:r>
              <a:rPr dirty="0" sz="2550" spc="60" i="1">
                <a:latin typeface="Times New Roman"/>
                <a:cs typeface="Times New Roman"/>
              </a:rPr>
              <a:t>x</a:t>
            </a:r>
            <a:r>
              <a:rPr dirty="0" sz="2550" spc="60">
                <a:latin typeface="Times New Roman"/>
                <a:cs typeface="Times New Roman"/>
              </a:rPr>
              <a:t>,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y</a:t>
            </a:r>
            <a:r>
              <a:rPr dirty="0" sz="2550">
                <a:latin typeface="Times New Roman"/>
                <a:cs typeface="Times New Roman"/>
              </a:rPr>
              <a:t>,</a:t>
            </a:r>
            <a:r>
              <a:rPr dirty="0" sz="2550" i="1">
                <a:latin typeface="Times New Roman"/>
                <a:cs typeface="Times New Roman"/>
              </a:rPr>
              <a:t>k</a:t>
            </a:r>
            <a:r>
              <a:rPr dirty="0" sz="2650">
                <a:latin typeface="Symbol"/>
                <a:cs typeface="Symbol"/>
              </a:rPr>
              <a:t></a:t>
            </a:r>
            <a:r>
              <a:rPr dirty="0" sz="2650" spc="190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)</a:t>
            </a:r>
            <a:r>
              <a:rPr dirty="0" sz="2550" spc="-15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38184" y="6139992"/>
            <a:ext cx="414655" cy="358775"/>
            <a:chOff x="8438184" y="6139992"/>
            <a:chExt cx="414655" cy="358775"/>
          </a:xfrm>
        </p:grpSpPr>
        <p:sp>
          <p:nvSpPr>
            <p:cNvPr id="16" name="object 16"/>
            <p:cNvSpPr/>
            <p:nvPr/>
          </p:nvSpPr>
          <p:spPr>
            <a:xfrm>
              <a:off x="8445246" y="6364985"/>
              <a:ext cx="43815" cy="25400"/>
            </a:xfrm>
            <a:custGeom>
              <a:avLst/>
              <a:gdLst/>
              <a:ahLst/>
              <a:cxnLst/>
              <a:rect l="l" t="t" r="r" b="b"/>
              <a:pathLst>
                <a:path w="43815" h="25400">
                  <a:moveTo>
                    <a:pt x="0" y="25146"/>
                  </a:moveTo>
                  <a:lnTo>
                    <a:pt x="43434" y="0"/>
                  </a:lnTo>
                </a:path>
              </a:pathLst>
            </a:custGeom>
            <a:ln w="14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488680" y="6372605"/>
              <a:ext cx="63500" cy="112395"/>
            </a:xfrm>
            <a:custGeom>
              <a:avLst/>
              <a:gdLst/>
              <a:ahLst/>
              <a:cxnLst/>
              <a:rect l="l" t="t" r="r" b="b"/>
              <a:pathLst>
                <a:path w="63500" h="112395">
                  <a:moveTo>
                    <a:pt x="0" y="0"/>
                  </a:moveTo>
                  <a:lnTo>
                    <a:pt x="63246" y="112014"/>
                  </a:lnTo>
                </a:path>
              </a:pathLst>
            </a:custGeom>
            <a:ln w="28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558784" y="6147053"/>
              <a:ext cx="287020" cy="337820"/>
            </a:xfrm>
            <a:custGeom>
              <a:avLst/>
              <a:gdLst/>
              <a:ahLst/>
              <a:cxnLst/>
              <a:rect l="l" t="t" r="r" b="b"/>
              <a:pathLst>
                <a:path w="287020" h="337820">
                  <a:moveTo>
                    <a:pt x="0" y="337565"/>
                  </a:moveTo>
                  <a:lnTo>
                    <a:pt x="83057" y="0"/>
                  </a:lnTo>
                  <a:lnTo>
                    <a:pt x="286512" y="0"/>
                  </a:lnTo>
                </a:path>
              </a:pathLst>
            </a:custGeom>
            <a:ln w="14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892305" y="6118262"/>
            <a:ext cx="949960" cy="433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66445" algn="l"/>
              </a:tabLst>
            </a:pPr>
            <a:r>
              <a:rPr dirty="0" sz="2650" i="1">
                <a:latin typeface="Times New Roman"/>
                <a:cs typeface="Times New Roman"/>
              </a:rPr>
              <a:t>k</a:t>
            </a:r>
            <a:r>
              <a:rPr dirty="0" sz="2650" spc="185" i="1">
                <a:latin typeface="Times New Roman"/>
                <a:cs typeface="Times New Roman"/>
              </a:rPr>
              <a:t> </a:t>
            </a:r>
            <a:r>
              <a:rPr dirty="0" sz="2650" spc="-50">
                <a:latin typeface="Symbol"/>
                <a:cs typeface="Symbol"/>
              </a:rPr>
              <a:t></a:t>
            </a:r>
            <a:r>
              <a:rPr dirty="0" sz="2650">
                <a:latin typeface="Times New Roman"/>
                <a:cs typeface="Times New Roman"/>
              </a:rPr>
              <a:t>	</a:t>
            </a:r>
            <a:r>
              <a:rPr dirty="0" sz="2650" spc="-50">
                <a:latin typeface="Times New Roman"/>
                <a:cs typeface="Times New Roman"/>
              </a:rPr>
              <a:t>2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7122" y="5988531"/>
            <a:ext cx="450215" cy="1220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31445">
              <a:lnSpc>
                <a:spcPct val="100000"/>
              </a:lnSpc>
              <a:spcBef>
                <a:spcPts val="125"/>
              </a:spcBef>
            </a:pPr>
            <a:r>
              <a:rPr dirty="0" sz="1450" i="1">
                <a:latin typeface="Times New Roman"/>
                <a:cs typeface="Times New Roman"/>
              </a:rPr>
              <a:t>k</a:t>
            </a:r>
            <a:r>
              <a:rPr dirty="0" sz="1450" spc="-190" i="1">
                <a:latin typeface="Times New Roman"/>
                <a:cs typeface="Times New Roman"/>
              </a:rPr>
              <a:t> </a:t>
            </a:r>
            <a:r>
              <a:rPr dirty="0" baseline="42483" sz="1275" spc="-37">
                <a:latin typeface="Times New Roman"/>
                <a:cs typeface="Times New Roman"/>
              </a:rPr>
              <a:t>2</a:t>
            </a:r>
            <a:r>
              <a:rPr dirty="0" sz="1550" spc="-25">
                <a:latin typeface="Symbol"/>
                <a:cs typeface="Symbol"/>
              </a:rPr>
              <a:t></a:t>
            </a:r>
            <a:endParaRPr sz="15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850">
              <a:latin typeface="Symbol"/>
              <a:cs typeface="Symbol"/>
            </a:endParaRPr>
          </a:p>
          <a:p>
            <a:pPr marL="204470">
              <a:lnSpc>
                <a:spcPct val="100000"/>
              </a:lnSpc>
            </a:pPr>
            <a:r>
              <a:rPr dirty="0" sz="1550" spc="-25" i="1">
                <a:latin typeface="Times New Roman"/>
                <a:cs typeface="Times New Roman"/>
              </a:rPr>
              <a:t>k</a:t>
            </a:r>
            <a:r>
              <a:rPr dirty="0" sz="1600" spc="-25">
                <a:latin typeface="Symbol"/>
                <a:cs typeface="Symbol"/>
              </a:rPr>
              <a:t></a:t>
            </a:r>
            <a:endParaRPr sz="16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915"/>
              </a:spcBef>
            </a:pPr>
            <a:r>
              <a:rPr dirty="0" sz="2500" spc="-50">
                <a:latin typeface="Symbol"/>
                <a:cs typeface="Symbol"/>
              </a:rPr>
              <a:t>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72607" y="5021256"/>
            <a:ext cx="388620" cy="775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350" i="1">
                <a:latin typeface="Times New Roman"/>
                <a:cs typeface="Times New Roman"/>
              </a:rPr>
              <a:t>k</a:t>
            </a:r>
            <a:r>
              <a:rPr dirty="0" sz="1350" spc="-190" i="1">
                <a:latin typeface="Times New Roman"/>
                <a:cs typeface="Times New Roman"/>
              </a:rPr>
              <a:t> </a:t>
            </a:r>
            <a:r>
              <a:rPr dirty="0" baseline="41666" sz="1200" spc="-37">
                <a:latin typeface="Times New Roman"/>
                <a:cs typeface="Times New Roman"/>
              </a:rPr>
              <a:t>4</a:t>
            </a:r>
            <a:r>
              <a:rPr dirty="0" sz="1450" spc="-25">
                <a:latin typeface="Symbol"/>
                <a:cs typeface="Symbol"/>
              </a:rPr>
              <a:t></a:t>
            </a:r>
            <a:endParaRPr sz="1450">
              <a:latin typeface="Symbol"/>
              <a:cs typeface="Symbol"/>
            </a:endParaRPr>
          </a:p>
          <a:p>
            <a:pPr>
              <a:lnSpc>
                <a:spcPct val="100000"/>
              </a:lnSpc>
            </a:pPr>
            <a:endParaRPr sz="8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800">
              <a:latin typeface="Symbol"/>
              <a:cs typeface="Symbol"/>
            </a:endParaRPr>
          </a:p>
          <a:p>
            <a:pPr marL="73660">
              <a:lnSpc>
                <a:spcPct val="100000"/>
              </a:lnSpc>
              <a:spcBef>
                <a:spcPts val="5"/>
              </a:spcBef>
            </a:pPr>
            <a:r>
              <a:rPr dirty="0" sz="1500" i="1">
                <a:latin typeface="Times New Roman"/>
                <a:cs typeface="Times New Roman"/>
              </a:rPr>
              <a:t>k</a:t>
            </a:r>
            <a:r>
              <a:rPr dirty="0" sz="1500" spc="-220" i="1">
                <a:latin typeface="Times New Roman"/>
                <a:cs typeface="Times New Roman"/>
              </a:rPr>
              <a:t> </a:t>
            </a:r>
            <a:r>
              <a:rPr dirty="0" baseline="42483" sz="1275" spc="-37">
                <a:latin typeface="Times New Roman"/>
                <a:cs typeface="Times New Roman"/>
              </a:rPr>
              <a:t>3</a:t>
            </a:r>
            <a:r>
              <a:rPr dirty="0" sz="1600" spc="-25">
                <a:latin typeface="Symbol"/>
                <a:cs typeface="Symbol"/>
              </a:rPr>
              <a:t>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76225" y="3787760"/>
            <a:ext cx="342900" cy="7899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80"/>
              </a:spcBef>
            </a:pPr>
            <a:r>
              <a:rPr dirty="0" sz="1350" i="1">
                <a:latin typeface="Times New Roman"/>
                <a:cs typeface="Times New Roman"/>
              </a:rPr>
              <a:t>k</a:t>
            </a:r>
            <a:r>
              <a:rPr dirty="0" sz="1350" spc="-185" i="1">
                <a:latin typeface="Times New Roman"/>
                <a:cs typeface="Times New Roman"/>
              </a:rPr>
              <a:t> </a:t>
            </a:r>
            <a:r>
              <a:rPr dirty="0" baseline="41666" sz="1200" spc="-52">
                <a:latin typeface="Times New Roman"/>
                <a:cs typeface="Times New Roman"/>
              </a:rPr>
              <a:t>4</a:t>
            </a:r>
            <a:r>
              <a:rPr dirty="0" sz="1450" spc="-35">
                <a:latin typeface="Symbol"/>
                <a:cs typeface="Symbol"/>
              </a:rPr>
              <a:t></a:t>
            </a:r>
            <a:endParaRPr sz="1450">
              <a:latin typeface="Symbol"/>
              <a:cs typeface="Symbol"/>
            </a:endParaRPr>
          </a:p>
          <a:p>
            <a:pPr marL="47625">
              <a:lnSpc>
                <a:spcPct val="100000"/>
              </a:lnSpc>
              <a:spcBef>
                <a:spcPts val="120"/>
              </a:spcBef>
            </a:pPr>
            <a:r>
              <a:rPr dirty="0" sz="1450" i="1">
                <a:latin typeface="Times New Roman"/>
                <a:cs typeface="Times New Roman"/>
              </a:rPr>
              <a:t>k</a:t>
            </a:r>
            <a:r>
              <a:rPr dirty="0" sz="1450" spc="-225" i="1">
                <a:latin typeface="Times New Roman"/>
                <a:cs typeface="Times New Roman"/>
              </a:rPr>
              <a:t> </a:t>
            </a:r>
            <a:r>
              <a:rPr dirty="0" baseline="42483" sz="1275" spc="-37">
                <a:latin typeface="Times New Roman"/>
                <a:cs typeface="Times New Roman"/>
              </a:rPr>
              <a:t>3</a:t>
            </a:r>
            <a:r>
              <a:rPr dirty="0" sz="1500" spc="-25">
                <a:latin typeface="Symbol"/>
                <a:cs typeface="Symbol"/>
              </a:rPr>
              <a:t></a:t>
            </a:r>
            <a:endParaRPr sz="150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dirty="0" sz="1450" i="1">
                <a:latin typeface="Times New Roman"/>
                <a:cs typeface="Times New Roman"/>
              </a:rPr>
              <a:t>k</a:t>
            </a:r>
            <a:r>
              <a:rPr dirty="0" sz="1450" spc="-190" i="1">
                <a:latin typeface="Times New Roman"/>
                <a:cs typeface="Times New Roman"/>
              </a:rPr>
              <a:t> </a:t>
            </a:r>
            <a:r>
              <a:rPr dirty="0" baseline="42483" sz="1275" spc="-37">
                <a:latin typeface="Times New Roman"/>
                <a:cs typeface="Times New Roman"/>
              </a:rPr>
              <a:t>2</a:t>
            </a:r>
            <a:r>
              <a:rPr dirty="0" sz="1550" spc="-25">
                <a:latin typeface="Symbol"/>
                <a:cs typeface="Symbol"/>
              </a:rPr>
              <a:t></a:t>
            </a:r>
            <a:endParaRPr sz="1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460044"/>
            <a:ext cx="6435090" cy="128693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761403" y="5266359"/>
            <a:ext cx="525145" cy="455295"/>
            <a:chOff x="6761403" y="5266359"/>
            <a:chExt cx="525145" cy="455295"/>
          </a:xfrm>
        </p:grpSpPr>
        <p:sp>
          <p:nvSpPr>
            <p:cNvPr id="4" name="object 4"/>
            <p:cNvSpPr/>
            <p:nvPr/>
          </p:nvSpPr>
          <p:spPr>
            <a:xfrm>
              <a:off x="6770369" y="5551932"/>
              <a:ext cx="55244" cy="31750"/>
            </a:xfrm>
            <a:custGeom>
              <a:avLst/>
              <a:gdLst/>
              <a:ahLst/>
              <a:cxnLst/>
              <a:rect l="l" t="t" r="r" b="b"/>
              <a:pathLst>
                <a:path w="55245" h="31750">
                  <a:moveTo>
                    <a:pt x="0" y="31241"/>
                  </a:moveTo>
                  <a:lnTo>
                    <a:pt x="54864" y="0"/>
                  </a:lnTo>
                </a:path>
              </a:pathLst>
            </a:custGeom>
            <a:ln w="179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25233" y="5560314"/>
              <a:ext cx="80010" cy="143510"/>
            </a:xfrm>
            <a:custGeom>
              <a:avLst/>
              <a:gdLst/>
              <a:ahLst/>
              <a:cxnLst/>
              <a:rect l="l" t="t" r="r" b="b"/>
              <a:pathLst>
                <a:path w="80009" h="143510">
                  <a:moveTo>
                    <a:pt x="0" y="0"/>
                  </a:moveTo>
                  <a:lnTo>
                    <a:pt x="80010" y="143256"/>
                  </a:lnTo>
                </a:path>
              </a:pathLst>
            </a:custGeom>
            <a:ln w="358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913625" y="5275326"/>
              <a:ext cx="363855" cy="428625"/>
            </a:xfrm>
            <a:custGeom>
              <a:avLst/>
              <a:gdLst/>
              <a:ahLst/>
              <a:cxnLst/>
              <a:rect l="l" t="t" r="r" b="b"/>
              <a:pathLst>
                <a:path w="363854" h="428625">
                  <a:moveTo>
                    <a:pt x="0" y="428243"/>
                  </a:moveTo>
                  <a:lnTo>
                    <a:pt x="105917" y="0"/>
                  </a:lnTo>
                  <a:lnTo>
                    <a:pt x="363473" y="0"/>
                  </a:lnTo>
                </a:path>
              </a:pathLst>
            </a:custGeom>
            <a:ln w="179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328670" y="5216228"/>
            <a:ext cx="3942079" cy="57340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12845" algn="l"/>
              </a:tabLst>
            </a:pPr>
            <a:r>
              <a:rPr dirty="0" sz="3600" b="0">
                <a:solidFill>
                  <a:srgbClr val="000000"/>
                </a:solidFill>
                <a:latin typeface="Symbol"/>
                <a:cs typeface="Symbol"/>
              </a:rPr>
              <a:t></a:t>
            </a:r>
            <a:r>
              <a:rPr dirty="0" sz="3600" spc="2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400" b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400" spc="-22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400" b="0">
                <a:solidFill>
                  <a:srgbClr val="000000"/>
                </a:solidFill>
                <a:latin typeface="Times New Roman"/>
                <a:cs typeface="Times New Roman"/>
              </a:rPr>
              <a:t>.707187.6;</a:t>
            </a:r>
            <a:r>
              <a:rPr dirty="0" sz="3400" spc="43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400" b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dirty="0" sz="3400" spc="130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400" spc="-50" b="0">
                <a:solidFill>
                  <a:srgbClr val="000000"/>
                </a:solidFill>
                <a:latin typeface="Symbol"/>
                <a:cs typeface="Symbol"/>
              </a:rPr>
              <a:t></a:t>
            </a:r>
            <a:r>
              <a:rPr dirty="0" sz="3400" b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z="3400" spc="-50" b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485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dirty="0" spc="-105"/>
              <a:t> </a:t>
            </a:r>
            <a:r>
              <a:rPr dirty="0"/>
              <a:t>many</a:t>
            </a:r>
            <a:r>
              <a:rPr dirty="0" spc="-105"/>
              <a:t> </a:t>
            </a:r>
            <a:r>
              <a:rPr dirty="0"/>
              <a:t>scales</a:t>
            </a:r>
            <a:r>
              <a:rPr dirty="0" spc="-105"/>
              <a:t> </a:t>
            </a:r>
            <a:r>
              <a:rPr dirty="0" spc="-25"/>
              <a:t>per </a:t>
            </a:r>
            <a:r>
              <a:rPr dirty="0" spc="-10"/>
              <a:t>octave?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2695577"/>
            <a:ext cx="5476875" cy="393419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Initial</a:t>
            </a:r>
            <a:r>
              <a:rPr dirty="0" spc="-75"/>
              <a:t> </a:t>
            </a:r>
            <a:r>
              <a:rPr dirty="0"/>
              <a:t>value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 spc="-10"/>
              <a:t>sigma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1333" y="2438400"/>
            <a:ext cx="6557771" cy="456285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Scale</a:t>
            </a:r>
            <a:r>
              <a:rPr dirty="0" spc="-110"/>
              <a:t> </a:t>
            </a:r>
            <a:r>
              <a:rPr dirty="0"/>
              <a:t>Space</a:t>
            </a:r>
            <a:r>
              <a:rPr dirty="0" spc="-105"/>
              <a:t> </a:t>
            </a:r>
            <a:r>
              <a:rPr dirty="0"/>
              <a:t>Peak</a:t>
            </a:r>
            <a:r>
              <a:rPr dirty="0" spc="-105"/>
              <a:t> </a:t>
            </a:r>
            <a:r>
              <a:rPr dirty="0" spc="-10"/>
              <a:t>Detection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9326" y="2499614"/>
            <a:ext cx="4573905" cy="340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24447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Compare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pixel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b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26 </a:t>
            </a:r>
            <a:r>
              <a:rPr dirty="0" sz="2400">
                <a:latin typeface="Arial MT"/>
                <a:cs typeface="Arial MT"/>
              </a:rPr>
              <a:t>pixels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current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adjacent </a:t>
            </a:r>
            <a:r>
              <a:rPr dirty="0" sz="2400">
                <a:latin typeface="Arial MT"/>
                <a:cs typeface="Arial MT"/>
              </a:rPr>
              <a:t>scales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>
                <a:solidFill>
                  <a:srgbClr val="00E4A8"/>
                </a:solidFill>
                <a:latin typeface="Arial MT"/>
                <a:cs typeface="Arial MT"/>
              </a:rPr>
              <a:t>Green</a:t>
            </a:r>
            <a:r>
              <a:rPr dirty="0" sz="2400" spc="-90">
                <a:solidFill>
                  <a:srgbClr val="00E4A8"/>
                </a:solidFill>
                <a:latin typeface="Arial MT"/>
                <a:cs typeface="Arial MT"/>
              </a:rPr>
              <a:t> </a:t>
            </a:r>
            <a:r>
              <a:rPr dirty="0" sz="2400" spc="-10">
                <a:solidFill>
                  <a:srgbClr val="00E4A8"/>
                </a:solidFill>
                <a:latin typeface="Arial MT"/>
                <a:cs typeface="Arial MT"/>
              </a:rPr>
              <a:t>Circles</a:t>
            </a:r>
            <a:r>
              <a:rPr dirty="0" sz="2400" spc="-1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Select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pixel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b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if </a:t>
            </a:r>
            <a:r>
              <a:rPr dirty="0" sz="2400" spc="-10">
                <a:latin typeface="Arial MT"/>
                <a:cs typeface="Arial MT"/>
              </a:rPr>
              <a:t>larger/smaller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26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pixels</a:t>
            </a:r>
            <a:endParaRPr sz="2400">
              <a:latin typeface="Arial MT"/>
              <a:cs typeface="Arial MT"/>
            </a:endParaRPr>
          </a:p>
          <a:p>
            <a:pPr marL="355600" marR="63436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Large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extrema, computationally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expensive</a:t>
            </a:r>
            <a:endParaRPr sz="2400">
              <a:latin typeface="Arial MT"/>
              <a:cs typeface="Arial MT"/>
            </a:endParaRPr>
          </a:p>
          <a:p>
            <a:pPr lvl="1" marL="755650" marR="159385" indent="-28575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5650" algn="l"/>
              </a:tabLst>
            </a:pPr>
            <a:r>
              <a:rPr dirty="0" sz="2000">
                <a:latin typeface="Arial MT"/>
                <a:cs typeface="Arial MT"/>
              </a:rPr>
              <a:t>Detect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stable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subset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coarse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sampling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scales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6157" y="3137771"/>
            <a:ext cx="2627926" cy="21952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95"/>
              <a:t> </a:t>
            </a:r>
            <a:r>
              <a:rPr dirty="0"/>
              <a:t>Point</a:t>
            </a:r>
            <a:r>
              <a:rPr dirty="0" spc="-90"/>
              <a:t> </a:t>
            </a:r>
            <a:r>
              <a:rPr dirty="0" spc="-10"/>
              <a:t>Localization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9326" y="2497327"/>
            <a:ext cx="7041515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Candidates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are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chosen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from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extrema detection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81327" y="4162805"/>
            <a:ext cx="2900680" cy="2345055"/>
            <a:chOff x="1481327" y="4162805"/>
            <a:chExt cx="2900680" cy="23450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2503" y="4193221"/>
              <a:ext cx="2843850" cy="22872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81327" y="4162805"/>
              <a:ext cx="2900680" cy="2345055"/>
            </a:xfrm>
            <a:custGeom>
              <a:avLst/>
              <a:gdLst/>
              <a:ahLst/>
              <a:cxnLst/>
              <a:rect l="l" t="t" r="r" b="b"/>
              <a:pathLst>
                <a:path w="2900679" h="2345054">
                  <a:moveTo>
                    <a:pt x="2900172" y="2344674"/>
                  </a:moveTo>
                  <a:lnTo>
                    <a:pt x="2900172" y="0"/>
                  </a:lnTo>
                  <a:lnTo>
                    <a:pt x="0" y="0"/>
                  </a:lnTo>
                  <a:lnTo>
                    <a:pt x="0" y="2344674"/>
                  </a:lnTo>
                  <a:lnTo>
                    <a:pt x="14478" y="2344674"/>
                  </a:lnTo>
                  <a:lnTo>
                    <a:pt x="14478" y="28194"/>
                  </a:lnTo>
                  <a:lnTo>
                    <a:pt x="28956" y="14478"/>
                  </a:lnTo>
                  <a:lnTo>
                    <a:pt x="28956" y="28194"/>
                  </a:lnTo>
                  <a:lnTo>
                    <a:pt x="2871977" y="28194"/>
                  </a:lnTo>
                  <a:lnTo>
                    <a:pt x="2871977" y="14478"/>
                  </a:lnTo>
                  <a:lnTo>
                    <a:pt x="2886456" y="28194"/>
                  </a:lnTo>
                  <a:lnTo>
                    <a:pt x="2886456" y="2344674"/>
                  </a:lnTo>
                  <a:lnTo>
                    <a:pt x="2900172" y="2344674"/>
                  </a:lnTo>
                  <a:close/>
                </a:path>
                <a:path w="2900679" h="2345054">
                  <a:moveTo>
                    <a:pt x="28956" y="28194"/>
                  </a:moveTo>
                  <a:lnTo>
                    <a:pt x="28956" y="14478"/>
                  </a:lnTo>
                  <a:lnTo>
                    <a:pt x="14478" y="28194"/>
                  </a:lnTo>
                  <a:lnTo>
                    <a:pt x="28956" y="28194"/>
                  </a:lnTo>
                  <a:close/>
                </a:path>
                <a:path w="2900679" h="2345054">
                  <a:moveTo>
                    <a:pt x="28956" y="2316480"/>
                  </a:moveTo>
                  <a:lnTo>
                    <a:pt x="28956" y="28194"/>
                  </a:lnTo>
                  <a:lnTo>
                    <a:pt x="14478" y="28194"/>
                  </a:lnTo>
                  <a:lnTo>
                    <a:pt x="14478" y="2316480"/>
                  </a:lnTo>
                  <a:lnTo>
                    <a:pt x="28956" y="2316480"/>
                  </a:lnTo>
                  <a:close/>
                </a:path>
                <a:path w="2900679" h="2345054">
                  <a:moveTo>
                    <a:pt x="2886456" y="2316480"/>
                  </a:moveTo>
                  <a:lnTo>
                    <a:pt x="14478" y="2316480"/>
                  </a:lnTo>
                  <a:lnTo>
                    <a:pt x="28956" y="2330196"/>
                  </a:lnTo>
                  <a:lnTo>
                    <a:pt x="28956" y="2344674"/>
                  </a:lnTo>
                  <a:lnTo>
                    <a:pt x="2871978" y="2344674"/>
                  </a:lnTo>
                  <a:lnTo>
                    <a:pt x="2871978" y="2330196"/>
                  </a:lnTo>
                  <a:lnTo>
                    <a:pt x="2886456" y="2316480"/>
                  </a:lnTo>
                  <a:close/>
                </a:path>
                <a:path w="2900679" h="2345054">
                  <a:moveTo>
                    <a:pt x="28956" y="2344674"/>
                  </a:moveTo>
                  <a:lnTo>
                    <a:pt x="28956" y="2330196"/>
                  </a:lnTo>
                  <a:lnTo>
                    <a:pt x="14478" y="2316480"/>
                  </a:lnTo>
                  <a:lnTo>
                    <a:pt x="14478" y="2344674"/>
                  </a:lnTo>
                  <a:lnTo>
                    <a:pt x="28956" y="2344674"/>
                  </a:lnTo>
                  <a:close/>
                </a:path>
                <a:path w="2900679" h="2345054">
                  <a:moveTo>
                    <a:pt x="2886456" y="28194"/>
                  </a:moveTo>
                  <a:lnTo>
                    <a:pt x="2871977" y="14478"/>
                  </a:lnTo>
                  <a:lnTo>
                    <a:pt x="2871977" y="28194"/>
                  </a:lnTo>
                  <a:lnTo>
                    <a:pt x="2886456" y="28194"/>
                  </a:lnTo>
                  <a:close/>
                </a:path>
                <a:path w="2900679" h="2345054">
                  <a:moveTo>
                    <a:pt x="2886456" y="2316480"/>
                  </a:moveTo>
                  <a:lnTo>
                    <a:pt x="2886456" y="28194"/>
                  </a:lnTo>
                  <a:lnTo>
                    <a:pt x="2871977" y="28194"/>
                  </a:lnTo>
                  <a:lnTo>
                    <a:pt x="2871978" y="2316480"/>
                  </a:lnTo>
                  <a:lnTo>
                    <a:pt x="2886456" y="2316480"/>
                  </a:lnTo>
                  <a:close/>
                </a:path>
                <a:path w="2900679" h="2345054">
                  <a:moveTo>
                    <a:pt x="2886456" y="2344674"/>
                  </a:moveTo>
                  <a:lnTo>
                    <a:pt x="2886456" y="2316480"/>
                  </a:lnTo>
                  <a:lnTo>
                    <a:pt x="2871978" y="2330196"/>
                  </a:lnTo>
                  <a:lnTo>
                    <a:pt x="2871978" y="2344674"/>
                  </a:lnTo>
                  <a:lnTo>
                    <a:pt x="2886456" y="2344674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519928" y="4162805"/>
            <a:ext cx="2891155" cy="2340610"/>
            <a:chOff x="5519928" y="4162805"/>
            <a:chExt cx="2891155" cy="234061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8884" y="4191000"/>
              <a:ext cx="2833116" cy="22829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19928" y="4162805"/>
              <a:ext cx="2891155" cy="2340610"/>
            </a:xfrm>
            <a:custGeom>
              <a:avLst/>
              <a:gdLst/>
              <a:ahLst/>
              <a:cxnLst/>
              <a:rect l="l" t="t" r="r" b="b"/>
              <a:pathLst>
                <a:path w="2891154" h="2340609">
                  <a:moveTo>
                    <a:pt x="2891028" y="2340102"/>
                  </a:moveTo>
                  <a:lnTo>
                    <a:pt x="2891028" y="0"/>
                  </a:lnTo>
                  <a:lnTo>
                    <a:pt x="0" y="0"/>
                  </a:lnTo>
                  <a:lnTo>
                    <a:pt x="0" y="2340102"/>
                  </a:lnTo>
                  <a:lnTo>
                    <a:pt x="14478" y="2340102"/>
                  </a:lnTo>
                  <a:lnTo>
                    <a:pt x="14477" y="28194"/>
                  </a:lnTo>
                  <a:lnTo>
                    <a:pt x="28956" y="14478"/>
                  </a:lnTo>
                  <a:lnTo>
                    <a:pt x="28956" y="28194"/>
                  </a:lnTo>
                  <a:lnTo>
                    <a:pt x="2862072" y="28194"/>
                  </a:lnTo>
                  <a:lnTo>
                    <a:pt x="2862072" y="14478"/>
                  </a:lnTo>
                  <a:lnTo>
                    <a:pt x="2876550" y="28194"/>
                  </a:lnTo>
                  <a:lnTo>
                    <a:pt x="2876550" y="2340102"/>
                  </a:lnTo>
                  <a:lnTo>
                    <a:pt x="2891028" y="2340102"/>
                  </a:lnTo>
                  <a:close/>
                </a:path>
                <a:path w="2891154" h="2340609">
                  <a:moveTo>
                    <a:pt x="28956" y="28194"/>
                  </a:moveTo>
                  <a:lnTo>
                    <a:pt x="28956" y="14478"/>
                  </a:lnTo>
                  <a:lnTo>
                    <a:pt x="14477" y="28194"/>
                  </a:lnTo>
                  <a:lnTo>
                    <a:pt x="28956" y="28194"/>
                  </a:lnTo>
                  <a:close/>
                </a:path>
                <a:path w="2891154" h="2340609">
                  <a:moveTo>
                    <a:pt x="28956" y="2311146"/>
                  </a:moveTo>
                  <a:lnTo>
                    <a:pt x="28956" y="28194"/>
                  </a:lnTo>
                  <a:lnTo>
                    <a:pt x="14477" y="28194"/>
                  </a:lnTo>
                  <a:lnTo>
                    <a:pt x="14478" y="2311146"/>
                  </a:lnTo>
                  <a:lnTo>
                    <a:pt x="28956" y="2311146"/>
                  </a:lnTo>
                  <a:close/>
                </a:path>
                <a:path w="2891154" h="2340609">
                  <a:moveTo>
                    <a:pt x="2876550" y="2311146"/>
                  </a:moveTo>
                  <a:lnTo>
                    <a:pt x="14478" y="2311146"/>
                  </a:lnTo>
                  <a:lnTo>
                    <a:pt x="28956" y="2325624"/>
                  </a:lnTo>
                  <a:lnTo>
                    <a:pt x="28956" y="2340102"/>
                  </a:lnTo>
                  <a:lnTo>
                    <a:pt x="2862072" y="2340102"/>
                  </a:lnTo>
                  <a:lnTo>
                    <a:pt x="2862072" y="2325624"/>
                  </a:lnTo>
                  <a:lnTo>
                    <a:pt x="2876550" y="2311146"/>
                  </a:lnTo>
                  <a:close/>
                </a:path>
                <a:path w="2891154" h="2340609">
                  <a:moveTo>
                    <a:pt x="28956" y="2340102"/>
                  </a:moveTo>
                  <a:lnTo>
                    <a:pt x="28956" y="2325624"/>
                  </a:lnTo>
                  <a:lnTo>
                    <a:pt x="14478" y="2311146"/>
                  </a:lnTo>
                  <a:lnTo>
                    <a:pt x="14478" y="2340102"/>
                  </a:lnTo>
                  <a:lnTo>
                    <a:pt x="28956" y="2340102"/>
                  </a:lnTo>
                  <a:close/>
                </a:path>
                <a:path w="2891154" h="2340609">
                  <a:moveTo>
                    <a:pt x="2876550" y="28194"/>
                  </a:moveTo>
                  <a:lnTo>
                    <a:pt x="2862072" y="14478"/>
                  </a:lnTo>
                  <a:lnTo>
                    <a:pt x="2862072" y="28194"/>
                  </a:lnTo>
                  <a:lnTo>
                    <a:pt x="2876550" y="28194"/>
                  </a:lnTo>
                  <a:close/>
                </a:path>
                <a:path w="2891154" h="2340609">
                  <a:moveTo>
                    <a:pt x="2876550" y="2311146"/>
                  </a:moveTo>
                  <a:lnTo>
                    <a:pt x="2876550" y="28194"/>
                  </a:lnTo>
                  <a:lnTo>
                    <a:pt x="2862072" y="28194"/>
                  </a:lnTo>
                  <a:lnTo>
                    <a:pt x="2862072" y="2311146"/>
                  </a:lnTo>
                  <a:lnTo>
                    <a:pt x="2876550" y="2311146"/>
                  </a:lnTo>
                  <a:close/>
                </a:path>
                <a:path w="2891154" h="2340609">
                  <a:moveTo>
                    <a:pt x="2876550" y="2340102"/>
                  </a:moveTo>
                  <a:lnTo>
                    <a:pt x="2876550" y="2311146"/>
                  </a:lnTo>
                  <a:lnTo>
                    <a:pt x="2862072" y="2325624"/>
                  </a:lnTo>
                  <a:lnTo>
                    <a:pt x="2862072" y="2340102"/>
                  </a:lnTo>
                  <a:lnTo>
                    <a:pt x="2876550" y="2340102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241295" y="6599172"/>
            <a:ext cx="1447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original</a:t>
            </a:r>
            <a:r>
              <a:rPr dirty="0" sz="1800" spc="-5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image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4173" y="6584701"/>
            <a:ext cx="18053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ahoma"/>
                <a:cs typeface="Tahoma"/>
              </a:rPr>
              <a:t>extrema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locations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111" y="1444752"/>
            <a:ext cx="2953512" cy="106070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104644" y="4126991"/>
            <a:ext cx="0" cy="932815"/>
          </a:xfrm>
          <a:custGeom>
            <a:avLst/>
            <a:gdLst/>
            <a:ahLst/>
            <a:cxnLst/>
            <a:rect l="l" t="t" r="r" b="b"/>
            <a:pathLst>
              <a:path w="0" h="932814">
                <a:moveTo>
                  <a:pt x="0" y="932688"/>
                </a:moveTo>
                <a:lnTo>
                  <a:pt x="0" y="0"/>
                </a:lnTo>
              </a:path>
            </a:pathLst>
          </a:custGeom>
          <a:ln w="9144">
            <a:solidFill>
              <a:srgbClr val="2F2F9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100072" y="4126991"/>
            <a:ext cx="4590415" cy="932815"/>
            <a:chOff x="2100072" y="4126991"/>
            <a:chExt cx="4590415" cy="932815"/>
          </a:xfrm>
        </p:grpSpPr>
        <p:sp>
          <p:nvSpPr>
            <p:cNvPr id="5" name="object 5"/>
            <p:cNvSpPr/>
            <p:nvPr/>
          </p:nvSpPr>
          <p:spPr>
            <a:xfrm>
              <a:off x="6685787" y="4126991"/>
              <a:ext cx="0" cy="932815"/>
            </a:xfrm>
            <a:custGeom>
              <a:avLst/>
              <a:gdLst/>
              <a:ahLst/>
              <a:cxnLst/>
              <a:rect l="l" t="t" r="r" b="b"/>
              <a:pathLst>
                <a:path w="0" h="932814">
                  <a:moveTo>
                    <a:pt x="0" y="932688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2F2F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00072" y="4131563"/>
              <a:ext cx="4590415" cy="0"/>
            </a:xfrm>
            <a:custGeom>
              <a:avLst/>
              <a:gdLst/>
              <a:ahLst/>
              <a:cxnLst/>
              <a:rect l="l" t="t" r="r" b="b"/>
              <a:pathLst>
                <a:path w="4590415" h="0">
                  <a:moveTo>
                    <a:pt x="0" y="0"/>
                  </a:moveTo>
                  <a:lnTo>
                    <a:pt x="4590288" y="0"/>
                  </a:lnTo>
                </a:path>
              </a:pathLst>
            </a:custGeom>
            <a:ln w="9144">
              <a:solidFill>
                <a:srgbClr val="2F2F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100072" y="5055107"/>
              <a:ext cx="4590415" cy="0"/>
            </a:xfrm>
            <a:custGeom>
              <a:avLst/>
              <a:gdLst/>
              <a:ahLst/>
              <a:cxnLst/>
              <a:rect l="l" t="t" r="r" b="b"/>
              <a:pathLst>
                <a:path w="4590415" h="0">
                  <a:moveTo>
                    <a:pt x="0" y="0"/>
                  </a:moveTo>
                  <a:lnTo>
                    <a:pt x="4590288" y="0"/>
                  </a:lnTo>
                </a:path>
              </a:pathLst>
            </a:custGeom>
            <a:ln w="9144">
              <a:solidFill>
                <a:srgbClr val="2F2F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68495" y="4625339"/>
              <a:ext cx="424180" cy="0"/>
            </a:xfrm>
            <a:custGeom>
              <a:avLst/>
              <a:gdLst/>
              <a:ahLst/>
              <a:cxnLst/>
              <a:rect l="l" t="t" r="r" b="b"/>
              <a:pathLst>
                <a:path w="424179" h="0">
                  <a:moveTo>
                    <a:pt x="0" y="0"/>
                  </a:moveTo>
                  <a:lnTo>
                    <a:pt x="423672" y="0"/>
                  </a:lnTo>
                </a:path>
              </a:pathLst>
            </a:custGeom>
            <a:ln w="21336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33288" y="4614671"/>
              <a:ext cx="551815" cy="30480"/>
            </a:xfrm>
            <a:custGeom>
              <a:avLst/>
              <a:gdLst/>
              <a:ahLst/>
              <a:cxnLst/>
              <a:rect l="l" t="t" r="r" b="b"/>
              <a:pathLst>
                <a:path w="551814" h="30479">
                  <a:moveTo>
                    <a:pt x="551688" y="9144"/>
                  </a:moveTo>
                  <a:lnTo>
                    <a:pt x="542544" y="9144"/>
                  </a:lnTo>
                  <a:lnTo>
                    <a:pt x="542544" y="0"/>
                  </a:lnTo>
                  <a:lnTo>
                    <a:pt x="9144" y="0"/>
                  </a:lnTo>
                  <a:lnTo>
                    <a:pt x="9144" y="9144"/>
                  </a:lnTo>
                  <a:lnTo>
                    <a:pt x="0" y="9144"/>
                  </a:lnTo>
                  <a:lnTo>
                    <a:pt x="0" y="30480"/>
                  </a:lnTo>
                  <a:lnTo>
                    <a:pt x="551688" y="30480"/>
                  </a:lnTo>
                  <a:lnTo>
                    <a:pt x="551688" y="9144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57216" y="4634483"/>
              <a:ext cx="158750" cy="0"/>
            </a:xfrm>
            <a:custGeom>
              <a:avLst/>
              <a:gdLst/>
              <a:ahLst/>
              <a:cxnLst/>
              <a:rect l="l" t="t" r="r" b="b"/>
              <a:pathLst>
                <a:path w="158750" h="0">
                  <a:moveTo>
                    <a:pt x="0" y="0"/>
                  </a:moveTo>
                  <a:lnTo>
                    <a:pt x="158496" y="0"/>
                  </a:lnTo>
                </a:path>
              </a:pathLst>
            </a:custGeom>
            <a:ln w="21336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7845552" y="5411723"/>
            <a:ext cx="469900" cy="0"/>
          </a:xfrm>
          <a:custGeom>
            <a:avLst/>
            <a:gdLst/>
            <a:ahLst/>
            <a:cxnLst/>
            <a:rect l="l" t="t" r="r" b="b"/>
            <a:pathLst>
              <a:path w="469900" h="0">
                <a:moveTo>
                  <a:pt x="0" y="0"/>
                </a:moveTo>
                <a:lnTo>
                  <a:pt x="469392" y="0"/>
                </a:lnTo>
              </a:path>
            </a:pathLst>
          </a:custGeom>
          <a:ln w="21336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631935" y="5411723"/>
            <a:ext cx="368935" cy="0"/>
          </a:xfrm>
          <a:custGeom>
            <a:avLst/>
            <a:gdLst/>
            <a:ahLst/>
            <a:cxnLst/>
            <a:rect l="l" t="t" r="r" b="b"/>
            <a:pathLst>
              <a:path w="368934" h="0">
                <a:moveTo>
                  <a:pt x="0" y="0"/>
                </a:moveTo>
                <a:lnTo>
                  <a:pt x="368808" y="0"/>
                </a:lnTo>
              </a:path>
            </a:pathLst>
          </a:custGeom>
          <a:ln w="21336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2079" y="4334255"/>
            <a:ext cx="36575" cy="19202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608576" y="4270247"/>
            <a:ext cx="1655445" cy="457200"/>
            <a:chOff x="4608576" y="4270247"/>
            <a:chExt cx="1655445" cy="4572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9552" y="4453127"/>
              <a:ext cx="73151" cy="1463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2976" y="4270247"/>
              <a:ext cx="740663" cy="25603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08576" y="4562855"/>
              <a:ext cx="896112" cy="16459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34071" y="4443984"/>
            <a:ext cx="1060703" cy="27431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54695" y="5111496"/>
            <a:ext cx="1115568" cy="201168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1671634" y="1372615"/>
            <a:ext cx="6105525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90" b="0">
                <a:latin typeface="Lucida Sans Unicode"/>
                <a:cs typeface="Lucida Sans Unicode"/>
              </a:rPr>
              <a:t>Initial</a:t>
            </a:r>
            <a:r>
              <a:rPr dirty="0" sz="4500" spc="-229" b="0">
                <a:latin typeface="Lucida Sans Unicode"/>
                <a:cs typeface="Lucida Sans Unicode"/>
              </a:rPr>
              <a:t> </a:t>
            </a:r>
            <a:r>
              <a:rPr dirty="0" sz="4500" spc="-140" b="0">
                <a:latin typeface="Lucida Sans Unicode"/>
                <a:cs typeface="Lucida Sans Unicode"/>
              </a:rPr>
              <a:t>Outlier</a:t>
            </a:r>
            <a:r>
              <a:rPr dirty="0" sz="4500" spc="-195" b="0">
                <a:latin typeface="Lucida Sans Unicode"/>
                <a:cs typeface="Lucida Sans Unicode"/>
              </a:rPr>
              <a:t> </a:t>
            </a:r>
            <a:r>
              <a:rPr dirty="0" sz="4500" spc="-10" b="0">
                <a:latin typeface="Lucida Sans Unicode"/>
                <a:cs typeface="Lucida Sans Unicode"/>
              </a:rPr>
              <a:t>Rejection</a:t>
            </a:r>
            <a:endParaRPr sz="45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9512" y="2449576"/>
            <a:ext cx="7306309" cy="156210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617855">
              <a:lnSpc>
                <a:spcPct val="100000"/>
              </a:lnSpc>
              <a:spcBef>
                <a:spcPts val="770"/>
              </a:spcBef>
            </a:pPr>
            <a:r>
              <a:rPr dirty="0" sz="2800" spc="-85">
                <a:latin typeface="Lucida Sans Unicode"/>
                <a:cs typeface="Lucida Sans Unicode"/>
              </a:rPr>
              <a:t>Low </a:t>
            </a:r>
            <a:r>
              <a:rPr dirty="0" sz="2800" spc="-165">
                <a:latin typeface="Lucida Sans Unicode"/>
                <a:cs typeface="Lucida Sans Unicode"/>
              </a:rPr>
              <a:t>contrast</a:t>
            </a:r>
            <a:r>
              <a:rPr dirty="0" sz="2800" spc="-135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candidates</a:t>
            </a:r>
            <a:endParaRPr sz="2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tabLst>
                <a:tab pos="617855" algn="l"/>
              </a:tabLst>
            </a:pPr>
            <a:r>
              <a:rPr dirty="0" sz="2800" spc="-835">
                <a:solidFill>
                  <a:srgbClr val="3333CC"/>
                </a:solidFill>
                <a:latin typeface="Lucida Sans Unicode"/>
                <a:cs typeface="Lucida Sans Unicode"/>
              </a:rPr>
              <a:t>2</a:t>
            </a:r>
            <a:r>
              <a:rPr dirty="0" sz="2800">
                <a:solidFill>
                  <a:srgbClr val="3333CC"/>
                </a:solidFill>
                <a:latin typeface="Lucida Sans Unicode"/>
                <a:cs typeface="Lucida Sans Unicode"/>
              </a:rPr>
              <a:t>	</a:t>
            </a:r>
            <a:r>
              <a:rPr dirty="0" sz="2800" spc="-100">
                <a:latin typeface="Lucida Sans Unicode"/>
                <a:cs typeface="Lucida Sans Unicode"/>
              </a:rPr>
              <a:t>Poorly</a:t>
            </a:r>
            <a:r>
              <a:rPr dirty="0" sz="2800" spc="-95">
                <a:latin typeface="Lucida Sans Unicode"/>
                <a:cs typeface="Lucida Sans Unicode"/>
              </a:rPr>
              <a:t> </a:t>
            </a:r>
            <a:r>
              <a:rPr dirty="0" sz="2800" spc="-150">
                <a:latin typeface="Lucida Sans Unicode"/>
                <a:cs typeface="Lucida Sans Unicode"/>
              </a:rPr>
              <a:t>localized</a:t>
            </a:r>
            <a:r>
              <a:rPr dirty="0" sz="2800" spc="-70">
                <a:latin typeface="Lucida Sans Unicode"/>
                <a:cs typeface="Lucida Sans Unicode"/>
              </a:rPr>
              <a:t> </a:t>
            </a:r>
            <a:r>
              <a:rPr dirty="0" sz="2800" spc="-130">
                <a:latin typeface="Lucida Sans Unicode"/>
                <a:cs typeface="Lucida Sans Unicode"/>
              </a:rPr>
              <a:t>candidates</a:t>
            </a:r>
            <a:r>
              <a:rPr dirty="0" sz="2800" spc="-45">
                <a:latin typeface="Lucida Sans Unicode"/>
                <a:cs typeface="Lucida Sans Unicode"/>
              </a:rPr>
              <a:t> </a:t>
            </a:r>
            <a:r>
              <a:rPr dirty="0" sz="2800" spc="-155">
                <a:latin typeface="Lucida Sans Unicode"/>
                <a:cs typeface="Lucida Sans Unicode"/>
              </a:rPr>
              <a:t>along</a:t>
            </a:r>
            <a:r>
              <a:rPr dirty="0" sz="2800" spc="-35">
                <a:latin typeface="Lucida Sans Unicode"/>
                <a:cs typeface="Lucida Sans Unicode"/>
              </a:rPr>
              <a:t> </a:t>
            </a:r>
            <a:r>
              <a:rPr dirty="0" sz="2800" spc="-105">
                <a:latin typeface="Lucida Sans Unicode"/>
                <a:cs typeface="Lucida Sans Unicode"/>
              </a:rPr>
              <a:t>an</a:t>
            </a:r>
            <a:r>
              <a:rPr dirty="0" sz="2800" spc="-130">
                <a:latin typeface="Lucida Sans Unicode"/>
                <a:cs typeface="Lucida Sans Unicode"/>
              </a:rPr>
              <a:t> </a:t>
            </a:r>
            <a:r>
              <a:rPr dirty="0" sz="2800" spc="-20">
                <a:latin typeface="Lucida Sans Unicode"/>
                <a:cs typeface="Lucida Sans Unicode"/>
              </a:rPr>
              <a:t>edge</a:t>
            </a:r>
            <a:endParaRPr sz="2800">
              <a:latin typeface="Lucida Sans Unicode"/>
              <a:cs typeface="Lucida Sans Unicode"/>
            </a:endParaRPr>
          </a:p>
          <a:p>
            <a:pPr marL="629285" indent="-629285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Char char="■"/>
              <a:tabLst>
                <a:tab pos="629285" algn="l"/>
              </a:tabLst>
            </a:pPr>
            <a:r>
              <a:rPr dirty="0" sz="2800" spc="-150">
                <a:latin typeface="Lucida Sans Unicode"/>
                <a:cs typeface="Lucida Sans Unicode"/>
              </a:rPr>
              <a:t>Taylor</a:t>
            </a:r>
            <a:r>
              <a:rPr dirty="0" sz="2800" spc="-200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series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170">
                <a:latin typeface="Lucida Sans Unicode"/>
                <a:cs typeface="Lucida Sans Unicode"/>
              </a:rPr>
              <a:t>expansion</a:t>
            </a:r>
            <a:r>
              <a:rPr dirty="0" sz="2800" spc="35">
                <a:latin typeface="Lucida Sans Unicode"/>
                <a:cs typeface="Lucida Sans Unicode"/>
              </a:rPr>
              <a:t> </a:t>
            </a:r>
            <a:r>
              <a:rPr dirty="0" sz="2800" spc="-195">
                <a:latin typeface="Lucida Sans Unicode"/>
                <a:cs typeface="Lucida Sans Unicode"/>
              </a:rPr>
              <a:t>of</a:t>
            </a:r>
            <a:r>
              <a:rPr dirty="0" sz="2800" spc="-75">
                <a:latin typeface="Lucida Sans Unicode"/>
                <a:cs typeface="Lucida Sans Unicode"/>
              </a:rPr>
              <a:t> </a:t>
            </a:r>
            <a:r>
              <a:rPr dirty="0" sz="2800" spc="-55">
                <a:latin typeface="Lucida Sans Unicode"/>
                <a:cs typeface="Lucida Sans Unicode"/>
              </a:rPr>
              <a:t>DOG,</a:t>
            </a:r>
            <a:r>
              <a:rPr dirty="0" sz="2800" spc="-145">
                <a:latin typeface="Lucida Sans Unicode"/>
                <a:cs typeface="Lucida Sans Unicode"/>
              </a:rPr>
              <a:t> </a:t>
            </a:r>
            <a:r>
              <a:rPr dirty="0" sz="2800" spc="-25">
                <a:latin typeface="Lucida Sans Unicode"/>
                <a:cs typeface="Lucida Sans Unicode"/>
              </a:rPr>
              <a:t>D.</a:t>
            </a:r>
            <a:endParaRPr sz="280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97833" y="4418838"/>
            <a:ext cx="63817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2583" sz="3225" spc="337" i="1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dirty="0" baseline="2583" sz="3225" spc="337" i="1">
                <a:solidFill>
                  <a:srgbClr val="2D2D2D"/>
                </a:solidFill>
                <a:latin typeface="Arial"/>
                <a:cs typeface="Arial"/>
              </a:rPr>
              <a:t>›</a:t>
            </a:r>
            <a:r>
              <a:rPr dirty="0" sz="2150" spc="225" i="1">
                <a:solidFill>
                  <a:srgbClr val="4F4F4F"/>
                </a:solidFill>
                <a:latin typeface="Arial"/>
                <a:cs typeface="Arial"/>
              </a:rPr>
              <a:t>:</a:t>
            </a:r>
            <a:r>
              <a:rPr dirty="0" sz="2150" spc="225" i="1">
                <a:solidFill>
                  <a:srgbClr val="2A2A2A"/>
                </a:solidFill>
                <a:latin typeface="Arial"/>
                <a:cs typeface="Arial"/>
              </a:rPr>
              <a:t>x</a:t>
            </a:r>
            <a:r>
              <a:rPr dirty="0" sz="2150" spc="195" i="1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2150" spc="-545" i="1">
                <a:solidFill>
                  <a:srgbClr val="4F4F4F"/>
                </a:solidFill>
                <a:latin typeface="Arial"/>
                <a:cs typeface="Arial"/>
              </a:rPr>
              <a:t>)</a:t>
            </a:r>
            <a:endParaRPr sz="2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05705" y="4235957"/>
            <a:ext cx="121793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40051" sz="3225" spc="487" i="1">
                <a:solidFill>
                  <a:srgbClr val="2A2A2A"/>
                </a:solidFill>
                <a:latin typeface="Arial"/>
                <a:cs typeface="Arial"/>
              </a:rPr>
              <a:t>I</a:t>
            </a:r>
            <a:r>
              <a:rPr dirty="0" baseline="-34883" sz="3225" spc="487" i="1">
                <a:solidFill>
                  <a:srgbClr val="282828"/>
                </a:solidFill>
                <a:latin typeface="Arial"/>
                <a:cs typeface="Arial"/>
              </a:rPr>
              <a:t>)</a:t>
            </a:r>
            <a:r>
              <a:rPr dirty="0" baseline="-34883" sz="3225" spc="-292" i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baseline="-37467" sz="3225" spc="937" i="1">
                <a:solidFill>
                  <a:srgbClr val="2F2F2F"/>
                </a:solidFill>
                <a:latin typeface="Arial"/>
                <a:cs typeface="Arial"/>
              </a:rPr>
              <a:t>+</a:t>
            </a:r>
            <a:r>
              <a:rPr dirty="0" baseline="-37467" sz="3225" spc="75" i="1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2100" spc="180" i="1">
                <a:latin typeface="Arial"/>
                <a:cs typeface="Arial"/>
              </a:rPr>
              <a:t>•›l)</a:t>
            </a:r>
            <a:r>
              <a:rPr dirty="0" sz="2100" spc="-275" i="1">
                <a:latin typeface="Arial"/>
                <a:cs typeface="Arial"/>
              </a:rPr>
              <a:t> </a:t>
            </a:r>
            <a:r>
              <a:rPr dirty="0" sz="2100" spc="65" i="1">
                <a:solidFill>
                  <a:srgbClr val="3D3D3D"/>
                </a:solidFill>
                <a:latin typeface="Arial"/>
                <a:cs typeface="Arial"/>
              </a:rPr>
              <a:t>'</a:t>
            </a:r>
            <a:endParaRPr sz="2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76160" y="4617211"/>
            <a:ext cx="36766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100" spc="-220">
                <a:latin typeface="Lucida Sans Unicode"/>
                <a:cs typeface="Lucida Sans Unicode"/>
              </a:rPr>
              <a:t>//x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846010" y="4439411"/>
            <a:ext cx="129539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55">
                <a:latin typeface="Courier New"/>
                <a:cs typeface="Courier New"/>
              </a:rPr>
              <a:t>X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7860" y="4649723"/>
            <a:ext cx="3746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700" spc="-50">
                <a:solidFill>
                  <a:srgbClr val="111111"/>
                </a:solidFill>
                <a:latin typeface="Courier New"/>
                <a:cs typeface="Courier New"/>
              </a:rPr>
              <a:t>)y-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64776" y="6027928"/>
            <a:ext cx="24276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5">
                <a:latin typeface="Lucida Sans Unicode"/>
                <a:cs typeface="Lucida Sans Unicode"/>
              </a:rPr>
              <a:t>large,</a:t>
            </a:r>
            <a:r>
              <a:rPr dirty="0" sz="2800" spc="-110">
                <a:latin typeface="Lucida Sans Unicode"/>
                <a:cs typeface="Lucida Sans Unicode"/>
              </a:rPr>
              <a:t> </a:t>
            </a:r>
            <a:r>
              <a:rPr dirty="0" sz="2800" spc="-30" i="1">
                <a:latin typeface="Arial"/>
                <a:cs typeface="Arial"/>
              </a:rPr>
              <a:t>|D(x)|»ih.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48772" y="6129273"/>
            <a:ext cx="103505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50" spc="-430">
                <a:solidFill>
                  <a:srgbClr val="545454"/>
                </a:solidFill>
                <a:latin typeface="Lucida Sans Unicode"/>
                <a:cs typeface="Lucida Sans Unicode"/>
              </a:rPr>
              <a:t>“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10521" y="5123433"/>
            <a:ext cx="116967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5850" algn="l"/>
              </a:tabLst>
            </a:pPr>
            <a:r>
              <a:rPr dirty="0" sz="2650" spc="-200">
                <a:solidFill>
                  <a:srgbClr val="151515"/>
                </a:solidFill>
                <a:latin typeface="Lucida Sans Unicode"/>
                <a:cs typeface="Lucida Sans Unicode"/>
              </a:rPr>
              <a:t>«</a:t>
            </a:r>
            <a:r>
              <a:rPr dirty="0" sz="2650" spc="-390">
                <a:solidFill>
                  <a:srgbClr val="151515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490">
                <a:solidFill>
                  <a:srgbClr val="6D6D6D"/>
                </a:solidFill>
                <a:latin typeface="Lucida Sans Unicode"/>
                <a:cs typeface="Lucida Sans Unicode"/>
              </a:rPr>
              <a:t>=</a:t>
            </a:r>
            <a:r>
              <a:rPr dirty="0" sz="2650" spc="-155">
                <a:solidFill>
                  <a:srgbClr val="6D6D6D"/>
                </a:solidFill>
                <a:latin typeface="Lucida Sans Unicode"/>
                <a:cs typeface="Lucida Sans Unicode"/>
              </a:rPr>
              <a:t> </a:t>
            </a:r>
            <a:r>
              <a:rPr dirty="0" sz="2650" spc="-1510">
                <a:solidFill>
                  <a:srgbClr val="7E7E7E"/>
                </a:solidFill>
                <a:latin typeface="Lucida Sans Unicode"/>
                <a:cs typeface="Lucida Sans Unicode"/>
              </a:rPr>
              <a:t>—</a:t>
            </a:r>
            <a:r>
              <a:rPr dirty="0" sz="2650">
                <a:solidFill>
                  <a:srgbClr val="7E7E7E"/>
                </a:solidFill>
                <a:latin typeface="Lucida Sans Unicode"/>
                <a:cs typeface="Lucida Sans Unicode"/>
              </a:rPr>
              <a:t>	</a:t>
            </a:r>
            <a:r>
              <a:rPr dirty="0" sz="2650" spc="-335">
                <a:solidFill>
                  <a:srgbClr val="505050"/>
                </a:solidFill>
                <a:latin typeface="Lucida Sans Unicode"/>
                <a:cs typeface="Lucida Sans Unicode"/>
              </a:rPr>
              <a:t>,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40937" y="5321554"/>
            <a:ext cx="974725" cy="383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0875" algn="l"/>
              </a:tabLst>
            </a:pPr>
            <a:r>
              <a:rPr dirty="0" sz="2350">
                <a:solidFill>
                  <a:srgbClr val="131313"/>
                </a:solidFill>
                <a:latin typeface="Lucida Sans Unicode"/>
                <a:cs typeface="Lucida Sans Unicode"/>
              </a:rPr>
              <a:t>›,-	</a:t>
            </a:r>
            <a:r>
              <a:rPr dirty="0" sz="2350" spc="-450">
                <a:solidFill>
                  <a:srgbClr val="151515"/>
                </a:solidFill>
                <a:latin typeface="Lucida Sans Unicode"/>
                <a:cs typeface="Lucida Sans Unicode"/>
              </a:rPr>
              <a:t>•›x</a:t>
            </a:r>
            <a:endParaRPr sz="23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6926" y="5039292"/>
            <a:ext cx="7082155" cy="102552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630555" indent="-617855">
              <a:lnSpc>
                <a:spcPct val="100000"/>
              </a:lnSpc>
              <a:spcBef>
                <a:spcPts val="540"/>
              </a:spcBef>
              <a:buClr>
                <a:srgbClr val="3333CC"/>
              </a:buClr>
              <a:buChar char="■"/>
              <a:tabLst>
                <a:tab pos="630555" algn="l"/>
              </a:tabLst>
            </a:pPr>
            <a:r>
              <a:rPr dirty="0" sz="2800" spc="-180">
                <a:latin typeface="Lucida Sans Unicode"/>
                <a:cs typeface="Lucida Sans Unicode"/>
              </a:rPr>
              <a:t>Minima</a:t>
            </a:r>
            <a:r>
              <a:rPr dirty="0" sz="2800" spc="-45">
                <a:latin typeface="Lucida Sans Unicode"/>
                <a:cs typeface="Lucida Sans Unicode"/>
              </a:rPr>
              <a:t> </a:t>
            </a:r>
            <a:r>
              <a:rPr dirty="0" sz="2800" spc="-170">
                <a:latin typeface="Lucida Sans Unicode"/>
                <a:cs typeface="Lucida Sans Unicode"/>
              </a:rPr>
              <a:t>or</a:t>
            </a:r>
            <a:r>
              <a:rPr dirty="0" sz="2800" spc="-200">
                <a:latin typeface="Lucida Sans Unicode"/>
                <a:cs typeface="Lucida Sans Unicode"/>
              </a:rPr>
              <a:t> maxima</a:t>
            </a:r>
            <a:r>
              <a:rPr dirty="0" sz="2800" spc="25">
                <a:latin typeface="Lucida Sans Unicode"/>
                <a:cs typeface="Lucida Sans Unicode"/>
              </a:rPr>
              <a:t> </a:t>
            </a:r>
            <a:r>
              <a:rPr dirty="0" sz="2800" spc="-110">
                <a:latin typeface="Lucida Sans Unicode"/>
                <a:cs typeface="Lucida Sans Unicode"/>
              </a:rPr>
              <a:t>is</a:t>
            </a:r>
            <a:r>
              <a:rPr dirty="0" sz="2800" spc="-280">
                <a:latin typeface="Lucida Sans Unicode"/>
                <a:cs typeface="Lucida Sans Unicode"/>
              </a:rPr>
              <a:t> </a:t>
            </a:r>
            <a:r>
              <a:rPr dirty="0" sz="2800" spc="-130">
                <a:latin typeface="Lucida Sans Unicode"/>
                <a:cs typeface="Lucida Sans Unicode"/>
              </a:rPr>
              <a:t>located</a:t>
            </a:r>
            <a:r>
              <a:rPr dirty="0" sz="2800" spc="-50">
                <a:latin typeface="Lucida Sans Unicode"/>
                <a:cs typeface="Lucida Sans Unicode"/>
              </a:rPr>
              <a:t> </a:t>
            </a:r>
            <a:r>
              <a:rPr dirty="0" sz="2800" spc="-25">
                <a:latin typeface="Lucida Sans Unicode"/>
                <a:cs typeface="Lucida Sans Unicode"/>
              </a:rPr>
              <a:t>at</a:t>
            </a:r>
            <a:endParaRPr sz="2800">
              <a:latin typeface="Lucida Sans Unicode"/>
              <a:cs typeface="Lucida Sans Unicode"/>
            </a:endParaRPr>
          </a:p>
          <a:p>
            <a:pPr marL="629920" indent="-617220">
              <a:lnSpc>
                <a:spcPct val="100000"/>
              </a:lnSpc>
              <a:spcBef>
                <a:spcPts val="470"/>
              </a:spcBef>
              <a:buClr>
                <a:srgbClr val="3333CC"/>
              </a:buClr>
              <a:buChar char="■"/>
              <a:tabLst>
                <a:tab pos="629920" algn="l"/>
              </a:tabLst>
            </a:pPr>
            <a:r>
              <a:rPr dirty="0" sz="2800" spc="-75">
                <a:latin typeface="Lucida Sans Unicode"/>
                <a:cs typeface="Lucida Sans Unicode"/>
              </a:rPr>
              <a:t>Value</a:t>
            </a:r>
            <a:r>
              <a:rPr dirty="0" sz="2800" spc="-150">
                <a:latin typeface="Lucida Sans Unicode"/>
                <a:cs typeface="Lucida Sans Unicode"/>
              </a:rPr>
              <a:t> </a:t>
            </a:r>
            <a:r>
              <a:rPr dirty="0" sz="2800" spc="-240">
                <a:latin typeface="Lucida Sans Unicode"/>
                <a:cs typeface="Lucida Sans Unicode"/>
              </a:rPr>
              <a:t>of</a:t>
            </a:r>
            <a:r>
              <a:rPr dirty="0" sz="2800" spc="-210">
                <a:latin typeface="Lucida Sans Unicode"/>
                <a:cs typeface="Lucida Sans Unicode"/>
              </a:rPr>
              <a:t> </a:t>
            </a:r>
            <a:r>
              <a:rPr dirty="0" sz="2800" spc="-60">
                <a:latin typeface="Lucida Sans Unicode"/>
                <a:cs typeface="Lucida Sans Unicode"/>
              </a:rPr>
              <a:t>D(x}</a:t>
            </a:r>
            <a:r>
              <a:rPr dirty="0" sz="2800" spc="-5">
                <a:latin typeface="Lucida Sans Unicode"/>
                <a:cs typeface="Lucida Sans Unicode"/>
              </a:rPr>
              <a:t> </a:t>
            </a:r>
            <a:r>
              <a:rPr dirty="0" sz="2800" spc="-75">
                <a:latin typeface="Lucida Sans Unicode"/>
                <a:cs typeface="Lucida Sans Unicode"/>
              </a:rPr>
              <a:t>at</a:t>
            </a:r>
            <a:r>
              <a:rPr dirty="0" sz="2800" spc="-195">
                <a:latin typeface="Lucida Sans Unicode"/>
                <a:cs typeface="Lucida Sans Unicode"/>
              </a:rPr>
              <a:t> </a:t>
            </a:r>
            <a:r>
              <a:rPr dirty="0" sz="2800" spc="-285">
                <a:latin typeface="Lucida Sans Unicode"/>
                <a:cs typeface="Lucida Sans Unicode"/>
              </a:rPr>
              <a:t>minima/maxima</a:t>
            </a:r>
            <a:r>
              <a:rPr dirty="0" sz="2800" spc="350">
                <a:latin typeface="Lucida Sans Unicode"/>
                <a:cs typeface="Lucida Sans Unicode"/>
              </a:rPr>
              <a:t> </a:t>
            </a:r>
            <a:r>
              <a:rPr dirty="0" sz="3000" spc="-300">
                <a:latin typeface="Lucida Sans Unicode"/>
                <a:cs typeface="Lucida Sans Unicode"/>
              </a:rPr>
              <a:t>must</a:t>
            </a:r>
            <a:r>
              <a:rPr dirty="0" sz="3000" spc="-325">
                <a:latin typeface="Lucida Sans Unicode"/>
                <a:cs typeface="Lucida Sans Unicode"/>
              </a:rPr>
              <a:t> </a:t>
            </a:r>
            <a:r>
              <a:rPr dirty="0" sz="3000" spc="-25">
                <a:latin typeface="Lucida Sans Unicode"/>
                <a:cs typeface="Lucida Sans Unicode"/>
              </a:rPr>
              <a:t>be</a:t>
            </a:r>
            <a:endParaRPr sz="3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Initial</a:t>
            </a:r>
            <a:r>
              <a:rPr dirty="0" spc="-120"/>
              <a:t> </a:t>
            </a:r>
            <a:r>
              <a:rPr dirty="0"/>
              <a:t>Outlier</a:t>
            </a:r>
            <a:r>
              <a:rPr dirty="0" spc="-120"/>
              <a:t> </a:t>
            </a:r>
            <a:r>
              <a:rPr dirty="0" spc="-10"/>
              <a:t>Rejection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441703" y="3019805"/>
            <a:ext cx="3562350" cy="2881630"/>
            <a:chOff x="1441703" y="3019805"/>
            <a:chExt cx="3562350" cy="28816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0659" y="3048000"/>
              <a:ext cx="3505200" cy="282473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41703" y="3019805"/>
              <a:ext cx="3562350" cy="2881630"/>
            </a:xfrm>
            <a:custGeom>
              <a:avLst/>
              <a:gdLst/>
              <a:ahLst/>
              <a:cxnLst/>
              <a:rect l="l" t="t" r="r" b="b"/>
              <a:pathLst>
                <a:path w="3562350" h="2881629">
                  <a:moveTo>
                    <a:pt x="3562350" y="2881122"/>
                  </a:moveTo>
                  <a:lnTo>
                    <a:pt x="3562350" y="0"/>
                  </a:lnTo>
                  <a:lnTo>
                    <a:pt x="0" y="0"/>
                  </a:lnTo>
                  <a:lnTo>
                    <a:pt x="0" y="2881122"/>
                  </a:lnTo>
                  <a:lnTo>
                    <a:pt x="14477" y="2881122"/>
                  </a:lnTo>
                  <a:lnTo>
                    <a:pt x="14478" y="28194"/>
                  </a:lnTo>
                  <a:lnTo>
                    <a:pt x="28956" y="14478"/>
                  </a:lnTo>
                  <a:lnTo>
                    <a:pt x="28956" y="28194"/>
                  </a:lnTo>
                  <a:lnTo>
                    <a:pt x="3534155" y="28193"/>
                  </a:lnTo>
                  <a:lnTo>
                    <a:pt x="3534155" y="14477"/>
                  </a:lnTo>
                  <a:lnTo>
                    <a:pt x="3547872" y="28193"/>
                  </a:lnTo>
                  <a:lnTo>
                    <a:pt x="3547872" y="2881122"/>
                  </a:lnTo>
                  <a:lnTo>
                    <a:pt x="3562350" y="2881122"/>
                  </a:lnTo>
                  <a:close/>
                </a:path>
                <a:path w="3562350" h="2881629">
                  <a:moveTo>
                    <a:pt x="28956" y="28194"/>
                  </a:moveTo>
                  <a:lnTo>
                    <a:pt x="28956" y="14478"/>
                  </a:lnTo>
                  <a:lnTo>
                    <a:pt x="14478" y="28194"/>
                  </a:lnTo>
                  <a:lnTo>
                    <a:pt x="28956" y="28194"/>
                  </a:lnTo>
                  <a:close/>
                </a:path>
                <a:path w="3562350" h="2881629">
                  <a:moveTo>
                    <a:pt x="28956" y="2852928"/>
                  </a:moveTo>
                  <a:lnTo>
                    <a:pt x="28956" y="28194"/>
                  </a:lnTo>
                  <a:lnTo>
                    <a:pt x="14478" y="28194"/>
                  </a:lnTo>
                  <a:lnTo>
                    <a:pt x="14478" y="2852928"/>
                  </a:lnTo>
                  <a:lnTo>
                    <a:pt x="28956" y="2852928"/>
                  </a:lnTo>
                  <a:close/>
                </a:path>
                <a:path w="3562350" h="2881629">
                  <a:moveTo>
                    <a:pt x="3547872" y="2852928"/>
                  </a:moveTo>
                  <a:lnTo>
                    <a:pt x="14478" y="2852928"/>
                  </a:lnTo>
                  <a:lnTo>
                    <a:pt x="28956" y="2866644"/>
                  </a:lnTo>
                  <a:lnTo>
                    <a:pt x="28955" y="2881122"/>
                  </a:lnTo>
                  <a:lnTo>
                    <a:pt x="3534155" y="2881122"/>
                  </a:lnTo>
                  <a:lnTo>
                    <a:pt x="3534155" y="2866644"/>
                  </a:lnTo>
                  <a:lnTo>
                    <a:pt x="3547872" y="2852928"/>
                  </a:lnTo>
                  <a:close/>
                </a:path>
                <a:path w="3562350" h="2881629">
                  <a:moveTo>
                    <a:pt x="28955" y="2881122"/>
                  </a:moveTo>
                  <a:lnTo>
                    <a:pt x="28956" y="2866644"/>
                  </a:lnTo>
                  <a:lnTo>
                    <a:pt x="14478" y="2852928"/>
                  </a:lnTo>
                  <a:lnTo>
                    <a:pt x="14477" y="2881122"/>
                  </a:lnTo>
                  <a:lnTo>
                    <a:pt x="28955" y="2881122"/>
                  </a:lnTo>
                  <a:close/>
                </a:path>
                <a:path w="3562350" h="2881629">
                  <a:moveTo>
                    <a:pt x="3547872" y="28193"/>
                  </a:moveTo>
                  <a:lnTo>
                    <a:pt x="3534155" y="14477"/>
                  </a:lnTo>
                  <a:lnTo>
                    <a:pt x="3534155" y="28193"/>
                  </a:lnTo>
                  <a:lnTo>
                    <a:pt x="3547872" y="28193"/>
                  </a:lnTo>
                  <a:close/>
                </a:path>
                <a:path w="3562350" h="2881629">
                  <a:moveTo>
                    <a:pt x="3547872" y="2852928"/>
                  </a:moveTo>
                  <a:lnTo>
                    <a:pt x="3547872" y="28193"/>
                  </a:lnTo>
                  <a:lnTo>
                    <a:pt x="3534155" y="28193"/>
                  </a:lnTo>
                  <a:lnTo>
                    <a:pt x="3534155" y="2852928"/>
                  </a:lnTo>
                  <a:lnTo>
                    <a:pt x="3547872" y="2852928"/>
                  </a:lnTo>
                  <a:close/>
                </a:path>
                <a:path w="3562350" h="2881629">
                  <a:moveTo>
                    <a:pt x="3547872" y="2881122"/>
                  </a:moveTo>
                  <a:lnTo>
                    <a:pt x="3547872" y="2852928"/>
                  </a:lnTo>
                  <a:lnTo>
                    <a:pt x="3534155" y="2866644"/>
                  </a:lnTo>
                  <a:lnTo>
                    <a:pt x="3534155" y="2881122"/>
                  </a:lnTo>
                  <a:lnTo>
                    <a:pt x="3547872" y="2881122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404103" y="3019805"/>
            <a:ext cx="3540760" cy="2879725"/>
            <a:chOff x="5404103" y="3019805"/>
            <a:chExt cx="3540760" cy="28797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1883" y="3050219"/>
              <a:ext cx="3483931" cy="28232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04103" y="3019805"/>
              <a:ext cx="3540760" cy="2879725"/>
            </a:xfrm>
            <a:custGeom>
              <a:avLst/>
              <a:gdLst/>
              <a:ahLst/>
              <a:cxnLst/>
              <a:rect l="l" t="t" r="r" b="b"/>
              <a:pathLst>
                <a:path w="3540759" h="2879725">
                  <a:moveTo>
                    <a:pt x="3540252" y="2879598"/>
                  </a:moveTo>
                  <a:lnTo>
                    <a:pt x="3540252" y="0"/>
                  </a:lnTo>
                  <a:lnTo>
                    <a:pt x="0" y="0"/>
                  </a:lnTo>
                  <a:lnTo>
                    <a:pt x="0" y="2879598"/>
                  </a:lnTo>
                  <a:lnTo>
                    <a:pt x="14478" y="2879598"/>
                  </a:lnTo>
                  <a:lnTo>
                    <a:pt x="14478" y="28194"/>
                  </a:lnTo>
                  <a:lnTo>
                    <a:pt x="28956" y="14478"/>
                  </a:lnTo>
                  <a:lnTo>
                    <a:pt x="28956" y="28194"/>
                  </a:lnTo>
                  <a:lnTo>
                    <a:pt x="3511296" y="28194"/>
                  </a:lnTo>
                  <a:lnTo>
                    <a:pt x="3511296" y="14478"/>
                  </a:lnTo>
                  <a:lnTo>
                    <a:pt x="3525774" y="28194"/>
                  </a:lnTo>
                  <a:lnTo>
                    <a:pt x="3525774" y="2879598"/>
                  </a:lnTo>
                  <a:lnTo>
                    <a:pt x="3540252" y="2879598"/>
                  </a:lnTo>
                  <a:close/>
                </a:path>
                <a:path w="3540759" h="2879725">
                  <a:moveTo>
                    <a:pt x="28956" y="28194"/>
                  </a:moveTo>
                  <a:lnTo>
                    <a:pt x="28956" y="14478"/>
                  </a:lnTo>
                  <a:lnTo>
                    <a:pt x="14478" y="28194"/>
                  </a:lnTo>
                  <a:lnTo>
                    <a:pt x="28956" y="28194"/>
                  </a:lnTo>
                  <a:close/>
                </a:path>
                <a:path w="3540759" h="2879725">
                  <a:moveTo>
                    <a:pt x="28956" y="2851404"/>
                  </a:moveTo>
                  <a:lnTo>
                    <a:pt x="28956" y="28194"/>
                  </a:lnTo>
                  <a:lnTo>
                    <a:pt x="14478" y="28194"/>
                  </a:lnTo>
                  <a:lnTo>
                    <a:pt x="14478" y="2851404"/>
                  </a:lnTo>
                  <a:lnTo>
                    <a:pt x="28956" y="2851404"/>
                  </a:lnTo>
                  <a:close/>
                </a:path>
                <a:path w="3540759" h="2879725">
                  <a:moveTo>
                    <a:pt x="3525774" y="2851404"/>
                  </a:moveTo>
                  <a:lnTo>
                    <a:pt x="14478" y="2851404"/>
                  </a:lnTo>
                  <a:lnTo>
                    <a:pt x="28956" y="2865120"/>
                  </a:lnTo>
                  <a:lnTo>
                    <a:pt x="28956" y="2879598"/>
                  </a:lnTo>
                  <a:lnTo>
                    <a:pt x="3511296" y="2879598"/>
                  </a:lnTo>
                  <a:lnTo>
                    <a:pt x="3511296" y="2865120"/>
                  </a:lnTo>
                  <a:lnTo>
                    <a:pt x="3525774" y="2851404"/>
                  </a:lnTo>
                  <a:close/>
                </a:path>
                <a:path w="3540759" h="2879725">
                  <a:moveTo>
                    <a:pt x="28956" y="2879598"/>
                  </a:moveTo>
                  <a:lnTo>
                    <a:pt x="28956" y="2865120"/>
                  </a:lnTo>
                  <a:lnTo>
                    <a:pt x="14478" y="2851404"/>
                  </a:lnTo>
                  <a:lnTo>
                    <a:pt x="14478" y="2879598"/>
                  </a:lnTo>
                  <a:lnTo>
                    <a:pt x="28956" y="2879598"/>
                  </a:lnTo>
                  <a:close/>
                </a:path>
                <a:path w="3540759" h="2879725">
                  <a:moveTo>
                    <a:pt x="3525774" y="28194"/>
                  </a:moveTo>
                  <a:lnTo>
                    <a:pt x="3511296" y="14478"/>
                  </a:lnTo>
                  <a:lnTo>
                    <a:pt x="3511296" y="28194"/>
                  </a:lnTo>
                  <a:lnTo>
                    <a:pt x="3525774" y="28194"/>
                  </a:lnTo>
                  <a:close/>
                </a:path>
                <a:path w="3540759" h="2879725">
                  <a:moveTo>
                    <a:pt x="3525774" y="2851404"/>
                  </a:moveTo>
                  <a:lnTo>
                    <a:pt x="3525774" y="28194"/>
                  </a:lnTo>
                  <a:lnTo>
                    <a:pt x="3511296" y="28194"/>
                  </a:lnTo>
                  <a:lnTo>
                    <a:pt x="3511296" y="2851404"/>
                  </a:lnTo>
                  <a:lnTo>
                    <a:pt x="3525774" y="2851404"/>
                  </a:lnTo>
                  <a:close/>
                </a:path>
                <a:path w="3540759" h="2879725">
                  <a:moveTo>
                    <a:pt x="3525774" y="2879598"/>
                  </a:moveTo>
                  <a:lnTo>
                    <a:pt x="3525774" y="2851404"/>
                  </a:lnTo>
                  <a:lnTo>
                    <a:pt x="3511296" y="2865120"/>
                  </a:lnTo>
                  <a:lnTo>
                    <a:pt x="3511296" y="2879598"/>
                  </a:lnTo>
                  <a:lnTo>
                    <a:pt x="3525774" y="2879598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027935" y="6120636"/>
            <a:ext cx="6352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832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key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points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729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key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points,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th=0.03</a:t>
            </a:r>
            <a:r>
              <a:rPr dirty="0" sz="2400" spc="-10">
                <a:latin typeface="Tahoma"/>
                <a:cs typeface="Tahoma"/>
              </a:rPr>
              <a:t>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Further</a:t>
            </a:r>
            <a:r>
              <a:rPr dirty="0" spc="-140"/>
              <a:t> </a:t>
            </a:r>
            <a:r>
              <a:rPr dirty="0"/>
              <a:t>Outlier</a:t>
            </a:r>
            <a:r>
              <a:rPr dirty="0" spc="-140"/>
              <a:t> </a:t>
            </a:r>
            <a:r>
              <a:rPr dirty="0" spc="-10"/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95041"/>
            <a:ext cx="7377430" cy="344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6037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9722"/>
              <a:buFont typeface="Wingdings"/>
              <a:buChar char=""/>
              <a:tabLst>
                <a:tab pos="355600" algn="l"/>
              </a:tabLst>
            </a:pPr>
            <a:r>
              <a:rPr dirty="0" sz="3600">
                <a:latin typeface="Arial MT"/>
                <a:cs typeface="Arial MT"/>
              </a:rPr>
              <a:t>DOG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has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strong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response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 spc="-20">
                <a:latin typeface="Arial MT"/>
                <a:cs typeface="Arial MT"/>
              </a:rPr>
              <a:t>along edge</a:t>
            </a:r>
            <a:endParaRPr sz="3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722"/>
              <a:buFont typeface="Wingdings"/>
              <a:buChar char=""/>
              <a:tabLst>
                <a:tab pos="354965" algn="l"/>
              </a:tabLst>
            </a:pPr>
            <a:r>
              <a:rPr dirty="0" sz="3600">
                <a:latin typeface="Arial MT"/>
                <a:cs typeface="Arial MT"/>
              </a:rPr>
              <a:t>Assume</a:t>
            </a:r>
            <a:r>
              <a:rPr dirty="0" sz="3600" spc="-1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DOG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as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a</a:t>
            </a:r>
            <a:r>
              <a:rPr dirty="0" sz="3600" spc="-10">
                <a:latin typeface="Arial MT"/>
                <a:cs typeface="Arial MT"/>
              </a:rPr>
              <a:t> surface</a:t>
            </a:r>
            <a:endParaRPr sz="36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780"/>
              </a:spcBef>
              <a:buClr>
                <a:srgbClr val="FF0000"/>
              </a:buClr>
              <a:buSzPct val="54687"/>
              <a:buFont typeface="Wingdings"/>
              <a:buChar char=""/>
              <a:tabLst>
                <a:tab pos="755015" algn="l"/>
              </a:tabLst>
            </a:pPr>
            <a:r>
              <a:rPr dirty="0" sz="3200">
                <a:latin typeface="Arial MT"/>
                <a:cs typeface="Arial MT"/>
              </a:rPr>
              <a:t>Compute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principal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curvatures</a:t>
            </a:r>
            <a:r>
              <a:rPr dirty="0" sz="3200" spc="-50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(PC)</a:t>
            </a:r>
            <a:endParaRPr sz="32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SzPct val="54687"/>
              <a:buFont typeface="Wingdings"/>
              <a:buChar char=""/>
              <a:tabLst>
                <a:tab pos="755650" algn="l"/>
              </a:tabLst>
            </a:pPr>
            <a:r>
              <a:rPr dirty="0" sz="3200">
                <a:latin typeface="Arial MT"/>
                <a:cs typeface="Arial MT"/>
              </a:rPr>
              <a:t>Along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edge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one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PC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very </a:t>
            </a:r>
            <a:r>
              <a:rPr dirty="0" sz="3200">
                <a:latin typeface="Arial MT"/>
                <a:cs typeface="Arial MT"/>
              </a:rPr>
              <a:t>low,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across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edge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high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Further</a:t>
            </a:r>
            <a:r>
              <a:rPr dirty="0" spc="-140"/>
              <a:t> </a:t>
            </a:r>
            <a:r>
              <a:rPr dirty="0"/>
              <a:t>Outlier</a:t>
            </a:r>
            <a:r>
              <a:rPr dirty="0" spc="-140"/>
              <a:t> </a:t>
            </a:r>
            <a:r>
              <a:rPr dirty="0" spc="-10"/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5423408"/>
            <a:ext cx="580263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Remove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outliers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by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evaluating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8569" y="3896012"/>
            <a:ext cx="2154855" cy="7096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05864" y="2399486"/>
            <a:ext cx="6798309" cy="196659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67665" algn="l"/>
              </a:tabLst>
            </a:pPr>
            <a:r>
              <a:rPr dirty="0" sz="3200">
                <a:latin typeface="Arial MT"/>
                <a:cs typeface="Arial MT"/>
              </a:rPr>
              <a:t>Analogous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Harris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corner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detector</a:t>
            </a:r>
            <a:endParaRPr sz="3200">
              <a:latin typeface="Arial MT"/>
              <a:cs typeface="Arial MT"/>
            </a:endParaRPr>
          </a:p>
          <a:p>
            <a:pPr marL="3676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67665" algn="l"/>
              </a:tabLst>
            </a:pPr>
            <a:r>
              <a:rPr dirty="0" sz="3200">
                <a:latin typeface="Arial MT"/>
                <a:cs typeface="Arial MT"/>
              </a:rPr>
              <a:t>Compute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Hessian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0">
                <a:latin typeface="Arial MT"/>
                <a:cs typeface="Arial MT"/>
              </a:rPr>
              <a:t>D</a:t>
            </a:r>
            <a:endParaRPr sz="3200">
              <a:latin typeface="Arial MT"/>
              <a:cs typeface="Arial MT"/>
            </a:endParaRPr>
          </a:p>
          <a:p>
            <a:pPr marL="2440940">
              <a:lnSpc>
                <a:spcPct val="100000"/>
              </a:lnSpc>
              <a:spcBef>
                <a:spcPts val="2820"/>
              </a:spcBef>
            </a:pPr>
            <a:r>
              <a:rPr dirty="0" sz="2550" i="1">
                <a:latin typeface="Times New Roman"/>
                <a:cs typeface="Times New Roman"/>
              </a:rPr>
              <a:t>Tr</a:t>
            </a:r>
            <a:r>
              <a:rPr dirty="0" sz="2550">
                <a:latin typeface="Times New Roman"/>
                <a:cs typeface="Times New Roman"/>
              </a:rPr>
              <a:t>(</a:t>
            </a:r>
            <a:r>
              <a:rPr dirty="0" sz="2550" i="1">
                <a:latin typeface="Times New Roman"/>
                <a:cs typeface="Times New Roman"/>
              </a:rPr>
              <a:t>H</a:t>
            </a:r>
            <a:r>
              <a:rPr dirty="0" sz="2550" spc="-400" i="1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)</a:t>
            </a:r>
            <a:r>
              <a:rPr dirty="0" sz="2550" spc="-95">
                <a:latin typeface="Times New Roman"/>
                <a:cs typeface="Times New Roman"/>
              </a:rPr>
              <a:t> </a:t>
            </a:r>
            <a:r>
              <a:rPr dirty="0" sz="2550">
                <a:latin typeface="Symbol"/>
                <a:cs typeface="Symbol"/>
              </a:rPr>
              <a:t></a:t>
            </a:r>
            <a:r>
              <a:rPr dirty="0" sz="2550" spc="-30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D</a:t>
            </a:r>
            <a:r>
              <a:rPr dirty="0" baseline="-24074" sz="2250" i="1">
                <a:latin typeface="Times New Roman"/>
                <a:cs typeface="Times New Roman"/>
              </a:rPr>
              <a:t>xx</a:t>
            </a:r>
            <a:r>
              <a:rPr dirty="0" baseline="-24074" sz="2250" spc="419" i="1">
                <a:latin typeface="Times New Roman"/>
                <a:cs typeface="Times New Roman"/>
              </a:rPr>
              <a:t> </a:t>
            </a:r>
            <a:r>
              <a:rPr dirty="0" sz="2550">
                <a:latin typeface="Symbol"/>
                <a:cs typeface="Symbol"/>
              </a:rPr>
              <a:t></a:t>
            </a:r>
            <a:r>
              <a:rPr dirty="0" sz="2550" spc="-135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D</a:t>
            </a:r>
            <a:r>
              <a:rPr dirty="0" baseline="-24074" sz="2250" i="1">
                <a:latin typeface="Times New Roman"/>
                <a:cs typeface="Times New Roman"/>
              </a:rPr>
              <a:t>yy</a:t>
            </a:r>
            <a:r>
              <a:rPr dirty="0" baseline="-24074" sz="2250" spc="630" i="1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Symbol"/>
                <a:cs typeface="Symbol"/>
              </a:rPr>
              <a:t></a:t>
            </a:r>
            <a:r>
              <a:rPr dirty="0" sz="2700" spc="-10">
                <a:latin typeface="Symbol"/>
                <a:cs typeface="Symbol"/>
              </a:rPr>
              <a:t></a:t>
            </a:r>
            <a:r>
              <a:rPr dirty="0" baseline="-24074" sz="2250" spc="-15">
                <a:latin typeface="Times New Roman"/>
                <a:cs typeface="Times New Roman"/>
              </a:rPr>
              <a:t>1</a:t>
            </a:r>
            <a:r>
              <a:rPr dirty="0" sz="2550" spc="-10">
                <a:latin typeface="Symbol"/>
                <a:cs typeface="Symbol"/>
              </a:rPr>
              <a:t></a:t>
            </a:r>
            <a:r>
              <a:rPr dirty="0" sz="2700" spc="-10">
                <a:latin typeface="Symbol"/>
                <a:cs typeface="Symbol"/>
              </a:rPr>
              <a:t></a:t>
            </a:r>
            <a:r>
              <a:rPr dirty="0" baseline="-24074" sz="2250" spc="-15">
                <a:latin typeface="Times New Roman"/>
                <a:cs typeface="Times New Roman"/>
              </a:rPr>
              <a:t>2</a:t>
            </a:r>
            <a:endParaRPr baseline="-24074"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56203" y="654848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 h="0">
                <a:moveTo>
                  <a:pt x="0" y="0"/>
                </a:moveTo>
                <a:lnTo>
                  <a:pt x="324617" y="0"/>
                </a:lnTo>
              </a:path>
            </a:pathLst>
          </a:custGeom>
          <a:ln w="141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32547" y="6525935"/>
            <a:ext cx="347980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800" spc="-25">
                <a:latin typeface="Symbol"/>
                <a:cs typeface="Symbol"/>
              </a:rPr>
              <a:t></a:t>
            </a:r>
            <a:r>
              <a:rPr dirty="0" baseline="-23297" sz="2325" spc="-37">
                <a:latin typeface="Times New Roman"/>
                <a:cs typeface="Times New Roman"/>
              </a:rPr>
              <a:t>2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5613" y="6262284"/>
            <a:ext cx="833119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650" i="1">
                <a:latin typeface="Times New Roman"/>
                <a:cs typeface="Times New Roman"/>
              </a:rPr>
              <a:t>r</a:t>
            </a:r>
            <a:r>
              <a:rPr dirty="0" sz="2650" spc="-45" i="1">
                <a:latin typeface="Times New Roman"/>
                <a:cs typeface="Times New Roman"/>
              </a:rPr>
              <a:t> </a:t>
            </a:r>
            <a:r>
              <a:rPr dirty="0" sz="2650">
                <a:latin typeface="Symbol"/>
                <a:cs typeface="Symbol"/>
              </a:rPr>
              <a:t></a:t>
            </a:r>
            <a:r>
              <a:rPr dirty="0" sz="2650" spc="165">
                <a:latin typeface="Times New Roman"/>
                <a:cs typeface="Times New Roman"/>
              </a:rPr>
              <a:t> </a:t>
            </a:r>
            <a:r>
              <a:rPr dirty="0" baseline="32738" sz="4200" spc="-37">
                <a:latin typeface="Symbol"/>
                <a:cs typeface="Symbol"/>
              </a:rPr>
              <a:t></a:t>
            </a:r>
            <a:r>
              <a:rPr dirty="0" baseline="35842" sz="2325" spc="-37">
                <a:latin typeface="Times New Roman"/>
                <a:cs typeface="Times New Roman"/>
              </a:rPr>
              <a:t>1</a:t>
            </a:r>
            <a:endParaRPr baseline="35842" sz="232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98376" y="6639235"/>
            <a:ext cx="1266190" cy="0"/>
          </a:xfrm>
          <a:custGeom>
            <a:avLst/>
            <a:gdLst/>
            <a:ahLst/>
            <a:cxnLst/>
            <a:rect l="l" t="t" r="r" b="b"/>
            <a:pathLst>
              <a:path w="1266189" h="0">
                <a:moveTo>
                  <a:pt x="0" y="0"/>
                </a:moveTo>
                <a:lnTo>
                  <a:pt x="1265689" y="0"/>
                </a:lnTo>
              </a:path>
            </a:pathLst>
          </a:custGeom>
          <a:ln w="17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886968" y="6639235"/>
            <a:ext cx="1140460" cy="0"/>
          </a:xfrm>
          <a:custGeom>
            <a:avLst/>
            <a:gdLst/>
            <a:ahLst/>
            <a:cxnLst/>
            <a:rect l="l" t="t" r="r" b="b"/>
            <a:pathLst>
              <a:path w="1140460" h="0">
                <a:moveTo>
                  <a:pt x="0" y="0"/>
                </a:moveTo>
                <a:lnTo>
                  <a:pt x="1139959" y="0"/>
                </a:lnTo>
              </a:path>
            </a:pathLst>
          </a:custGeom>
          <a:ln w="17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92512" y="5976193"/>
            <a:ext cx="2838450" cy="118237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750"/>
              </a:spcBef>
              <a:tabLst>
                <a:tab pos="1377950" algn="l"/>
              </a:tabLst>
            </a:pPr>
            <a:r>
              <a:rPr dirty="0" sz="3250" i="1">
                <a:latin typeface="Times New Roman"/>
                <a:cs typeface="Times New Roman"/>
              </a:rPr>
              <a:t>Tr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H</a:t>
            </a:r>
            <a:r>
              <a:rPr dirty="0" sz="3250" spc="-505" i="1">
                <a:latin typeface="Times New Roman"/>
                <a:cs typeface="Times New Roman"/>
              </a:rPr>
              <a:t> </a:t>
            </a:r>
            <a:r>
              <a:rPr dirty="0" sz="3250" spc="-25">
                <a:latin typeface="Times New Roman"/>
                <a:cs typeface="Times New Roman"/>
              </a:rPr>
              <a:t>)</a:t>
            </a:r>
            <a:r>
              <a:rPr dirty="0" baseline="42397" sz="2850" spc="-37">
                <a:latin typeface="Times New Roman"/>
                <a:cs typeface="Times New Roman"/>
              </a:rPr>
              <a:t>2</a:t>
            </a:r>
            <a:r>
              <a:rPr dirty="0" baseline="42397" sz="2850">
                <a:latin typeface="Times New Roman"/>
                <a:cs typeface="Times New Roman"/>
              </a:rPr>
              <a:t>	</a:t>
            </a:r>
            <a:r>
              <a:rPr dirty="0" baseline="-35042" sz="4875">
                <a:latin typeface="Symbol"/>
                <a:cs typeface="Symbol"/>
              </a:rPr>
              <a:t></a:t>
            </a:r>
            <a:r>
              <a:rPr dirty="0" baseline="-35042" sz="4875" spc="89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r</a:t>
            </a:r>
            <a:r>
              <a:rPr dirty="0" sz="3250" spc="-195" i="1">
                <a:latin typeface="Times New Roman"/>
                <a:cs typeface="Times New Roman"/>
              </a:rPr>
              <a:t> </a:t>
            </a:r>
            <a:r>
              <a:rPr dirty="0" sz="3250" spc="-20">
                <a:latin typeface="Symbol"/>
                <a:cs typeface="Symbol"/>
              </a:rPr>
              <a:t></a:t>
            </a:r>
            <a:r>
              <a:rPr dirty="0" sz="3250" spc="-20">
                <a:latin typeface="Times New Roman"/>
                <a:cs typeface="Times New Roman"/>
              </a:rPr>
              <a:t>1)</a:t>
            </a:r>
            <a:r>
              <a:rPr dirty="0" baseline="42397" sz="2850" spc="-30">
                <a:latin typeface="Times New Roman"/>
                <a:cs typeface="Times New Roman"/>
              </a:rPr>
              <a:t>2</a:t>
            </a:r>
            <a:endParaRPr baseline="42397" sz="285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655"/>
              </a:spcBef>
              <a:tabLst>
                <a:tab pos="2186305" algn="l"/>
              </a:tabLst>
            </a:pPr>
            <a:r>
              <a:rPr dirty="0" sz="3250" i="1">
                <a:latin typeface="Times New Roman"/>
                <a:cs typeface="Times New Roman"/>
              </a:rPr>
              <a:t>Det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H</a:t>
            </a:r>
            <a:r>
              <a:rPr dirty="0" sz="3250" spc="-490" i="1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)</a:t>
            </a:r>
            <a:r>
              <a:rPr dirty="0" sz="3250">
                <a:latin typeface="Times New Roman"/>
                <a:cs typeface="Times New Roman"/>
              </a:rPr>
              <a:t>	</a:t>
            </a:r>
            <a:r>
              <a:rPr dirty="0" sz="3250" spc="-50" i="1">
                <a:latin typeface="Times New Roman"/>
                <a:cs typeface="Times New Roman"/>
              </a:rPr>
              <a:t>r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84848" y="4739438"/>
            <a:ext cx="4076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dirty="0" sz="1500" spc="-50">
                <a:latin typeface="Times New Roman"/>
                <a:cs typeface="Times New Roman"/>
              </a:rPr>
              <a:t>1</a:t>
            </a:r>
            <a:r>
              <a:rPr dirty="0" sz="1500">
                <a:latin typeface="Times New Roman"/>
                <a:cs typeface="Times New Roman"/>
              </a:rPr>
              <a:t>	</a:t>
            </a:r>
            <a:r>
              <a:rPr dirty="0" sz="1500" spc="-5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32393" y="4510844"/>
            <a:ext cx="12128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98902" y="4502127"/>
            <a:ext cx="475615" cy="440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00">
                <a:latin typeface="Symbol"/>
                <a:cs typeface="Symbol"/>
              </a:rPr>
              <a:t>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Symbol"/>
                <a:cs typeface="Symbol"/>
              </a:rPr>
              <a:t>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70303" y="4739438"/>
            <a:ext cx="14439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705" algn="l"/>
                <a:tab pos="1261110" algn="l"/>
              </a:tabLst>
            </a:pPr>
            <a:r>
              <a:rPr dirty="0" sz="1500" spc="-25" i="1">
                <a:latin typeface="Times New Roman"/>
                <a:cs typeface="Times New Roman"/>
              </a:rPr>
              <a:t>xx</a:t>
            </a:r>
            <a:r>
              <a:rPr dirty="0" sz="1500" i="1">
                <a:latin typeface="Times New Roman"/>
                <a:cs typeface="Times New Roman"/>
              </a:rPr>
              <a:t>	</a:t>
            </a:r>
            <a:r>
              <a:rPr dirty="0" sz="1500" spc="-25" i="1">
                <a:latin typeface="Times New Roman"/>
                <a:cs typeface="Times New Roman"/>
              </a:rPr>
              <a:t>yy</a:t>
            </a:r>
            <a:r>
              <a:rPr dirty="0" sz="1500" i="1">
                <a:latin typeface="Times New Roman"/>
                <a:cs typeface="Times New Roman"/>
              </a:rPr>
              <a:t>	</a:t>
            </a:r>
            <a:r>
              <a:rPr dirty="0" sz="1500" spc="-25" i="1">
                <a:latin typeface="Times New Roman"/>
                <a:cs typeface="Times New Roman"/>
              </a:rPr>
              <a:t>xy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57740" y="4520744"/>
            <a:ext cx="3471545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00275" algn="l"/>
              </a:tabLst>
            </a:pPr>
            <a:r>
              <a:rPr dirty="0" sz="2550" i="1">
                <a:latin typeface="Times New Roman"/>
                <a:cs typeface="Times New Roman"/>
              </a:rPr>
              <a:t>Det</a:t>
            </a:r>
            <a:r>
              <a:rPr dirty="0" sz="2550">
                <a:latin typeface="Times New Roman"/>
                <a:cs typeface="Times New Roman"/>
              </a:rPr>
              <a:t>(</a:t>
            </a:r>
            <a:r>
              <a:rPr dirty="0" sz="2550" i="1">
                <a:latin typeface="Times New Roman"/>
                <a:cs typeface="Times New Roman"/>
              </a:rPr>
              <a:t>H</a:t>
            </a:r>
            <a:r>
              <a:rPr dirty="0" sz="2550" spc="-405" i="1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)</a:t>
            </a:r>
            <a:r>
              <a:rPr dirty="0" sz="2550" spc="-85">
                <a:latin typeface="Times New Roman"/>
                <a:cs typeface="Times New Roman"/>
              </a:rPr>
              <a:t> </a:t>
            </a:r>
            <a:r>
              <a:rPr dirty="0" sz="2550">
                <a:latin typeface="Symbol"/>
                <a:cs typeface="Symbol"/>
              </a:rPr>
              <a:t></a:t>
            </a:r>
            <a:r>
              <a:rPr dirty="0" sz="2550" spc="-30">
                <a:latin typeface="Times New Roman"/>
                <a:cs typeface="Times New Roman"/>
              </a:rPr>
              <a:t> </a:t>
            </a:r>
            <a:r>
              <a:rPr dirty="0" sz="2550" i="1">
                <a:latin typeface="Times New Roman"/>
                <a:cs typeface="Times New Roman"/>
              </a:rPr>
              <a:t>D</a:t>
            </a:r>
            <a:r>
              <a:rPr dirty="0" sz="2550" spc="85" i="1">
                <a:latin typeface="Times New Roman"/>
                <a:cs typeface="Times New Roman"/>
              </a:rPr>
              <a:t>  </a:t>
            </a:r>
            <a:r>
              <a:rPr dirty="0" sz="2550" spc="-50" i="1">
                <a:latin typeface="Times New Roman"/>
                <a:cs typeface="Times New Roman"/>
              </a:rPr>
              <a:t>D</a:t>
            </a:r>
            <a:r>
              <a:rPr dirty="0" sz="2550" i="1">
                <a:latin typeface="Times New Roman"/>
                <a:cs typeface="Times New Roman"/>
              </a:rPr>
              <a:t>	</a:t>
            </a:r>
            <a:r>
              <a:rPr dirty="0" sz="2550">
                <a:latin typeface="Symbol"/>
                <a:cs typeface="Symbol"/>
              </a:rPr>
              <a:t></a:t>
            </a:r>
            <a:r>
              <a:rPr dirty="0" sz="2550" spc="-295">
                <a:latin typeface="Times New Roman"/>
                <a:cs typeface="Times New Roman"/>
              </a:rPr>
              <a:t> </a:t>
            </a:r>
            <a:r>
              <a:rPr dirty="0" sz="2550" spc="65">
                <a:latin typeface="Times New Roman"/>
                <a:cs typeface="Times New Roman"/>
              </a:rPr>
              <a:t>(</a:t>
            </a:r>
            <a:r>
              <a:rPr dirty="0" sz="2550" spc="65" i="1">
                <a:latin typeface="Times New Roman"/>
                <a:cs typeface="Times New Roman"/>
              </a:rPr>
              <a:t>D</a:t>
            </a:r>
            <a:r>
              <a:rPr dirty="0" sz="2550" spc="114" i="1">
                <a:latin typeface="Times New Roman"/>
                <a:cs typeface="Times New Roman"/>
              </a:rPr>
              <a:t>  </a:t>
            </a:r>
            <a:r>
              <a:rPr dirty="0" sz="2550">
                <a:latin typeface="Times New Roman"/>
                <a:cs typeface="Times New Roman"/>
              </a:rPr>
              <a:t>)</a:t>
            </a:r>
            <a:r>
              <a:rPr dirty="0" sz="2550" spc="130">
                <a:latin typeface="Times New Roman"/>
                <a:cs typeface="Times New Roman"/>
              </a:rPr>
              <a:t>  </a:t>
            </a:r>
            <a:r>
              <a:rPr dirty="0" sz="2550" spc="-50">
                <a:latin typeface="Symbol"/>
                <a:cs typeface="Symbol"/>
              </a:rPr>
              <a:t></a:t>
            </a:r>
            <a:endParaRPr sz="25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Further</a:t>
            </a:r>
            <a:r>
              <a:rPr dirty="0" spc="-140"/>
              <a:t> </a:t>
            </a:r>
            <a:r>
              <a:rPr dirty="0"/>
              <a:t>Outlier</a:t>
            </a:r>
            <a:r>
              <a:rPr dirty="0" spc="-140"/>
              <a:t> </a:t>
            </a:r>
            <a:r>
              <a:rPr dirty="0" spc="-10"/>
              <a:t>Rejection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399486"/>
            <a:ext cx="7574915" cy="11963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Following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quantity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minimum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when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25" i="1">
                <a:latin typeface="Arial"/>
                <a:cs typeface="Arial"/>
              </a:rPr>
              <a:t>r</a:t>
            </a:r>
            <a:r>
              <a:rPr dirty="0" sz="3200" spc="-25">
                <a:latin typeface="Arial MT"/>
                <a:cs typeface="Arial MT"/>
              </a:rPr>
              <a:t>=1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It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increases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with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60" i="1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8347" y="3552668"/>
            <a:ext cx="347980" cy="6864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08279">
              <a:lnSpc>
                <a:spcPts val="1845"/>
              </a:lnSpc>
              <a:spcBef>
                <a:spcPts val="110"/>
              </a:spcBef>
            </a:pPr>
            <a:r>
              <a:rPr dirty="0" sz="1550" spc="-5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  <a:p>
            <a:pPr marL="38100">
              <a:lnSpc>
                <a:spcPts val="3345"/>
              </a:lnSpc>
            </a:pPr>
            <a:r>
              <a:rPr dirty="0" sz="2800" spc="-25">
                <a:latin typeface="Symbol"/>
                <a:cs typeface="Symbol"/>
              </a:rPr>
              <a:t></a:t>
            </a:r>
            <a:r>
              <a:rPr dirty="0" baseline="-23297" sz="2325" spc="-37">
                <a:latin typeface="Times New Roman"/>
                <a:cs typeface="Times New Roman"/>
              </a:rPr>
              <a:t>2</a:t>
            </a:r>
            <a:endParaRPr baseline="-23297" sz="2325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8988" y="3306486"/>
            <a:ext cx="320675" cy="456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heavy" sz="2800" spc="-5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</a:t>
            </a:r>
            <a:r>
              <a:rPr dirty="0" u="heavy" sz="2800" spc="7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6813" y="3538401"/>
            <a:ext cx="424180" cy="4330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50" i="1">
                <a:latin typeface="Times New Roman"/>
                <a:cs typeface="Times New Roman"/>
              </a:rPr>
              <a:t>r</a:t>
            </a:r>
            <a:r>
              <a:rPr dirty="0" sz="2650" spc="-40" i="1">
                <a:latin typeface="Times New Roman"/>
                <a:cs typeface="Times New Roman"/>
              </a:rPr>
              <a:t> </a:t>
            </a:r>
            <a:r>
              <a:rPr dirty="0" sz="2650" spc="-5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07981" y="4354026"/>
            <a:ext cx="1266825" cy="0"/>
          </a:xfrm>
          <a:custGeom>
            <a:avLst/>
            <a:gdLst/>
            <a:ahLst/>
            <a:cxnLst/>
            <a:rect l="l" t="t" r="r" b="b"/>
            <a:pathLst>
              <a:path w="1266825" h="0">
                <a:moveTo>
                  <a:pt x="0" y="0"/>
                </a:moveTo>
                <a:lnTo>
                  <a:pt x="1266453" y="0"/>
                </a:lnTo>
              </a:path>
            </a:pathLst>
          </a:custGeom>
          <a:ln w="17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97338" y="4354026"/>
            <a:ext cx="1140460" cy="0"/>
          </a:xfrm>
          <a:custGeom>
            <a:avLst/>
            <a:gdLst/>
            <a:ahLst/>
            <a:cxnLst/>
            <a:rect l="l" t="t" r="r" b="b"/>
            <a:pathLst>
              <a:path w="1140460" h="0">
                <a:moveTo>
                  <a:pt x="0" y="0"/>
                </a:moveTo>
                <a:lnTo>
                  <a:pt x="1139959" y="0"/>
                </a:lnTo>
              </a:path>
            </a:pathLst>
          </a:custGeom>
          <a:ln w="17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93164" y="3689448"/>
            <a:ext cx="4458335" cy="224726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159510">
              <a:lnSpc>
                <a:spcPct val="100000"/>
              </a:lnSpc>
              <a:spcBef>
                <a:spcPts val="760"/>
              </a:spcBef>
              <a:tabLst>
                <a:tab pos="2486660" algn="l"/>
              </a:tabLst>
            </a:pPr>
            <a:r>
              <a:rPr dirty="0" sz="3250" i="1">
                <a:latin typeface="Times New Roman"/>
                <a:cs typeface="Times New Roman"/>
              </a:rPr>
              <a:t>Tr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H</a:t>
            </a:r>
            <a:r>
              <a:rPr dirty="0" sz="3250" spc="-455" i="1">
                <a:latin typeface="Times New Roman"/>
                <a:cs typeface="Times New Roman"/>
              </a:rPr>
              <a:t> </a:t>
            </a:r>
            <a:r>
              <a:rPr dirty="0" sz="3250" spc="-25">
                <a:latin typeface="Times New Roman"/>
                <a:cs typeface="Times New Roman"/>
              </a:rPr>
              <a:t>)</a:t>
            </a:r>
            <a:r>
              <a:rPr dirty="0" baseline="42397" sz="2850" spc="-37">
                <a:latin typeface="Times New Roman"/>
                <a:cs typeface="Times New Roman"/>
              </a:rPr>
              <a:t>2</a:t>
            </a:r>
            <a:r>
              <a:rPr dirty="0" baseline="42397" sz="2850">
                <a:latin typeface="Times New Roman"/>
                <a:cs typeface="Times New Roman"/>
              </a:rPr>
              <a:t>	</a:t>
            </a:r>
            <a:r>
              <a:rPr dirty="0" baseline="-35042" sz="4875">
                <a:latin typeface="Symbol"/>
                <a:cs typeface="Symbol"/>
              </a:rPr>
              <a:t></a:t>
            </a:r>
            <a:r>
              <a:rPr dirty="0" baseline="-35042" sz="4875" spc="97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r</a:t>
            </a:r>
            <a:r>
              <a:rPr dirty="0" sz="3250" spc="-200" i="1">
                <a:latin typeface="Times New Roman"/>
                <a:cs typeface="Times New Roman"/>
              </a:rPr>
              <a:t> </a:t>
            </a:r>
            <a:r>
              <a:rPr dirty="0" sz="3250" spc="-20">
                <a:latin typeface="Symbol"/>
                <a:cs typeface="Symbol"/>
              </a:rPr>
              <a:t></a:t>
            </a:r>
            <a:r>
              <a:rPr dirty="0" sz="3250" spc="-20">
                <a:latin typeface="Times New Roman"/>
                <a:cs typeface="Times New Roman"/>
              </a:rPr>
              <a:t>1)</a:t>
            </a:r>
            <a:r>
              <a:rPr dirty="0" baseline="42397" sz="2850" spc="-30">
                <a:latin typeface="Times New Roman"/>
                <a:cs typeface="Times New Roman"/>
              </a:rPr>
              <a:t>2</a:t>
            </a:r>
            <a:endParaRPr baseline="42397" sz="2850">
              <a:latin typeface="Times New Roman"/>
              <a:cs typeface="Times New Roman"/>
            </a:endParaRPr>
          </a:p>
          <a:p>
            <a:pPr marL="1151890">
              <a:lnSpc>
                <a:spcPct val="100000"/>
              </a:lnSpc>
              <a:spcBef>
                <a:spcPts val="660"/>
              </a:spcBef>
              <a:tabLst>
                <a:tab pos="3295015" algn="l"/>
              </a:tabLst>
            </a:pPr>
            <a:r>
              <a:rPr dirty="0" sz="3250" i="1">
                <a:latin typeface="Times New Roman"/>
                <a:cs typeface="Times New Roman"/>
              </a:rPr>
              <a:t>Det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i="1">
                <a:latin typeface="Times New Roman"/>
                <a:cs typeface="Times New Roman"/>
              </a:rPr>
              <a:t>H</a:t>
            </a:r>
            <a:r>
              <a:rPr dirty="0" sz="3250" spc="-465" i="1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)</a:t>
            </a:r>
            <a:r>
              <a:rPr dirty="0" sz="3250">
                <a:latin typeface="Times New Roman"/>
                <a:cs typeface="Times New Roman"/>
              </a:rPr>
              <a:t>	</a:t>
            </a:r>
            <a:r>
              <a:rPr dirty="0" sz="3250" spc="-50" i="1">
                <a:latin typeface="Times New Roman"/>
                <a:cs typeface="Times New Roman"/>
              </a:rPr>
              <a:t>r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3250">
              <a:latin typeface="Times New Roman"/>
              <a:cs typeface="Times New Roman"/>
            </a:endParaRPr>
          </a:p>
          <a:p>
            <a:pPr marL="380365" indent="-342265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80365" algn="l"/>
              </a:tabLst>
            </a:pPr>
            <a:r>
              <a:rPr dirty="0" sz="3200">
                <a:latin typeface="Arial MT"/>
                <a:cs typeface="Arial MT"/>
              </a:rPr>
              <a:t>Eliminate</a:t>
            </a:r>
            <a:r>
              <a:rPr dirty="0" sz="3200" spc="-20">
                <a:latin typeface="Arial MT"/>
                <a:cs typeface="Arial MT"/>
              </a:rPr>
              <a:t>  </a:t>
            </a:r>
            <a:r>
              <a:rPr dirty="0" sz="3200">
                <a:latin typeface="Arial MT"/>
                <a:cs typeface="Arial MT"/>
              </a:rPr>
              <a:t>key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points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if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2422" y="5368871"/>
            <a:ext cx="798195" cy="434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 i="1">
                <a:latin typeface="Times New Roman"/>
                <a:cs typeface="Times New Roman"/>
              </a:rPr>
              <a:t>r</a:t>
            </a:r>
            <a:r>
              <a:rPr dirty="0" sz="2650" spc="-70" i="1">
                <a:latin typeface="Times New Roman"/>
                <a:cs typeface="Times New Roman"/>
              </a:rPr>
              <a:t> </a:t>
            </a:r>
            <a:r>
              <a:rPr dirty="0" sz="2650">
                <a:latin typeface="Symbol"/>
                <a:cs typeface="Symbol"/>
              </a:rPr>
              <a:t></a:t>
            </a:r>
            <a:r>
              <a:rPr dirty="0" sz="2650" spc="-360">
                <a:latin typeface="Times New Roman"/>
                <a:cs typeface="Times New Roman"/>
              </a:rPr>
              <a:t> </a:t>
            </a:r>
            <a:r>
              <a:rPr dirty="0" sz="2650" spc="-25">
                <a:latin typeface="Times New Roman"/>
                <a:cs typeface="Times New Roman"/>
              </a:rPr>
              <a:t>10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Further</a:t>
            </a:r>
            <a:r>
              <a:rPr dirty="0" spc="-140"/>
              <a:t> </a:t>
            </a:r>
            <a:r>
              <a:rPr dirty="0"/>
              <a:t>Outlier</a:t>
            </a:r>
            <a:r>
              <a:rPr dirty="0" spc="-140"/>
              <a:t> </a:t>
            </a:r>
            <a:r>
              <a:rPr dirty="0" spc="-10"/>
              <a:t>Rejection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630679" y="2933700"/>
            <a:ext cx="3275329" cy="2658110"/>
            <a:chOff x="1630679" y="2933700"/>
            <a:chExt cx="3275329" cy="26581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1855" y="2963003"/>
              <a:ext cx="3217992" cy="26026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630679" y="2933700"/>
              <a:ext cx="3275329" cy="2658110"/>
            </a:xfrm>
            <a:custGeom>
              <a:avLst/>
              <a:gdLst/>
              <a:ahLst/>
              <a:cxnLst/>
              <a:rect l="l" t="t" r="r" b="b"/>
              <a:pathLst>
                <a:path w="3275329" h="2658110">
                  <a:moveTo>
                    <a:pt x="3275076" y="2657856"/>
                  </a:moveTo>
                  <a:lnTo>
                    <a:pt x="3275076" y="0"/>
                  </a:lnTo>
                  <a:lnTo>
                    <a:pt x="0" y="0"/>
                  </a:lnTo>
                  <a:lnTo>
                    <a:pt x="0" y="2657856"/>
                  </a:lnTo>
                  <a:lnTo>
                    <a:pt x="14477" y="2657856"/>
                  </a:lnTo>
                  <a:lnTo>
                    <a:pt x="14478" y="28956"/>
                  </a:lnTo>
                  <a:lnTo>
                    <a:pt x="28956" y="14478"/>
                  </a:lnTo>
                  <a:lnTo>
                    <a:pt x="28956" y="28956"/>
                  </a:lnTo>
                  <a:lnTo>
                    <a:pt x="3246120" y="28956"/>
                  </a:lnTo>
                  <a:lnTo>
                    <a:pt x="3246120" y="14478"/>
                  </a:lnTo>
                  <a:lnTo>
                    <a:pt x="3260598" y="28956"/>
                  </a:lnTo>
                  <a:lnTo>
                    <a:pt x="3260598" y="2657856"/>
                  </a:lnTo>
                  <a:lnTo>
                    <a:pt x="3275076" y="2657856"/>
                  </a:lnTo>
                  <a:close/>
                </a:path>
                <a:path w="3275329" h="2658110">
                  <a:moveTo>
                    <a:pt x="28956" y="28956"/>
                  </a:moveTo>
                  <a:lnTo>
                    <a:pt x="28956" y="14478"/>
                  </a:lnTo>
                  <a:lnTo>
                    <a:pt x="14478" y="28956"/>
                  </a:lnTo>
                  <a:lnTo>
                    <a:pt x="28956" y="28956"/>
                  </a:lnTo>
                  <a:close/>
                </a:path>
                <a:path w="3275329" h="2658110">
                  <a:moveTo>
                    <a:pt x="28956" y="2628900"/>
                  </a:moveTo>
                  <a:lnTo>
                    <a:pt x="28956" y="28956"/>
                  </a:lnTo>
                  <a:lnTo>
                    <a:pt x="14478" y="28956"/>
                  </a:lnTo>
                  <a:lnTo>
                    <a:pt x="14478" y="2628900"/>
                  </a:lnTo>
                  <a:lnTo>
                    <a:pt x="28956" y="2628900"/>
                  </a:lnTo>
                  <a:close/>
                </a:path>
                <a:path w="3275329" h="2658110">
                  <a:moveTo>
                    <a:pt x="3260598" y="2628900"/>
                  </a:moveTo>
                  <a:lnTo>
                    <a:pt x="14478" y="2628900"/>
                  </a:lnTo>
                  <a:lnTo>
                    <a:pt x="28956" y="2643378"/>
                  </a:lnTo>
                  <a:lnTo>
                    <a:pt x="28956" y="2657856"/>
                  </a:lnTo>
                  <a:lnTo>
                    <a:pt x="3246120" y="2657856"/>
                  </a:lnTo>
                  <a:lnTo>
                    <a:pt x="3246120" y="2643378"/>
                  </a:lnTo>
                  <a:lnTo>
                    <a:pt x="3260598" y="2628900"/>
                  </a:lnTo>
                  <a:close/>
                </a:path>
                <a:path w="3275329" h="2658110">
                  <a:moveTo>
                    <a:pt x="28956" y="2657856"/>
                  </a:moveTo>
                  <a:lnTo>
                    <a:pt x="28956" y="2643378"/>
                  </a:lnTo>
                  <a:lnTo>
                    <a:pt x="14478" y="2628900"/>
                  </a:lnTo>
                  <a:lnTo>
                    <a:pt x="14477" y="2657856"/>
                  </a:lnTo>
                  <a:lnTo>
                    <a:pt x="28956" y="2657856"/>
                  </a:lnTo>
                  <a:close/>
                </a:path>
                <a:path w="3275329" h="2658110">
                  <a:moveTo>
                    <a:pt x="3260598" y="28956"/>
                  </a:moveTo>
                  <a:lnTo>
                    <a:pt x="3246120" y="14478"/>
                  </a:lnTo>
                  <a:lnTo>
                    <a:pt x="3246120" y="28956"/>
                  </a:lnTo>
                  <a:lnTo>
                    <a:pt x="3260598" y="28956"/>
                  </a:lnTo>
                  <a:close/>
                </a:path>
                <a:path w="3275329" h="2658110">
                  <a:moveTo>
                    <a:pt x="3260598" y="2628900"/>
                  </a:moveTo>
                  <a:lnTo>
                    <a:pt x="3260598" y="28956"/>
                  </a:lnTo>
                  <a:lnTo>
                    <a:pt x="3246120" y="28956"/>
                  </a:lnTo>
                  <a:lnTo>
                    <a:pt x="3246120" y="2628900"/>
                  </a:lnTo>
                  <a:lnTo>
                    <a:pt x="3260598" y="2628900"/>
                  </a:lnTo>
                  <a:close/>
                </a:path>
                <a:path w="3275329" h="2658110">
                  <a:moveTo>
                    <a:pt x="3260598" y="2657856"/>
                  </a:moveTo>
                  <a:lnTo>
                    <a:pt x="3260598" y="2628900"/>
                  </a:lnTo>
                  <a:lnTo>
                    <a:pt x="3246120" y="2643378"/>
                  </a:lnTo>
                  <a:lnTo>
                    <a:pt x="3246120" y="2657856"/>
                  </a:lnTo>
                  <a:lnTo>
                    <a:pt x="3260598" y="2657856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440679" y="2933700"/>
            <a:ext cx="3275329" cy="2658110"/>
            <a:chOff x="5440679" y="2933700"/>
            <a:chExt cx="3275329" cy="26581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9221" y="2963003"/>
              <a:ext cx="3217992" cy="26026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40679" y="2933700"/>
              <a:ext cx="3275329" cy="2658110"/>
            </a:xfrm>
            <a:custGeom>
              <a:avLst/>
              <a:gdLst/>
              <a:ahLst/>
              <a:cxnLst/>
              <a:rect l="l" t="t" r="r" b="b"/>
              <a:pathLst>
                <a:path w="3275329" h="2658110">
                  <a:moveTo>
                    <a:pt x="3275076" y="2657855"/>
                  </a:moveTo>
                  <a:lnTo>
                    <a:pt x="3275076" y="0"/>
                  </a:lnTo>
                  <a:lnTo>
                    <a:pt x="0" y="0"/>
                  </a:lnTo>
                  <a:lnTo>
                    <a:pt x="0" y="2657856"/>
                  </a:lnTo>
                  <a:lnTo>
                    <a:pt x="14478" y="2657856"/>
                  </a:lnTo>
                  <a:lnTo>
                    <a:pt x="14478" y="28956"/>
                  </a:lnTo>
                  <a:lnTo>
                    <a:pt x="28956" y="14478"/>
                  </a:lnTo>
                  <a:lnTo>
                    <a:pt x="28956" y="28956"/>
                  </a:lnTo>
                  <a:lnTo>
                    <a:pt x="3246120" y="28956"/>
                  </a:lnTo>
                  <a:lnTo>
                    <a:pt x="3246120" y="14478"/>
                  </a:lnTo>
                  <a:lnTo>
                    <a:pt x="3260598" y="28956"/>
                  </a:lnTo>
                  <a:lnTo>
                    <a:pt x="3260598" y="2657855"/>
                  </a:lnTo>
                  <a:lnTo>
                    <a:pt x="3275076" y="2657855"/>
                  </a:lnTo>
                  <a:close/>
                </a:path>
                <a:path w="3275329" h="2658110">
                  <a:moveTo>
                    <a:pt x="28956" y="28956"/>
                  </a:moveTo>
                  <a:lnTo>
                    <a:pt x="28956" y="14478"/>
                  </a:lnTo>
                  <a:lnTo>
                    <a:pt x="14478" y="28956"/>
                  </a:lnTo>
                  <a:lnTo>
                    <a:pt x="28956" y="28956"/>
                  </a:lnTo>
                  <a:close/>
                </a:path>
                <a:path w="3275329" h="2658110">
                  <a:moveTo>
                    <a:pt x="28956" y="2628900"/>
                  </a:moveTo>
                  <a:lnTo>
                    <a:pt x="28956" y="28956"/>
                  </a:lnTo>
                  <a:lnTo>
                    <a:pt x="14478" y="28956"/>
                  </a:lnTo>
                  <a:lnTo>
                    <a:pt x="14478" y="2628900"/>
                  </a:lnTo>
                  <a:lnTo>
                    <a:pt x="28956" y="2628900"/>
                  </a:lnTo>
                  <a:close/>
                </a:path>
                <a:path w="3275329" h="2658110">
                  <a:moveTo>
                    <a:pt x="3260598" y="2628900"/>
                  </a:moveTo>
                  <a:lnTo>
                    <a:pt x="14478" y="2628900"/>
                  </a:lnTo>
                  <a:lnTo>
                    <a:pt x="28956" y="2643378"/>
                  </a:lnTo>
                  <a:lnTo>
                    <a:pt x="28956" y="2657856"/>
                  </a:lnTo>
                  <a:lnTo>
                    <a:pt x="3246120" y="2657855"/>
                  </a:lnTo>
                  <a:lnTo>
                    <a:pt x="3246120" y="2643378"/>
                  </a:lnTo>
                  <a:lnTo>
                    <a:pt x="3260598" y="2628900"/>
                  </a:lnTo>
                  <a:close/>
                </a:path>
                <a:path w="3275329" h="2658110">
                  <a:moveTo>
                    <a:pt x="28956" y="2657856"/>
                  </a:moveTo>
                  <a:lnTo>
                    <a:pt x="28956" y="2643378"/>
                  </a:lnTo>
                  <a:lnTo>
                    <a:pt x="14478" y="2628900"/>
                  </a:lnTo>
                  <a:lnTo>
                    <a:pt x="14478" y="2657856"/>
                  </a:lnTo>
                  <a:lnTo>
                    <a:pt x="28956" y="2657856"/>
                  </a:lnTo>
                  <a:close/>
                </a:path>
                <a:path w="3275329" h="2658110">
                  <a:moveTo>
                    <a:pt x="3260598" y="28956"/>
                  </a:moveTo>
                  <a:lnTo>
                    <a:pt x="3246120" y="14478"/>
                  </a:lnTo>
                  <a:lnTo>
                    <a:pt x="3246120" y="28956"/>
                  </a:lnTo>
                  <a:lnTo>
                    <a:pt x="3260598" y="28956"/>
                  </a:lnTo>
                  <a:close/>
                </a:path>
                <a:path w="3275329" h="2658110">
                  <a:moveTo>
                    <a:pt x="3260598" y="2628900"/>
                  </a:moveTo>
                  <a:lnTo>
                    <a:pt x="3260598" y="28956"/>
                  </a:lnTo>
                  <a:lnTo>
                    <a:pt x="3246120" y="28956"/>
                  </a:lnTo>
                  <a:lnTo>
                    <a:pt x="3246120" y="2628900"/>
                  </a:lnTo>
                  <a:lnTo>
                    <a:pt x="3260598" y="2628900"/>
                  </a:lnTo>
                  <a:close/>
                </a:path>
                <a:path w="3275329" h="2658110">
                  <a:moveTo>
                    <a:pt x="3260598" y="2657855"/>
                  </a:moveTo>
                  <a:lnTo>
                    <a:pt x="3260598" y="2628900"/>
                  </a:lnTo>
                  <a:lnTo>
                    <a:pt x="3246120" y="2643378"/>
                  </a:lnTo>
                  <a:lnTo>
                    <a:pt x="3246120" y="2657855"/>
                  </a:lnTo>
                  <a:lnTo>
                    <a:pt x="3260598" y="2657855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592577" y="5975094"/>
            <a:ext cx="5223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from</a:t>
            </a:r>
            <a:r>
              <a:rPr dirty="0" sz="2400" spc="-5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729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key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points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to</a:t>
            </a:r>
            <a:r>
              <a:rPr dirty="0" sz="2400" spc="-4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536</a:t>
            </a:r>
            <a:r>
              <a:rPr dirty="0" sz="2400" spc="-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key</a:t>
            </a:r>
            <a:r>
              <a:rPr dirty="0" sz="2400" spc="-30">
                <a:latin typeface="Tahoma"/>
                <a:cs typeface="Tahoma"/>
              </a:rPr>
              <a:t> </a:t>
            </a:r>
            <a:r>
              <a:rPr dirty="0" sz="2400" spc="-10">
                <a:latin typeface="Tahoma"/>
                <a:cs typeface="Tahoma"/>
              </a:rPr>
              <a:t>points.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Orientation</a:t>
            </a:r>
            <a:r>
              <a:rPr dirty="0" spc="-220"/>
              <a:t> </a:t>
            </a:r>
            <a:r>
              <a:rPr dirty="0" spc="-10"/>
              <a:t>Assignment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9326" y="2399486"/>
            <a:ext cx="7088505" cy="217170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algn="just"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achieve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rotation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invariance</a:t>
            </a:r>
            <a:endParaRPr sz="3200">
              <a:latin typeface="Arial MT"/>
              <a:cs typeface="Arial MT"/>
            </a:endParaRPr>
          </a:p>
          <a:p>
            <a:pPr algn="just"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Compute</a:t>
            </a:r>
            <a:r>
              <a:rPr dirty="0" sz="3200" spc="-5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central</a:t>
            </a:r>
            <a:r>
              <a:rPr dirty="0" sz="3200" spc="-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derivatives,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gradient </a:t>
            </a:r>
            <a:r>
              <a:rPr dirty="0" sz="3200">
                <a:latin typeface="Arial MT"/>
                <a:cs typeface="Arial MT"/>
              </a:rPr>
              <a:t>magnitude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and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direction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i="1">
                <a:latin typeface="Arial"/>
                <a:cs typeface="Arial"/>
              </a:rPr>
              <a:t>L</a:t>
            </a:r>
            <a:r>
              <a:rPr dirty="0" sz="3200" spc="-20" i="1">
                <a:latin typeface="Arial"/>
                <a:cs typeface="Arial"/>
              </a:rPr>
              <a:t> </a:t>
            </a:r>
            <a:r>
              <a:rPr dirty="0" sz="3200" spc="-10" i="1">
                <a:latin typeface="Arial"/>
                <a:cs typeface="Arial"/>
              </a:rPr>
              <a:t>(</a:t>
            </a:r>
            <a:r>
              <a:rPr dirty="0" sz="3200" spc="-10">
                <a:latin typeface="Arial MT"/>
                <a:cs typeface="Arial MT"/>
              </a:rPr>
              <a:t>smooth </a:t>
            </a:r>
            <a:r>
              <a:rPr dirty="0" sz="3200">
                <a:latin typeface="Arial MT"/>
                <a:cs typeface="Arial MT"/>
              </a:rPr>
              <a:t>image)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at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the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scale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of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key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point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(x,y)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2731" y="5049766"/>
            <a:ext cx="7785676" cy="99814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Orientation</a:t>
            </a:r>
            <a:r>
              <a:rPr dirty="0" spc="-220"/>
              <a:t> </a:t>
            </a:r>
            <a:r>
              <a:rPr dirty="0" spc="-10"/>
              <a:t>Assignment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97327"/>
            <a:ext cx="5960745" cy="3526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5600" algn="l"/>
              </a:tabLst>
            </a:pPr>
            <a:r>
              <a:rPr dirty="0" sz="3200">
                <a:latin typeface="Arial MT"/>
                <a:cs typeface="Arial MT"/>
              </a:rPr>
              <a:t>Create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weighted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direction </a:t>
            </a:r>
            <a:r>
              <a:rPr dirty="0" sz="3200">
                <a:latin typeface="Arial MT"/>
                <a:cs typeface="Arial MT"/>
              </a:rPr>
              <a:t>histogram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neighborhood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of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key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point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(36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bins)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Weights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 spc="-25">
                <a:latin typeface="Arial MT"/>
                <a:cs typeface="Arial MT"/>
              </a:rPr>
              <a:t>are</a:t>
            </a:r>
            <a:endParaRPr sz="32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015" algn="l"/>
              </a:tabLst>
            </a:pPr>
            <a:r>
              <a:rPr dirty="0" sz="2800">
                <a:latin typeface="Arial MT"/>
                <a:cs typeface="Arial MT"/>
              </a:rPr>
              <a:t>Gradient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magnitudes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015" algn="l"/>
              </a:tabLst>
            </a:pPr>
            <a:r>
              <a:rPr dirty="0" sz="2800">
                <a:latin typeface="Arial MT"/>
                <a:cs typeface="Arial MT"/>
              </a:rPr>
              <a:t>Spatial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gaussian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filter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with</a:t>
            </a:r>
            <a:endParaRPr sz="2800">
              <a:latin typeface="Arial MT"/>
              <a:cs typeface="Arial MT"/>
            </a:endParaRPr>
          </a:p>
          <a:p>
            <a:pPr marL="755650">
              <a:lnSpc>
                <a:spcPct val="100000"/>
              </a:lnSpc>
              <a:spcBef>
                <a:spcPts val="5"/>
              </a:spcBef>
            </a:pPr>
            <a:r>
              <a:rPr dirty="0" sz="2800">
                <a:latin typeface="Symbol"/>
                <a:cs typeface="Symbol"/>
              </a:rPr>
              <a:t></a:t>
            </a:r>
            <a:r>
              <a:rPr dirty="0" sz="2800">
                <a:latin typeface="Arial MT"/>
                <a:cs typeface="Arial MT"/>
              </a:rPr>
              <a:t>=1.5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x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&lt;scale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point&gt;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3581400"/>
            <a:ext cx="1967630" cy="19539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5485">
              <a:lnSpc>
                <a:spcPct val="100000"/>
              </a:lnSpc>
              <a:spcBef>
                <a:spcPts val="95"/>
              </a:spcBef>
            </a:pPr>
            <a:r>
              <a:rPr dirty="0"/>
              <a:t>Orientation</a:t>
            </a:r>
            <a:r>
              <a:rPr dirty="0" spc="-220"/>
              <a:t> </a:t>
            </a:r>
            <a:r>
              <a:rPr dirty="0" spc="-10"/>
              <a:t>Assignment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9326" y="2413050"/>
            <a:ext cx="7253605" cy="232981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Select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peak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direction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point</a:t>
            </a:r>
            <a:endParaRPr sz="2800">
              <a:latin typeface="Arial MT"/>
              <a:cs typeface="Arial MT"/>
            </a:endParaRPr>
          </a:p>
          <a:p>
            <a:pPr marL="355600" marR="160655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Introduce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additional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(same </a:t>
            </a:r>
            <a:r>
              <a:rPr dirty="0" sz="2800">
                <a:latin typeface="Arial MT"/>
                <a:cs typeface="Arial MT"/>
              </a:rPr>
              <a:t>location)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local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peaks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(within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80%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max </a:t>
            </a:r>
            <a:r>
              <a:rPr dirty="0" sz="2800">
                <a:latin typeface="Arial MT"/>
                <a:cs typeface="Arial MT"/>
              </a:rPr>
              <a:t>peak)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histogram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different directions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2635" y="4876800"/>
            <a:ext cx="1832923" cy="182148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806371" y="4724400"/>
            <a:ext cx="2118995" cy="2286000"/>
            <a:chOff x="5806371" y="4724400"/>
            <a:chExt cx="2118995" cy="2286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06371" y="4887336"/>
              <a:ext cx="1854014" cy="18213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20000" y="4724400"/>
              <a:ext cx="304800" cy="2286000"/>
            </a:xfrm>
            <a:custGeom>
              <a:avLst/>
              <a:gdLst/>
              <a:ahLst/>
              <a:cxnLst/>
              <a:rect l="l" t="t" r="r" b="b"/>
              <a:pathLst>
                <a:path w="304800" h="2286000">
                  <a:moveTo>
                    <a:pt x="304800" y="2286000"/>
                  </a:moveTo>
                  <a:lnTo>
                    <a:pt x="304800" y="0"/>
                  </a:lnTo>
                  <a:lnTo>
                    <a:pt x="0" y="0"/>
                  </a:lnTo>
                  <a:lnTo>
                    <a:pt x="0" y="2286000"/>
                  </a:lnTo>
                  <a:lnTo>
                    <a:pt x="304800" y="228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4872228" y="5708141"/>
            <a:ext cx="702945" cy="167005"/>
          </a:xfrm>
          <a:custGeom>
            <a:avLst/>
            <a:gdLst/>
            <a:ahLst/>
            <a:cxnLst/>
            <a:rect l="l" t="t" r="r" b="b"/>
            <a:pathLst>
              <a:path w="702945" h="167004">
                <a:moveTo>
                  <a:pt x="702564" y="83058"/>
                </a:moveTo>
                <a:lnTo>
                  <a:pt x="514350" y="0"/>
                </a:lnTo>
                <a:lnTo>
                  <a:pt x="514350" y="40386"/>
                </a:lnTo>
                <a:lnTo>
                  <a:pt x="0" y="40386"/>
                </a:lnTo>
                <a:lnTo>
                  <a:pt x="0" y="126492"/>
                </a:lnTo>
                <a:lnTo>
                  <a:pt x="4572" y="126492"/>
                </a:lnTo>
                <a:lnTo>
                  <a:pt x="9906" y="126492"/>
                </a:lnTo>
                <a:lnTo>
                  <a:pt x="514350" y="126492"/>
                </a:lnTo>
                <a:lnTo>
                  <a:pt x="514350" y="166878"/>
                </a:lnTo>
                <a:lnTo>
                  <a:pt x="517398" y="165531"/>
                </a:lnTo>
                <a:lnTo>
                  <a:pt x="524256" y="162471"/>
                </a:lnTo>
                <a:lnTo>
                  <a:pt x="688848" y="89166"/>
                </a:lnTo>
                <a:lnTo>
                  <a:pt x="702564" y="83058"/>
                </a:lnTo>
                <a:close/>
              </a:path>
            </a:pathLst>
          </a:custGeom>
          <a:solidFill>
            <a:srgbClr val="00E4A8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485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Local</a:t>
            </a:r>
            <a:r>
              <a:rPr dirty="0" spc="-155"/>
              <a:t> </a:t>
            </a:r>
            <a:r>
              <a:rPr dirty="0"/>
              <a:t>Image</a:t>
            </a:r>
            <a:r>
              <a:rPr dirty="0" spc="-150"/>
              <a:t> </a:t>
            </a:r>
            <a:r>
              <a:rPr dirty="0"/>
              <a:t>Descriptors</a:t>
            </a:r>
            <a:r>
              <a:rPr dirty="0" spc="-155"/>
              <a:t> </a:t>
            </a:r>
            <a:r>
              <a:rPr dirty="0" spc="-25"/>
              <a:t>at </a:t>
            </a:r>
            <a:r>
              <a:rPr dirty="0"/>
              <a:t>Key</a:t>
            </a:r>
            <a:r>
              <a:rPr dirty="0" spc="-80"/>
              <a:t> </a:t>
            </a:r>
            <a:r>
              <a:rPr dirty="0" spc="-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411261"/>
            <a:ext cx="6700520" cy="2735580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8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Possible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descriptor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Store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intensity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samples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neighborhood</a:t>
            </a:r>
            <a:endParaRPr sz="2400">
              <a:latin typeface="Arial MT"/>
              <a:cs typeface="Arial MT"/>
            </a:endParaRPr>
          </a:p>
          <a:p>
            <a:pPr lvl="1" marL="755650" marR="613410" indent="-28575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Arial MT"/>
                <a:cs typeface="Arial MT"/>
              </a:rPr>
              <a:t>Sensitive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lighting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changes,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3D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object transformation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Use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gradient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orientation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histograms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015" algn="l"/>
              </a:tabLst>
            </a:pPr>
            <a:r>
              <a:rPr dirty="0" sz="2400">
                <a:latin typeface="Arial MT"/>
                <a:cs typeface="Arial MT"/>
              </a:rPr>
              <a:t>Robust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representation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0819" y="6881876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Arial MT"/>
                <a:cs typeface="Arial MT"/>
              </a:rPr>
              <a:t>39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Similarity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IT</a:t>
            </a:r>
            <a:r>
              <a:rPr dirty="0" spc="-75"/>
              <a:t> </a:t>
            </a:r>
            <a:r>
              <a:rPr dirty="0" spc="-10"/>
              <a:t>cortex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18564" y="2412745"/>
            <a:ext cx="7355205" cy="404939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355600" marR="38100" indent="-342900">
              <a:lnSpc>
                <a:spcPct val="80000"/>
              </a:lnSpc>
              <a:spcBef>
                <a:spcPts val="7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Complex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neurons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respond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gradient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>
                <a:latin typeface="Arial MT"/>
                <a:cs typeface="Arial MT"/>
              </a:rPr>
              <a:t>particular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orientation.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ct val="8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Location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feature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shift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over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small </a:t>
            </a:r>
            <a:r>
              <a:rPr dirty="0" sz="2800">
                <a:latin typeface="Arial MT"/>
                <a:cs typeface="Arial MT"/>
              </a:rPr>
              <a:t>receptive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field.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Edelman,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Intrator,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Poggio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(1997)</a:t>
            </a:r>
            <a:endParaRPr sz="2800">
              <a:latin typeface="Arial MT"/>
              <a:cs typeface="Arial MT"/>
            </a:endParaRPr>
          </a:p>
          <a:p>
            <a:pPr lvl="1" marL="755650" marR="238760" indent="-285750">
              <a:lnSpc>
                <a:spcPts val="2300"/>
              </a:lnSpc>
              <a:spcBef>
                <a:spcPts val="57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5650" algn="l"/>
              </a:tabLst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function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cells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matching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recognition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objects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range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view </a:t>
            </a:r>
            <a:r>
              <a:rPr dirty="0" sz="2400" spc="-10">
                <a:latin typeface="Arial MT"/>
                <a:cs typeface="Arial MT"/>
              </a:rPr>
              <a:t>points.</a:t>
            </a:r>
            <a:endParaRPr sz="2400">
              <a:latin typeface="Arial MT"/>
              <a:cs typeface="Arial MT"/>
            </a:endParaRPr>
          </a:p>
          <a:p>
            <a:pPr marL="355600" marR="221615" indent="-342900">
              <a:lnSpc>
                <a:spcPct val="80000"/>
              </a:lnSpc>
              <a:spcBef>
                <a:spcPts val="69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dirty="0" sz="2800">
                <a:latin typeface="Arial MT"/>
                <a:cs typeface="Arial MT"/>
              </a:rPr>
              <a:t>Experiments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show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better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recognition </a:t>
            </a:r>
            <a:r>
              <a:rPr dirty="0" sz="2800">
                <a:latin typeface="Arial MT"/>
                <a:cs typeface="Arial MT"/>
              </a:rPr>
              <a:t>accuracy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3D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objects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rotated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depth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by </a:t>
            </a:r>
            <a:r>
              <a:rPr dirty="0" sz="2800">
                <a:latin typeface="Arial MT"/>
                <a:cs typeface="Arial MT"/>
              </a:rPr>
              <a:t>up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20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degrees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4454" y="1447800"/>
            <a:ext cx="8543290" cy="1053465"/>
            <a:chOff x="584454" y="1447800"/>
            <a:chExt cx="8543290" cy="1053465"/>
          </a:xfrm>
        </p:grpSpPr>
        <p:sp>
          <p:nvSpPr>
            <p:cNvPr id="3" name="object 3"/>
            <p:cNvSpPr/>
            <p:nvPr/>
          </p:nvSpPr>
          <p:spPr>
            <a:xfrm>
              <a:off x="874776" y="1556004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474726"/>
                  </a:moveTo>
                  <a:lnTo>
                    <a:pt x="438150" y="0"/>
                  </a:lnTo>
                  <a:lnTo>
                    <a:pt x="0" y="0"/>
                  </a:lnTo>
                  <a:lnTo>
                    <a:pt x="0" y="474726"/>
                  </a:lnTo>
                  <a:lnTo>
                    <a:pt x="438150" y="474726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7300" y="1556004"/>
              <a:ext cx="329184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98981" y="1978151"/>
              <a:ext cx="422275" cy="474980"/>
            </a:xfrm>
            <a:custGeom>
              <a:avLst/>
              <a:gdLst/>
              <a:ahLst/>
              <a:cxnLst/>
              <a:rect l="l" t="t" r="r" b="b"/>
              <a:pathLst>
                <a:path w="422275" h="474980">
                  <a:moveTo>
                    <a:pt x="422148" y="474725"/>
                  </a:moveTo>
                  <a:lnTo>
                    <a:pt x="422148" y="0"/>
                  </a:lnTo>
                  <a:lnTo>
                    <a:pt x="0" y="0"/>
                  </a:lnTo>
                  <a:lnTo>
                    <a:pt x="0" y="474725"/>
                  </a:lnTo>
                  <a:lnTo>
                    <a:pt x="422148" y="47472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454" y="1905000"/>
              <a:ext cx="8542782" cy="5478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19200" y="1447800"/>
              <a:ext cx="32384" cy="1053465"/>
            </a:xfrm>
            <a:custGeom>
              <a:avLst/>
              <a:gdLst/>
              <a:ahLst/>
              <a:cxnLst/>
              <a:rect l="l" t="t" r="r" b="b"/>
              <a:pathLst>
                <a:path w="32384" h="1053464">
                  <a:moveTo>
                    <a:pt x="32004" y="1053084"/>
                  </a:moveTo>
                  <a:lnTo>
                    <a:pt x="32003" y="0"/>
                  </a:lnTo>
                  <a:lnTo>
                    <a:pt x="0" y="0"/>
                  </a:lnTo>
                  <a:lnTo>
                    <a:pt x="0" y="1053084"/>
                  </a:lnTo>
                  <a:lnTo>
                    <a:pt x="32004" y="1053084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5485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Extraction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/>
              <a:t>Local</a:t>
            </a:r>
            <a:r>
              <a:rPr dirty="0" spc="-105"/>
              <a:t> </a:t>
            </a:r>
            <a:r>
              <a:rPr dirty="0" spc="-10"/>
              <a:t>Image </a:t>
            </a:r>
            <a:r>
              <a:rPr dirty="0"/>
              <a:t>Descriptors</a:t>
            </a:r>
            <a:r>
              <a:rPr dirty="0" spc="-114"/>
              <a:t> </a:t>
            </a:r>
            <a:r>
              <a:rPr dirty="0"/>
              <a:t>at</a:t>
            </a:r>
            <a:r>
              <a:rPr dirty="0" spc="-110"/>
              <a:t> </a:t>
            </a: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Points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19326" y="2499614"/>
            <a:ext cx="7348220" cy="2365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9085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Compute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relative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orientation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magnitude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a </a:t>
            </a:r>
            <a:r>
              <a:rPr dirty="0" sz="2400">
                <a:latin typeface="Arial MT"/>
                <a:cs typeface="Arial MT"/>
              </a:rPr>
              <a:t>16x16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neighborhood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key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point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</a:tabLst>
            </a:pPr>
            <a:r>
              <a:rPr dirty="0" sz="2400">
                <a:latin typeface="Arial MT"/>
                <a:cs typeface="Arial MT"/>
              </a:rPr>
              <a:t>Form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weighted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histogram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(8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bin)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4x4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regions</a:t>
            </a:r>
            <a:endParaRPr sz="24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450"/>
              </a:spcBef>
              <a:buClr>
                <a:srgbClr val="FF0000"/>
              </a:buClr>
              <a:buSzPct val="52777"/>
              <a:buFont typeface="Wingdings"/>
              <a:buChar char=""/>
              <a:tabLst>
                <a:tab pos="755015" algn="l"/>
              </a:tabLst>
            </a:pPr>
            <a:r>
              <a:rPr dirty="0" sz="1800">
                <a:latin typeface="Arial MT"/>
                <a:cs typeface="Arial MT"/>
              </a:rPr>
              <a:t>Weight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magnitude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spatial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Gaussian</a:t>
            </a:r>
            <a:endParaRPr sz="1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52777"/>
              <a:buFont typeface="Wingdings"/>
              <a:buChar char=""/>
              <a:tabLst>
                <a:tab pos="755015" algn="l"/>
              </a:tabLst>
            </a:pPr>
            <a:r>
              <a:rPr dirty="0" sz="1800">
                <a:latin typeface="Arial MT"/>
                <a:cs typeface="Arial MT"/>
              </a:rPr>
              <a:t>Concatenate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16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histograms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long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vector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128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dimensions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4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dirty="0" sz="2800">
                <a:latin typeface="Arial MT"/>
                <a:cs typeface="Arial MT"/>
              </a:rPr>
              <a:t>Example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8x8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2x2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descriptors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6104" y="4937639"/>
            <a:ext cx="5125753" cy="229914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Descriptor</a:t>
            </a:r>
            <a:r>
              <a:rPr dirty="0" spc="1055"/>
              <a:t> </a:t>
            </a:r>
            <a:r>
              <a:rPr dirty="0"/>
              <a:t>Regions</a:t>
            </a:r>
            <a:r>
              <a:rPr dirty="0" spc="-85"/>
              <a:t> </a:t>
            </a:r>
            <a:r>
              <a:rPr dirty="0"/>
              <a:t>(n</a:t>
            </a:r>
            <a:r>
              <a:rPr dirty="0" spc="-85"/>
              <a:t> </a:t>
            </a:r>
            <a:r>
              <a:rPr dirty="0"/>
              <a:t>by</a:t>
            </a:r>
            <a:r>
              <a:rPr dirty="0" spc="-85"/>
              <a:t> </a:t>
            </a:r>
            <a:r>
              <a:rPr dirty="0" spc="-25"/>
              <a:t>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825" y="2057400"/>
            <a:ext cx="736473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9412" rIns="0" bIns="0" rtlCol="0" vert="horz">
            <a:spAutoFit/>
          </a:bodyPr>
          <a:lstStyle/>
          <a:p>
            <a:pPr marL="70485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Extraction</a:t>
            </a:r>
            <a:r>
              <a:rPr dirty="0" spc="-110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/>
              <a:t>Local</a:t>
            </a:r>
            <a:r>
              <a:rPr dirty="0" spc="-105"/>
              <a:t> </a:t>
            </a:r>
            <a:r>
              <a:rPr dirty="0" spc="-10"/>
              <a:t>Image </a:t>
            </a:r>
            <a:r>
              <a:rPr dirty="0"/>
              <a:t>Descriptors</a:t>
            </a:r>
            <a:r>
              <a:rPr dirty="0" spc="-114"/>
              <a:t> </a:t>
            </a:r>
            <a:r>
              <a:rPr dirty="0"/>
              <a:t>at</a:t>
            </a:r>
            <a:r>
              <a:rPr dirty="0" spc="-110"/>
              <a:t> </a:t>
            </a:r>
            <a:r>
              <a:rPr dirty="0"/>
              <a:t>Key</a:t>
            </a:r>
            <a:r>
              <a:rPr dirty="0" spc="-110"/>
              <a:t> </a:t>
            </a:r>
            <a:r>
              <a:rPr dirty="0" spc="-1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8564" y="2399486"/>
            <a:ext cx="7376159" cy="374586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Store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numbers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a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vector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Normalize</a:t>
            </a:r>
            <a:r>
              <a:rPr dirty="0" sz="3200" spc="-30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to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unit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vector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20">
                <a:latin typeface="Arial MT"/>
                <a:cs typeface="Arial MT"/>
              </a:rPr>
              <a:t>(</a:t>
            </a:r>
            <a:r>
              <a:rPr dirty="0" sz="3200" spc="-20" b="1">
                <a:latin typeface="Arial"/>
                <a:cs typeface="Arial"/>
              </a:rPr>
              <a:t>UN</a:t>
            </a:r>
            <a:r>
              <a:rPr dirty="0" sz="3200" spc="-20"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015" algn="l"/>
              </a:tabLst>
            </a:pPr>
            <a:r>
              <a:rPr dirty="0" sz="2800">
                <a:latin typeface="Arial MT"/>
                <a:cs typeface="Arial MT"/>
              </a:rPr>
              <a:t>Illumination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invariance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(affine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changes)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76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</a:tabLst>
            </a:pPr>
            <a:r>
              <a:rPr dirty="0" sz="3200">
                <a:latin typeface="Arial MT"/>
                <a:cs typeface="Arial MT"/>
              </a:rPr>
              <a:t>For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non-</a:t>
            </a:r>
            <a:r>
              <a:rPr dirty="0" sz="3200">
                <a:latin typeface="Arial MT"/>
                <a:cs typeface="Arial MT"/>
              </a:rPr>
              <a:t>linear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intensity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transforms</a:t>
            </a:r>
            <a:endParaRPr sz="3200">
              <a:latin typeface="Arial MT"/>
              <a:cs typeface="Arial MT"/>
            </a:endParaRPr>
          </a:p>
          <a:p>
            <a:pPr lvl="1" marL="755650" marR="5080" indent="-285750">
              <a:lnSpc>
                <a:spcPct val="100000"/>
              </a:lnSpc>
              <a:spcBef>
                <a:spcPts val="680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650" algn="l"/>
              </a:tabLst>
            </a:pPr>
            <a:r>
              <a:rPr dirty="0" sz="2800">
                <a:latin typeface="Arial MT"/>
                <a:cs typeface="Arial MT"/>
              </a:rPr>
              <a:t>Bound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b="1">
                <a:latin typeface="Arial"/>
                <a:cs typeface="Arial"/>
              </a:rPr>
              <a:t>Unit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Vector</a:t>
            </a:r>
            <a:r>
              <a:rPr dirty="0" sz="2800" spc="-75" b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items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maximum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0.2 </a:t>
            </a:r>
            <a:r>
              <a:rPr dirty="0" sz="2800">
                <a:latin typeface="Arial MT"/>
                <a:cs typeface="Arial MT"/>
              </a:rPr>
              <a:t>(remove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larger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gradients)</a:t>
            </a:r>
            <a:endParaRPr sz="2800">
              <a:latin typeface="Arial MT"/>
              <a:cs typeface="Arial MT"/>
            </a:endParaRPr>
          </a:p>
          <a:p>
            <a:pPr lvl="1" marL="755015" indent="-28511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5357"/>
              <a:buFont typeface="Wingdings"/>
              <a:buChar char=""/>
              <a:tabLst>
                <a:tab pos="755015" algn="l"/>
              </a:tabLst>
            </a:pPr>
            <a:r>
              <a:rPr dirty="0" sz="2800">
                <a:latin typeface="Arial MT"/>
                <a:cs typeface="Arial MT"/>
              </a:rPr>
              <a:t>Renormalize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unit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vector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00819" y="6881876"/>
            <a:ext cx="2235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>
                <a:latin typeface="Arial MT"/>
                <a:cs typeface="Arial MT"/>
              </a:rPr>
              <a:t>43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dirty="0" spc="-65"/>
              <a:t> </a:t>
            </a:r>
            <a:r>
              <a:rPr dirty="0"/>
              <a:t>point</a:t>
            </a:r>
            <a:r>
              <a:rPr dirty="0" spc="-60"/>
              <a:t>  </a:t>
            </a:r>
            <a:r>
              <a:rPr dirty="0" spc="-10"/>
              <a:t>matching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05864" y="2498089"/>
            <a:ext cx="7584440" cy="2929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0" marR="43624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300" algn="l"/>
              </a:tabLst>
            </a:pPr>
            <a:r>
              <a:rPr dirty="0" sz="2800">
                <a:latin typeface="Arial MT"/>
                <a:cs typeface="Arial MT"/>
              </a:rPr>
              <a:t>Match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against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35">
                <a:latin typeface="Arial MT"/>
                <a:cs typeface="Arial MT"/>
              </a:rPr>
              <a:t>of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obtained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training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images.</a:t>
            </a:r>
            <a:endParaRPr sz="2800">
              <a:latin typeface="Arial MT"/>
              <a:cs typeface="Arial MT"/>
            </a:endParaRPr>
          </a:p>
          <a:p>
            <a:pPr marL="368300" marR="1778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68300" algn="l"/>
              </a:tabLst>
            </a:pPr>
            <a:r>
              <a:rPr dirty="0" sz="2800">
                <a:latin typeface="Arial MT"/>
                <a:cs typeface="Arial MT"/>
              </a:rPr>
              <a:t>Find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nearest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neighbor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i.e.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with </a:t>
            </a:r>
            <a:r>
              <a:rPr dirty="0" sz="2800">
                <a:latin typeface="Arial MT"/>
                <a:cs typeface="Arial MT"/>
              </a:rPr>
              <a:t>minimum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Euclidean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distance.</a:t>
            </a:r>
            <a:endParaRPr sz="2800">
              <a:latin typeface="Arial MT"/>
              <a:cs typeface="Arial MT"/>
            </a:endParaRPr>
          </a:p>
          <a:p>
            <a:pPr lvl="1" marL="767715" indent="-28511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67715" algn="l"/>
              </a:tabLst>
            </a:pPr>
            <a:r>
              <a:rPr dirty="0" sz="2400">
                <a:latin typeface="Arial MT"/>
                <a:cs typeface="Arial MT"/>
              </a:rPr>
              <a:t>Efficient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Nearest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Neighbor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matching</a:t>
            </a:r>
            <a:endParaRPr sz="2400">
              <a:latin typeface="Arial MT"/>
              <a:cs typeface="Arial MT"/>
            </a:endParaRPr>
          </a:p>
          <a:p>
            <a:pPr lvl="2" marL="1168400" marR="567055" indent="-229235">
              <a:lnSpc>
                <a:spcPct val="100000"/>
              </a:lnSpc>
              <a:spcBef>
                <a:spcPts val="489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68400" algn="l"/>
              </a:tabLst>
            </a:pPr>
            <a:r>
              <a:rPr dirty="0" sz="2000">
                <a:latin typeface="Arial MT"/>
                <a:cs typeface="Arial MT"/>
              </a:rPr>
              <a:t>Looks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ratio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distance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between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best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2</a:t>
            </a:r>
            <a:r>
              <a:rPr dirty="0" baseline="25641" sz="1950">
                <a:latin typeface="Arial MT"/>
                <a:cs typeface="Arial MT"/>
              </a:rPr>
              <a:t>nd</a:t>
            </a:r>
            <a:r>
              <a:rPr dirty="0" baseline="25641" sz="1950" spc="209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best </a:t>
            </a:r>
            <a:r>
              <a:rPr dirty="0" sz="2000">
                <a:latin typeface="Arial MT"/>
                <a:cs typeface="Arial MT"/>
              </a:rPr>
              <a:t>match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20">
                <a:latin typeface="Arial MT"/>
                <a:cs typeface="Arial MT"/>
              </a:rPr>
              <a:t>(.8)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59535">
              <a:lnSpc>
                <a:spcPct val="100000"/>
              </a:lnSpc>
              <a:spcBef>
                <a:spcPts val="9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Matching</a:t>
            </a:r>
            <a:r>
              <a:rPr dirty="0" spc="-1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local</a:t>
            </a:r>
            <a:r>
              <a:rPr dirty="0" spc="-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83079"/>
            <a:ext cx="4064508" cy="3048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7800" y="1706879"/>
            <a:ext cx="4105655" cy="308000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5940" y="7031988"/>
            <a:ext cx="12350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Calibri"/>
                <a:cs typeface="Calibri"/>
              </a:rPr>
              <a:t>Kristen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Grauman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59535">
              <a:lnSpc>
                <a:spcPct val="100000"/>
              </a:lnSpc>
              <a:spcBef>
                <a:spcPts val="9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Matching</a:t>
            </a:r>
            <a:r>
              <a:rPr dirty="0" spc="-12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local</a:t>
            </a:r>
            <a:r>
              <a:rPr dirty="0" spc="-10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features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400" y="1706879"/>
            <a:ext cx="8449310" cy="3156585"/>
            <a:chOff x="914400" y="1706879"/>
            <a:chExt cx="8449310" cy="3156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783079"/>
              <a:ext cx="4064508" cy="304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7800" y="1706879"/>
              <a:ext cx="4105655" cy="30800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1802129"/>
              <a:ext cx="4038600" cy="30289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4400" y="1783079"/>
              <a:ext cx="4038600" cy="30800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15768" y="2461894"/>
              <a:ext cx="3686175" cy="1658620"/>
            </a:xfrm>
            <a:custGeom>
              <a:avLst/>
              <a:gdLst/>
              <a:ahLst/>
              <a:cxnLst/>
              <a:rect l="l" t="t" r="r" b="b"/>
              <a:pathLst>
                <a:path w="3686175" h="1658620">
                  <a:moveTo>
                    <a:pt x="471678" y="952639"/>
                  </a:moveTo>
                  <a:lnTo>
                    <a:pt x="432816" y="505345"/>
                  </a:lnTo>
                  <a:lnTo>
                    <a:pt x="412140" y="480085"/>
                  </a:lnTo>
                  <a:lnTo>
                    <a:pt x="412140" y="929259"/>
                  </a:lnTo>
                  <a:lnTo>
                    <a:pt x="92786" y="957046"/>
                  </a:lnTo>
                  <a:lnTo>
                    <a:pt x="58877" y="566115"/>
                  </a:lnTo>
                  <a:lnTo>
                    <a:pt x="30480" y="568591"/>
                  </a:lnTo>
                  <a:lnTo>
                    <a:pt x="57912" y="566191"/>
                  </a:lnTo>
                  <a:lnTo>
                    <a:pt x="58877" y="566115"/>
                  </a:lnTo>
                  <a:lnTo>
                    <a:pt x="376428" y="538467"/>
                  </a:lnTo>
                  <a:lnTo>
                    <a:pt x="378841" y="538264"/>
                  </a:lnTo>
                  <a:lnTo>
                    <a:pt x="406908" y="867740"/>
                  </a:lnTo>
                  <a:lnTo>
                    <a:pt x="412140" y="929259"/>
                  </a:lnTo>
                  <a:lnTo>
                    <a:pt x="412140" y="480085"/>
                  </a:lnTo>
                  <a:lnTo>
                    <a:pt x="25908" y="511441"/>
                  </a:lnTo>
                  <a:lnTo>
                    <a:pt x="0" y="542683"/>
                  </a:lnTo>
                  <a:lnTo>
                    <a:pt x="30480" y="900518"/>
                  </a:lnTo>
                  <a:lnTo>
                    <a:pt x="38100" y="989977"/>
                  </a:lnTo>
                  <a:lnTo>
                    <a:pt x="41363" y="1000988"/>
                  </a:lnTo>
                  <a:lnTo>
                    <a:pt x="48285" y="1009497"/>
                  </a:lnTo>
                  <a:lnTo>
                    <a:pt x="57912" y="1014730"/>
                  </a:lnTo>
                  <a:lnTo>
                    <a:pt x="64770" y="1015415"/>
                  </a:lnTo>
                  <a:lnTo>
                    <a:pt x="69342" y="1015885"/>
                  </a:lnTo>
                  <a:lnTo>
                    <a:pt x="95250" y="1013675"/>
                  </a:lnTo>
                  <a:lnTo>
                    <a:pt x="441198" y="984262"/>
                  </a:lnTo>
                  <a:lnTo>
                    <a:pt x="445770" y="983881"/>
                  </a:lnTo>
                  <a:lnTo>
                    <a:pt x="456780" y="980605"/>
                  </a:lnTo>
                  <a:lnTo>
                    <a:pt x="465289" y="973683"/>
                  </a:lnTo>
                  <a:lnTo>
                    <a:pt x="470522" y="964057"/>
                  </a:lnTo>
                  <a:lnTo>
                    <a:pt x="471678" y="952639"/>
                  </a:lnTo>
                  <a:close/>
                </a:path>
                <a:path w="3686175" h="1658620">
                  <a:moveTo>
                    <a:pt x="3685794" y="1607185"/>
                  </a:moveTo>
                  <a:lnTo>
                    <a:pt x="3521964" y="1421257"/>
                  </a:lnTo>
                  <a:lnTo>
                    <a:pt x="3513188" y="1414589"/>
                  </a:lnTo>
                  <a:lnTo>
                    <a:pt x="3502622" y="1411833"/>
                  </a:lnTo>
                  <a:lnTo>
                    <a:pt x="3491636" y="1413230"/>
                  </a:lnTo>
                  <a:lnTo>
                    <a:pt x="3481578" y="1418971"/>
                  </a:lnTo>
                  <a:lnTo>
                    <a:pt x="3474897" y="1427746"/>
                  </a:lnTo>
                  <a:lnTo>
                    <a:pt x="3472142" y="1438313"/>
                  </a:lnTo>
                  <a:lnTo>
                    <a:pt x="3473539" y="1449298"/>
                  </a:lnTo>
                  <a:lnTo>
                    <a:pt x="3479292" y="1459357"/>
                  </a:lnTo>
                  <a:lnTo>
                    <a:pt x="3540518" y="1528787"/>
                  </a:lnTo>
                  <a:lnTo>
                    <a:pt x="971689" y="672287"/>
                  </a:lnTo>
                  <a:lnTo>
                    <a:pt x="3444227" y="933081"/>
                  </a:lnTo>
                  <a:lnTo>
                    <a:pt x="3360420" y="970915"/>
                  </a:lnTo>
                  <a:lnTo>
                    <a:pt x="3351085" y="977734"/>
                  </a:lnTo>
                  <a:lnTo>
                    <a:pt x="3345180" y="987107"/>
                  </a:lnTo>
                  <a:lnTo>
                    <a:pt x="3343275" y="997927"/>
                  </a:lnTo>
                  <a:lnTo>
                    <a:pt x="3345942" y="1009015"/>
                  </a:lnTo>
                  <a:lnTo>
                    <a:pt x="3352419" y="1018235"/>
                  </a:lnTo>
                  <a:lnTo>
                    <a:pt x="3361842" y="1023874"/>
                  </a:lnTo>
                  <a:lnTo>
                    <a:pt x="3372828" y="1025525"/>
                  </a:lnTo>
                  <a:lnTo>
                    <a:pt x="3384042" y="1022731"/>
                  </a:lnTo>
                  <a:lnTo>
                    <a:pt x="3556254" y="945362"/>
                  </a:lnTo>
                  <a:lnTo>
                    <a:pt x="3609594" y="921385"/>
                  </a:lnTo>
                  <a:lnTo>
                    <a:pt x="3409950" y="775081"/>
                  </a:lnTo>
                  <a:lnTo>
                    <a:pt x="3399561" y="770356"/>
                  </a:lnTo>
                  <a:lnTo>
                    <a:pt x="3388614" y="769848"/>
                  </a:lnTo>
                  <a:lnTo>
                    <a:pt x="3378225" y="773480"/>
                  </a:lnTo>
                  <a:lnTo>
                    <a:pt x="3368268" y="812584"/>
                  </a:lnTo>
                  <a:lnTo>
                    <a:pt x="3450386" y="875969"/>
                  </a:lnTo>
                  <a:lnTo>
                    <a:pt x="906411" y="608393"/>
                  </a:lnTo>
                  <a:lnTo>
                    <a:pt x="3303054" y="142252"/>
                  </a:lnTo>
                  <a:lnTo>
                    <a:pt x="3233166" y="203581"/>
                  </a:lnTo>
                  <a:lnTo>
                    <a:pt x="3226155" y="212356"/>
                  </a:lnTo>
                  <a:lnTo>
                    <a:pt x="3223450" y="222923"/>
                  </a:lnTo>
                  <a:lnTo>
                    <a:pt x="3225012" y="233908"/>
                  </a:lnTo>
                  <a:lnTo>
                    <a:pt x="3230880" y="243967"/>
                  </a:lnTo>
                  <a:lnTo>
                    <a:pt x="3239643" y="250647"/>
                  </a:lnTo>
                  <a:lnTo>
                    <a:pt x="3250209" y="253403"/>
                  </a:lnTo>
                  <a:lnTo>
                    <a:pt x="3261195" y="252006"/>
                  </a:lnTo>
                  <a:lnTo>
                    <a:pt x="3271266" y="246253"/>
                  </a:lnTo>
                  <a:lnTo>
                    <a:pt x="3406902" y="127304"/>
                  </a:lnTo>
                  <a:lnTo>
                    <a:pt x="3457194" y="83185"/>
                  </a:lnTo>
                  <a:lnTo>
                    <a:pt x="3223450" y="1727"/>
                  </a:lnTo>
                  <a:lnTo>
                    <a:pt x="3223260" y="1651"/>
                  </a:lnTo>
                  <a:lnTo>
                    <a:pt x="3186684" y="19177"/>
                  </a:lnTo>
                  <a:lnTo>
                    <a:pt x="3185134" y="30581"/>
                  </a:lnTo>
                  <a:lnTo>
                    <a:pt x="3188017" y="41186"/>
                  </a:lnTo>
                  <a:lnTo>
                    <a:pt x="3194608" y="49936"/>
                  </a:lnTo>
                  <a:lnTo>
                    <a:pt x="3204210" y="55753"/>
                  </a:lnTo>
                  <a:lnTo>
                    <a:pt x="3290786" y="86029"/>
                  </a:lnTo>
                  <a:lnTo>
                    <a:pt x="707898" y="588391"/>
                  </a:lnTo>
                  <a:lnTo>
                    <a:pt x="713613" y="616585"/>
                  </a:lnTo>
                  <a:lnTo>
                    <a:pt x="704850" y="644017"/>
                  </a:lnTo>
                  <a:lnTo>
                    <a:pt x="3521964" y="1582813"/>
                  </a:lnTo>
                  <a:lnTo>
                    <a:pt x="3522319" y="1582940"/>
                  </a:lnTo>
                  <a:lnTo>
                    <a:pt x="3431286" y="1601851"/>
                  </a:lnTo>
                  <a:lnTo>
                    <a:pt x="3420973" y="1606245"/>
                  </a:lnTo>
                  <a:lnTo>
                    <a:pt x="3413379" y="1614144"/>
                  </a:lnTo>
                  <a:lnTo>
                    <a:pt x="3409188" y="1624520"/>
                  </a:lnTo>
                  <a:lnTo>
                    <a:pt x="3409188" y="1636141"/>
                  </a:lnTo>
                  <a:lnTo>
                    <a:pt x="3413899" y="1646453"/>
                  </a:lnTo>
                  <a:lnTo>
                    <a:pt x="3421761" y="1654048"/>
                  </a:lnTo>
                  <a:lnTo>
                    <a:pt x="3431895" y="1658226"/>
                  </a:lnTo>
                  <a:lnTo>
                    <a:pt x="3443478" y="1658239"/>
                  </a:lnTo>
                  <a:lnTo>
                    <a:pt x="3640836" y="1616659"/>
                  </a:lnTo>
                  <a:lnTo>
                    <a:pt x="3685794" y="160718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69740" y="2159761"/>
            <a:ext cx="33655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0" b="1">
                <a:latin typeface="Arial"/>
                <a:cs typeface="Arial"/>
              </a:rPr>
              <a:t>?</a:t>
            </a:r>
            <a:endParaRPr sz="4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1739" y="4798377"/>
            <a:ext cx="7692390" cy="200342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algn="ctr" marL="169545">
              <a:lnSpc>
                <a:spcPct val="100000"/>
              </a:lnSpc>
              <a:spcBef>
                <a:spcPts val="650"/>
              </a:spcBef>
              <a:tabLst>
                <a:tab pos="4589145" algn="l"/>
              </a:tabLst>
            </a:pPr>
            <a:r>
              <a:rPr dirty="0" sz="1800">
                <a:latin typeface="Arial MT"/>
                <a:cs typeface="Arial MT"/>
              </a:rPr>
              <a:t>Image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1</a:t>
            </a:r>
            <a:r>
              <a:rPr dirty="0" sz="1800">
                <a:latin typeface="Arial MT"/>
                <a:cs typeface="Arial MT"/>
              </a:rPr>
              <a:t>	</a:t>
            </a:r>
            <a:r>
              <a:rPr dirty="0" baseline="3086" sz="2700">
                <a:latin typeface="Arial MT"/>
                <a:cs typeface="Arial MT"/>
              </a:rPr>
              <a:t>Image</a:t>
            </a:r>
            <a:r>
              <a:rPr dirty="0" baseline="3086" sz="2700" spc="-22">
                <a:latin typeface="Arial MT"/>
                <a:cs typeface="Arial MT"/>
              </a:rPr>
              <a:t> </a:t>
            </a:r>
            <a:r>
              <a:rPr dirty="0" baseline="3086" sz="2700" spc="-75">
                <a:latin typeface="Arial MT"/>
                <a:cs typeface="Arial MT"/>
              </a:rPr>
              <a:t>2</a:t>
            </a:r>
            <a:endParaRPr baseline="3086" sz="2700">
              <a:latin typeface="Arial MT"/>
              <a:cs typeface="Arial MT"/>
            </a:endParaRPr>
          </a:p>
          <a:p>
            <a:pPr marL="355600" marR="238760" indent="-342900">
              <a:lnSpc>
                <a:spcPct val="100000"/>
              </a:lnSpc>
              <a:spcBef>
                <a:spcPts val="740"/>
              </a:spcBef>
              <a:buChar char="•"/>
              <a:tabLst>
                <a:tab pos="355600" algn="l"/>
              </a:tabLst>
            </a:pPr>
            <a:r>
              <a:rPr dirty="0" sz="2400" spc="-125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generate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candidate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matches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patches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similar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SIFT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descriptor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2400">
                <a:latin typeface="Arial MT"/>
                <a:cs typeface="Arial MT"/>
              </a:rPr>
              <a:t>Simplest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approach: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compare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them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take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closest </a:t>
            </a:r>
            <a:r>
              <a:rPr dirty="0" sz="2400">
                <a:latin typeface="Arial MT"/>
                <a:cs typeface="Arial MT"/>
              </a:rPr>
              <a:t>(or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closest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k,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thresholded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distance)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7031988"/>
            <a:ext cx="12350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Calibri"/>
                <a:cs typeface="Calibri"/>
              </a:rPr>
              <a:t>Kristen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Grauman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728470">
              <a:lnSpc>
                <a:spcPct val="100000"/>
              </a:lnSpc>
              <a:spcBef>
                <a:spcPts val="9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Ambiguous</a:t>
            </a:r>
            <a:r>
              <a:rPr dirty="0" spc="-21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matches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400" y="1783079"/>
            <a:ext cx="4064635" cy="3080385"/>
            <a:chOff x="914400" y="1783079"/>
            <a:chExt cx="4064635" cy="30803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783079"/>
              <a:ext cx="4064508" cy="304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1783079"/>
              <a:ext cx="4038600" cy="30800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56916" y="3636263"/>
              <a:ext cx="471805" cy="537210"/>
            </a:xfrm>
            <a:custGeom>
              <a:avLst/>
              <a:gdLst/>
              <a:ahLst/>
              <a:cxnLst/>
              <a:rect l="l" t="t" r="r" b="b"/>
              <a:pathLst>
                <a:path w="471805" h="537210">
                  <a:moveTo>
                    <a:pt x="471678" y="473202"/>
                  </a:moveTo>
                  <a:lnTo>
                    <a:pt x="432816" y="25908"/>
                  </a:lnTo>
                  <a:lnTo>
                    <a:pt x="402336" y="0"/>
                  </a:lnTo>
                  <a:lnTo>
                    <a:pt x="25908" y="32766"/>
                  </a:lnTo>
                  <a:lnTo>
                    <a:pt x="14894" y="36028"/>
                  </a:lnTo>
                  <a:lnTo>
                    <a:pt x="6381" y="42862"/>
                  </a:lnTo>
                  <a:lnTo>
                    <a:pt x="1154" y="52268"/>
                  </a:lnTo>
                  <a:lnTo>
                    <a:pt x="0" y="63246"/>
                  </a:lnTo>
                  <a:lnTo>
                    <a:pt x="30480" y="414662"/>
                  </a:lnTo>
                  <a:lnTo>
                    <a:pt x="30480" y="89154"/>
                  </a:lnTo>
                  <a:lnTo>
                    <a:pt x="56388" y="58674"/>
                  </a:lnTo>
                  <a:lnTo>
                    <a:pt x="58826" y="86743"/>
                  </a:lnTo>
                  <a:lnTo>
                    <a:pt x="376428" y="59741"/>
                  </a:lnTo>
                  <a:lnTo>
                    <a:pt x="376428" y="31242"/>
                  </a:lnTo>
                  <a:lnTo>
                    <a:pt x="406908" y="57150"/>
                  </a:lnTo>
                  <a:lnTo>
                    <a:pt x="406908" y="382060"/>
                  </a:lnTo>
                  <a:lnTo>
                    <a:pt x="412790" y="449766"/>
                  </a:lnTo>
                  <a:lnTo>
                    <a:pt x="441198" y="447294"/>
                  </a:lnTo>
                  <a:lnTo>
                    <a:pt x="441198" y="504841"/>
                  </a:lnTo>
                  <a:lnTo>
                    <a:pt x="445770" y="504444"/>
                  </a:lnTo>
                  <a:lnTo>
                    <a:pt x="456783" y="501169"/>
                  </a:lnTo>
                  <a:lnTo>
                    <a:pt x="465296" y="494252"/>
                  </a:lnTo>
                  <a:lnTo>
                    <a:pt x="470523" y="484620"/>
                  </a:lnTo>
                  <a:lnTo>
                    <a:pt x="471678" y="473202"/>
                  </a:lnTo>
                  <a:close/>
                </a:path>
                <a:path w="471805" h="537210">
                  <a:moveTo>
                    <a:pt x="58826" y="86743"/>
                  </a:moveTo>
                  <a:lnTo>
                    <a:pt x="56388" y="58674"/>
                  </a:lnTo>
                  <a:lnTo>
                    <a:pt x="30480" y="89154"/>
                  </a:lnTo>
                  <a:lnTo>
                    <a:pt x="58257" y="86792"/>
                  </a:lnTo>
                  <a:lnTo>
                    <a:pt x="58826" y="86743"/>
                  </a:lnTo>
                  <a:close/>
                </a:path>
                <a:path w="471805" h="537210">
                  <a:moveTo>
                    <a:pt x="92787" y="477621"/>
                  </a:moveTo>
                  <a:lnTo>
                    <a:pt x="58826" y="86743"/>
                  </a:lnTo>
                  <a:lnTo>
                    <a:pt x="30480" y="89154"/>
                  </a:lnTo>
                  <a:lnTo>
                    <a:pt x="30480" y="414662"/>
                  </a:lnTo>
                  <a:lnTo>
                    <a:pt x="38862" y="511302"/>
                  </a:lnTo>
                  <a:lnTo>
                    <a:pt x="64770" y="536689"/>
                  </a:lnTo>
                  <a:lnTo>
                    <a:pt x="64770" y="480060"/>
                  </a:lnTo>
                  <a:lnTo>
                    <a:pt x="92787" y="477621"/>
                  </a:lnTo>
                  <a:close/>
                </a:path>
                <a:path w="471805" h="537210">
                  <a:moveTo>
                    <a:pt x="95250" y="505968"/>
                  </a:moveTo>
                  <a:lnTo>
                    <a:pt x="92787" y="477621"/>
                  </a:lnTo>
                  <a:lnTo>
                    <a:pt x="64770" y="480060"/>
                  </a:lnTo>
                  <a:lnTo>
                    <a:pt x="95250" y="505968"/>
                  </a:lnTo>
                  <a:close/>
                </a:path>
                <a:path w="471805" h="537210">
                  <a:moveTo>
                    <a:pt x="95249" y="534954"/>
                  </a:moveTo>
                  <a:lnTo>
                    <a:pt x="95250" y="505968"/>
                  </a:lnTo>
                  <a:lnTo>
                    <a:pt x="64770" y="480060"/>
                  </a:lnTo>
                  <a:lnTo>
                    <a:pt x="64770" y="536689"/>
                  </a:lnTo>
                  <a:lnTo>
                    <a:pt x="69342" y="537210"/>
                  </a:lnTo>
                  <a:lnTo>
                    <a:pt x="95249" y="534954"/>
                  </a:lnTo>
                  <a:close/>
                </a:path>
                <a:path w="471805" h="537210">
                  <a:moveTo>
                    <a:pt x="441198" y="504841"/>
                  </a:moveTo>
                  <a:lnTo>
                    <a:pt x="441198" y="447294"/>
                  </a:lnTo>
                  <a:lnTo>
                    <a:pt x="415290" y="478536"/>
                  </a:lnTo>
                  <a:lnTo>
                    <a:pt x="412790" y="449766"/>
                  </a:lnTo>
                  <a:lnTo>
                    <a:pt x="92787" y="477621"/>
                  </a:lnTo>
                  <a:lnTo>
                    <a:pt x="95250" y="505968"/>
                  </a:lnTo>
                  <a:lnTo>
                    <a:pt x="95249" y="534954"/>
                  </a:lnTo>
                  <a:lnTo>
                    <a:pt x="441198" y="504841"/>
                  </a:lnTo>
                  <a:close/>
                </a:path>
                <a:path w="471805" h="537210">
                  <a:moveTo>
                    <a:pt x="406908" y="57150"/>
                  </a:moveTo>
                  <a:lnTo>
                    <a:pt x="376428" y="31242"/>
                  </a:lnTo>
                  <a:lnTo>
                    <a:pt x="378885" y="59532"/>
                  </a:lnTo>
                  <a:lnTo>
                    <a:pt x="406908" y="57150"/>
                  </a:lnTo>
                  <a:close/>
                </a:path>
                <a:path w="471805" h="537210">
                  <a:moveTo>
                    <a:pt x="378885" y="59532"/>
                  </a:moveTo>
                  <a:lnTo>
                    <a:pt x="376428" y="31242"/>
                  </a:lnTo>
                  <a:lnTo>
                    <a:pt x="376428" y="59741"/>
                  </a:lnTo>
                  <a:lnTo>
                    <a:pt x="378885" y="59532"/>
                  </a:lnTo>
                  <a:close/>
                </a:path>
                <a:path w="471805" h="537210">
                  <a:moveTo>
                    <a:pt x="406908" y="382060"/>
                  </a:moveTo>
                  <a:lnTo>
                    <a:pt x="406908" y="57150"/>
                  </a:lnTo>
                  <a:lnTo>
                    <a:pt x="378885" y="59532"/>
                  </a:lnTo>
                  <a:lnTo>
                    <a:pt x="406908" y="382060"/>
                  </a:lnTo>
                  <a:close/>
                </a:path>
                <a:path w="471805" h="537210">
                  <a:moveTo>
                    <a:pt x="441198" y="447294"/>
                  </a:moveTo>
                  <a:lnTo>
                    <a:pt x="413420" y="449711"/>
                  </a:lnTo>
                  <a:lnTo>
                    <a:pt x="412790" y="449766"/>
                  </a:lnTo>
                  <a:lnTo>
                    <a:pt x="415290" y="478536"/>
                  </a:lnTo>
                  <a:lnTo>
                    <a:pt x="441198" y="44729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257800" y="1706879"/>
            <a:ext cx="4105910" cy="3124200"/>
            <a:chOff x="5257800" y="1706879"/>
            <a:chExt cx="4105910" cy="31242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1706879"/>
              <a:ext cx="4105655" cy="30800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57800" y="1802129"/>
              <a:ext cx="4038600" cy="30289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21714" y="4830228"/>
            <a:ext cx="7459345" cy="21336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308100">
              <a:lnSpc>
                <a:spcPct val="100000"/>
              </a:lnSpc>
              <a:spcBef>
                <a:spcPts val="400"/>
              </a:spcBef>
            </a:pPr>
            <a:r>
              <a:rPr dirty="0" sz="1800">
                <a:latin typeface="Arial MT"/>
                <a:cs typeface="Arial MT"/>
              </a:rPr>
              <a:t>Image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335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Arial MT"/>
                <a:cs typeface="Arial MT"/>
              </a:rPr>
              <a:t>At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what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distance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have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good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match?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5600" algn="l"/>
              </a:tabLst>
            </a:pPr>
            <a:r>
              <a:rPr dirty="0" sz="2000" spc="-114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add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robustness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matching,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consider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b="1">
                <a:latin typeface="Arial"/>
                <a:cs typeface="Arial"/>
              </a:rPr>
              <a:t>ratio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>
                <a:latin typeface="Arial MT"/>
                <a:cs typeface="Arial MT"/>
              </a:rPr>
              <a:t>: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distance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>
                <a:latin typeface="Arial MT"/>
                <a:cs typeface="Arial MT"/>
              </a:rPr>
              <a:t>best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match</a:t>
            </a:r>
            <a:r>
              <a:rPr dirty="0" sz="2000" spc="-2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/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distance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second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best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match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low,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first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match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looks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good.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dirty="0" sz="2000">
                <a:latin typeface="Arial MT"/>
                <a:cs typeface="Arial MT"/>
              </a:rPr>
              <a:t>If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high,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could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ambiguous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match.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6732" y="4857996"/>
            <a:ext cx="851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Image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5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22340" y="3474973"/>
            <a:ext cx="175006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0">
                <a:solidFill>
                  <a:srgbClr val="FF0000"/>
                </a:solidFill>
                <a:latin typeface="Arial MT"/>
                <a:cs typeface="Arial MT"/>
              </a:rPr>
              <a:t>?</a:t>
            </a:r>
            <a:r>
              <a:rPr dirty="0" sz="5000" spc="-5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5000">
                <a:solidFill>
                  <a:srgbClr val="FF0000"/>
                </a:solidFill>
                <a:latin typeface="Arial MT"/>
                <a:cs typeface="Arial MT"/>
              </a:rPr>
              <a:t>?</a:t>
            </a:r>
            <a:r>
              <a:rPr dirty="0" sz="5000" spc="-5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5000">
                <a:solidFill>
                  <a:srgbClr val="FF0000"/>
                </a:solidFill>
                <a:latin typeface="Arial MT"/>
                <a:cs typeface="Arial MT"/>
              </a:rPr>
              <a:t>?</a:t>
            </a:r>
            <a:r>
              <a:rPr dirty="0" sz="5000" spc="-5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5000" spc="-50">
                <a:solidFill>
                  <a:srgbClr val="FF0000"/>
                </a:solidFill>
                <a:latin typeface="Arial MT"/>
                <a:cs typeface="Arial MT"/>
              </a:rPr>
              <a:t>?</a:t>
            </a:r>
            <a:endParaRPr sz="5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7031988"/>
            <a:ext cx="12350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>
                <a:latin typeface="Calibri"/>
                <a:cs typeface="Calibri"/>
              </a:rPr>
              <a:t>Kristen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Grauman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 sz="3200" b="0">
                <a:latin typeface="Arial MT"/>
                <a:cs typeface="Arial MT"/>
              </a:rPr>
              <a:t>The</a:t>
            </a:r>
            <a:r>
              <a:rPr dirty="0" sz="3200" spc="-3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ratio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of</a:t>
            </a:r>
            <a:r>
              <a:rPr dirty="0" sz="3200" spc="-15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distance</a:t>
            </a:r>
            <a:endParaRPr sz="3200">
              <a:latin typeface="Arial MT"/>
              <a:cs typeface="Arial MT"/>
            </a:endParaRPr>
          </a:p>
          <a:p>
            <a:pPr marL="704850" marR="5080">
              <a:lnSpc>
                <a:spcPct val="100000"/>
              </a:lnSpc>
            </a:pPr>
            <a:r>
              <a:rPr dirty="0" sz="3200" b="0">
                <a:latin typeface="Arial MT"/>
                <a:cs typeface="Arial MT"/>
              </a:rPr>
              <a:t>from</a:t>
            </a:r>
            <a:r>
              <a:rPr dirty="0" sz="3200" spc="-2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the</a:t>
            </a:r>
            <a:r>
              <a:rPr dirty="0" sz="3200" spc="-2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closest</a:t>
            </a:r>
            <a:r>
              <a:rPr dirty="0" sz="3200" spc="-20" b="0">
                <a:latin typeface="Arial MT"/>
                <a:cs typeface="Arial MT"/>
              </a:rPr>
              <a:t>  </a:t>
            </a:r>
            <a:r>
              <a:rPr dirty="0" sz="3200" b="0">
                <a:latin typeface="Arial MT"/>
                <a:cs typeface="Arial MT"/>
              </a:rPr>
              <a:t>to</a:t>
            </a:r>
            <a:r>
              <a:rPr dirty="0" sz="3200" spc="-2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the</a:t>
            </a:r>
            <a:r>
              <a:rPr dirty="0" sz="3200" spc="-20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distance</a:t>
            </a:r>
            <a:r>
              <a:rPr dirty="0" sz="3200" spc="-25" b="0">
                <a:latin typeface="Arial MT"/>
                <a:cs typeface="Arial MT"/>
              </a:rPr>
              <a:t> </a:t>
            </a:r>
            <a:r>
              <a:rPr dirty="0" sz="3200" b="0">
                <a:latin typeface="Arial MT"/>
                <a:cs typeface="Arial MT"/>
              </a:rPr>
              <a:t>of</a:t>
            </a:r>
            <a:r>
              <a:rPr dirty="0" sz="3200" spc="-20" b="0">
                <a:latin typeface="Arial MT"/>
                <a:cs typeface="Arial MT"/>
              </a:rPr>
              <a:t> </a:t>
            </a:r>
            <a:r>
              <a:rPr dirty="0" sz="3200" spc="-25" b="0">
                <a:latin typeface="Arial MT"/>
                <a:cs typeface="Arial MT"/>
              </a:rPr>
              <a:t>the </a:t>
            </a:r>
            <a:r>
              <a:rPr dirty="0" sz="3200" b="0">
                <a:latin typeface="Arial MT"/>
                <a:cs typeface="Arial MT"/>
              </a:rPr>
              <a:t>second</a:t>
            </a:r>
            <a:r>
              <a:rPr dirty="0" sz="3200" spc="-35" b="0">
                <a:latin typeface="Arial MT"/>
                <a:cs typeface="Arial MT"/>
              </a:rPr>
              <a:t> </a:t>
            </a:r>
            <a:r>
              <a:rPr dirty="0" sz="3200" spc="-10" b="0">
                <a:latin typeface="Arial MT"/>
                <a:cs typeface="Arial MT"/>
              </a:rPr>
              <a:t>closest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9704" y="3289015"/>
            <a:ext cx="4374890" cy="31332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99972" rIns="0" bIns="0" rtlCol="0" vert="horz">
            <a:spAutoFit/>
          </a:bodyPr>
          <a:lstStyle/>
          <a:p>
            <a:pPr marL="70485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1939" y="3397203"/>
            <a:ext cx="5604510" cy="93726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 indent="-635">
              <a:lnSpc>
                <a:spcPts val="2160"/>
              </a:lnSpc>
              <a:spcBef>
                <a:spcPts val="275"/>
              </a:spcBef>
            </a:pPr>
            <a:r>
              <a:rPr dirty="0" sz="1800">
                <a:solidFill>
                  <a:srgbClr val="767676"/>
                </a:solidFill>
                <a:latin typeface="Tahoma"/>
                <a:cs typeface="Tahoma"/>
              </a:rPr>
              <a:t>D.</a:t>
            </a:r>
            <a:r>
              <a:rPr dirty="0" sz="1800" spc="-3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767676"/>
                </a:solidFill>
                <a:latin typeface="Tahoma"/>
                <a:cs typeface="Tahoma"/>
              </a:rPr>
              <a:t>Lowe.</a:t>
            </a:r>
            <a:r>
              <a:rPr dirty="0" sz="1800" spc="-4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767676"/>
                </a:solidFill>
                <a:latin typeface="Tahoma"/>
                <a:cs typeface="Tahoma"/>
              </a:rPr>
              <a:t>Distinctive</a:t>
            </a:r>
            <a:r>
              <a:rPr dirty="0" sz="1900" spc="-7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60">
                <a:solidFill>
                  <a:srgbClr val="767676"/>
                </a:solidFill>
                <a:latin typeface="Tahoma"/>
                <a:cs typeface="Tahoma"/>
              </a:rPr>
              <a:t>image</a:t>
            </a:r>
            <a:r>
              <a:rPr dirty="0" sz="1900" spc="-7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767676"/>
                </a:solidFill>
                <a:latin typeface="Tahoma"/>
                <a:cs typeface="Tahoma"/>
              </a:rPr>
              <a:t>features</a:t>
            </a:r>
            <a:r>
              <a:rPr dirty="0" sz="1900" spc="-6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55">
                <a:solidFill>
                  <a:srgbClr val="767676"/>
                </a:solidFill>
                <a:latin typeface="Tahoma"/>
                <a:cs typeface="Tahoma"/>
              </a:rPr>
              <a:t>from</a:t>
            </a:r>
            <a:r>
              <a:rPr dirty="0" sz="1900" spc="-7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767676"/>
                </a:solidFill>
                <a:latin typeface="Tahoma"/>
                <a:cs typeface="Tahoma"/>
              </a:rPr>
              <a:t>scale-</a:t>
            </a:r>
            <a:r>
              <a:rPr dirty="0" sz="1900" spc="-50">
                <a:solidFill>
                  <a:srgbClr val="767676"/>
                </a:solidFill>
                <a:latin typeface="Tahoma"/>
                <a:cs typeface="Tahoma"/>
              </a:rPr>
              <a:t>invariant</a:t>
            </a:r>
            <a:r>
              <a:rPr dirty="0" sz="1900" spc="-6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767676"/>
                </a:solidFill>
                <a:latin typeface="Tahoma"/>
                <a:cs typeface="Tahoma"/>
              </a:rPr>
              <a:t>key</a:t>
            </a:r>
            <a:r>
              <a:rPr dirty="0" sz="1900" spc="-6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767676"/>
                </a:solidFill>
                <a:latin typeface="Tahoma"/>
                <a:cs typeface="Tahoma"/>
              </a:rPr>
              <a:t>points</a:t>
            </a:r>
            <a:r>
              <a:rPr dirty="0" sz="1800" spc="-50">
                <a:solidFill>
                  <a:srgbClr val="767676"/>
                </a:solidFill>
                <a:latin typeface="Tahoma"/>
                <a:cs typeface="Tahoma"/>
              </a:rPr>
              <a:t>.,</a:t>
            </a:r>
            <a:r>
              <a:rPr dirty="0" sz="1800" spc="-4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767676"/>
                </a:solidFill>
                <a:latin typeface="Tahoma"/>
                <a:cs typeface="Tahoma"/>
              </a:rPr>
              <a:t>International</a:t>
            </a:r>
            <a:r>
              <a:rPr dirty="0" sz="1800" spc="-3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767676"/>
                </a:solidFill>
                <a:latin typeface="Tahoma"/>
                <a:cs typeface="Tahoma"/>
              </a:rPr>
              <a:t>Journal</a:t>
            </a:r>
            <a:r>
              <a:rPr dirty="0" sz="1800" spc="-50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767676"/>
                </a:solidFill>
                <a:latin typeface="Tahoma"/>
                <a:cs typeface="Tahoma"/>
              </a:rPr>
              <a:t>of</a:t>
            </a:r>
            <a:r>
              <a:rPr dirty="0" sz="1800" spc="-45">
                <a:solidFill>
                  <a:srgbClr val="767676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767676"/>
                </a:solidFill>
                <a:latin typeface="Tahoma"/>
                <a:cs typeface="Tahoma"/>
              </a:rPr>
              <a:t>Computer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800">
                <a:solidFill>
                  <a:srgbClr val="767676"/>
                </a:solidFill>
                <a:latin typeface="Tahoma"/>
                <a:cs typeface="Tahoma"/>
              </a:rPr>
              <a:t>Vision</a:t>
            </a:r>
            <a:r>
              <a:rPr dirty="0" sz="1800" spc="-10">
                <a:solidFill>
                  <a:srgbClr val="767676"/>
                </a:solidFill>
                <a:latin typeface="Tahoma"/>
                <a:cs typeface="Tahoma"/>
              </a:rPr>
              <a:t> 2004.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84333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6755" y="3323099"/>
            <a:ext cx="1733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0">
                <a:solidFill>
                  <a:srgbClr val="7F7F7F"/>
                </a:solidFill>
                <a:latin typeface="Arial MT"/>
                <a:cs typeface="Arial MT"/>
              </a:rPr>
              <a:t>4</a:t>
            </a:r>
            <a:r>
              <a:rPr dirty="0" sz="600" spc="-6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dirty="0" sz="600" spc="-6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dirty="0" sz="600" spc="-50">
                <a:solidFill>
                  <a:srgbClr val="7F7F7F"/>
                </a:solidFill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2026-06-26T05:55:58Z</dcterms:created>
  <dcterms:modified xsi:type="dcterms:W3CDTF">2026-06-26T05:55:58Z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2026-06-26T00:00:00Z</vt:filetime>
  </property>
  <property fmtid="{D5CDD505-2E9C-101B-9397-08002B2CF9AE}" pid="4" name="Producer">
    <vt:lpwstr>Python PDF Library - http://pybrary.net/pyPdf/</vt:lpwstr>
  </property>
  <property fmtid="{D5CDD505-2E9C-101B-9397-08002B2CF9AE}" pid="5" name="LastSaved">
    <vt:filetime>2026-06-26T00:00:00Z</vt:filetime>
  </property>
</Properties>
</file>