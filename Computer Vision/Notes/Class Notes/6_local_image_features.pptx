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14943"/>
            <a:ext cx="2376805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D6D6E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D6E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4943"/>
            <a:ext cx="3451860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743" y="1247075"/>
            <a:ext cx="2023745" cy="1447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D6D6E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-9372" y="3351784"/>
            <a:ext cx="10896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654843" y="3351784"/>
            <a:ext cx="50101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60697" y="3341243"/>
            <a:ext cx="338899" cy="112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slide" Target="slide6.xml"/><Relationship Id="rId9" Type="http://schemas.openxmlformats.org/officeDocument/2006/relationships/slide" Target="slide17.xml"/><Relationship Id="rId10" Type="http://schemas.openxmlformats.org/officeDocument/2006/relationships/slide" Target="slide26.xml"/><Relationship Id="rId11" Type="http://schemas.openxmlformats.org/officeDocument/2006/relationships/slide" Target="slide43.xml"/><Relationship Id="rId12" Type="http://schemas.openxmlformats.org/officeDocument/2006/relationships/slide" Target="slide4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slide" Target="slide4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slide" Target="slide4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slide" Target="slide4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slide" Target="slide2.xml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slide" Target="slide6.xml"/><Relationship Id="rId9" Type="http://schemas.openxmlformats.org/officeDocument/2006/relationships/slide" Target="slide17.xml"/><Relationship Id="rId10" Type="http://schemas.openxmlformats.org/officeDocument/2006/relationships/slide" Target="slide26.xml"/><Relationship Id="rId11" Type="http://schemas.openxmlformats.org/officeDocument/2006/relationships/slide" Target="slide43.xml"/><Relationship Id="rId12" Type="http://schemas.openxmlformats.org/officeDocument/2006/relationships/slide" Target="slide4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" Target="slide4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slide" Target="slide4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slide" Target="slide4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slide" Target="slide4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slide" Target="slide4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slide" Target="slide4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slide" Target="slide4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slide" Target="slide4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jpg"/><Relationship Id="rId4" Type="http://schemas.openxmlformats.org/officeDocument/2006/relationships/slide" Target="slide4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image" Target="../media/image32.jpg"/><Relationship Id="rId4" Type="http://schemas.openxmlformats.org/officeDocument/2006/relationships/slide" Target="slide4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slide" Target="slide6.xml"/><Relationship Id="rId9" Type="http://schemas.openxmlformats.org/officeDocument/2006/relationships/slide" Target="slide17.xml"/><Relationship Id="rId10" Type="http://schemas.openxmlformats.org/officeDocument/2006/relationships/slide" Target="slide26.xml"/><Relationship Id="rId11" Type="http://schemas.openxmlformats.org/officeDocument/2006/relationships/slide" Target="slide43.xml"/><Relationship Id="rId12" Type="http://schemas.openxmlformats.org/officeDocument/2006/relationships/slide" Target="slide4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slide" Target="slide4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jpg"/><Relationship Id="rId5" Type="http://schemas.openxmlformats.org/officeDocument/2006/relationships/image" Target="../media/image41.jpg"/><Relationship Id="rId6" Type="http://schemas.openxmlformats.org/officeDocument/2006/relationships/image" Target="../media/image42.jpg"/><Relationship Id="rId7" Type="http://schemas.openxmlformats.org/officeDocument/2006/relationships/slide" Target="slide4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slide" Target="slide4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slide" Target="slide4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jpg"/><Relationship Id="rId5" Type="http://schemas.openxmlformats.org/officeDocument/2006/relationships/slide" Target="slide4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Relationship Id="rId3" Type="http://schemas.openxmlformats.org/officeDocument/2006/relationships/slide" Target="slide4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Relationship Id="rId3" Type="http://schemas.openxmlformats.org/officeDocument/2006/relationships/slide" Target="slide4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jpg"/><Relationship Id="rId3" Type="http://schemas.openxmlformats.org/officeDocument/2006/relationships/slide" Target="slide4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9.png"/><Relationship Id="rId7" Type="http://schemas.openxmlformats.org/officeDocument/2006/relationships/image" Target="../media/image5.png"/><Relationship Id="rId8" Type="http://schemas.openxmlformats.org/officeDocument/2006/relationships/slide" Target="slide6.xml"/><Relationship Id="rId9" Type="http://schemas.openxmlformats.org/officeDocument/2006/relationships/slide" Target="slide17.xml"/><Relationship Id="rId10" Type="http://schemas.openxmlformats.org/officeDocument/2006/relationships/slide" Target="slide26.xml"/><Relationship Id="rId11" Type="http://schemas.openxmlformats.org/officeDocument/2006/relationships/slide" Target="slide43.xml"/><Relationship Id="rId12" Type="http://schemas.openxmlformats.org/officeDocument/2006/relationships/slide" Target="slide4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3" Type="http://schemas.openxmlformats.org/officeDocument/2006/relationships/slide" Target="slide4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slide" Target="slide4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jpg"/><Relationship Id="rId5" Type="http://schemas.openxmlformats.org/officeDocument/2006/relationships/slide" Target="slide4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jpg"/><Relationship Id="rId3" Type="http://schemas.openxmlformats.org/officeDocument/2006/relationships/slide" Target="slide4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jpg"/><Relationship Id="rId5" Type="http://schemas.openxmlformats.org/officeDocument/2006/relationships/slide" Target="slide4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1.png"/><Relationship Id="rId3" Type="http://schemas.openxmlformats.org/officeDocument/2006/relationships/image" Target="../media/image72.jpg"/><Relationship Id="rId4" Type="http://schemas.openxmlformats.org/officeDocument/2006/relationships/slide" Target="slide4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slide" Target="slide4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slide" Target="slide4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jpg"/><Relationship Id="rId3" Type="http://schemas.openxmlformats.org/officeDocument/2006/relationships/slide" Target="slide37.xml"/><Relationship Id="rId4" Type="http://schemas.openxmlformats.org/officeDocument/2006/relationships/slide" Target="slide25.xml"/><Relationship Id="rId5" Type="http://schemas.openxmlformats.org/officeDocument/2006/relationships/slide" Target="slide42.xml"/><Relationship Id="rId6" Type="http://schemas.openxmlformats.org/officeDocument/2006/relationships/slide" Target="slide43.xml"/><Relationship Id="rId7" Type="http://schemas.openxmlformats.org/officeDocument/2006/relationships/slide" Target="slide4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slide" Target="slide4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83.jpg"/><Relationship Id="rId4" Type="http://schemas.openxmlformats.org/officeDocument/2006/relationships/slide" Target="slide4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84.jpg"/><Relationship Id="rId4" Type="http://schemas.openxmlformats.org/officeDocument/2006/relationships/slide" Target="slide4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85.jpg"/><Relationship Id="rId4" Type="http://schemas.openxmlformats.org/officeDocument/2006/relationships/slide" Target="slide4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86.jpg"/><Relationship Id="rId4" Type="http://schemas.openxmlformats.org/officeDocument/2006/relationships/slide" Target="slide4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7.png"/><Relationship Id="rId8" Type="http://schemas.openxmlformats.org/officeDocument/2006/relationships/slide" Target="slide6.xml"/><Relationship Id="rId9" Type="http://schemas.openxmlformats.org/officeDocument/2006/relationships/slide" Target="slide17.xml"/><Relationship Id="rId10" Type="http://schemas.openxmlformats.org/officeDocument/2006/relationships/slide" Target="slide26.xml"/><Relationship Id="rId11" Type="http://schemas.openxmlformats.org/officeDocument/2006/relationships/slide" Target="slide43.xml"/><Relationship Id="rId12" Type="http://schemas.openxmlformats.org/officeDocument/2006/relationships/slide" Target="slide4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8.png"/><Relationship Id="rId3" Type="http://schemas.openxmlformats.org/officeDocument/2006/relationships/slide" Target="slide4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93305"/>
            <a:ext cx="4483735" cy="748030"/>
            <a:chOff x="87743" y="693305"/>
            <a:chExt cx="4483735" cy="748030"/>
          </a:xfrm>
        </p:grpSpPr>
        <p:sp>
          <p:nvSpPr>
            <p:cNvPr id="3" name="object 3"/>
            <p:cNvSpPr/>
            <p:nvPr/>
          </p:nvSpPr>
          <p:spPr>
            <a:xfrm>
              <a:off x="87743" y="69330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756562"/>
              <a:ext cx="4432935" cy="684530"/>
            </a:xfrm>
            <a:custGeom>
              <a:avLst/>
              <a:gdLst/>
              <a:ahLst/>
              <a:cxnLst/>
              <a:rect l="l" t="t" r="r" b="b"/>
              <a:pathLst>
                <a:path w="4432935" h="684530">
                  <a:moveTo>
                    <a:pt x="4432566" y="0"/>
                  </a:moveTo>
                  <a:lnTo>
                    <a:pt x="0" y="0"/>
                  </a:lnTo>
                  <a:lnTo>
                    <a:pt x="0" y="684405"/>
                  </a:lnTo>
                  <a:lnTo>
                    <a:pt x="4432566" y="68440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737726"/>
              <a:ext cx="4432935" cy="652780"/>
            </a:xfrm>
            <a:custGeom>
              <a:avLst/>
              <a:gdLst/>
              <a:ahLst/>
              <a:cxnLst/>
              <a:rect l="l" t="t" r="r" b="b"/>
              <a:pathLst>
                <a:path w="4432935" h="652780">
                  <a:moveTo>
                    <a:pt x="4432566" y="0"/>
                  </a:moveTo>
                  <a:lnTo>
                    <a:pt x="0" y="0"/>
                  </a:lnTo>
                  <a:lnTo>
                    <a:pt x="0" y="601641"/>
                  </a:lnTo>
                  <a:lnTo>
                    <a:pt x="4008" y="621365"/>
                  </a:lnTo>
                  <a:lnTo>
                    <a:pt x="14922" y="637518"/>
                  </a:lnTo>
                  <a:lnTo>
                    <a:pt x="31075" y="648433"/>
                  </a:lnTo>
                  <a:lnTo>
                    <a:pt x="50800" y="652441"/>
                  </a:lnTo>
                  <a:lnTo>
                    <a:pt x="4381765" y="652441"/>
                  </a:lnTo>
                  <a:lnTo>
                    <a:pt x="4401490" y="648433"/>
                  </a:lnTo>
                  <a:lnTo>
                    <a:pt x="4417643" y="637518"/>
                  </a:lnTo>
                  <a:lnTo>
                    <a:pt x="4428558" y="621365"/>
                  </a:lnTo>
                  <a:lnTo>
                    <a:pt x="4432566" y="60164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8544" y="756562"/>
            <a:ext cx="4432935" cy="68453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 marR="33655">
              <a:lnSpc>
                <a:spcPct val="100000"/>
              </a:lnSpc>
              <a:spcBef>
                <a:spcPts val="52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Computer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Vision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(CS642)</a:t>
            </a:r>
            <a:endParaRPr sz="1400">
              <a:latin typeface="Tahoma"/>
              <a:cs typeface="Tahoma"/>
            </a:endParaRPr>
          </a:p>
          <a:p>
            <a:pPr algn="ctr" marR="93980">
              <a:lnSpc>
                <a:spcPct val="100000"/>
              </a:lnSpc>
              <a:spcBef>
                <a:spcPts val="325"/>
              </a:spcBef>
            </a:pP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Local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8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Features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Lecture 05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0829" y="1600249"/>
            <a:ext cx="1386840" cy="9283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Dr.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Abdul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Basit</a:t>
            </a:r>
            <a:endParaRPr sz="1100">
              <a:latin typeface="Tahoma"/>
              <a:cs typeface="Tahoma"/>
            </a:endParaRPr>
          </a:p>
          <a:p>
            <a:pPr algn="ctr" marL="12700" marR="5080">
              <a:lnSpc>
                <a:spcPts val="950"/>
              </a:lnSpc>
              <a:spcBef>
                <a:spcPts val="1265"/>
              </a:spcBef>
            </a:pPr>
            <a:r>
              <a:rPr dirty="0" sz="800" spc="-20">
                <a:latin typeface="Arial MT"/>
                <a:cs typeface="Arial MT"/>
              </a:rPr>
              <a:t>Associate</a:t>
            </a:r>
            <a:r>
              <a:rPr dirty="0" sz="800" spc="3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Professor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-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CS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100">
                <a:latin typeface="Arial MT"/>
                <a:cs typeface="Arial MT"/>
              </a:rPr>
              <a:t>&amp;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IT</a:t>
            </a:r>
            <a:r>
              <a:rPr dirty="0" sz="800">
                <a:latin typeface="Arial MT"/>
                <a:cs typeface="Arial MT"/>
              </a:rPr>
              <a:t> University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Balochistan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Arial MT"/>
              <a:cs typeface="Arial MT"/>
            </a:endParaRPr>
          </a:p>
          <a:p>
            <a:pPr marL="284480">
              <a:lnSpc>
                <a:spcPct val="100000"/>
              </a:lnSpc>
            </a:pPr>
            <a:r>
              <a:rPr dirty="0" sz="1100" spc="-20">
                <a:latin typeface="Tahoma"/>
                <a:cs typeface="Tahoma"/>
              </a:rPr>
              <a:t>June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22,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1050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Feature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Matching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hlinkClick r:id="rId8" action="ppaction://hlinksldjump"/>
              </a:rPr>
              <a:t>What</a:t>
            </a:r>
            <a:r>
              <a:rPr dirty="0" sz="1100" spc="-45">
                <a:hlinkClick r:id="rId8" action="ppaction://hlinksldjump"/>
              </a:rPr>
              <a:t> </a:t>
            </a:r>
            <a:r>
              <a:rPr dirty="0" sz="1100" spc="-50">
                <a:hlinkClick r:id="rId8" action="ppaction://hlinksldjump"/>
              </a:rPr>
              <a:t>are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40">
                <a:hlinkClick r:id="rId8" action="ppaction://hlinksldjump"/>
              </a:rPr>
              <a:t>Interest </a:t>
            </a:r>
            <a:r>
              <a:rPr dirty="0" sz="1100" spc="-10">
                <a:hlinkClick r:id="rId8" action="ppaction://hlinksldjump"/>
              </a:rPr>
              <a:t>Points?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FAFAFD"/>
              </a:buClr>
              <a:buFont typeface="Arial MT"/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hlinkClick r:id="rId9" action="ppaction://hlinksldjump"/>
              </a:rPr>
              <a:t>Interest</a:t>
            </a:r>
            <a:r>
              <a:rPr dirty="0" sz="1100" spc="-50">
                <a:hlinkClick r:id="rId9" action="ppaction://hlinksldjump"/>
              </a:rPr>
              <a:t> </a:t>
            </a:r>
            <a:r>
              <a:rPr dirty="0" sz="1100">
                <a:hlinkClick r:id="rId9" action="ppaction://hlinksldjump"/>
              </a:rPr>
              <a:t>point</a:t>
            </a:r>
            <a:r>
              <a:rPr dirty="0" sz="1100" spc="-80">
                <a:hlinkClick r:id="rId9" action="ppaction://hlinksldjump"/>
              </a:rPr>
              <a:t> </a:t>
            </a:r>
            <a:r>
              <a:rPr dirty="0" sz="1100" spc="-10">
                <a:hlinkClick r:id="rId9" action="ppaction://hlinksldjump"/>
              </a:rPr>
              <a:t>detection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FAFAFD"/>
              </a:buClr>
              <a:buFont typeface="Arial MT"/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hlinkClick r:id="rId10" action="ppaction://hlinksldjump"/>
              </a:rPr>
              <a:t>Harris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 spc="-45">
                <a:hlinkClick r:id="rId10" action="ppaction://hlinksldjump"/>
              </a:rPr>
              <a:t>Interest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>
                <a:hlinkClick r:id="rId10" action="ppaction://hlinksldjump"/>
              </a:rPr>
              <a:t>Point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 spc="-10">
                <a:hlinkClick r:id="rId10" action="ppaction://hlinksldjump"/>
              </a:rPr>
              <a:t>Detector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FAFAFD"/>
              </a:buClr>
              <a:buFont typeface="Arial MT"/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hlinkClick r:id="rId11" action="ppaction://hlinksldjump"/>
              </a:rPr>
              <a:t>Eigen</a:t>
            </a:r>
            <a:r>
              <a:rPr dirty="0" sz="1100" spc="-45">
                <a:hlinkClick r:id="rId11" action="ppaction://hlinksldjump"/>
              </a:rPr>
              <a:t> </a:t>
            </a:r>
            <a:r>
              <a:rPr dirty="0" sz="1100" spc="-30">
                <a:hlinkClick r:id="rId11" action="ppaction://hlinksldjump"/>
              </a:rPr>
              <a:t>Vectors</a:t>
            </a:r>
            <a:r>
              <a:rPr dirty="0" sz="1100" spc="-40">
                <a:hlinkClick r:id="rId11" action="ppaction://hlinksldjump"/>
              </a:rPr>
              <a:t> </a:t>
            </a:r>
            <a:r>
              <a:rPr dirty="0" sz="1100" spc="-35">
                <a:hlinkClick r:id="rId11" action="ppaction://hlinksldjump"/>
              </a:rPr>
              <a:t>and</a:t>
            </a:r>
            <a:r>
              <a:rPr dirty="0" sz="1100" spc="-40">
                <a:hlinkClick r:id="rId11" action="ppaction://hlinksldjump"/>
              </a:rPr>
              <a:t> </a:t>
            </a:r>
            <a:r>
              <a:rPr dirty="0" sz="1100" spc="-20">
                <a:hlinkClick r:id="rId11" action="ppaction://hlinksldjump"/>
              </a:rPr>
              <a:t>Eigen</a:t>
            </a:r>
            <a:r>
              <a:rPr dirty="0" sz="1100" spc="-45">
                <a:hlinkClick r:id="rId11" action="ppaction://hlinksldjump"/>
              </a:rPr>
              <a:t> </a:t>
            </a:r>
            <a:r>
              <a:rPr dirty="0" sz="1100" spc="-30">
                <a:hlinkClick r:id="rId11" action="ppaction://hlinksldjump"/>
              </a:rPr>
              <a:t>Values</a:t>
            </a:r>
            <a:endParaRPr sz="1100"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/>
          <p:nvPr/>
        </p:nvSpPr>
        <p:spPr>
          <a:xfrm>
            <a:off x="95300" y="14943"/>
            <a:ext cx="142621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Feature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5">
                <a:solidFill>
                  <a:srgbClr val="FFFFFF"/>
                </a:solidFill>
                <a:latin typeface="Arial MT"/>
                <a:cs typeface="Arial MT"/>
              </a:rPr>
              <a:t>Correspondence</a:t>
            </a:r>
            <a:r>
              <a:rPr dirty="0" sz="9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dirty="0" sz="9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MT"/>
                <a:cs typeface="Arial MT"/>
              </a:rPr>
              <a:t>views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0755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24102"/>
            <a:ext cx="400304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55">
                <a:latin typeface="Tahoma"/>
                <a:cs typeface="Tahoma"/>
              </a:rPr>
              <a:t>Correspondence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matching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points,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patches,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edges,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regions </a:t>
            </a:r>
            <a:r>
              <a:rPr dirty="0" sz="1100" spc="-50">
                <a:latin typeface="Tahoma"/>
                <a:cs typeface="Tahoma"/>
              </a:rPr>
              <a:t>across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images.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516" y="1168184"/>
            <a:ext cx="3051048" cy="15464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69478" y="2886372"/>
            <a:ext cx="1227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Reprinted</a:t>
            </a:r>
            <a:r>
              <a:rPr dirty="0" sz="1000" spc="-20">
                <a:latin typeface="Tahoma"/>
                <a:cs typeface="Tahoma"/>
              </a:rPr>
              <a:t> from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/>
          <p:nvPr/>
        </p:nvSpPr>
        <p:spPr>
          <a:xfrm>
            <a:off x="95300" y="59878"/>
            <a:ext cx="13398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Feature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081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300" y="306598"/>
            <a:ext cx="4013835" cy="462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Example:</a:t>
            </a:r>
            <a:r>
              <a:rPr dirty="0" sz="90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MT"/>
                <a:cs typeface="Arial MT"/>
              </a:rPr>
              <a:t>Fundamental</a:t>
            </a:r>
            <a:r>
              <a:rPr dirty="0" sz="9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Matrix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Arial MT"/>
              <a:cs typeface="Arial MT"/>
            </a:endParaRPr>
          </a:p>
          <a:p>
            <a:pPr marL="320040">
              <a:lnSpc>
                <a:spcPct val="100000"/>
              </a:lnSpc>
            </a:pPr>
            <a:r>
              <a:rPr dirty="0" sz="1100" spc="-20">
                <a:latin typeface="Tahoma"/>
                <a:cs typeface="Tahoma"/>
              </a:rPr>
              <a:t>Estimating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FF0000"/>
                </a:solidFill>
                <a:latin typeface="Tahoma"/>
                <a:cs typeface="Tahoma"/>
              </a:rPr>
              <a:t>fundamental</a:t>
            </a:r>
            <a:r>
              <a:rPr dirty="0" sz="1100" spc="-20">
                <a:solidFill>
                  <a:srgbClr val="FF0000"/>
                </a:solidFill>
                <a:latin typeface="Tahoma"/>
                <a:cs typeface="Tahoma"/>
              </a:rPr>
              <a:t> matrix</a:t>
            </a:r>
            <a:r>
              <a:rPr dirty="0" sz="11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corresponds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two</a:t>
            </a:r>
            <a:r>
              <a:rPr dirty="0" sz="1100" spc="-20">
                <a:latin typeface="Tahoma"/>
                <a:cs typeface="Tahoma"/>
              </a:rPr>
              <a:t> views.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458" y="869200"/>
            <a:ext cx="3467100" cy="19748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69478" y="2965467"/>
            <a:ext cx="1227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Reprinted</a:t>
            </a:r>
            <a:r>
              <a:rPr dirty="0" sz="1000" spc="-20">
                <a:latin typeface="Tahoma"/>
                <a:cs typeface="Tahoma"/>
              </a:rPr>
              <a:t> from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Feature</a:t>
            </a:r>
            <a:r>
              <a:rPr dirty="0" spc="-50"/>
              <a:t> </a:t>
            </a:r>
            <a:r>
              <a:rPr dirty="0" spc="-10"/>
              <a:t>Matching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20">
                <a:latin typeface="Arial MT"/>
                <a:cs typeface="Arial MT"/>
              </a:rPr>
              <a:t>Example: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Structure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motion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8632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02867"/>
            <a:ext cx="37058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Estimating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FF0000"/>
                </a:solidFill>
                <a:latin typeface="Tahoma"/>
                <a:cs typeface="Tahoma"/>
              </a:rPr>
              <a:t>fundamental</a:t>
            </a:r>
            <a:r>
              <a:rPr dirty="0" sz="1100" spc="-20">
                <a:solidFill>
                  <a:srgbClr val="FF0000"/>
                </a:solidFill>
                <a:latin typeface="Tahoma"/>
                <a:cs typeface="Tahoma"/>
              </a:rPr>
              <a:t> matrix</a:t>
            </a:r>
            <a:r>
              <a:rPr dirty="0" sz="11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corresponds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two</a:t>
            </a:r>
            <a:r>
              <a:rPr dirty="0" sz="1100" spc="-20">
                <a:latin typeface="Tahoma"/>
                <a:cs typeface="Tahoma"/>
              </a:rPr>
              <a:t> views.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40" y="1145527"/>
            <a:ext cx="3943604" cy="13512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69478" y="2618224"/>
            <a:ext cx="1227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Reprinted</a:t>
            </a:r>
            <a:r>
              <a:rPr dirty="0" sz="1000" spc="-20">
                <a:latin typeface="Tahoma"/>
                <a:cs typeface="Tahoma"/>
              </a:rPr>
              <a:t> from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1050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Feature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Matching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solidFill>
                  <a:srgbClr val="3333B2"/>
                </a:solidFill>
                <a:hlinkClick r:id="rId8" action="ppaction://hlinksldjump"/>
              </a:rPr>
              <a:t>What</a:t>
            </a:r>
            <a:r>
              <a:rPr dirty="0" sz="1100" spc="-45">
                <a:solidFill>
                  <a:srgbClr val="3333B2"/>
                </a:solidFill>
                <a:hlinkClick r:id="rId8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hlinkClick r:id="rId8" action="ppaction://hlinksldjump"/>
              </a:rPr>
              <a:t>are</a:t>
            </a:r>
            <a:r>
              <a:rPr dirty="0" sz="1100" spc="-35">
                <a:solidFill>
                  <a:srgbClr val="3333B2"/>
                </a:solidFill>
                <a:hlinkClick r:id="rId8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hlinkClick r:id="rId8" action="ppaction://hlinksldjump"/>
              </a:rPr>
              <a:t>Interest </a:t>
            </a:r>
            <a:r>
              <a:rPr dirty="0" sz="1100" spc="-10">
                <a:solidFill>
                  <a:srgbClr val="3333B2"/>
                </a:solidFill>
                <a:hlinkClick r:id="rId8" action="ppaction://hlinksldjump"/>
              </a:rPr>
              <a:t>Points?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hlinkClick r:id="rId9" action="ppaction://hlinksldjump"/>
              </a:rPr>
              <a:t>Interest</a:t>
            </a:r>
            <a:r>
              <a:rPr dirty="0" sz="1100" spc="-50">
                <a:hlinkClick r:id="rId9" action="ppaction://hlinksldjump"/>
              </a:rPr>
              <a:t> </a:t>
            </a:r>
            <a:r>
              <a:rPr dirty="0" sz="1100">
                <a:hlinkClick r:id="rId9" action="ppaction://hlinksldjump"/>
              </a:rPr>
              <a:t>point</a:t>
            </a:r>
            <a:r>
              <a:rPr dirty="0" sz="1100" spc="-80">
                <a:hlinkClick r:id="rId9" action="ppaction://hlinksldjump"/>
              </a:rPr>
              <a:t> </a:t>
            </a:r>
            <a:r>
              <a:rPr dirty="0" sz="1100" spc="-10">
                <a:hlinkClick r:id="rId9" action="ppaction://hlinksldjump"/>
              </a:rPr>
              <a:t>detection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hlinkClick r:id="rId10" action="ppaction://hlinksldjump"/>
              </a:rPr>
              <a:t>Harris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 spc="-45">
                <a:hlinkClick r:id="rId10" action="ppaction://hlinksldjump"/>
              </a:rPr>
              <a:t>Interest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>
                <a:hlinkClick r:id="rId10" action="ppaction://hlinksldjump"/>
              </a:rPr>
              <a:t>Point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 spc="-10">
                <a:hlinkClick r:id="rId10" action="ppaction://hlinksldjump"/>
              </a:rPr>
              <a:t>Detector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hlinkClick r:id="rId11" action="ppaction://hlinksldjump"/>
              </a:rPr>
              <a:t>Eigen</a:t>
            </a:r>
            <a:r>
              <a:rPr dirty="0" sz="1100" spc="-45">
                <a:hlinkClick r:id="rId11" action="ppaction://hlinksldjump"/>
              </a:rPr>
              <a:t> </a:t>
            </a:r>
            <a:r>
              <a:rPr dirty="0" sz="1100" spc="-30">
                <a:hlinkClick r:id="rId11" action="ppaction://hlinksldjump"/>
              </a:rPr>
              <a:t>Vectors</a:t>
            </a:r>
            <a:r>
              <a:rPr dirty="0" sz="1100" spc="-40">
                <a:hlinkClick r:id="rId11" action="ppaction://hlinksldjump"/>
              </a:rPr>
              <a:t> </a:t>
            </a:r>
            <a:r>
              <a:rPr dirty="0" sz="1100" spc="-35">
                <a:hlinkClick r:id="rId11" action="ppaction://hlinksldjump"/>
              </a:rPr>
              <a:t>and</a:t>
            </a:r>
            <a:r>
              <a:rPr dirty="0" sz="1100" spc="-40">
                <a:hlinkClick r:id="rId11" action="ppaction://hlinksldjump"/>
              </a:rPr>
              <a:t> </a:t>
            </a:r>
            <a:r>
              <a:rPr dirty="0" sz="1100" spc="-20">
                <a:hlinkClick r:id="rId11" action="ppaction://hlinksldjump"/>
              </a:rPr>
              <a:t>Eigen</a:t>
            </a:r>
            <a:r>
              <a:rPr dirty="0" sz="1100" spc="-45">
                <a:hlinkClick r:id="rId11" action="ppaction://hlinksldjump"/>
              </a:rPr>
              <a:t> </a:t>
            </a:r>
            <a:r>
              <a:rPr dirty="0" sz="1100" spc="-30">
                <a:hlinkClick r:id="rId11" action="ppaction://hlinksldjump"/>
              </a:rPr>
              <a:t>Values</a:t>
            </a:r>
            <a:endParaRPr sz="1100"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50"/>
              <a:t>Interest</a:t>
            </a:r>
            <a:r>
              <a:rPr dirty="0" spc="-55"/>
              <a:t> </a:t>
            </a:r>
            <a:r>
              <a:rPr dirty="0" spc="-20"/>
              <a:t>points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Definition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6046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7049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60283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850097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001926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305583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1133244"/>
            <a:ext cx="3794760" cy="1265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03250">
              <a:lnSpc>
                <a:spcPct val="125299"/>
              </a:lnSpc>
              <a:spcBef>
                <a:spcPts val="100"/>
              </a:spcBef>
            </a:pPr>
            <a:r>
              <a:rPr dirty="0" sz="1100" spc="-40">
                <a:solidFill>
                  <a:srgbClr val="FF0000"/>
                </a:solidFill>
                <a:latin typeface="Tahoma"/>
                <a:cs typeface="Tahoma"/>
              </a:rPr>
              <a:t>Interest</a:t>
            </a:r>
            <a:r>
              <a:rPr dirty="0" sz="1100" spc="-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0000"/>
                </a:solidFill>
                <a:latin typeface="Tahoma"/>
                <a:cs typeface="Tahoma"/>
              </a:rPr>
              <a:t>point</a:t>
            </a:r>
            <a:r>
              <a:rPr dirty="0" sz="1100" spc="-5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well</a:t>
            </a:r>
            <a:r>
              <a:rPr dirty="0" sz="1100" spc="-45">
                <a:latin typeface="Tahoma"/>
                <a:cs typeface="Tahoma"/>
              </a:rPr>
              <a:t> defined </a:t>
            </a:r>
            <a:r>
              <a:rPr dirty="0" sz="1100" spc="-20">
                <a:latin typeface="Tahoma"/>
                <a:cs typeface="Tahoma"/>
              </a:rPr>
              <a:t>position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0">
                <a:latin typeface="Tahoma"/>
                <a:cs typeface="Tahoma"/>
              </a:rPr>
              <a:t> image. </a:t>
            </a:r>
            <a:r>
              <a:rPr dirty="0" sz="1100" spc="-40">
                <a:latin typeface="Tahoma"/>
                <a:cs typeface="Tahoma"/>
              </a:rPr>
              <a:t>Interest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also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called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FF0000"/>
                </a:solidFill>
                <a:latin typeface="Tahoma"/>
                <a:cs typeface="Tahoma"/>
              </a:rPr>
              <a:t>key</a:t>
            </a:r>
            <a:r>
              <a:rPr dirty="0" sz="11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Tahoma"/>
                <a:cs typeface="Tahoma"/>
              </a:rPr>
              <a:t>points</a:t>
            </a:r>
            <a:r>
              <a:rPr dirty="0" sz="1100" spc="-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Tahoma"/>
                <a:cs typeface="Tahoma"/>
              </a:rPr>
              <a:t>features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100" spc="-10">
                <a:latin typeface="Tahoma"/>
                <a:cs typeface="Tahoma"/>
              </a:rPr>
              <a:t>Applications: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dirty="0" sz="1000" spc="-20">
                <a:latin typeface="Tahoma"/>
                <a:cs typeface="Tahoma"/>
              </a:rPr>
              <a:t>Tracking: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Which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points</a:t>
            </a:r>
            <a:r>
              <a:rPr dirty="0" sz="1000" spc="-45">
                <a:latin typeface="Tahoma"/>
                <a:cs typeface="Tahoma"/>
              </a:rPr>
              <a:t> are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good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track?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35"/>
              </a:spcBef>
            </a:pPr>
            <a:r>
              <a:rPr dirty="0" sz="1000" spc="-25">
                <a:latin typeface="Tahoma"/>
                <a:cs typeface="Tahoma"/>
              </a:rPr>
              <a:t>Recognition: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patches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likely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tell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 </a:t>
            </a:r>
            <a:r>
              <a:rPr dirty="0" sz="1000" spc="-40">
                <a:latin typeface="Tahoma"/>
                <a:cs typeface="Tahoma"/>
              </a:rPr>
              <a:t>something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about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object category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dirty="0" sz="1000">
                <a:latin typeface="Tahoma"/>
                <a:cs typeface="Tahoma"/>
              </a:rPr>
              <a:t>3D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reconstruction:</a:t>
            </a:r>
            <a:r>
              <a:rPr dirty="0" sz="1000" spc="10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Find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correspondences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across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different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views.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50"/>
              <a:t>Interest</a:t>
            </a:r>
            <a:r>
              <a:rPr dirty="0" spc="-55"/>
              <a:t> </a:t>
            </a:r>
            <a:r>
              <a:rPr dirty="0" spc="-20"/>
              <a:t>points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Arial MT"/>
                <a:cs typeface="Arial MT"/>
              </a:rPr>
              <a:t>What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feature?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07504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24051"/>
            <a:ext cx="393700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points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easier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remember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image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recalled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after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image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deformed.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800" y="1456270"/>
            <a:ext cx="1311275" cy="1028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9254" y="1338795"/>
            <a:ext cx="1765300" cy="11461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70165" y="2586449"/>
            <a:ext cx="26676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Table: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Points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remember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deformed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image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09410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matching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99859"/>
            <a:ext cx="4608195" cy="2856230"/>
            <a:chOff x="0" y="599859"/>
            <a:chExt cx="4608195" cy="2856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299" y="599859"/>
              <a:ext cx="4287393" cy="2816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09410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matching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99859"/>
            <a:ext cx="4608195" cy="2856230"/>
            <a:chOff x="0" y="599859"/>
            <a:chExt cx="4608195" cy="2856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299" y="599859"/>
              <a:ext cx="4287393" cy="2816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09410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matching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99859"/>
            <a:ext cx="4608195" cy="2856230"/>
            <a:chOff x="0" y="599859"/>
            <a:chExt cx="4608195" cy="2856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299" y="599859"/>
              <a:ext cx="4287393" cy="2816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09410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matching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99859"/>
            <a:ext cx="4608195" cy="2856230"/>
            <a:chOff x="0" y="599859"/>
            <a:chExt cx="4608195" cy="2856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299" y="599859"/>
              <a:ext cx="4287393" cy="2816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09410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matching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99859"/>
            <a:ext cx="4608195" cy="2856230"/>
            <a:chOff x="0" y="599859"/>
            <a:chExt cx="4608195" cy="2856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299" y="599859"/>
              <a:ext cx="4287393" cy="2816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09410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matching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99859"/>
            <a:ext cx="4608195" cy="2856230"/>
            <a:chOff x="0" y="599859"/>
            <a:chExt cx="4608195" cy="2856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299" y="599859"/>
              <a:ext cx="4287393" cy="2816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50"/>
              <a:t>Interest</a:t>
            </a:r>
            <a:r>
              <a:rPr dirty="0" spc="-55"/>
              <a:t> </a:t>
            </a:r>
            <a:r>
              <a:rPr dirty="0" spc="-10"/>
              <a:t>points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Invariant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Local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35">
                <a:latin typeface="Arial MT"/>
                <a:cs typeface="Arial MT"/>
              </a:rPr>
              <a:t>Features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7294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89494"/>
            <a:ext cx="407035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80">
                <a:latin typeface="Tahoma"/>
                <a:cs typeface="Tahoma"/>
              </a:rPr>
              <a:t>Image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content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transformed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local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feature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coordinates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are invariant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translation,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rotation,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scale,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other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imaging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parameters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848" y="1238542"/>
            <a:ext cx="3695699" cy="178308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10941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36282"/>
            <a:ext cx="65265" cy="6526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02932" y="652829"/>
            <a:ext cx="4042410" cy="36385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dirty="0" sz="1100" spc="-45">
                <a:solidFill>
                  <a:srgbClr val="000000"/>
                </a:solidFill>
              </a:rPr>
              <a:t>Some </a:t>
            </a:r>
            <a:r>
              <a:rPr dirty="0" sz="1100" spc="-40">
                <a:solidFill>
                  <a:srgbClr val="000000"/>
                </a:solidFill>
              </a:rPr>
              <a:t>patches </a:t>
            </a:r>
            <a:r>
              <a:rPr dirty="0" sz="1100" spc="-20">
                <a:solidFill>
                  <a:srgbClr val="000000"/>
                </a:solidFill>
              </a:rPr>
              <a:t>can</a:t>
            </a:r>
            <a:r>
              <a:rPr dirty="0" sz="1100" spc="-45">
                <a:solidFill>
                  <a:srgbClr val="000000"/>
                </a:solidFill>
              </a:rPr>
              <a:t> </a:t>
            </a:r>
            <a:r>
              <a:rPr dirty="0" sz="1100" spc="-10">
                <a:solidFill>
                  <a:srgbClr val="000000"/>
                </a:solidFill>
              </a:rPr>
              <a:t>be</a:t>
            </a:r>
            <a:r>
              <a:rPr dirty="0" sz="1100" spc="-40">
                <a:solidFill>
                  <a:srgbClr val="000000"/>
                </a:solidFill>
              </a:rPr>
              <a:t> </a:t>
            </a:r>
            <a:r>
              <a:rPr dirty="0" sz="1100" spc="-25">
                <a:solidFill>
                  <a:srgbClr val="000000"/>
                </a:solidFill>
              </a:rPr>
              <a:t>localized</a:t>
            </a:r>
            <a:r>
              <a:rPr dirty="0" sz="1100" spc="-40">
                <a:solidFill>
                  <a:srgbClr val="000000"/>
                </a:solidFill>
              </a:rPr>
              <a:t> </a:t>
            </a:r>
            <a:r>
              <a:rPr dirty="0" sz="1100" spc="-20">
                <a:solidFill>
                  <a:srgbClr val="000000"/>
                </a:solidFill>
              </a:rPr>
              <a:t>or</a:t>
            </a:r>
            <a:r>
              <a:rPr dirty="0" sz="1100" spc="-45">
                <a:solidFill>
                  <a:srgbClr val="000000"/>
                </a:solidFill>
              </a:rPr>
              <a:t> </a:t>
            </a:r>
            <a:r>
              <a:rPr dirty="0" sz="1100" spc="-40">
                <a:solidFill>
                  <a:srgbClr val="000000"/>
                </a:solidFill>
              </a:rPr>
              <a:t>matched </a:t>
            </a:r>
            <a:r>
              <a:rPr dirty="0" sz="1100">
                <a:solidFill>
                  <a:srgbClr val="000000"/>
                </a:solidFill>
              </a:rPr>
              <a:t>with</a:t>
            </a:r>
            <a:r>
              <a:rPr dirty="0" sz="1100" spc="-40">
                <a:solidFill>
                  <a:srgbClr val="000000"/>
                </a:solidFill>
              </a:rPr>
              <a:t> higher</a:t>
            </a:r>
            <a:r>
              <a:rPr dirty="0" sz="1100" spc="-45">
                <a:solidFill>
                  <a:srgbClr val="000000"/>
                </a:solidFill>
              </a:rPr>
              <a:t> </a:t>
            </a:r>
            <a:r>
              <a:rPr dirty="0" sz="1100" spc="-35">
                <a:solidFill>
                  <a:srgbClr val="000000"/>
                </a:solidFill>
              </a:rPr>
              <a:t>accuracy</a:t>
            </a:r>
            <a:r>
              <a:rPr dirty="0" sz="1100" spc="-45">
                <a:solidFill>
                  <a:srgbClr val="000000"/>
                </a:solidFill>
              </a:rPr>
              <a:t> </a:t>
            </a:r>
            <a:r>
              <a:rPr dirty="0" sz="1100" spc="-20">
                <a:solidFill>
                  <a:srgbClr val="000000"/>
                </a:solidFill>
              </a:rPr>
              <a:t>than </a:t>
            </a:r>
            <a:r>
              <a:rPr dirty="0" sz="1100" spc="-10">
                <a:solidFill>
                  <a:srgbClr val="000000"/>
                </a:solidFill>
              </a:rPr>
              <a:t>others.</a:t>
            </a:r>
            <a:endParaRPr sz="11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022" y="1144282"/>
            <a:ext cx="3694049" cy="172364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1050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Feature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Matching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hlinkClick r:id="rId8" action="ppaction://hlinksldjump"/>
              </a:rPr>
              <a:t>What</a:t>
            </a:r>
            <a:r>
              <a:rPr dirty="0" sz="1100" spc="-45">
                <a:hlinkClick r:id="rId8" action="ppaction://hlinksldjump"/>
              </a:rPr>
              <a:t> </a:t>
            </a:r>
            <a:r>
              <a:rPr dirty="0" sz="1100" spc="-50">
                <a:hlinkClick r:id="rId8" action="ppaction://hlinksldjump"/>
              </a:rPr>
              <a:t>are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40">
                <a:hlinkClick r:id="rId8" action="ppaction://hlinksldjump"/>
              </a:rPr>
              <a:t>Interest </a:t>
            </a:r>
            <a:r>
              <a:rPr dirty="0" sz="1100" spc="-10">
                <a:hlinkClick r:id="rId8" action="ppaction://hlinksldjump"/>
              </a:rPr>
              <a:t>Points?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3333B2"/>
                </a:solidFill>
                <a:hlinkClick r:id="rId9" action="ppaction://hlinksldjump"/>
              </a:rPr>
              <a:t>Interest</a:t>
            </a:r>
            <a:r>
              <a:rPr dirty="0" sz="1100" spc="-50">
                <a:solidFill>
                  <a:srgbClr val="3333B2"/>
                </a:solidFill>
                <a:hlinkClick r:id="rId9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hlinkClick r:id="rId9" action="ppaction://hlinksldjump"/>
              </a:rPr>
              <a:t>point</a:t>
            </a:r>
            <a:r>
              <a:rPr dirty="0" sz="1100" spc="-80">
                <a:solidFill>
                  <a:srgbClr val="3333B2"/>
                </a:solidFill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hlinkClick r:id="rId9" action="ppaction://hlinksldjump"/>
              </a:rPr>
              <a:t>detection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hlinkClick r:id="rId10" action="ppaction://hlinksldjump"/>
              </a:rPr>
              <a:t>Harris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 spc="-45">
                <a:hlinkClick r:id="rId10" action="ppaction://hlinksldjump"/>
              </a:rPr>
              <a:t>Interest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>
                <a:hlinkClick r:id="rId10" action="ppaction://hlinksldjump"/>
              </a:rPr>
              <a:t>Point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 spc="-10">
                <a:hlinkClick r:id="rId10" action="ppaction://hlinksldjump"/>
              </a:rPr>
              <a:t>Detector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hlinkClick r:id="rId11" action="ppaction://hlinksldjump"/>
              </a:rPr>
              <a:t>Eigen</a:t>
            </a:r>
            <a:r>
              <a:rPr dirty="0" sz="1100" spc="-45">
                <a:hlinkClick r:id="rId11" action="ppaction://hlinksldjump"/>
              </a:rPr>
              <a:t> </a:t>
            </a:r>
            <a:r>
              <a:rPr dirty="0" sz="1100" spc="-30">
                <a:hlinkClick r:id="rId11" action="ppaction://hlinksldjump"/>
              </a:rPr>
              <a:t>Vectors</a:t>
            </a:r>
            <a:r>
              <a:rPr dirty="0" sz="1100" spc="-40">
                <a:hlinkClick r:id="rId11" action="ppaction://hlinksldjump"/>
              </a:rPr>
              <a:t> </a:t>
            </a:r>
            <a:r>
              <a:rPr dirty="0" sz="1100" spc="-35">
                <a:hlinkClick r:id="rId11" action="ppaction://hlinksldjump"/>
              </a:rPr>
              <a:t>and</a:t>
            </a:r>
            <a:r>
              <a:rPr dirty="0" sz="1100" spc="-40">
                <a:hlinkClick r:id="rId11" action="ppaction://hlinksldjump"/>
              </a:rPr>
              <a:t> </a:t>
            </a:r>
            <a:r>
              <a:rPr dirty="0" sz="1100" spc="-20">
                <a:hlinkClick r:id="rId11" action="ppaction://hlinksldjump"/>
              </a:rPr>
              <a:t>Eigen</a:t>
            </a:r>
            <a:r>
              <a:rPr dirty="0" sz="1100" spc="-45">
                <a:hlinkClick r:id="rId11" action="ppaction://hlinksldjump"/>
              </a:rPr>
              <a:t> </a:t>
            </a:r>
            <a:r>
              <a:rPr dirty="0" sz="1100" spc="-30">
                <a:hlinkClick r:id="rId11" action="ppaction://hlinksldjump"/>
              </a:rPr>
              <a:t>Values</a:t>
            </a:r>
            <a:endParaRPr sz="1100"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Interest</a:t>
            </a:r>
            <a:r>
              <a:rPr dirty="0" spc="-60"/>
              <a:t> </a:t>
            </a:r>
            <a:r>
              <a:rPr dirty="0"/>
              <a:t>point</a:t>
            </a:r>
            <a:r>
              <a:rPr dirty="0" spc="-60"/>
              <a:t> </a:t>
            </a:r>
            <a:r>
              <a:rPr dirty="0" spc="-30"/>
              <a:t>detection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16318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906119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209789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607783"/>
            <a:ext cx="3875404" cy="69532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45">
                <a:latin typeface="Tahoma"/>
                <a:cs typeface="Tahoma"/>
              </a:rPr>
              <a:t>Expressive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texture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point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which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direction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boundary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object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changes </a:t>
            </a:r>
            <a:r>
              <a:rPr dirty="0" sz="1000" spc="-10">
                <a:latin typeface="Tahoma"/>
                <a:cs typeface="Tahoma"/>
              </a:rPr>
              <a:t>abruptly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dirty="0" sz="1000" spc="-40">
                <a:latin typeface="Tahoma"/>
                <a:cs typeface="Tahoma"/>
              </a:rPr>
              <a:t>Intersection </a:t>
            </a:r>
            <a:r>
              <a:rPr dirty="0" sz="1000">
                <a:latin typeface="Tahoma"/>
                <a:cs typeface="Tahoma"/>
              </a:rPr>
              <a:t>point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between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two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more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edge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segments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4335" y="1453997"/>
            <a:ext cx="2198369" cy="141351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Interest</a:t>
            </a:r>
            <a:r>
              <a:rPr dirty="0" spc="-60"/>
              <a:t> </a:t>
            </a:r>
            <a:r>
              <a:rPr dirty="0"/>
              <a:t>point</a:t>
            </a:r>
            <a:r>
              <a:rPr dirty="0" spc="-60"/>
              <a:t> </a:t>
            </a:r>
            <a:r>
              <a:rPr dirty="0" spc="-30"/>
              <a:t>detection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3708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53630"/>
            <a:ext cx="3736975" cy="7461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should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easily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recognize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looking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through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small </a:t>
            </a:r>
            <a:r>
              <a:rPr dirty="0" sz="1100" spc="-10">
                <a:latin typeface="Tahoma"/>
                <a:cs typeface="Tahoma"/>
              </a:rPr>
              <a:t>window</a:t>
            </a:r>
            <a:endParaRPr sz="1100">
              <a:latin typeface="Tahoma"/>
              <a:cs typeface="Tahoma"/>
            </a:endParaRPr>
          </a:p>
          <a:p>
            <a:pPr marL="12700" marR="12065">
              <a:lnSpc>
                <a:spcPct val="102600"/>
              </a:lnSpc>
              <a:spcBef>
                <a:spcPts val="300"/>
              </a:spcBef>
            </a:pPr>
            <a:r>
              <a:rPr dirty="0" sz="1100" spc="-10">
                <a:latin typeface="Tahoma"/>
                <a:cs typeface="Tahoma"/>
              </a:rPr>
              <a:t>Shifting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window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direction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should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give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large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change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 </a:t>
            </a:r>
            <a:r>
              <a:rPr dirty="0" sz="1100" spc="-10">
                <a:latin typeface="Tahoma"/>
                <a:cs typeface="Tahoma"/>
              </a:rPr>
              <a:t>intensity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1918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1423" y="1471066"/>
            <a:ext cx="833247" cy="83324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97659" y="1477924"/>
            <a:ext cx="833247" cy="8332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17037" y="1467637"/>
            <a:ext cx="833246" cy="83324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5844" y="2345714"/>
            <a:ext cx="4310380" cy="5892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71245">
              <a:lnSpc>
                <a:spcPct val="100000"/>
              </a:lnSpc>
              <a:spcBef>
                <a:spcPts val="90"/>
              </a:spcBef>
              <a:tabLst>
                <a:tab pos="2094864" algn="l"/>
                <a:tab pos="3119120" algn="l"/>
              </a:tabLst>
            </a:pPr>
            <a:r>
              <a:rPr dirty="0" sz="1100" spc="-25">
                <a:latin typeface="Tahoma"/>
                <a:cs typeface="Tahoma"/>
              </a:rPr>
              <a:t>(a)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(b)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(c)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730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Table:</a:t>
            </a:r>
            <a:r>
              <a:rPr dirty="0" sz="1000" spc="-5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(a)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0000"/>
                </a:solidFill>
                <a:latin typeface="Tahoma"/>
                <a:cs typeface="Tahoma"/>
              </a:rPr>
              <a:t>flat</a:t>
            </a:r>
            <a:r>
              <a:rPr dirty="0" sz="10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region: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no</a:t>
            </a:r>
            <a:r>
              <a:rPr dirty="0" sz="1000" spc="-45">
                <a:latin typeface="Tahoma"/>
                <a:cs typeface="Tahoma"/>
              </a:rPr>
              <a:t> change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all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directions.</a:t>
            </a:r>
            <a:r>
              <a:rPr dirty="0" sz="1000" spc="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(b)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FF0000"/>
                </a:solidFill>
                <a:latin typeface="Tahoma"/>
                <a:cs typeface="Tahoma"/>
              </a:rPr>
              <a:t>edge</a:t>
            </a:r>
            <a:r>
              <a:rPr dirty="0" sz="1000" spc="-45">
                <a:latin typeface="Tahoma"/>
                <a:cs typeface="Tahoma"/>
              </a:rPr>
              <a:t>:</a:t>
            </a:r>
            <a:r>
              <a:rPr dirty="0" sz="1000" spc="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no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change</a:t>
            </a:r>
            <a:r>
              <a:rPr dirty="0" sz="1000" spc="-25">
                <a:latin typeface="Tahoma"/>
                <a:cs typeface="Tahoma"/>
              </a:rPr>
              <a:t> along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the </a:t>
            </a:r>
            <a:r>
              <a:rPr dirty="0" sz="1000" spc="-60">
                <a:latin typeface="Tahoma"/>
                <a:cs typeface="Tahoma"/>
              </a:rPr>
              <a:t>edge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direction.</a:t>
            </a:r>
            <a:r>
              <a:rPr dirty="0" sz="1000" spc="7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(c)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FF0000"/>
                </a:solidFill>
                <a:latin typeface="Tahoma"/>
                <a:cs typeface="Tahoma"/>
              </a:rPr>
              <a:t>corner</a:t>
            </a:r>
            <a:r>
              <a:rPr dirty="0" sz="1000" spc="-35">
                <a:latin typeface="Tahoma"/>
                <a:cs typeface="Tahoma"/>
              </a:rPr>
              <a:t>: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significant </a:t>
            </a:r>
            <a:r>
              <a:rPr dirty="0" sz="1000" spc="-55">
                <a:latin typeface="Tahoma"/>
                <a:cs typeface="Tahoma"/>
              </a:rPr>
              <a:t>change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all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directions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50"/>
              <a:t>Interest</a:t>
            </a:r>
            <a:r>
              <a:rPr dirty="0" spc="-60"/>
              <a:t> </a:t>
            </a:r>
            <a:r>
              <a:rPr dirty="0"/>
              <a:t>point</a:t>
            </a:r>
            <a:r>
              <a:rPr dirty="0" spc="-60"/>
              <a:t> </a:t>
            </a:r>
            <a:r>
              <a:rPr dirty="0" spc="-30"/>
              <a:t>detection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20">
                <a:latin typeface="Arial MT"/>
                <a:cs typeface="Arial MT"/>
              </a:rPr>
              <a:t>Properties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interest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points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4722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220010"/>
            <a:ext cx="2334260" cy="1075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10">
                <a:latin typeface="Tahoma"/>
                <a:cs typeface="Tahoma"/>
              </a:rPr>
              <a:t>Detect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(or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most)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true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interest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points </a:t>
            </a:r>
            <a:r>
              <a:rPr dirty="0" sz="1100">
                <a:latin typeface="Tahoma"/>
                <a:cs typeface="Tahoma"/>
              </a:rPr>
              <a:t>No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false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interest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points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Well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localized.</a:t>
            </a:r>
            <a:endParaRPr sz="1100">
              <a:latin typeface="Tahoma"/>
              <a:cs typeface="Tahoma"/>
            </a:endParaRPr>
          </a:p>
          <a:p>
            <a:pPr marL="12700" marR="617220">
              <a:lnSpc>
                <a:spcPct val="125299"/>
              </a:lnSpc>
            </a:pPr>
            <a:r>
              <a:rPr dirty="0" sz="1100" spc="-25">
                <a:latin typeface="Tahoma"/>
                <a:cs typeface="Tahoma"/>
              </a:rPr>
              <a:t>Robust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respect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noise. </a:t>
            </a:r>
            <a:r>
              <a:rPr dirty="0" sz="1100" spc="-10">
                <a:latin typeface="Tahoma"/>
                <a:cs typeface="Tahoma"/>
              </a:rPr>
              <a:t>Efficient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5726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6729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77326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87359"/>
            <a:ext cx="65265" cy="6526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50"/>
              <a:t>Interest</a:t>
            </a:r>
            <a:r>
              <a:rPr dirty="0" spc="-60"/>
              <a:t> </a:t>
            </a:r>
            <a:r>
              <a:rPr dirty="0"/>
              <a:t>point</a:t>
            </a:r>
            <a:r>
              <a:rPr dirty="0" spc="-60"/>
              <a:t> </a:t>
            </a:r>
            <a:r>
              <a:rPr dirty="0" spc="-30"/>
              <a:t>detection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30">
                <a:latin typeface="Arial MT"/>
                <a:cs typeface="Arial MT"/>
              </a:rPr>
              <a:t>Corner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detection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approaches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8294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572755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4986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939671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091512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1274406"/>
            <a:ext cx="1780539" cy="91059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25">
                <a:latin typeface="Tahoma"/>
                <a:cs typeface="Tahoma"/>
              </a:rPr>
              <a:t>Based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brightness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images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dirty="0" sz="1000" spc="-20">
                <a:latin typeface="Tahoma"/>
                <a:cs typeface="Tahoma"/>
              </a:rPr>
              <a:t>Usually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derivatives</a:t>
            </a:r>
            <a:endParaRPr sz="1000">
              <a:latin typeface="Tahoma"/>
              <a:cs typeface="Tahoma"/>
            </a:endParaRPr>
          </a:p>
          <a:p>
            <a:pPr marL="289560" marR="26034" indent="-277495">
              <a:lnSpc>
                <a:spcPct val="106400"/>
              </a:lnSpc>
              <a:spcBef>
                <a:spcPts val="110"/>
              </a:spcBef>
            </a:pPr>
            <a:r>
              <a:rPr dirty="0" sz="1100" spc="-25">
                <a:latin typeface="Tahoma"/>
                <a:cs typeface="Tahoma"/>
              </a:rPr>
              <a:t>Based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boundary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extraction </a:t>
            </a:r>
            <a:r>
              <a:rPr dirty="0" sz="1000">
                <a:latin typeface="Tahoma"/>
                <a:cs typeface="Tahoma"/>
              </a:rPr>
              <a:t>First</a:t>
            </a:r>
            <a:r>
              <a:rPr dirty="0" sz="1000" spc="-25">
                <a:latin typeface="Tahoma"/>
                <a:cs typeface="Tahoma"/>
              </a:rPr>
              <a:t> step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edge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detection </a:t>
            </a:r>
            <a:r>
              <a:rPr dirty="0" sz="1000" spc="-25">
                <a:latin typeface="Tahoma"/>
                <a:cs typeface="Tahoma"/>
              </a:rPr>
              <a:t>Curvature </a:t>
            </a:r>
            <a:r>
              <a:rPr dirty="0" sz="1000" spc="-35">
                <a:latin typeface="Tahoma"/>
                <a:cs typeface="Tahoma"/>
              </a:rPr>
              <a:t>analysis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edges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76593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Interest</a:t>
            </a:r>
            <a:r>
              <a:rPr dirty="0" spc="-60"/>
              <a:t> </a:t>
            </a:r>
            <a:r>
              <a:rPr dirty="0"/>
              <a:t>point</a:t>
            </a:r>
            <a:r>
              <a:rPr dirty="0" spc="-60"/>
              <a:t> </a:t>
            </a:r>
            <a:r>
              <a:rPr dirty="0" spc="-30"/>
              <a:t>detection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697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40790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300" y="306598"/>
            <a:ext cx="4037965" cy="814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Harris</a:t>
            </a: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MT"/>
                <a:cs typeface="Arial MT"/>
              </a:rPr>
              <a:t>corner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detector</a:t>
            </a:r>
            <a:endParaRPr sz="900">
              <a:latin typeface="Arial MT"/>
              <a:cs typeface="Arial MT"/>
            </a:endParaRPr>
          </a:p>
          <a:p>
            <a:pPr marL="320040">
              <a:lnSpc>
                <a:spcPct val="100000"/>
              </a:lnSpc>
              <a:spcBef>
                <a:spcPts val="1015"/>
              </a:spcBef>
            </a:pPr>
            <a:r>
              <a:rPr dirty="0" sz="1100" spc="-35">
                <a:latin typeface="Tahoma"/>
                <a:cs typeface="Tahoma"/>
              </a:rPr>
              <a:t>Corner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recognized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window</a:t>
            </a:r>
            <a:endParaRPr sz="1100">
              <a:latin typeface="Tahoma"/>
              <a:cs typeface="Tahoma"/>
            </a:endParaRPr>
          </a:p>
          <a:p>
            <a:pPr marL="320040" marR="5080">
              <a:lnSpc>
                <a:spcPct val="102600"/>
              </a:lnSpc>
              <a:spcBef>
                <a:spcPts val="95"/>
              </a:spcBef>
            </a:pPr>
            <a:r>
              <a:rPr dirty="0" sz="1100" spc="-10">
                <a:latin typeface="Tahoma"/>
                <a:cs typeface="Tahoma"/>
              </a:rPr>
              <a:t>Shifting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window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direction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should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give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large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change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 </a:t>
            </a:r>
            <a:r>
              <a:rPr dirty="0" sz="1100" spc="-10">
                <a:latin typeface="Tahoma"/>
                <a:cs typeface="Tahoma"/>
              </a:rPr>
              <a:t>intensity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8541" y="1235125"/>
            <a:ext cx="1641602" cy="15952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1466" y="2973164"/>
            <a:ext cx="26866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Reprinted</a:t>
            </a:r>
            <a:r>
              <a:rPr dirty="0" sz="1000" spc="-10">
                <a:latin typeface="Tahoma"/>
                <a:cs typeface="Tahoma"/>
              </a:rPr>
              <a:t> from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Harris,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M.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Stephens,</a:t>
            </a:r>
            <a:r>
              <a:rPr dirty="0" sz="1000" spc="-10">
                <a:latin typeface="Tahoma"/>
                <a:cs typeface="Tahoma"/>
              </a:rPr>
              <a:t> 1988.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76593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Aperture</a:t>
            </a:r>
            <a:r>
              <a:rPr dirty="0" sz="9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437" y="1222565"/>
            <a:ext cx="986789" cy="11112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76593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Aperture</a:t>
            </a:r>
            <a:r>
              <a:rPr dirty="0" sz="9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437" y="1222565"/>
            <a:ext cx="2093594" cy="11112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76593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Aperture</a:t>
            </a:r>
            <a:r>
              <a:rPr dirty="0" sz="9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437" y="1222565"/>
            <a:ext cx="3240404" cy="11112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1050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Feature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Matching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hlinkClick r:id="rId8" action="ppaction://hlinksldjump"/>
              </a:rPr>
              <a:t>What</a:t>
            </a:r>
            <a:r>
              <a:rPr dirty="0" sz="1100" spc="-45">
                <a:hlinkClick r:id="rId8" action="ppaction://hlinksldjump"/>
              </a:rPr>
              <a:t> </a:t>
            </a:r>
            <a:r>
              <a:rPr dirty="0" sz="1100" spc="-50">
                <a:hlinkClick r:id="rId8" action="ppaction://hlinksldjump"/>
              </a:rPr>
              <a:t>are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40">
                <a:hlinkClick r:id="rId8" action="ppaction://hlinksldjump"/>
              </a:rPr>
              <a:t>Interest </a:t>
            </a:r>
            <a:r>
              <a:rPr dirty="0" sz="1100" spc="-10">
                <a:hlinkClick r:id="rId8" action="ppaction://hlinksldjump"/>
              </a:rPr>
              <a:t>Points?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hlinkClick r:id="rId9" action="ppaction://hlinksldjump"/>
              </a:rPr>
              <a:t>Interest</a:t>
            </a:r>
            <a:r>
              <a:rPr dirty="0" sz="1100" spc="-50">
                <a:hlinkClick r:id="rId9" action="ppaction://hlinksldjump"/>
              </a:rPr>
              <a:t> </a:t>
            </a:r>
            <a:r>
              <a:rPr dirty="0" sz="1100">
                <a:hlinkClick r:id="rId9" action="ppaction://hlinksldjump"/>
              </a:rPr>
              <a:t>point</a:t>
            </a:r>
            <a:r>
              <a:rPr dirty="0" sz="1100" spc="-80">
                <a:hlinkClick r:id="rId9" action="ppaction://hlinksldjump"/>
              </a:rPr>
              <a:t> </a:t>
            </a:r>
            <a:r>
              <a:rPr dirty="0" sz="1100" spc="-10">
                <a:hlinkClick r:id="rId9" action="ppaction://hlinksldjump"/>
              </a:rPr>
              <a:t>detection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solidFill>
                  <a:srgbClr val="3333B2"/>
                </a:solidFill>
                <a:hlinkClick r:id="rId10" action="ppaction://hlinksldjump"/>
              </a:rPr>
              <a:t>Harris</a:t>
            </a:r>
            <a:r>
              <a:rPr dirty="0" sz="1100" spc="-25">
                <a:solidFill>
                  <a:srgbClr val="3333B2"/>
                </a:solidFill>
                <a:hlinkClick r:id="rId10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hlinkClick r:id="rId10" action="ppaction://hlinksldjump"/>
              </a:rPr>
              <a:t>Interest</a:t>
            </a:r>
            <a:r>
              <a:rPr dirty="0" sz="1100" spc="-25">
                <a:solidFill>
                  <a:srgbClr val="3333B2"/>
                </a:solidFill>
                <a:hlinkClick r:id="rId10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hlinkClick r:id="rId10" action="ppaction://hlinksldjump"/>
              </a:rPr>
              <a:t>Point</a:t>
            </a:r>
            <a:r>
              <a:rPr dirty="0" sz="1100" spc="-25">
                <a:solidFill>
                  <a:srgbClr val="3333B2"/>
                </a:solidFill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hlinkClick r:id="rId10" action="ppaction://hlinksldjump"/>
              </a:rPr>
              <a:t>Detector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hlinkClick r:id="rId11" action="ppaction://hlinksldjump"/>
              </a:rPr>
              <a:t>Eigen</a:t>
            </a:r>
            <a:r>
              <a:rPr dirty="0" sz="1100" spc="-45">
                <a:hlinkClick r:id="rId11" action="ppaction://hlinksldjump"/>
              </a:rPr>
              <a:t> </a:t>
            </a:r>
            <a:r>
              <a:rPr dirty="0" sz="1100" spc="-30">
                <a:hlinkClick r:id="rId11" action="ppaction://hlinksldjump"/>
              </a:rPr>
              <a:t>Vectors</a:t>
            </a:r>
            <a:r>
              <a:rPr dirty="0" sz="1100" spc="-40">
                <a:hlinkClick r:id="rId11" action="ppaction://hlinksldjump"/>
              </a:rPr>
              <a:t> </a:t>
            </a:r>
            <a:r>
              <a:rPr dirty="0" sz="1100" spc="-35">
                <a:hlinkClick r:id="rId11" action="ppaction://hlinksldjump"/>
              </a:rPr>
              <a:t>and</a:t>
            </a:r>
            <a:r>
              <a:rPr dirty="0" sz="1100" spc="-40">
                <a:hlinkClick r:id="rId11" action="ppaction://hlinksldjump"/>
              </a:rPr>
              <a:t> </a:t>
            </a:r>
            <a:r>
              <a:rPr dirty="0" sz="1100" spc="-20">
                <a:hlinkClick r:id="rId11" action="ppaction://hlinksldjump"/>
              </a:rPr>
              <a:t>Eigen</a:t>
            </a:r>
            <a:r>
              <a:rPr dirty="0" sz="1100" spc="-45">
                <a:hlinkClick r:id="rId11" action="ppaction://hlinksldjump"/>
              </a:rPr>
              <a:t> </a:t>
            </a:r>
            <a:r>
              <a:rPr dirty="0" sz="1100" spc="-30">
                <a:hlinkClick r:id="rId11" action="ppaction://hlinksldjump"/>
              </a:rPr>
              <a:t>Values</a:t>
            </a:r>
            <a:endParaRPr sz="1100"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223329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Harris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Correlation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2331" y="836585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145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2838" y="704963"/>
            <a:ext cx="4489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919">
                <a:latin typeface="Lucida Sans Unicode"/>
                <a:cs typeface="Lucida Sans Unicode"/>
              </a:rPr>
              <a:t>Σ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2434" y="1043494"/>
            <a:ext cx="844550" cy="751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7015" algn="l"/>
              </a:tabLst>
            </a:pPr>
            <a:r>
              <a:rPr dirty="0" sz="800" spc="-50" i="1">
                <a:latin typeface="Arial"/>
                <a:cs typeface="Arial"/>
              </a:rPr>
              <a:t>k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800">
              <a:latin typeface="Arial"/>
              <a:cs typeface="Arial"/>
            </a:endParaRPr>
          </a:p>
          <a:p>
            <a:pPr marL="173355">
              <a:lnSpc>
                <a:spcPct val="100000"/>
              </a:lnSpc>
            </a:pP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26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10">
                <a:latin typeface="Calibri"/>
                <a:cs typeface="Calibri"/>
              </a:rPr>
              <a:t>Image</a:t>
            </a:r>
            <a:endParaRPr sz="1100">
              <a:latin typeface="Calibri"/>
              <a:cs typeface="Calibri"/>
            </a:endParaRPr>
          </a:p>
          <a:p>
            <a:pPr marL="171450">
              <a:lnSpc>
                <a:spcPct val="100000"/>
              </a:lnSpc>
              <a:spcBef>
                <a:spcPts val="334"/>
              </a:spcBef>
            </a:pPr>
            <a:r>
              <a:rPr dirty="0" sz="1100" i="1">
                <a:latin typeface="Arial"/>
                <a:cs typeface="Arial"/>
              </a:rPr>
              <a:t>h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Calibri"/>
                <a:cs typeface="Calibri"/>
              </a:rPr>
              <a:t>Kernel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9256" y="836585"/>
            <a:ext cx="11963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4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4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j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208" y="2087778"/>
            <a:ext cx="3914775" cy="9048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0"/>
              <a:t>Harris</a:t>
            </a:r>
            <a:r>
              <a:rPr dirty="0" spc="-30"/>
              <a:t> </a:t>
            </a:r>
            <a:r>
              <a:rPr dirty="0" spc="-50"/>
              <a:t>Interest</a:t>
            </a:r>
            <a:r>
              <a:rPr dirty="0" spc="-25"/>
              <a:t> </a:t>
            </a:r>
            <a:r>
              <a:rPr dirty="0"/>
              <a:t>Point</a:t>
            </a:r>
            <a:r>
              <a:rPr dirty="0" spc="-25"/>
              <a:t> </a:t>
            </a:r>
            <a:r>
              <a:rPr dirty="0" spc="-20"/>
              <a:t>Detector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5">
                <a:latin typeface="Arial MT"/>
                <a:cs typeface="Arial MT"/>
              </a:rPr>
              <a:t>Cross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correlation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SSD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3938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70876" y="1067179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145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742541"/>
            <a:ext cx="1917700" cy="38481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30">
                <a:latin typeface="Tahoma"/>
                <a:cs typeface="Tahoma"/>
              </a:rPr>
              <a:t>Cross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Correlation</a:t>
            </a:r>
            <a:endParaRPr sz="11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100" spc="919">
                <a:latin typeface="Lucida Sans Unicode"/>
                <a:cs typeface="Lucida Sans Unicode"/>
              </a:rPr>
              <a:t>Σ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7800" y="1067179"/>
            <a:ext cx="11963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4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4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j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82115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71688" y="1809913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145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932" y="1274088"/>
            <a:ext cx="1918335" cy="596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445260">
              <a:lnSpc>
                <a:spcPct val="100000"/>
              </a:lnSpc>
              <a:spcBef>
                <a:spcPts val="95"/>
              </a:spcBef>
              <a:tabLst>
                <a:tab pos="1680845" algn="l"/>
              </a:tabLst>
            </a:pPr>
            <a:r>
              <a:rPr dirty="0" sz="800" spc="-50" i="1">
                <a:latin typeface="Arial"/>
                <a:cs typeface="Arial"/>
              </a:rPr>
              <a:t>k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l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100">
                <a:latin typeface="Tahoma"/>
                <a:cs typeface="Tahoma"/>
              </a:rPr>
              <a:t>Auto</a:t>
            </a:r>
            <a:r>
              <a:rPr dirty="0" sz="1100" spc="-10">
                <a:latin typeface="Tahoma"/>
                <a:cs typeface="Tahoma"/>
              </a:rPr>
              <a:t> Correlation</a:t>
            </a:r>
            <a:endParaRPr sz="1100">
              <a:latin typeface="Tahoma"/>
              <a:cs typeface="Tahoma"/>
            </a:endParaRPr>
          </a:p>
          <a:p>
            <a:pPr algn="ctr" marL="1468755">
              <a:lnSpc>
                <a:spcPct val="100000"/>
              </a:lnSpc>
              <a:spcBef>
                <a:spcPts val="90"/>
              </a:spcBef>
            </a:pPr>
            <a:r>
              <a:rPr dirty="0" sz="1100" spc="919">
                <a:latin typeface="Lucida Sans Unicode"/>
                <a:cs typeface="Lucida Sans Unicode"/>
              </a:rPr>
              <a:t>Σ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2016822"/>
            <a:ext cx="1965960" cy="424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144780">
              <a:lnSpc>
                <a:spcPct val="100000"/>
              </a:lnSpc>
              <a:spcBef>
                <a:spcPts val="95"/>
              </a:spcBef>
              <a:tabLst>
                <a:tab pos="235585" algn="l"/>
              </a:tabLst>
            </a:pPr>
            <a:r>
              <a:rPr dirty="0" sz="800" spc="-50" i="1">
                <a:latin typeface="Arial"/>
                <a:cs typeface="Arial"/>
              </a:rPr>
              <a:t>k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l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00" spc="-20">
                <a:latin typeface="Tahoma"/>
                <a:cs typeface="Tahoma"/>
              </a:rPr>
              <a:t>Sum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Square </a:t>
            </a:r>
            <a:r>
              <a:rPr dirty="0" sz="1100" spc="-40">
                <a:latin typeface="Tahoma"/>
                <a:cs typeface="Tahoma"/>
              </a:rPr>
              <a:t>Differences </a:t>
            </a:r>
            <a:r>
              <a:rPr dirty="0" sz="1100" spc="-10">
                <a:latin typeface="Tahoma"/>
                <a:cs typeface="Tahoma"/>
              </a:rPr>
              <a:t>(SSD)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8626" y="1809913"/>
            <a:ext cx="11950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35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10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4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j</a:t>
            </a:r>
            <a:r>
              <a:rPr dirty="0" sz="1100" spc="9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332545"/>
            <a:ext cx="65265" cy="6526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88668" y="2449422"/>
            <a:ext cx="4489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919">
                <a:latin typeface="Lucida Sans Unicode"/>
                <a:cs typeface="Lucida Sans Unicode"/>
              </a:rPr>
              <a:t>Σ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9481" y="2581032"/>
            <a:ext cx="2346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4555" algn="l"/>
              </a:tabLst>
            </a:pPr>
            <a:r>
              <a:rPr dirty="0" sz="1100" spc="-80" i="1">
                <a:latin typeface="Arial"/>
                <a:cs typeface="Arial"/>
              </a:rPr>
              <a:t>SSD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(</a:t>
            </a: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45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7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j</a:t>
            </a:r>
            <a:r>
              <a:rPr dirty="0" sz="1100" spc="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58276" y="2787940"/>
            <a:ext cx="2876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285" algn="l"/>
              </a:tabLst>
            </a:pPr>
            <a:r>
              <a:rPr dirty="0" sz="800" spc="-50" i="1">
                <a:latin typeface="Arial"/>
                <a:cs typeface="Arial"/>
              </a:rPr>
              <a:t>k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l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60114" y="256115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Harris</a:t>
            </a:r>
            <a:r>
              <a:rPr dirty="0" spc="-30"/>
              <a:t> </a:t>
            </a:r>
            <a:r>
              <a:rPr dirty="0" spc="-50"/>
              <a:t>Interest</a:t>
            </a:r>
            <a:r>
              <a:rPr dirty="0" spc="-25"/>
              <a:t> </a:t>
            </a:r>
            <a:r>
              <a:rPr dirty="0"/>
              <a:t>Point</a:t>
            </a:r>
            <a:r>
              <a:rPr dirty="0" spc="-25"/>
              <a:t> </a:t>
            </a:r>
            <a:r>
              <a:rPr dirty="0" spc="-20"/>
              <a:t>Detector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2941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45958"/>
            <a:ext cx="37712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Tahoma"/>
                <a:cs typeface="Tahoma"/>
              </a:rPr>
              <a:t>Change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intensity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shift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(</a:t>
            </a:r>
            <a:r>
              <a:rPr dirty="0" sz="1100" spc="-30" i="1">
                <a:latin typeface="Arial"/>
                <a:cs typeface="Arial"/>
              </a:rPr>
              <a:t>u</a:t>
            </a:r>
            <a:r>
              <a:rPr dirty="0" sz="1100" spc="-30">
                <a:latin typeface="Tahoma"/>
                <a:cs typeface="Tahoma"/>
              </a:rPr>
              <a:t>,</a:t>
            </a:r>
            <a:r>
              <a:rPr dirty="0" sz="1100" spc="-30" i="1">
                <a:latin typeface="Arial"/>
                <a:cs typeface="Arial"/>
              </a:rPr>
              <a:t>v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based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Tahoma"/>
                <a:cs typeface="Tahoma"/>
              </a:rPr>
              <a:t>auto</a:t>
            </a:r>
            <a:r>
              <a:rPr dirty="0" sz="11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FF0000"/>
                </a:solidFill>
                <a:latin typeface="Tahoma"/>
                <a:cs typeface="Tahoma"/>
              </a:rPr>
              <a:t>correlation</a:t>
            </a:r>
            <a:r>
              <a:rPr dirty="0" sz="1100" spc="-3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4523" y="846276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4859" y="977898"/>
            <a:ext cx="2855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45185" algn="l"/>
              </a:tabLst>
            </a:pPr>
            <a:r>
              <a:rPr dirty="0" sz="1100" spc="-95" i="1">
                <a:latin typeface="Arial"/>
                <a:cs typeface="Arial"/>
              </a:rPr>
              <a:t>E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u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65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65" i="1">
                <a:latin typeface="Arial"/>
                <a:cs typeface="Arial"/>
              </a:rPr>
              <a:t>w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60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[I(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5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u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6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y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95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Tahoma"/>
                <a:cs typeface="Tahoma"/>
              </a:rPr>
              <a:t>I(</a:t>
            </a:r>
            <a:r>
              <a:rPr dirty="0" sz="1100" spc="55" i="1">
                <a:latin typeface="Arial"/>
                <a:cs typeface="Arial"/>
              </a:rPr>
              <a:t>x</a:t>
            </a:r>
            <a:r>
              <a:rPr dirty="0" sz="1100" spc="55" i="1">
                <a:latin typeface="Calibri"/>
                <a:cs typeface="Calibri"/>
              </a:rPr>
              <a:t>,</a:t>
            </a:r>
            <a:r>
              <a:rPr dirty="0" sz="1100" spc="-60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)]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174545"/>
            <a:ext cx="1381125" cy="436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x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30">
                <a:latin typeface="Tahoma"/>
                <a:cs typeface="Tahoma"/>
              </a:rPr>
              <a:t>Window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function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4736" y="951381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02257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3352" y="1646059"/>
            <a:ext cx="2432050" cy="127317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22332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Harris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72" y="566115"/>
            <a:ext cx="3976624" cy="24033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3181818"/>
            <a:ext cx="13074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 MT"/>
                <a:cs typeface="Arial MT"/>
              </a:rPr>
              <a:t>Slide Source:</a:t>
            </a:r>
            <a:r>
              <a:rPr dirty="0" sz="800" spc="7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Mubarak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Shah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Mathematics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20"/>
              <a:t>Harris</a:t>
            </a:r>
            <a:r>
              <a:rPr dirty="0" spc="-30"/>
              <a:t> </a:t>
            </a:r>
            <a:r>
              <a:rPr dirty="0" spc="-50"/>
              <a:t>Interest</a:t>
            </a:r>
            <a:r>
              <a:rPr dirty="0" spc="-25"/>
              <a:t> </a:t>
            </a:r>
            <a:r>
              <a:rPr dirty="0"/>
              <a:t>Point</a:t>
            </a:r>
            <a:r>
              <a:rPr dirty="0" spc="-30"/>
              <a:t> </a:t>
            </a:r>
            <a:r>
              <a:rPr dirty="0" spc="-10"/>
              <a:t>Detector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89925" y="988249"/>
            <a:ext cx="1180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909319" algn="l"/>
              </a:tabLst>
            </a:pPr>
            <a:r>
              <a:rPr dirty="0" sz="1100" spc="-95" i="1">
                <a:latin typeface="Arial"/>
                <a:cs typeface="Arial"/>
              </a:rPr>
              <a:t>E</a:t>
            </a:r>
            <a:r>
              <a:rPr dirty="0" sz="1100" spc="-1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u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65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baseline="45454" sz="1650" spc="652">
                <a:latin typeface="Lucida Sans Unicode"/>
                <a:cs typeface="Lucida Sans Unicode"/>
              </a:rPr>
              <a:t> </a:t>
            </a:r>
            <a:r>
              <a:rPr dirty="0" sz="1100" spc="-60" i="1">
                <a:latin typeface="Arial"/>
                <a:cs typeface="Arial"/>
              </a:rPr>
              <a:t>u</a:t>
            </a:r>
            <a:r>
              <a:rPr dirty="0" sz="1100" i="1">
                <a:latin typeface="Arial"/>
                <a:cs typeface="Arial"/>
              </a:rPr>
              <a:t>	v</a:t>
            </a:r>
            <a:r>
              <a:rPr dirty="0" baseline="45454" sz="1650" spc="509">
                <a:latin typeface="Lucida Sans Unicode"/>
                <a:cs typeface="Lucida Sans Unicode"/>
              </a:rPr>
              <a:t> </a:t>
            </a:r>
            <a:r>
              <a:rPr dirty="0" sz="1100" spc="-335">
                <a:latin typeface="Tahoma"/>
                <a:cs typeface="Tahoma"/>
              </a:rPr>
              <a:t>M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6021" y="901990"/>
            <a:ext cx="97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u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5259" y="1074063"/>
            <a:ext cx="89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2133" y="792897"/>
            <a:ext cx="250825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316785"/>
            <a:ext cx="401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where,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4792" y="1421852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7325" y="1553475"/>
            <a:ext cx="9410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92759" algn="l"/>
              </a:tabLst>
            </a:pPr>
            <a:r>
              <a:rPr dirty="0" sz="1100" spc="-285">
                <a:latin typeface="Tahoma"/>
                <a:cs typeface="Tahoma"/>
              </a:rPr>
              <a:t>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65" i="1">
                <a:latin typeface="Arial"/>
                <a:cs typeface="Arial"/>
              </a:rPr>
              <a:t>w</a:t>
            </a:r>
            <a:r>
              <a:rPr dirty="0" sz="1100" spc="-1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30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6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0204" y="1750122"/>
            <a:ext cx="1638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x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5601" y="1358124"/>
            <a:ext cx="98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2349" y="1525319"/>
            <a:ext cx="2133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x</a:t>
            </a:r>
            <a:r>
              <a:rPr dirty="0" sz="800" spc="459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19616" y="1467217"/>
            <a:ext cx="6407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6559" algn="l"/>
              </a:tabLst>
            </a:pPr>
            <a:r>
              <a:rPr dirty="0" sz="1100" spc="155">
                <a:latin typeface="Tahoma"/>
                <a:cs typeface="Tahoma"/>
              </a:rPr>
              <a:t>I</a:t>
            </a:r>
            <a:r>
              <a:rPr dirty="0" sz="1100" spc="165">
                <a:latin typeface="Tahoma"/>
                <a:cs typeface="Tahoma"/>
              </a:rPr>
              <a:t> </a:t>
            </a:r>
            <a:r>
              <a:rPr dirty="0" sz="1100" spc="105">
                <a:latin typeface="Tahoma"/>
                <a:cs typeface="Tahoma"/>
              </a:rPr>
              <a:t>I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155">
                <a:latin typeface="Tahoma"/>
                <a:cs typeface="Tahoma"/>
              </a:rPr>
              <a:t>I</a:t>
            </a:r>
            <a:r>
              <a:rPr dirty="0" sz="1100" spc="165">
                <a:latin typeface="Tahoma"/>
                <a:cs typeface="Tahoma"/>
              </a:rPr>
              <a:t> </a:t>
            </a:r>
            <a:r>
              <a:rPr dirty="0" sz="1100" spc="105">
                <a:latin typeface="Tahoma"/>
                <a:cs typeface="Tahoma"/>
              </a:rPr>
              <a:t>I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96438" y="1525319"/>
            <a:ext cx="2133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x</a:t>
            </a:r>
            <a:r>
              <a:rPr dirty="0" sz="800" spc="459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3314" y="1639289"/>
            <a:ext cx="3365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x</a:t>
            </a:r>
            <a:r>
              <a:rPr dirty="0" baseline="-10416" sz="1200" spc="-150" i="1">
                <a:latin typeface="Arial"/>
                <a:cs typeface="Arial"/>
              </a:rPr>
              <a:t> </a:t>
            </a:r>
            <a:r>
              <a:rPr dirty="0" sz="1100" spc="45">
                <a:latin typeface="Tahoma"/>
                <a:cs typeface="Tahoma"/>
              </a:rPr>
              <a:t>I</a:t>
            </a:r>
            <a:r>
              <a:rPr dirty="0" baseline="-10416" sz="1200" spc="67" i="1">
                <a:latin typeface="Arial"/>
                <a:cs typeface="Arial"/>
              </a:rPr>
              <a:t>y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97403" y="1639289"/>
            <a:ext cx="3384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y</a:t>
            </a:r>
            <a:r>
              <a:rPr dirty="0" baseline="-10416" sz="1200" spc="-127" i="1">
                <a:latin typeface="Arial"/>
                <a:cs typeface="Arial"/>
              </a:rPr>
              <a:t> </a:t>
            </a:r>
            <a:r>
              <a:rPr dirty="0" sz="1100" spc="45">
                <a:latin typeface="Tahoma"/>
                <a:cs typeface="Tahoma"/>
              </a:rPr>
              <a:t>I</a:t>
            </a:r>
            <a:r>
              <a:rPr dirty="0" baseline="-10416" sz="1200" spc="67" i="1">
                <a:latin typeface="Arial"/>
                <a:cs typeface="Arial"/>
              </a:rPr>
              <a:t>y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02152" y="1358124"/>
            <a:ext cx="98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5844" y="1937447"/>
            <a:ext cx="24726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write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equation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without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weight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5518" y="2322930"/>
            <a:ext cx="244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85">
                <a:latin typeface="Tahoma"/>
                <a:cs typeface="Tahoma"/>
              </a:rPr>
              <a:t>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9063" y="2294774"/>
            <a:ext cx="2133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x</a:t>
            </a:r>
            <a:r>
              <a:rPr dirty="0" sz="800" spc="459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6330" y="2236672"/>
            <a:ext cx="8096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5470" algn="l"/>
              </a:tabLst>
            </a:pPr>
            <a:r>
              <a:rPr dirty="0" sz="1100" spc="155">
                <a:latin typeface="Tahoma"/>
                <a:cs typeface="Tahoma"/>
              </a:rPr>
              <a:t>I</a:t>
            </a:r>
            <a:r>
              <a:rPr dirty="0" sz="1100" spc="165">
                <a:latin typeface="Tahoma"/>
                <a:cs typeface="Tahoma"/>
              </a:rPr>
              <a:t> </a:t>
            </a:r>
            <a:r>
              <a:rPr dirty="0" sz="1100" spc="105">
                <a:latin typeface="Tahoma"/>
                <a:cs typeface="Tahoma"/>
              </a:rPr>
              <a:t>I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155">
                <a:latin typeface="Tahoma"/>
                <a:cs typeface="Tahoma"/>
              </a:rPr>
              <a:t>I</a:t>
            </a:r>
            <a:r>
              <a:rPr dirty="0" sz="1100" spc="165">
                <a:latin typeface="Tahoma"/>
                <a:cs typeface="Tahoma"/>
              </a:rPr>
              <a:t> </a:t>
            </a:r>
            <a:r>
              <a:rPr dirty="0" sz="1100" spc="105">
                <a:latin typeface="Tahoma"/>
                <a:cs typeface="Tahoma"/>
              </a:rPr>
              <a:t>I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12481" y="2294774"/>
            <a:ext cx="2133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x</a:t>
            </a:r>
            <a:r>
              <a:rPr dirty="0" sz="800" spc="459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6099" y="2304832"/>
            <a:ext cx="172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9517" y="2304832"/>
            <a:ext cx="172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0041" y="2408744"/>
            <a:ext cx="9118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10870" algn="l"/>
              </a:tabLst>
            </a:pP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x</a:t>
            </a:r>
            <a:r>
              <a:rPr dirty="0" baseline="-10416" sz="1200" spc="-150" i="1">
                <a:latin typeface="Arial"/>
                <a:cs typeface="Arial"/>
              </a:rPr>
              <a:t> </a:t>
            </a:r>
            <a:r>
              <a:rPr dirty="0" sz="1100" spc="45">
                <a:latin typeface="Tahoma"/>
                <a:cs typeface="Tahoma"/>
              </a:rPr>
              <a:t>I</a:t>
            </a:r>
            <a:r>
              <a:rPr dirty="0" baseline="-10416" sz="1200" spc="67" i="1">
                <a:latin typeface="Arial"/>
                <a:cs typeface="Arial"/>
              </a:rPr>
              <a:t>y</a:t>
            </a:r>
            <a:r>
              <a:rPr dirty="0" baseline="-10416" sz="1200" i="1">
                <a:latin typeface="Arial"/>
                <a:cs typeface="Arial"/>
              </a:rPr>
              <a:t>	</a:t>
            </a: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y</a:t>
            </a:r>
            <a:r>
              <a:rPr dirty="0" baseline="-10416" sz="1200" spc="-127" i="1">
                <a:latin typeface="Arial"/>
                <a:cs typeface="Arial"/>
              </a:rPr>
              <a:t> </a:t>
            </a:r>
            <a:r>
              <a:rPr dirty="0" sz="1100" spc="45">
                <a:latin typeface="Tahoma"/>
                <a:cs typeface="Tahoma"/>
              </a:rPr>
              <a:t>I</a:t>
            </a:r>
            <a:r>
              <a:rPr dirty="0" baseline="-10416" sz="1200" spc="67" i="1">
                <a:latin typeface="Arial"/>
                <a:cs typeface="Arial"/>
              </a:rPr>
              <a:t>y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2985" y="2127579"/>
            <a:ext cx="1193800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107440" algn="l"/>
              </a:tabLst>
            </a:pPr>
            <a:r>
              <a:rPr dirty="0" sz="110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29803" y="2322930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76043" y="2191307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75268" y="2236672"/>
            <a:ext cx="98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5">
                <a:latin typeface="Tahoma"/>
                <a:cs typeface="Tahoma"/>
              </a:rPr>
              <a:t>I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48001" y="2294774"/>
            <a:ext cx="749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48966" y="2408744"/>
            <a:ext cx="1987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Tahoma"/>
                <a:cs typeface="Tahoma"/>
              </a:rPr>
              <a:t>I</a:t>
            </a:r>
            <a:r>
              <a:rPr dirty="0" baseline="-10416" sz="1200" spc="67" i="1">
                <a:latin typeface="Arial"/>
                <a:cs typeface="Arial"/>
              </a:rPr>
              <a:t>y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99258" y="2127579"/>
            <a:ext cx="41338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7025" algn="l"/>
              </a:tabLst>
            </a:pPr>
            <a:r>
              <a:rPr dirty="0" sz="110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10256" y="2210700"/>
            <a:ext cx="83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40710" y="2380817"/>
            <a:ext cx="749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42577" y="2322930"/>
            <a:ext cx="16186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02260" algn="l"/>
              </a:tabLst>
            </a:pPr>
            <a:r>
              <a:rPr dirty="0" sz="1100" spc="105">
                <a:latin typeface="Tahoma"/>
                <a:cs typeface="Tahoma"/>
              </a:rPr>
              <a:t>I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y</a:t>
            </a:r>
            <a:r>
              <a:rPr dirty="0" baseline="78282" sz="1650" spc="337">
                <a:latin typeface="Lucida Sans Unicode"/>
                <a:cs typeface="Lucida Sans Unicode"/>
              </a:rPr>
              <a:t>  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baseline="53030" sz="1650" spc="1380">
                <a:latin typeface="Lucida Sans Unicode"/>
                <a:cs typeface="Lucida Sans Unicode"/>
              </a:rPr>
              <a:t>Σ</a:t>
            </a:r>
            <a:r>
              <a:rPr dirty="0" baseline="53030" sz="1650" spc="-247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Lucida Sans Unicode"/>
                <a:cs typeface="Lucida Sans Unicode"/>
              </a:rPr>
              <a:t>∇</a:t>
            </a:r>
            <a:r>
              <a:rPr dirty="0" sz="1100" spc="-10">
                <a:latin typeface="Tahoma"/>
                <a:cs typeface="Tahoma"/>
              </a:rPr>
              <a:t>I(</a:t>
            </a:r>
            <a:r>
              <a:rPr dirty="0" sz="1100" spc="-10">
                <a:latin typeface="Lucida Sans Unicode"/>
                <a:cs typeface="Lucida Sans Unicode"/>
              </a:rPr>
              <a:t>∇</a:t>
            </a:r>
            <a:r>
              <a:rPr dirty="0" sz="1100" spc="-10">
                <a:latin typeface="Tahoma"/>
                <a:cs typeface="Tahoma"/>
              </a:rPr>
              <a:t>I)</a:t>
            </a:r>
            <a:r>
              <a:rPr dirty="0" baseline="31250" sz="1200" spc="-15" i="1">
                <a:latin typeface="Arial"/>
                <a:cs typeface="Arial"/>
              </a:rPr>
              <a:t>T</a:t>
            </a:r>
            <a:endParaRPr baseline="31250" sz="12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8" name="object 3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45186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Mathematics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20"/>
              <a:t>Harris</a:t>
            </a:r>
            <a:r>
              <a:rPr dirty="0" spc="-30"/>
              <a:t> </a:t>
            </a:r>
            <a:r>
              <a:rPr dirty="0" spc="-50"/>
              <a:t>Interest</a:t>
            </a:r>
            <a:r>
              <a:rPr dirty="0" spc="-25"/>
              <a:t> </a:t>
            </a:r>
            <a:r>
              <a:rPr dirty="0"/>
              <a:t>Point</a:t>
            </a:r>
            <a:r>
              <a:rPr dirty="0" spc="-30"/>
              <a:t> </a:t>
            </a:r>
            <a:r>
              <a:rPr dirty="0" spc="-10"/>
              <a:t>Detector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77225" y="624953"/>
            <a:ext cx="12058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922019" algn="l"/>
              </a:tabLst>
            </a:pPr>
            <a:r>
              <a:rPr dirty="0" sz="1100" spc="-95" i="1">
                <a:latin typeface="Arial"/>
                <a:cs typeface="Arial"/>
              </a:rPr>
              <a:t>E</a:t>
            </a:r>
            <a:r>
              <a:rPr dirty="0" sz="1100" spc="-1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u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65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baseline="45454" sz="1650" spc="652">
                <a:latin typeface="Lucida Sans Unicode"/>
                <a:cs typeface="Lucida Sans Unicode"/>
              </a:rPr>
              <a:t> </a:t>
            </a:r>
            <a:r>
              <a:rPr dirty="0" sz="1100" spc="-60" i="1">
                <a:latin typeface="Arial"/>
                <a:cs typeface="Arial"/>
              </a:rPr>
              <a:t>u</a:t>
            </a:r>
            <a:r>
              <a:rPr dirty="0" sz="1100" i="1">
                <a:latin typeface="Arial"/>
                <a:cs typeface="Arial"/>
              </a:rPr>
              <a:t>	v</a:t>
            </a:r>
            <a:r>
              <a:rPr dirty="0" baseline="45454" sz="1650" spc="509">
                <a:latin typeface="Lucida Sans Unicode"/>
                <a:cs typeface="Lucida Sans Unicode"/>
              </a:rPr>
              <a:t> </a:t>
            </a:r>
            <a:r>
              <a:rPr dirty="0" sz="1100" spc="-335">
                <a:latin typeface="Tahoma"/>
                <a:cs typeface="Tahoma"/>
              </a:rPr>
              <a:t>M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6021" y="538694"/>
            <a:ext cx="97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u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5259" y="710766"/>
            <a:ext cx="89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2133" y="429601"/>
            <a:ext cx="250825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943202"/>
            <a:ext cx="401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where,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5681" y="1049425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8226" y="1181035"/>
            <a:ext cx="9410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92759" algn="l"/>
              </a:tabLst>
            </a:pPr>
            <a:r>
              <a:rPr dirty="0" sz="1100" spc="-285">
                <a:latin typeface="Tahoma"/>
                <a:cs typeface="Tahoma"/>
              </a:rPr>
              <a:t>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65" i="1">
                <a:latin typeface="Arial"/>
                <a:cs typeface="Arial"/>
              </a:rPr>
              <a:t>w</a:t>
            </a:r>
            <a:r>
              <a:rPr dirty="0" sz="1100" spc="-1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30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6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1093" y="1377694"/>
            <a:ext cx="1638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x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6490" y="985683"/>
            <a:ext cx="98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62186" y="1080679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62186" y="1165198"/>
            <a:ext cx="749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9454" y="1093621"/>
            <a:ext cx="5708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6710" algn="l"/>
              </a:tabLst>
            </a:pPr>
            <a:r>
              <a:rPr dirty="0" sz="1100" spc="105">
                <a:latin typeface="Tahoma"/>
                <a:cs typeface="Tahoma"/>
              </a:rPr>
              <a:t>I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155">
                <a:latin typeface="Tahoma"/>
                <a:cs typeface="Tahoma"/>
              </a:rPr>
              <a:t>I</a:t>
            </a:r>
            <a:r>
              <a:rPr dirty="0" sz="1100" spc="165">
                <a:latin typeface="Tahoma"/>
                <a:cs typeface="Tahoma"/>
              </a:rPr>
              <a:t> </a:t>
            </a:r>
            <a:r>
              <a:rPr dirty="0" sz="1100" spc="105">
                <a:latin typeface="Tahoma"/>
                <a:cs typeface="Tahoma"/>
              </a:rPr>
              <a:t>I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96438" y="1151736"/>
            <a:ext cx="2133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x</a:t>
            </a:r>
            <a:r>
              <a:rPr dirty="0" sz="800" spc="459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65373" y="125275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81516" y="1265706"/>
            <a:ext cx="6972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523240" algn="l"/>
              </a:tabLst>
            </a:pP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x</a:t>
            </a:r>
            <a:r>
              <a:rPr dirty="0" baseline="-10416" sz="1200" spc="-150" i="1">
                <a:latin typeface="Arial"/>
                <a:cs typeface="Arial"/>
              </a:rPr>
              <a:t> </a:t>
            </a:r>
            <a:r>
              <a:rPr dirty="0" sz="1100" spc="45">
                <a:latin typeface="Tahoma"/>
                <a:cs typeface="Tahoma"/>
              </a:rPr>
              <a:t>I</a:t>
            </a:r>
            <a:r>
              <a:rPr dirty="0" baseline="-10416" sz="1200" spc="67" i="1">
                <a:latin typeface="Arial"/>
                <a:cs typeface="Arial"/>
              </a:rPr>
              <a:t>y</a:t>
            </a:r>
            <a:r>
              <a:rPr dirty="0" baseline="-10416" sz="1200" i="1">
                <a:latin typeface="Arial"/>
                <a:cs typeface="Arial"/>
              </a:rPr>
              <a:t>	</a:t>
            </a:r>
            <a:r>
              <a:rPr dirty="0" sz="1100" spc="35">
                <a:latin typeface="Tahoma"/>
                <a:cs typeface="Tahoma"/>
              </a:rPr>
              <a:t>I</a:t>
            </a:r>
            <a:r>
              <a:rPr dirty="0" baseline="-17361" sz="1200" spc="52" i="1">
                <a:latin typeface="Arial"/>
                <a:cs typeface="Arial"/>
              </a:rPr>
              <a:t>y</a:t>
            </a:r>
            <a:endParaRPr baseline="-17361"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01251" y="985683"/>
            <a:ext cx="98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743418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77532" y="1626473"/>
            <a:ext cx="3681095" cy="42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9200"/>
              </a:lnSpc>
              <a:spcBef>
                <a:spcPts val="100"/>
              </a:spcBef>
            </a:pPr>
            <a:r>
              <a:rPr dirty="0" sz="1100" spc="-95" i="1">
                <a:latin typeface="Arial"/>
                <a:cs typeface="Arial"/>
              </a:rPr>
              <a:t>E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u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5">
                <a:latin typeface="Tahoma"/>
                <a:cs typeface="Tahoma"/>
              </a:rPr>
              <a:t> equation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ellipse,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where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85">
                <a:latin typeface="Tahoma"/>
                <a:cs typeface="Tahoma"/>
              </a:rPr>
              <a:t>M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covariance. </a:t>
            </a:r>
            <a:r>
              <a:rPr dirty="0" sz="1100">
                <a:latin typeface="Tahoma"/>
                <a:cs typeface="Tahoma"/>
              </a:rPr>
              <a:t>Let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λ</a:t>
            </a:r>
            <a:r>
              <a:rPr dirty="0" baseline="-10416" sz="1200">
                <a:latin typeface="Arial MT"/>
                <a:cs typeface="Arial MT"/>
              </a:rPr>
              <a:t>1</a:t>
            </a:r>
            <a:r>
              <a:rPr dirty="0" baseline="-10416" sz="1200" spc="262">
                <a:latin typeface="Arial MT"/>
                <a:cs typeface="Arial MT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λ</a:t>
            </a:r>
            <a:r>
              <a:rPr dirty="0" baseline="-10416" sz="1200">
                <a:latin typeface="Arial MT"/>
                <a:cs typeface="Arial MT"/>
              </a:rPr>
              <a:t>2</a:t>
            </a:r>
            <a:r>
              <a:rPr dirty="0" baseline="-10416" sz="1200" spc="262">
                <a:latin typeface="Arial MT"/>
                <a:cs typeface="Arial MT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eigenvalues</a:t>
            </a:r>
            <a:r>
              <a:rPr dirty="0" sz="1100">
                <a:latin typeface="Tahoma"/>
                <a:cs typeface="Tahoma"/>
              </a:rPr>
              <a:t> of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35">
                <a:latin typeface="Tahoma"/>
                <a:cs typeface="Tahoma"/>
              </a:rPr>
              <a:t>M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43163"/>
            <a:ext cx="65265" cy="6526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5133" y="2214753"/>
            <a:ext cx="2311400" cy="933450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Mathematics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20"/>
              <a:t>Harris</a:t>
            </a:r>
            <a:r>
              <a:rPr dirty="0" spc="-30"/>
              <a:t> </a:t>
            </a:r>
            <a:r>
              <a:rPr dirty="0" spc="-50"/>
              <a:t>Interest</a:t>
            </a:r>
            <a:r>
              <a:rPr dirty="0" spc="-25"/>
              <a:t> </a:t>
            </a:r>
            <a:r>
              <a:rPr dirty="0"/>
              <a:t>Point</a:t>
            </a:r>
            <a:r>
              <a:rPr dirty="0" spc="-30"/>
              <a:t> </a:t>
            </a:r>
            <a:r>
              <a:rPr dirty="0" spc="-10"/>
              <a:t>Detector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77225" y="1296173"/>
            <a:ext cx="12058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922019" algn="l"/>
              </a:tabLst>
            </a:pPr>
            <a:r>
              <a:rPr dirty="0" sz="1100" spc="-95" i="1">
                <a:latin typeface="Arial"/>
                <a:cs typeface="Arial"/>
              </a:rPr>
              <a:t>E</a:t>
            </a:r>
            <a:r>
              <a:rPr dirty="0" sz="1100" spc="-1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u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65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baseline="45454" sz="1650" spc="652">
                <a:latin typeface="Lucida Sans Unicode"/>
                <a:cs typeface="Lucida Sans Unicode"/>
              </a:rPr>
              <a:t> </a:t>
            </a:r>
            <a:r>
              <a:rPr dirty="0" sz="1100" spc="-60" i="1">
                <a:latin typeface="Arial"/>
                <a:cs typeface="Arial"/>
              </a:rPr>
              <a:t>u</a:t>
            </a:r>
            <a:r>
              <a:rPr dirty="0" sz="1100" i="1">
                <a:latin typeface="Arial"/>
                <a:cs typeface="Arial"/>
              </a:rPr>
              <a:t>	v</a:t>
            </a:r>
            <a:r>
              <a:rPr dirty="0" baseline="45454" sz="1650" spc="509">
                <a:latin typeface="Lucida Sans Unicode"/>
                <a:cs typeface="Lucida Sans Unicode"/>
              </a:rPr>
              <a:t> </a:t>
            </a:r>
            <a:r>
              <a:rPr dirty="0" sz="1100" spc="-335">
                <a:latin typeface="Tahoma"/>
                <a:cs typeface="Tahoma"/>
              </a:rPr>
              <a:t>M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6021" y="1209915"/>
            <a:ext cx="97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u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5259" y="1381987"/>
            <a:ext cx="89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2133" y="1100822"/>
            <a:ext cx="250825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624709"/>
            <a:ext cx="401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where,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022" y="1730932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555" y="1862555"/>
            <a:ext cx="9410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92759" algn="l"/>
              </a:tabLst>
            </a:pPr>
            <a:r>
              <a:rPr dirty="0" sz="1100" spc="-285">
                <a:latin typeface="Tahoma"/>
                <a:cs typeface="Tahoma"/>
              </a:rPr>
              <a:t>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65" i="1">
                <a:latin typeface="Arial"/>
                <a:cs typeface="Arial"/>
              </a:rPr>
              <a:t>w</a:t>
            </a:r>
            <a:r>
              <a:rPr dirty="0" sz="1100" spc="-1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30" i="1">
                <a:latin typeface="Calibri"/>
                <a:cs typeface="Calibri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6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1435" y="2059202"/>
            <a:ext cx="1638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x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6831" y="1667204"/>
            <a:ext cx="98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19782" y="1775141"/>
            <a:ext cx="98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5">
                <a:latin typeface="Tahoma"/>
                <a:cs typeface="Tahoma"/>
              </a:rPr>
              <a:t>I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2527" y="1762187"/>
            <a:ext cx="79375" cy="231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815"/>
              </a:lnSpc>
              <a:spcBef>
                <a:spcPts val="95"/>
              </a:spcBef>
            </a:pPr>
            <a:r>
              <a:rPr dirty="0" sz="800" spc="-5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ts val="815"/>
              </a:lnSpc>
            </a:pPr>
            <a:r>
              <a:rPr dirty="0" sz="800" spc="-50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54033" y="1775141"/>
            <a:ext cx="236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5">
                <a:latin typeface="Tahoma"/>
                <a:cs typeface="Tahoma"/>
              </a:rPr>
              <a:t>I</a:t>
            </a:r>
            <a:r>
              <a:rPr dirty="0" sz="1100" spc="165">
                <a:latin typeface="Tahoma"/>
                <a:cs typeface="Tahoma"/>
              </a:rPr>
              <a:t> </a:t>
            </a:r>
            <a:r>
              <a:rPr dirty="0" sz="1100" spc="105">
                <a:latin typeface="Tahoma"/>
                <a:cs typeface="Tahoma"/>
              </a:rPr>
              <a:t>I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26766" y="1833243"/>
            <a:ext cx="2133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x</a:t>
            </a:r>
            <a:r>
              <a:rPr dirty="0" sz="800" spc="459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5702" y="1934259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1845" y="1947213"/>
            <a:ext cx="6972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523240" algn="l"/>
              </a:tabLst>
            </a:pP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x</a:t>
            </a:r>
            <a:r>
              <a:rPr dirty="0" baseline="-10416" sz="1200" spc="-150" i="1">
                <a:latin typeface="Arial"/>
                <a:cs typeface="Arial"/>
              </a:rPr>
              <a:t> </a:t>
            </a:r>
            <a:r>
              <a:rPr dirty="0" sz="1100" spc="45">
                <a:latin typeface="Tahoma"/>
                <a:cs typeface="Tahoma"/>
              </a:rPr>
              <a:t>I</a:t>
            </a:r>
            <a:r>
              <a:rPr dirty="0" baseline="-10416" sz="1200" spc="67" i="1">
                <a:latin typeface="Arial"/>
                <a:cs typeface="Arial"/>
              </a:rPr>
              <a:t>y</a:t>
            </a:r>
            <a:r>
              <a:rPr dirty="0" baseline="-10416" sz="1200" i="1">
                <a:latin typeface="Arial"/>
                <a:cs typeface="Arial"/>
              </a:rPr>
              <a:t>	</a:t>
            </a:r>
            <a:r>
              <a:rPr dirty="0" sz="1100" spc="35">
                <a:latin typeface="Tahoma"/>
                <a:cs typeface="Tahoma"/>
              </a:rPr>
              <a:t>I</a:t>
            </a:r>
            <a:r>
              <a:rPr dirty="0" baseline="-17361" sz="1200" spc="52" i="1">
                <a:latin typeface="Arial"/>
                <a:cs typeface="Arial"/>
              </a:rPr>
              <a:t>y</a:t>
            </a:r>
            <a:endParaRPr baseline="-17361"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31592" y="1667204"/>
            <a:ext cx="356870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69875" algn="l"/>
              </a:tabLst>
            </a:pPr>
            <a:r>
              <a:rPr dirty="0" sz="110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43187" y="1862555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43376" y="1834399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62554" y="1776297"/>
            <a:ext cx="3981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5595" algn="l"/>
              </a:tabLst>
            </a:pPr>
            <a:r>
              <a:rPr dirty="0" sz="1100" spc="70" i="1">
                <a:latin typeface="Calibri"/>
                <a:cs typeface="Calibri"/>
              </a:rPr>
              <a:t>λ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72980" y="1948369"/>
            <a:ext cx="4552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69240" algn="l"/>
              </a:tabLst>
            </a:pPr>
            <a:r>
              <a:rPr dirty="0" sz="1100" spc="-50">
                <a:latin typeface="Tahoma"/>
                <a:cs typeface="Tahoma"/>
              </a:rPr>
              <a:t>0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λ</a:t>
            </a:r>
            <a:r>
              <a:rPr dirty="0" baseline="-10416" sz="1200" spc="-37">
                <a:latin typeface="Arial MT"/>
                <a:cs typeface="Arial MT"/>
              </a:rPr>
              <a:t>2</a:t>
            </a:r>
            <a:endParaRPr baseline="-10416"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70922" y="1667204"/>
            <a:ext cx="98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6" name="object 2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22332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Harris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15099"/>
            <a:ext cx="65265" cy="6526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02932" y="431646"/>
            <a:ext cx="3075940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solidFill>
                  <a:srgbClr val="000000"/>
                </a:solidFill>
              </a:rPr>
              <a:t>Classification</a:t>
            </a:r>
            <a:r>
              <a:rPr dirty="0" sz="1100" spc="-35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of</a:t>
            </a:r>
            <a:r>
              <a:rPr dirty="0" sz="1100" spc="-35">
                <a:solidFill>
                  <a:srgbClr val="000000"/>
                </a:solidFill>
              </a:rPr>
              <a:t> </a:t>
            </a:r>
            <a:r>
              <a:rPr dirty="0" sz="1100" spc="-40">
                <a:solidFill>
                  <a:srgbClr val="000000"/>
                </a:solidFill>
              </a:rPr>
              <a:t>image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 spc="-20">
                <a:solidFill>
                  <a:srgbClr val="000000"/>
                </a:solidFill>
              </a:rPr>
              <a:t>points</a:t>
            </a:r>
            <a:r>
              <a:rPr dirty="0" sz="1100" spc="-40">
                <a:solidFill>
                  <a:srgbClr val="000000"/>
                </a:solidFill>
              </a:rPr>
              <a:t> </a:t>
            </a:r>
            <a:r>
              <a:rPr dirty="0" sz="1100" spc="-35">
                <a:solidFill>
                  <a:srgbClr val="000000"/>
                </a:solidFill>
              </a:rPr>
              <a:t>using </a:t>
            </a:r>
            <a:r>
              <a:rPr dirty="0" sz="1100" spc="-55">
                <a:solidFill>
                  <a:srgbClr val="000000"/>
                </a:solidFill>
              </a:rPr>
              <a:t>eigenvalues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of</a:t>
            </a:r>
            <a:r>
              <a:rPr dirty="0" sz="1100" spc="-35">
                <a:solidFill>
                  <a:srgbClr val="000000"/>
                </a:solidFill>
              </a:rPr>
              <a:t> </a:t>
            </a:r>
            <a:r>
              <a:rPr dirty="0" sz="1100" spc="-125">
                <a:solidFill>
                  <a:srgbClr val="000000"/>
                </a:solidFill>
              </a:rPr>
              <a:t>M:</a:t>
            </a:r>
            <a:endParaRPr sz="11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843" y="792010"/>
            <a:ext cx="3836034" cy="235585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Harris</a:t>
            </a:r>
            <a:r>
              <a:rPr dirty="0" spc="-30"/>
              <a:t> </a:t>
            </a:r>
            <a:r>
              <a:rPr dirty="0" spc="-50"/>
              <a:t>Interest</a:t>
            </a:r>
            <a:r>
              <a:rPr dirty="0" spc="-25"/>
              <a:t> </a:t>
            </a:r>
            <a:r>
              <a:rPr dirty="0"/>
              <a:t>Point</a:t>
            </a:r>
            <a:r>
              <a:rPr dirty="0" spc="-25"/>
              <a:t> </a:t>
            </a:r>
            <a:r>
              <a:rPr dirty="0" spc="-20"/>
              <a:t>Detector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7245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988998"/>
            <a:ext cx="24872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Tahoma"/>
                <a:cs typeface="Tahoma"/>
              </a:rPr>
              <a:t>Measure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FF0000"/>
                </a:solidFill>
                <a:latin typeface="Tahoma"/>
                <a:cs typeface="Tahoma"/>
              </a:rPr>
              <a:t>cornerness</a:t>
            </a:r>
            <a:r>
              <a:rPr dirty="0" sz="1100" spc="-1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terms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λ</a:t>
            </a:r>
            <a:r>
              <a:rPr dirty="0" baseline="-10416" sz="1200">
                <a:latin typeface="Arial MT"/>
                <a:cs typeface="Arial MT"/>
              </a:rPr>
              <a:t>1</a:t>
            </a:r>
            <a:r>
              <a:rPr dirty="0" baseline="-10416" sz="1200" spc="225">
                <a:latin typeface="Arial MT"/>
                <a:cs typeface="Arial MT"/>
              </a:rPr>
              <a:t> </a:t>
            </a:r>
            <a:r>
              <a:rPr dirty="0" sz="1100">
                <a:latin typeface="Tahoma"/>
                <a:cs typeface="Tahoma"/>
              </a:rPr>
              <a:t>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λ</a:t>
            </a:r>
            <a:r>
              <a:rPr dirty="0" baseline="-10416" sz="1200" spc="-37">
                <a:latin typeface="Arial MT"/>
                <a:cs typeface="Arial MT"/>
              </a:rPr>
              <a:t>2</a:t>
            </a:r>
            <a:endParaRPr baseline="-10416"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5264" y="1267103"/>
            <a:ext cx="244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85">
                <a:latin typeface="Tahoma"/>
                <a:cs typeface="Tahoma"/>
              </a:rPr>
              <a:t>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5845" y="1180844"/>
            <a:ext cx="3981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5595" algn="l"/>
              </a:tabLst>
            </a:pPr>
            <a:r>
              <a:rPr dirty="0" sz="1100" spc="70" i="1">
                <a:latin typeface="Calibri"/>
                <a:cs typeface="Calibri"/>
              </a:rPr>
              <a:t>λ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6271" y="1238947"/>
            <a:ext cx="455295" cy="306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2550">
              <a:lnSpc>
                <a:spcPts val="925"/>
              </a:lnSpc>
              <a:spcBef>
                <a:spcPts val="95"/>
              </a:spcBef>
            </a:pPr>
            <a:r>
              <a:rPr dirty="0" sz="800" spc="-50"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ts val="1285"/>
              </a:lnSpc>
              <a:tabLst>
                <a:tab pos="269240" algn="l"/>
              </a:tabLst>
            </a:pPr>
            <a:r>
              <a:rPr dirty="0" sz="1100" spc="-50">
                <a:latin typeface="Tahoma"/>
                <a:cs typeface="Tahoma"/>
              </a:rPr>
              <a:t>0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λ</a:t>
            </a:r>
            <a:r>
              <a:rPr dirty="0" baseline="-10416" sz="1200" spc="-37">
                <a:latin typeface="Arial MT"/>
                <a:cs typeface="Arial MT"/>
              </a:rPr>
              <a:t>2</a:t>
            </a:r>
            <a:endParaRPr baseline="-10416"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2731" y="1071751"/>
            <a:ext cx="580390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94030" algn="l"/>
              </a:tabLst>
            </a:pPr>
            <a:r>
              <a:rPr dirty="0" sz="110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144" y="1702648"/>
            <a:ext cx="2997200" cy="78867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429385">
              <a:lnSpc>
                <a:spcPct val="100000"/>
              </a:lnSpc>
              <a:spcBef>
                <a:spcPts val="560"/>
              </a:spcBef>
            </a:pP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7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Calibri"/>
                <a:cs typeface="Calibri"/>
              </a:rPr>
              <a:t>det</a:t>
            </a:r>
            <a:r>
              <a:rPr dirty="0" sz="1100" spc="-55">
                <a:latin typeface="Tahoma"/>
                <a:cs typeface="Tahoma"/>
              </a:rPr>
              <a:t>(M)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10" i="1">
                <a:latin typeface="Arial"/>
                <a:cs typeface="Arial"/>
              </a:rPr>
              <a:t>k</a:t>
            </a:r>
            <a:r>
              <a:rPr dirty="0" sz="1100" spc="-10">
                <a:latin typeface="Calibri"/>
                <a:cs typeface="Calibri"/>
              </a:rPr>
              <a:t>[</a:t>
            </a:r>
            <a:r>
              <a:rPr dirty="0" sz="1100" spc="-10" i="1">
                <a:latin typeface="Arial"/>
                <a:cs typeface="Arial"/>
              </a:rPr>
              <a:t>trace</a:t>
            </a:r>
            <a:r>
              <a:rPr dirty="0" sz="1100" spc="-10">
                <a:latin typeface="Tahoma"/>
                <a:cs typeface="Tahoma"/>
              </a:rPr>
              <a:t>(M)]</a:t>
            </a:r>
            <a:r>
              <a:rPr dirty="0" baseline="31250" sz="1200" spc="-15">
                <a:latin typeface="Arial MT"/>
                <a:cs typeface="Arial MT"/>
              </a:rPr>
              <a:t>2</a:t>
            </a:r>
            <a:endParaRPr baseline="31250" sz="1200">
              <a:latin typeface="Arial MT"/>
              <a:cs typeface="Arial MT"/>
            </a:endParaRPr>
          </a:p>
          <a:p>
            <a:pPr marL="1429385">
              <a:lnSpc>
                <a:spcPct val="100000"/>
              </a:lnSpc>
              <a:spcBef>
                <a:spcPts val="455"/>
              </a:spcBef>
            </a:pP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11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60" i="1">
                <a:latin typeface="Calibri"/>
                <a:cs typeface="Calibri"/>
              </a:rPr>
              <a:t>λ</a:t>
            </a:r>
            <a:r>
              <a:rPr dirty="0" baseline="-10416" sz="1200" spc="89">
                <a:latin typeface="Arial MT"/>
                <a:cs typeface="Arial MT"/>
              </a:rPr>
              <a:t>1</a:t>
            </a:r>
            <a:r>
              <a:rPr dirty="0" sz="1100" spc="60" i="1">
                <a:latin typeface="Calibri"/>
                <a:cs typeface="Calibri"/>
              </a:rPr>
              <a:t>λ</a:t>
            </a:r>
            <a:r>
              <a:rPr dirty="0" baseline="-10416" sz="1200" spc="89">
                <a:latin typeface="Arial MT"/>
                <a:cs typeface="Arial MT"/>
              </a:rPr>
              <a:t>2</a:t>
            </a:r>
            <a:r>
              <a:rPr dirty="0" baseline="-10416" sz="1200" spc="142">
                <a:latin typeface="Arial MT"/>
                <a:cs typeface="Arial MT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8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λ</a:t>
            </a:r>
            <a:r>
              <a:rPr dirty="0" baseline="-10416" sz="1200">
                <a:latin typeface="Arial MT"/>
                <a:cs typeface="Arial MT"/>
              </a:rPr>
              <a:t>1</a:t>
            </a:r>
            <a:r>
              <a:rPr dirty="0" baseline="-10416" sz="1200" spc="135">
                <a:latin typeface="Arial MT"/>
                <a:cs typeface="Arial MT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20" i="1">
                <a:latin typeface="Calibri"/>
                <a:cs typeface="Calibri"/>
              </a:rPr>
              <a:t>λ</a:t>
            </a:r>
            <a:r>
              <a:rPr dirty="0" baseline="-10416" sz="1200" spc="-30">
                <a:latin typeface="Arial MT"/>
                <a:cs typeface="Arial MT"/>
              </a:rPr>
              <a:t>2</a:t>
            </a:r>
            <a:r>
              <a:rPr dirty="0" sz="1100" spc="-20">
                <a:latin typeface="Tahoma"/>
                <a:cs typeface="Tahoma"/>
              </a:rPr>
              <a:t>)</a:t>
            </a:r>
            <a:r>
              <a:rPr dirty="0" baseline="31250" sz="1200" spc="-30">
                <a:latin typeface="Arial MT"/>
                <a:cs typeface="Arial MT"/>
              </a:rPr>
              <a:t>2</a:t>
            </a:r>
            <a:endParaRPr baseline="31250" sz="12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135"/>
              </a:spcBef>
            </a:pPr>
            <a:r>
              <a:rPr dirty="0" sz="1100" spc="-60">
                <a:latin typeface="Tahoma"/>
                <a:cs typeface="Tahoma"/>
              </a:rPr>
              <a:t>where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FF0000"/>
                </a:solidFill>
                <a:latin typeface="Tahoma"/>
                <a:cs typeface="Tahoma"/>
              </a:rPr>
              <a:t>constant</a:t>
            </a:r>
            <a:r>
              <a:rPr dirty="0" sz="1100" spc="-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ranges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0.04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0.06.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Harris</a:t>
            </a:r>
            <a:r>
              <a:rPr dirty="0" spc="-30"/>
              <a:t> </a:t>
            </a:r>
            <a:r>
              <a:rPr dirty="0" spc="-50"/>
              <a:t>Interest</a:t>
            </a:r>
            <a:r>
              <a:rPr dirty="0" spc="-25"/>
              <a:t> </a:t>
            </a:r>
            <a:r>
              <a:rPr dirty="0"/>
              <a:t>Point</a:t>
            </a:r>
            <a:r>
              <a:rPr dirty="0" spc="-25"/>
              <a:t> </a:t>
            </a:r>
            <a:r>
              <a:rPr dirty="0" spc="-20"/>
              <a:t>Detector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44" y="146677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4388" y="1339542"/>
            <a:ext cx="2251710" cy="8280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5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large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interest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point.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6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negative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large</a:t>
            </a:r>
            <a:r>
              <a:rPr dirty="0" sz="1100" spc="-40">
                <a:latin typeface="Tahoma"/>
                <a:cs typeface="Tahoma"/>
              </a:rPr>
              <a:t> magnitude </a:t>
            </a:r>
            <a:r>
              <a:rPr dirty="0" sz="1100" spc="-35">
                <a:latin typeface="Tahoma"/>
                <a:cs typeface="Tahoma"/>
              </a:rPr>
              <a:t>for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edge.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75">
                <a:latin typeface="Lucida Sans Unicode"/>
                <a:cs typeface="Lucida Sans Unicode"/>
              </a:rPr>
              <a:t>|</a:t>
            </a:r>
            <a:r>
              <a:rPr dirty="0" sz="1100" spc="-75" i="1">
                <a:latin typeface="Arial"/>
                <a:cs typeface="Arial"/>
              </a:rPr>
              <a:t>R</a:t>
            </a:r>
            <a:r>
              <a:rPr dirty="0" sz="1100" spc="-75">
                <a:latin typeface="Lucida Sans Unicode"/>
                <a:cs typeface="Lucida Sans Unicode"/>
              </a:rPr>
              <a:t>|</a:t>
            </a:r>
            <a:r>
              <a:rPr dirty="0" sz="1100" spc="-1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small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flat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region.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544" y="167680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544" y="2058911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47429" y="835977"/>
            <a:ext cx="1903095" cy="181737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260445" y="3248732"/>
            <a:ext cx="203200" cy="55880"/>
            <a:chOff x="3260445" y="3248732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31425" y="3247467"/>
            <a:ext cx="203200" cy="48260"/>
            <a:chOff x="3531425" y="3247467"/>
            <a:chExt cx="203200" cy="48260"/>
          </a:xfrm>
        </p:grpSpPr>
        <p:sp>
          <p:nvSpPr>
            <p:cNvPr id="9" name="object 9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07626" y="3251262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802393" y="3247467"/>
            <a:ext cx="203200" cy="58419"/>
            <a:chOff x="3802393" y="3247467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02393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5300" y="59878"/>
            <a:ext cx="22332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Harris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400" y="451561"/>
            <a:ext cx="2617216" cy="25781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94258" y="3151078"/>
            <a:ext cx="3020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 </a:t>
            </a:r>
            <a:r>
              <a:rPr dirty="0" sz="1000">
                <a:latin typeface="Tahoma"/>
                <a:cs typeface="Tahoma"/>
              </a:rPr>
              <a:t>(a)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Interest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point,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(b)</a:t>
            </a:r>
            <a:r>
              <a:rPr dirty="0" sz="1000" spc="-30">
                <a:latin typeface="Tahoma"/>
                <a:cs typeface="Tahoma"/>
              </a:rPr>
              <a:t> Edges,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(c)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  <a:hlinkClick r:id="rId3" action="ppaction://hlinksldjump"/>
              </a:rPr>
              <a:t>flat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reg</a:t>
            </a:r>
            <a:r>
              <a:rPr dirty="0" u="heavy" sz="1000" spc="-20">
                <a:uFill>
                  <a:solidFill>
                    <a:srgbClr val="D6D6EF"/>
                  </a:solidFill>
                </a:uFill>
                <a:latin typeface="Tahoma"/>
                <a:cs typeface="Tahoma"/>
                <a:hlinkClick r:id="rId5" action="ppaction://hlinksldjump"/>
              </a:rPr>
              <a:t>io</a:t>
            </a:r>
            <a:r>
              <a:rPr dirty="0" sz="1000" spc="-20">
                <a:latin typeface="Tahoma"/>
                <a:cs typeface="Tahoma"/>
                <a:hlinkClick r:id="rId6" action="ppaction://hlinksldjump"/>
              </a:rPr>
              <a:t>n.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6" name="object 2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0"/>
              <a:t>Harris</a:t>
            </a:r>
            <a:r>
              <a:rPr dirty="0" spc="-30"/>
              <a:t> </a:t>
            </a:r>
            <a:r>
              <a:rPr dirty="0" spc="-50"/>
              <a:t>Interest</a:t>
            </a:r>
            <a:r>
              <a:rPr dirty="0" spc="-25"/>
              <a:t> </a:t>
            </a:r>
            <a:r>
              <a:rPr dirty="0"/>
              <a:t>Point</a:t>
            </a:r>
            <a:r>
              <a:rPr dirty="0" spc="-25"/>
              <a:t> </a:t>
            </a:r>
            <a:r>
              <a:rPr dirty="0" spc="-20"/>
              <a:t>Detector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Algorithm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6762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1184184"/>
            <a:ext cx="402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Compute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horizontal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vertical </a:t>
            </a:r>
            <a:r>
              <a:rPr dirty="0" sz="1100" spc="-40">
                <a:latin typeface="Tahoma"/>
                <a:cs typeface="Tahoma"/>
              </a:rPr>
              <a:t>derivatives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x</a:t>
            </a:r>
            <a:r>
              <a:rPr dirty="0" baseline="-10416" sz="1200" spc="315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y</a:t>
            </a:r>
            <a:r>
              <a:rPr dirty="0" baseline="-10416" sz="1200" spc="34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image.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77657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39070" y="1465781"/>
            <a:ext cx="2978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4950" algn="l"/>
              </a:tabLst>
            </a:pPr>
            <a:r>
              <a:rPr dirty="0" sz="800" spc="-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7532" y="1394204"/>
            <a:ext cx="41027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Compute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three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images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corresponding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FF0000"/>
                </a:solidFill>
                <a:latin typeface="Tahoma"/>
                <a:cs typeface="Tahoma"/>
              </a:rPr>
              <a:t>three</a:t>
            </a:r>
            <a:r>
              <a:rPr dirty="0" sz="1100" spc="-1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FF0000"/>
                </a:solidFill>
                <a:latin typeface="Tahoma"/>
                <a:cs typeface="Tahoma"/>
              </a:rPr>
              <a:t>terms</a:t>
            </a:r>
            <a:r>
              <a:rPr dirty="0" sz="1100" spc="-1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baseline="27777" sz="1200" spc="89">
                <a:latin typeface="Arial MT"/>
                <a:cs typeface="Arial MT"/>
              </a:rPr>
              <a:t>2</a:t>
            </a:r>
            <a:r>
              <a:rPr dirty="0" baseline="27777" sz="1200" spc="-202">
                <a:latin typeface="Arial MT"/>
                <a:cs typeface="Arial MT"/>
              </a:rPr>
              <a:t> </a:t>
            </a:r>
            <a:r>
              <a:rPr dirty="0" sz="1100">
                <a:latin typeface="Tahoma"/>
                <a:cs typeface="Tahoma"/>
              </a:rPr>
              <a:t>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baseline="27777" sz="1200" spc="89">
                <a:latin typeface="Arial MT"/>
                <a:cs typeface="Arial MT"/>
              </a:rPr>
              <a:t>2</a:t>
            </a:r>
            <a:r>
              <a:rPr dirty="0" baseline="27777" sz="1200" spc="-179">
                <a:latin typeface="Arial MT"/>
                <a:cs typeface="Arial MT"/>
              </a:rPr>
              <a:t> </a:t>
            </a:r>
            <a:r>
              <a:rPr dirty="0" sz="1100">
                <a:latin typeface="Tahoma"/>
                <a:cs typeface="Tahoma"/>
              </a:rPr>
              <a:t>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70">
                <a:latin typeface="Tahoma"/>
                <a:cs typeface="Tahoma"/>
              </a:rPr>
              <a:t>I</a:t>
            </a:r>
            <a:r>
              <a:rPr dirty="0" baseline="-10416" sz="1200" spc="104" i="1">
                <a:latin typeface="Arial"/>
                <a:cs typeface="Arial"/>
              </a:rPr>
              <a:t>x</a:t>
            </a:r>
            <a:r>
              <a:rPr dirty="0" baseline="-10416" sz="1200" spc="-150" i="1">
                <a:latin typeface="Arial"/>
                <a:cs typeface="Arial"/>
              </a:rPr>
              <a:t> </a:t>
            </a:r>
            <a:r>
              <a:rPr dirty="0" sz="1100" spc="45">
                <a:latin typeface="Tahoma"/>
                <a:cs typeface="Tahoma"/>
              </a:rPr>
              <a:t>I</a:t>
            </a:r>
            <a:r>
              <a:rPr dirty="0" baseline="-10416" sz="1200" spc="67" i="1">
                <a:latin typeface="Arial"/>
                <a:cs typeface="Arial"/>
              </a:rPr>
              <a:t>y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522512"/>
            <a:ext cx="4003675" cy="8661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matrix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M.</a:t>
            </a:r>
            <a:endParaRPr sz="1100">
              <a:latin typeface="Tahoma"/>
              <a:cs typeface="Tahoma"/>
            </a:endParaRPr>
          </a:p>
          <a:p>
            <a:pPr marL="12700" marR="368300">
              <a:lnSpc>
                <a:spcPct val="125299"/>
              </a:lnSpc>
            </a:pPr>
            <a:r>
              <a:rPr dirty="0" sz="1100" spc="-35">
                <a:latin typeface="Tahoma"/>
                <a:cs typeface="Tahoma"/>
              </a:rPr>
              <a:t>Convolve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three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images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larger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Gaussian </a:t>
            </a:r>
            <a:r>
              <a:rPr dirty="0" sz="1100" spc="-10">
                <a:latin typeface="Tahoma"/>
                <a:cs typeface="Tahoma"/>
              </a:rPr>
              <a:t>filter. </a:t>
            </a:r>
            <a:r>
              <a:rPr dirty="0" sz="1100" spc="-30">
                <a:latin typeface="Tahoma"/>
                <a:cs typeface="Tahoma"/>
              </a:rPr>
              <a:t>Compute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scalar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cornerness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value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45">
                <a:latin typeface="Tahoma"/>
                <a:cs typeface="Tahoma"/>
              </a:rPr>
              <a:t> one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 spc="-60">
                <a:latin typeface="Tahoma"/>
                <a:cs typeface="Tahoma"/>
              </a:rPr>
              <a:t>measures.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>
                <a:latin typeface="Tahoma"/>
                <a:cs typeface="Tahoma"/>
              </a:rPr>
              <a:t>Find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local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maxima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above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some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threshold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detected </a:t>
            </a:r>
            <a:r>
              <a:rPr dirty="0" sz="1100" spc="-30">
                <a:latin typeface="Tahoma"/>
                <a:cs typeface="Tahoma"/>
              </a:rPr>
              <a:t>interest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points.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59762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69795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79827"/>
            <a:ext cx="65265" cy="6526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22332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Harris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3392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50467"/>
            <a:ext cx="2802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giraffe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apply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Harris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algorithm.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4753" y="993152"/>
            <a:ext cx="2918459" cy="187833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22332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Harris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3392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50467"/>
            <a:ext cx="16738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Compute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corner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response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R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4753" y="993152"/>
            <a:ext cx="2918459" cy="187833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22332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Harris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33920"/>
            <a:ext cx="65265" cy="6526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02932" y="650467"/>
            <a:ext cx="3190240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000000"/>
                </a:solidFill>
              </a:rPr>
              <a:t>Find</a:t>
            </a:r>
            <a:r>
              <a:rPr dirty="0" sz="1100" spc="-40">
                <a:solidFill>
                  <a:srgbClr val="000000"/>
                </a:solidFill>
              </a:rPr>
              <a:t> </a:t>
            </a:r>
            <a:r>
              <a:rPr dirty="0" sz="1100" spc="-20">
                <a:solidFill>
                  <a:srgbClr val="000000"/>
                </a:solidFill>
              </a:rPr>
              <a:t>points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with</a:t>
            </a:r>
            <a:r>
              <a:rPr dirty="0" sz="1100" spc="-25">
                <a:solidFill>
                  <a:srgbClr val="000000"/>
                </a:solidFill>
              </a:rPr>
              <a:t> </a:t>
            </a:r>
            <a:r>
              <a:rPr dirty="0" sz="1100" spc="-40">
                <a:solidFill>
                  <a:srgbClr val="000000"/>
                </a:solidFill>
              </a:rPr>
              <a:t>larger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 spc="-45">
                <a:solidFill>
                  <a:srgbClr val="000000"/>
                </a:solidFill>
              </a:rPr>
              <a:t>corner</a:t>
            </a:r>
            <a:r>
              <a:rPr dirty="0" sz="1100" spc="-25">
                <a:solidFill>
                  <a:srgbClr val="000000"/>
                </a:solidFill>
              </a:rPr>
              <a:t> </a:t>
            </a:r>
            <a:r>
              <a:rPr dirty="0" sz="1100" spc="-65">
                <a:solidFill>
                  <a:srgbClr val="000000"/>
                </a:solidFill>
              </a:rPr>
              <a:t>response</a:t>
            </a:r>
            <a:r>
              <a:rPr dirty="0" sz="1100" spc="-25">
                <a:solidFill>
                  <a:srgbClr val="000000"/>
                </a:solidFill>
              </a:rPr>
              <a:t> </a:t>
            </a:r>
            <a:r>
              <a:rPr dirty="0" sz="1100" i="1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dirty="0" sz="1100" spc="4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 spc="295" i="1">
                <a:solidFill>
                  <a:srgbClr val="000000"/>
                </a:solidFill>
                <a:latin typeface="Calibri"/>
                <a:cs typeface="Calibri"/>
              </a:rPr>
              <a:t>&gt;</a:t>
            </a:r>
            <a:r>
              <a:rPr dirty="0" sz="1100" spc="65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spc="-30">
                <a:solidFill>
                  <a:srgbClr val="000000"/>
                </a:solidFill>
              </a:rPr>
              <a:t>threshold.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4753" y="993152"/>
            <a:ext cx="2918459" cy="187833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22332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Harris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3392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50467"/>
            <a:ext cx="2523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Take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only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points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local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maxima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R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4753" y="993152"/>
            <a:ext cx="2918459" cy="187833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1050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Feature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Matching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hlinkClick r:id="rId8" action="ppaction://hlinksldjump"/>
              </a:rPr>
              <a:t>What</a:t>
            </a:r>
            <a:r>
              <a:rPr dirty="0" sz="1100" spc="-45">
                <a:hlinkClick r:id="rId8" action="ppaction://hlinksldjump"/>
              </a:rPr>
              <a:t> </a:t>
            </a:r>
            <a:r>
              <a:rPr dirty="0" sz="1100" spc="-50">
                <a:hlinkClick r:id="rId8" action="ppaction://hlinksldjump"/>
              </a:rPr>
              <a:t>are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40">
                <a:hlinkClick r:id="rId8" action="ppaction://hlinksldjump"/>
              </a:rPr>
              <a:t>Interest </a:t>
            </a:r>
            <a:r>
              <a:rPr dirty="0" sz="1100" spc="-10">
                <a:hlinkClick r:id="rId8" action="ppaction://hlinksldjump"/>
              </a:rPr>
              <a:t>Points?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hlinkClick r:id="rId9" action="ppaction://hlinksldjump"/>
              </a:rPr>
              <a:t>Interest</a:t>
            </a:r>
            <a:r>
              <a:rPr dirty="0" sz="1100" spc="-50">
                <a:hlinkClick r:id="rId9" action="ppaction://hlinksldjump"/>
              </a:rPr>
              <a:t> </a:t>
            </a:r>
            <a:r>
              <a:rPr dirty="0" sz="1100">
                <a:hlinkClick r:id="rId9" action="ppaction://hlinksldjump"/>
              </a:rPr>
              <a:t>point</a:t>
            </a:r>
            <a:r>
              <a:rPr dirty="0" sz="1100" spc="-80">
                <a:hlinkClick r:id="rId9" action="ppaction://hlinksldjump"/>
              </a:rPr>
              <a:t> </a:t>
            </a:r>
            <a:r>
              <a:rPr dirty="0" sz="1100" spc="-10">
                <a:hlinkClick r:id="rId9" action="ppaction://hlinksldjump"/>
              </a:rPr>
              <a:t>detection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hlinkClick r:id="rId10" action="ppaction://hlinksldjump"/>
              </a:rPr>
              <a:t>Harris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 spc="-45">
                <a:hlinkClick r:id="rId10" action="ppaction://hlinksldjump"/>
              </a:rPr>
              <a:t>Interest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>
                <a:hlinkClick r:id="rId10" action="ppaction://hlinksldjump"/>
              </a:rPr>
              <a:t>Point</a:t>
            </a:r>
            <a:r>
              <a:rPr dirty="0" sz="1100" spc="-25">
                <a:hlinkClick r:id="rId10" action="ppaction://hlinksldjump"/>
              </a:rPr>
              <a:t> </a:t>
            </a:r>
            <a:r>
              <a:rPr dirty="0" sz="1100" spc="-10">
                <a:hlinkClick r:id="rId10" action="ppaction://hlinksldjump"/>
              </a:rPr>
              <a:t>Detector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9070" indent="-166370">
              <a:lnSpc>
                <a:spcPct val="100000"/>
              </a:lnSpc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solidFill>
                  <a:srgbClr val="3333B2"/>
                </a:solidFill>
                <a:hlinkClick r:id="rId11" action="ppaction://hlinksldjump"/>
              </a:rPr>
              <a:t>Eigen</a:t>
            </a:r>
            <a:r>
              <a:rPr dirty="0" sz="1100" spc="-45">
                <a:solidFill>
                  <a:srgbClr val="3333B2"/>
                </a:solidFill>
                <a:hlinkClick r:id="rId11" action="ppaction://hlinksldjump"/>
              </a:rPr>
              <a:t> </a:t>
            </a:r>
            <a:r>
              <a:rPr dirty="0" sz="1100" spc="-30">
                <a:solidFill>
                  <a:srgbClr val="3333B2"/>
                </a:solidFill>
                <a:hlinkClick r:id="rId11" action="ppaction://hlinksldjump"/>
              </a:rPr>
              <a:t>Vectors</a:t>
            </a:r>
            <a:r>
              <a:rPr dirty="0" sz="1100" spc="-40">
                <a:solidFill>
                  <a:srgbClr val="3333B2"/>
                </a:solidFill>
                <a:hlinkClick r:id="rId11" action="ppaction://hlinksldjump"/>
              </a:rPr>
              <a:t> </a:t>
            </a:r>
            <a:r>
              <a:rPr dirty="0" sz="1100" spc="-35">
                <a:solidFill>
                  <a:srgbClr val="3333B2"/>
                </a:solidFill>
                <a:hlinkClick r:id="rId11" action="ppaction://hlinksldjump"/>
              </a:rPr>
              <a:t>and</a:t>
            </a:r>
            <a:r>
              <a:rPr dirty="0" sz="1100" spc="-40">
                <a:solidFill>
                  <a:srgbClr val="3333B2"/>
                </a:solidFill>
                <a:hlinkClick r:id="rId11" action="ppaction://hlinksldjump"/>
              </a:rPr>
              <a:t> </a:t>
            </a:r>
            <a:r>
              <a:rPr dirty="0" sz="1100" spc="-20">
                <a:solidFill>
                  <a:srgbClr val="3333B2"/>
                </a:solidFill>
                <a:hlinkClick r:id="rId11" action="ppaction://hlinksldjump"/>
              </a:rPr>
              <a:t>Eigen</a:t>
            </a:r>
            <a:r>
              <a:rPr dirty="0" sz="1100" spc="-45">
                <a:solidFill>
                  <a:srgbClr val="3333B2"/>
                </a:solidFill>
                <a:hlinkClick r:id="rId11" action="ppaction://hlinksldjump"/>
              </a:rPr>
              <a:t> </a:t>
            </a:r>
            <a:r>
              <a:rPr dirty="0" sz="1100" spc="-30">
                <a:solidFill>
                  <a:srgbClr val="3333B2"/>
                </a:solidFill>
                <a:hlinkClick r:id="rId11" action="ppaction://hlinksldjump"/>
              </a:rPr>
              <a:t>Values</a:t>
            </a:r>
            <a:endParaRPr sz="1100"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Eigen</a:t>
            </a:r>
            <a:r>
              <a:rPr dirty="0" spc="-70"/>
              <a:t> </a:t>
            </a:r>
            <a:r>
              <a:rPr dirty="0" spc="-25"/>
              <a:t>Vectors</a:t>
            </a:r>
            <a:r>
              <a:rPr dirty="0" spc="-70"/>
              <a:t> </a:t>
            </a:r>
            <a:r>
              <a:rPr dirty="0" spc="-30"/>
              <a:t>and</a:t>
            </a:r>
            <a:r>
              <a:rPr dirty="0" spc="-65"/>
              <a:t> </a:t>
            </a:r>
            <a:r>
              <a:rPr dirty="0" spc="-20"/>
              <a:t>Eigen</a:t>
            </a:r>
            <a:r>
              <a:rPr dirty="0" spc="-70"/>
              <a:t> </a:t>
            </a:r>
            <a:r>
              <a:rPr dirty="0" spc="-30"/>
              <a:t>Values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6798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284540"/>
            <a:ext cx="4079240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Eigen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vector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b="1" i="1">
                <a:latin typeface="Times New Roman"/>
                <a:cs typeface="Times New Roman"/>
              </a:rPr>
              <a:t>x</a:t>
            </a:r>
            <a:r>
              <a:rPr dirty="0" sz="1100" spc="130" b="1" i="1">
                <a:latin typeface="Times New Roman"/>
                <a:cs typeface="Times New Roman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matrix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0">
                <a:latin typeface="Tahoma"/>
                <a:cs typeface="Tahoma"/>
              </a:rPr>
              <a:t>A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special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vector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following </a:t>
            </a:r>
            <a:r>
              <a:rPr dirty="0" sz="1100" spc="-10">
                <a:latin typeface="Tahoma"/>
                <a:cs typeface="Tahoma"/>
              </a:rPr>
              <a:t>property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ahoma"/>
              <a:cs typeface="Tahoma"/>
            </a:endParaRPr>
          </a:p>
          <a:p>
            <a:pPr algn="ctr" marR="4445"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A</a:t>
            </a:r>
            <a:r>
              <a:rPr dirty="0" sz="1100" b="1" i="1">
                <a:latin typeface="Times New Roman"/>
                <a:cs typeface="Times New Roman"/>
              </a:rPr>
              <a:t>x</a:t>
            </a:r>
            <a:r>
              <a:rPr dirty="0" sz="1100" spc="95" b="1" i="1">
                <a:latin typeface="Times New Roman"/>
                <a:cs typeface="Times New Roman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20" i="1">
                <a:latin typeface="Calibri"/>
                <a:cs typeface="Calibri"/>
              </a:rPr>
              <a:t>λ</a:t>
            </a:r>
            <a:r>
              <a:rPr dirty="0" sz="1100" spc="20" b="1" i="1">
                <a:latin typeface="Times New Roman"/>
                <a:cs typeface="Times New Roman"/>
              </a:rPr>
              <a:t>x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21866" y="3351784"/>
            <a:ext cx="74485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22,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37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1306" y="1276751"/>
            <a:ext cx="765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35">
                <a:latin typeface="Tahoma"/>
                <a:cs typeface="Tahoma"/>
              </a:rPr>
              <a:t>The</a:t>
            </a:r>
            <a:r>
              <a:rPr dirty="0" sz="1700" spc="-90">
                <a:latin typeface="Tahoma"/>
                <a:cs typeface="Tahoma"/>
              </a:rPr>
              <a:t> </a:t>
            </a:r>
            <a:r>
              <a:rPr dirty="0" sz="1700" spc="-55">
                <a:latin typeface="Tahoma"/>
                <a:cs typeface="Tahoma"/>
              </a:rPr>
              <a:t>End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45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Abdul Basit</dc:creator>
  <dc:title> Introduction to Computer Vision (CS642) - Local Image Features - Lecture 05</dc:title>
  <dcterms:created xsi:type="dcterms:W3CDTF">2026-06-26T05:50:03Z</dcterms:created>
  <dcterms:modified xsi:type="dcterms:W3CDTF">2026-06-26T05:50:03Z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2026-06-22T00:00:00Z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2026-06-26T00:00:00Z</vt:filetime>
  </property>
  <property fmtid="{D5CDD505-2E9C-101B-9397-08002B2CF9AE}" pid="6" name="PTEX.Fullbanner">
    <vt:lpwstr>This is pdfTeX, Version 3.141592653-2.6-1.40.22 (TeX Live 2022/dev/Debian) kpathsea version 6.3.4/dev</vt:lpwstr>
  </property>
  <property fmtid="{D5CDD505-2E9C-101B-9397-08002B2CF9AE}" pid="7" name="Producer">
    <vt:lpwstr>pdfTeX-1.40.22</vt:lpwstr>
  </property>
</Properties>
</file>