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96329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13881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1081086"/>
            <a:ext cx="4106545" cy="1258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68014" y="3351784"/>
            <a:ext cx="5280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318450" y="3351784"/>
            <a:ext cx="2813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8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2.xml"/><Relationship Id="rId6" Type="http://schemas.openxmlformats.org/officeDocument/2006/relationships/slide" Target="slide9.xml"/><Relationship Id="rId7" Type="http://schemas.openxmlformats.org/officeDocument/2006/relationships/slide" Target="slide13.xml"/><Relationship Id="rId8" Type="http://schemas.openxmlformats.org/officeDocument/2006/relationships/slide" Target="slide18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g"/><Relationship Id="rId6" Type="http://schemas.openxmlformats.org/officeDocument/2006/relationships/slide" Target="slide18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slide" Target="slide18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slide" Target="slide18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Relationship Id="rId3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Relationship Id="rId3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slide" Target="slide2.xml"/><Relationship Id="rId6" Type="http://schemas.openxmlformats.org/officeDocument/2006/relationships/slide" Target="slide9.xml"/><Relationship Id="rId7" Type="http://schemas.openxmlformats.org/officeDocument/2006/relationships/slide" Target="slide13.xml"/><Relationship Id="rId8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jpg"/><Relationship Id="rId5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slide" Target="slide2.xml"/><Relationship Id="rId6" Type="http://schemas.openxmlformats.org/officeDocument/2006/relationships/slide" Target="slide9.xml"/><Relationship Id="rId7" Type="http://schemas.openxmlformats.org/officeDocument/2006/relationships/slide" Target="slide13.xml"/><Relationship Id="rId8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689025"/>
            <a:ext cx="4483735" cy="748030"/>
            <a:chOff x="87743" y="689025"/>
            <a:chExt cx="4483735" cy="748030"/>
          </a:xfrm>
        </p:grpSpPr>
        <p:sp>
          <p:nvSpPr>
            <p:cNvPr id="3" name="object 3"/>
            <p:cNvSpPr/>
            <p:nvPr/>
          </p:nvSpPr>
          <p:spPr>
            <a:xfrm>
              <a:off x="87743" y="68902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544" y="752283"/>
              <a:ext cx="4432935" cy="684530"/>
            </a:xfrm>
            <a:custGeom>
              <a:avLst/>
              <a:gdLst/>
              <a:ahLst/>
              <a:cxnLst/>
              <a:rect l="l" t="t" r="r" b="b"/>
              <a:pathLst>
                <a:path w="4432935" h="684530">
                  <a:moveTo>
                    <a:pt x="4432566" y="0"/>
                  </a:moveTo>
                  <a:lnTo>
                    <a:pt x="0" y="0"/>
                  </a:lnTo>
                  <a:lnTo>
                    <a:pt x="0" y="684405"/>
                  </a:lnTo>
                  <a:lnTo>
                    <a:pt x="4432566" y="68440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43" y="733446"/>
              <a:ext cx="4432935" cy="652780"/>
            </a:xfrm>
            <a:custGeom>
              <a:avLst/>
              <a:gdLst/>
              <a:ahLst/>
              <a:cxnLst/>
              <a:rect l="l" t="t" r="r" b="b"/>
              <a:pathLst>
                <a:path w="4432935" h="652780">
                  <a:moveTo>
                    <a:pt x="4432566" y="0"/>
                  </a:moveTo>
                  <a:lnTo>
                    <a:pt x="0" y="0"/>
                  </a:lnTo>
                  <a:lnTo>
                    <a:pt x="0" y="601641"/>
                  </a:lnTo>
                  <a:lnTo>
                    <a:pt x="4008" y="621365"/>
                  </a:lnTo>
                  <a:lnTo>
                    <a:pt x="14922" y="637518"/>
                  </a:lnTo>
                  <a:lnTo>
                    <a:pt x="31075" y="648433"/>
                  </a:lnTo>
                  <a:lnTo>
                    <a:pt x="50800" y="652441"/>
                  </a:lnTo>
                  <a:lnTo>
                    <a:pt x="4381765" y="652441"/>
                  </a:lnTo>
                  <a:lnTo>
                    <a:pt x="4401490" y="648433"/>
                  </a:lnTo>
                  <a:lnTo>
                    <a:pt x="4417643" y="637518"/>
                  </a:lnTo>
                  <a:lnTo>
                    <a:pt x="4428558" y="621365"/>
                  </a:lnTo>
                  <a:lnTo>
                    <a:pt x="4432566" y="60164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8544" y="752283"/>
            <a:ext cx="4432935" cy="68453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ctr" marR="92710">
              <a:lnSpc>
                <a:spcPct val="100000"/>
              </a:lnSpc>
              <a:spcBef>
                <a:spcPts val="52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Computer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Vision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(CS641)</a:t>
            </a:r>
            <a:endParaRPr sz="1400">
              <a:latin typeface="Tahoma"/>
              <a:cs typeface="Tahoma"/>
            </a:endParaRPr>
          </a:p>
          <a:p>
            <a:pPr algn="ctr" marR="94615">
              <a:lnSpc>
                <a:spcPct val="100000"/>
              </a:lnSpc>
              <a:spcBef>
                <a:spcPts val="325"/>
              </a:spcBef>
            </a:pP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Lecture02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Working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Images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5830" y="1595982"/>
            <a:ext cx="1216660" cy="9283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Dr.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Abdul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Basit</a:t>
            </a:r>
            <a:endParaRPr sz="1100">
              <a:latin typeface="Tahoma"/>
              <a:cs typeface="Tahoma"/>
            </a:endParaRPr>
          </a:p>
          <a:p>
            <a:pPr algn="ctr" marL="12700" marR="5080">
              <a:lnSpc>
                <a:spcPts val="950"/>
              </a:lnSpc>
              <a:spcBef>
                <a:spcPts val="1265"/>
              </a:spcBef>
            </a:pPr>
            <a:r>
              <a:rPr dirty="0" sz="800">
                <a:latin typeface="Arial MT"/>
                <a:cs typeface="Arial MT"/>
              </a:rPr>
              <a:t>Assistant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Professor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-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CSIT </a:t>
            </a:r>
            <a:r>
              <a:rPr dirty="0" sz="800">
                <a:latin typeface="Arial MT"/>
                <a:cs typeface="Arial MT"/>
              </a:rPr>
              <a:t>University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Balochistan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May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15,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2024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11428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661287"/>
            <a:ext cx="160096" cy="1600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2208301"/>
            <a:ext cx="160096" cy="1600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9743" y="1086191"/>
            <a:ext cx="1252855" cy="12858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EAEAF7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dirty="0" sz="1100" spc="-8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Basics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buAutoNum type="arabicPlain"/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AutoNum type="arabicPlain"/>
            </a:pP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dirty="0" sz="1100" spc="-8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noise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buAutoNum type="arabicPlain"/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AutoNum type="arabicPlain"/>
            </a:pP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5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OpenCV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 functions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5"/>
              <a:t>Image</a:t>
            </a:r>
            <a:r>
              <a:rPr dirty="0" spc="-20"/>
              <a:t> </a:t>
            </a:r>
            <a:r>
              <a:rPr dirty="0" spc="-50"/>
              <a:t>basics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0294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1297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123010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5300" y="306598"/>
            <a:ext cx="945515" cy="9251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40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types</a:t>
            </a:r>
            <a:endParaRPr sz="900">
              <a:latin typeface="Tahoma"/>
              <a:cs typeface="Tahoma"/>
            </a:endParaRPr>
          </a:p>
          <a:p>
            <a:pPr marL="320040" marR="5080">
              <a:lnSpc>
                <a:spcPct val="125299"/>
              </a:lnSpc>
              <a:spcBef>
                <a:spcPts val="1045"/>
              </a:spcBef>
            </a:pPr>
            <a:r>
              <a:rPr dirty="0" sz="1100" spc="-10">
                <a:latin typeface="Tahoma"/>
                <a:cs typeface="Tahoma"/>
              </a:rPr>
              <a:t>Binary </a:t>
            </a:r>
            <a:r>
              <a:rPr dirty="0" sz="1100" spc="-35">
                <a:latin typeface="Tahoma"/>
                <a:cs typeface="Tahoma"/>
              </a:rPr>
              <a:t>Gray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Scale </a:t>
            </a:r>
            <a:r>
              <a:rPr dirty="0" sz="1100" spc="-10">
                <a:latin typeface="Tahoma"/>
                <a:cs typeface="Tahoma"/>
              </a:rPr>
              <a:t>Color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0512" y="1397203"/>
            <a:ext cx="3931157" cy="133273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4265" y="2893268"/>
            <a:ext cx="27997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5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Image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samples.</a:t>
            </a:r>
            <a:r>
              <a:rPr dirty="0" sz="1000" spc="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Binary,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Gray</a:t>
            </a:r>
            <a:r>
              <a:rPr dirty="0" sz="1000" spc="-35">
                <a:latin typeface="Tahoma"/>
                <a:cs typeface="Tahoma"/>
              </a:rPr>
              <a:t> scale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color.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963294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85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basics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Binary</a:t>
            </a:r>
            <a:r>
              <a:rPr dirty="0" sz="9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Images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341" y="656615"/>
            <a:ext cx="3990848" cy="21254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97151" y="2952272"/>
            <a:ext cx="1214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 </a:t>
            </a:r>
            <a:r>
              <a:rPr dirty="0" sz="1000" spc="-10">
                <a:latin typeface="Tahoma"/>
                <a:cs typeface="Tahoma"/>
              </a:rPr>
              <a:t>Binary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Images.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5"/>
              <a:t>Image</a:t>
            </a:r>
            <a:r>
              <a:rPr dirty="0" spc="-20"/>
              <a:t> </a:t>
            </a:r>
            <a:r>
              <a:rPr dirty="0" spc="-50"/>
              <a:t>basics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300" y="306598"/>
            <a:ext cx="4119879" cy="614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Gray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Level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Images</a:t>
            </a:r>
            <a:endParaRPr sz="900">
              <a:latin typeface="Tahoma"/>
              <a:cs typeface="Tahoma"/>
            </a:endParaRPr>
          </a:p>
          <a:p>
            <a:pPr marL="43180" marR="5080">
              <a:lnSpc>
                <a:spcPct val="102600"/>
              </a:lnSpc>
              <a:spcBef>
                <a:spcPts val="855"/>
              </a:spcBef>
            </a:pPr>
            <a:r>
              <a:rPr dirty="0" sz="1100" spc="-45">
                <a:solidFill>
                  <a:srgbClr val="FF0000"/>
                </a:solidFill>
                <a:latin typeface="Tahoma"/>
                <a:cs typeface="Tahoma"/>
              </a:rPr>
              <a:t>Grayscale</a:t>
            </a:r>
            <a:r>
              <a:rPr dirty="0" sz="11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range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shades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gray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255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without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apparent </a:t>
            </a:r>
            <a:r>
              <a:rPr dirty="0" sz="1100" spc="-10">
                <a:latin typeface="Tahoma"/>
                <a:cs typeface="Tahoma"/>
              </a:rPr>
              <a:t>color.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989" y="964361"/>
            <a:ext cx="4023360" cy="18978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89087" y="3016178"/>
            <a:ext cx="1431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4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Gray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Level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Images.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5"/>
              <a:t>Image</a:t>
            </a:r>
            <a:r>
              <a:rPr dirty="0" spc="-20"/>
              <a:t> </a:t>
            </a:r>
            <a:r>
              <a:rPr dirty="0" spc="-5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00" y="306598"/>
            <a:ext cx="2997200" cy="442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Gray</a:t>
            </a:r>
            <a:r>
              <a:rPr dirty="0" sz="9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Level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Images</a:t>
            </a:r>
            <a:endParaRPr sz="900">
              <a:latin typeface="Tahoma"/>
              <a:cs typeface="Tahoma"/>
            </a:endParaRPr>
          </a:p>
          <a:p>
            <a:pPr marL="43180">
              <a:lnSpc>
                <a:spcPct val="100000"/>
              </a:lnSpc>
              <a:spcBef>
                <a:spcPts val="890"/>
              </a:spcBef>
            </a:pPr>
            <a:r>
              <a:rPr dirty="0" sz="1100" spc="-20">
                <a:latin typeface="Tahoma"/>
                <a:cs typeface="Tahoma"/>
              </a:rPr>
              <a:t>Adding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color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channel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grayscale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image.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995" y="828205"/>
            <a:ext cx="3826383" cy="20955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5786" y="3074459"/>
            <a:ext cx="2437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5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Gray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Level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70">
                <a:latin typeface="Tahoma"/>
                <a:cs typeface="Tahoma"/>
              </a:rPr>
              <a:t>Images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color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channel.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58785" y="3351784"/>
            <a:ext cx="24066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5"/>
              <a:t>Image</a:t>
            </a:r>
            <a:r>
              <a:rPr dirty="0" spc="-20"/>
              <a:t> </a:t>
            </a:r>
            <a:r>
              <a:rPr dirty="0" spc="-5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00" y="306598"/>
            <a:ext cx="3187065" cy="442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Color</a:t>
            </a:r>
            <a:r>
              <a:rPr dirty="0" sz="9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Images</a:t>
            </a:r>
            <a:endParaRPr sz="900">
              <a:latin typeface="Tahoma"/>
              <a:cs typeface="Tahoma"/>
            </a:endParaRPr>
          </a:p>
          <a:p>
            <a:pPr marL="43180">
              <a:lnSpc>
                <a:spcPct val="100000"/>
              </a:lnSpc>
              <a:spcBef>
                <a:spcPts val="890"/>
              </a:spcBef>
            </a:pPr>
            <a:r>
              <a:rPr dirty="0" sz="1100" spc="-10">
                <a:latin typeface="Tahoma"/>
                <a:cs typeface="Tahoma"/>
              </a:rPr>
              <a:t>Color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images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consists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red, </a:t>
            </a:r>
            <a:r>
              <a:rPr dirty="0" sz="1100" spc="-65">
                <a:latin typeface="Tahoma"/>
                <a:cs typeface="Tahoma"/>
              </a:rPr>
              <a:t>green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 </a:t>
            </a:r>
            <a:r>
              <a:rPr dirty="0" sz="1100" spc="-30">
                <a:latin typeface="Tahoma"/>
                <a:cs typeface="Tahoma"/>
              </a:rPr>
              <a:t>blue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channels.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33" y="821740"/>
            <a:ext cx="3851910" cy="20535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27911" y="3023417"/>
            <a:ext cx="11531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5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Color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Images.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5"/>
              <a:t>Image</a:t>
            </a:r>
            <a:r>
              <a:rPr dirty="0" spc="-20"/>
              <a:t> </a:t>
            </a:r>
            <a:r>
              <a:rPr dirty="0" spc="-30"/>
              <a:t>Histogram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9536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11910"/>
            <a:ext cx="3893185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FF0000"/>
                </a:solidFill>
                <a:latin typeface="Tahoma"/>
                <a:cs typeface="Tahoma"/>
              </a:rPr>
              <a:t>image</a:t>
            </a:r>
            <a:r>
              <a:rPr dirty="0" sz="11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FF0000"/>
                </a:solidFill>
                <a:latin typeface="Tahoma"/>
                <a:cs typeface="Tahoma"/>
              </a:rPr>
              <a:t>histogram</a:t>
            </a:r>
            <a:r>
              <a:rPr dirty="0" sz="11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graphical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representation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number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of </a:t>
            </a:r>
            <a:r>
              <a:rPr dirty="0" sz="1100" spc="-30">
                <a:latin typeface="Tahoma"/>
                <a:cs typeface="Tahoma"/>
              </a:rPr>
              <a:t>pixels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image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function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their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intensity.</a:t>
            </a:r>
            <a:endParaRPr sz="1100">
              <a:latin typeface="Tahoma"/>
              <a:cs typeface="Tahoma"/>
            </a:endParaRPr>
          </a:p>
          <a:p>
            <a:pPr marL="12700" marR="164465">
              <a:lnSpc>
                <a:spcPct val="102699"/>
              </a:lnSpc>
            </a:pPr>
            <a:r>
              <a:rPr dirty="0" sz="1100" spc="-30">
                <a:latin typeface="Tahoma"/>
                <a:cs typeface="Tahoma"/>
              </a:rPr>
              <a:t>Histograms</a:t>
            </a:r>
            <a:r>
              <a:rPr dirty="0" sz="1100" spc="-60">
                <a:latin typeface="Tahoma"/>
                <a:cs typeface="Tahoma"/>
              </a:rPr>
              <a:t> 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made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up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bins,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representing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certain </a:t>
            </a:r>
            <a:r>
              <a:rPr dirty="0" sz="1100" spc="-30">
                <a:latin typeface="Tahoma"/>
                <a:cs typeface="Tahoma"/>
              </a:rPr>
              <a:t>intensity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value</a:t>
            </a:r>
            <a:r>
              <a:rPr dirty="0" sz="1100" spc="-10">
                <a:latin typeface="Tahoma"/>
                <a:cs typeface="Tahoma"/>
              </a:rPr>
              <a:t> range.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39508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2000" y="1197229"/>
            <a:ext cx="3694684" cy="18953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30375" y="3221106"/>
            <a:ext cx="13481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Image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histogram.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11428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661287"/>
            <a:ext cx="160096" cy="1600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2208301"/>
            <a:ext cx="160096" cy="1600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9743" y="1086191"/>
            <a:ext cx="1252855" cy="12858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dirty="0" sz="1100" spc="-80">
                <a:solidFill>
                  <a:srgbClr val="D6D6EF"/>
                </a:solidFill>
                <a:latin typeface="Tahoma"/>
                <a:cs typeface="Tahoma"/>
                <a:hlinkClick r:id="rId5" action="ppaction://hlinksldjump"/>
              </a:rPr>
              <a:t>Image</a:t>
            </a:r>
            <a:r>
              <a:rPr dirty="0" sz="1100" spc="15">
                <a:solidFill>
                  <a:srgbClr val="D6D6E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5" action="ppaction://hlinksldjump"/>
              </a:rPr>
              <a:t>Basics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buAutoNum type="arabicPlain"/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AutoNum type="arabicPlain"/>
            </a:pP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buClr>
                <a:srgbClr val="EAEAF7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dirty="0" sz="1100" spc="-8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noise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buAutoNum type="arabicPlain"/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AutoNum type="arabicPlain"/>
            </a:pP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5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OpenCV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 functions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93218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5"/>
              <a:t>Image</a:t>
            </a:r>
            <a:r>
              <a:rPr dirty="0" spc="-20"/>
              <a:t> </a:t>
            </a:r>
            <a:r>
              <a:rPr dirty="0" spc="-35"/>
              <a:t>Noise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46644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5667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6670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76741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 spc="-50">
                <a:solidFill>
                  <a:srgbClr val="FF0000"/>
                </a:solidFill>
              </a:rPr>
              <a:t>noise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 spc="-55"/>
              <a:t>added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10"/>
              <a:t>the</a:t>
            </a:r>
            <a:r>
              <a:rPr dirty="0" spc="-25"/>
              <a:t> </a:t>
            </a:r>
            <a:r>
              <a:rPr dirty="0" spc="-40"/>
              <a:t>image</a:t>
            </a:r>
            <a:r>
              <a:rPr dirty="0" spc="-30"/>
              <a:t> </a:t>
            </a:r>
            <a:r>
              <a:rPr dirty="0" spc="-65"/>
              <a:t>changes</a:t>
            </a:r>
            <a:r>
              <a:rPr dirty="0" spc="-25"/>
              <a:t> </a:t>
            </a:r>
            <a:r>
              <a:rPr dirty="0" spc="-10"/>
              <a:t>the</a:t>
            </a:r>
            <a:r>
              <a:rPr dirty="0" spc="-30"/>
              <a:t> </a:t>
            </a:r>
            <a:r>
              <a:rPr dirty="0" spc="-10"/>
              <a:t>actual</a:t>
            </a:r>
            <a:r>
              <a:rPr dirty="0" spc="-25"/>
              <a:t> </a:t>
            </a:r>
            <a:r>
              <a:rPr dirty="0" spc="-20"/>
              <a:t>pixel</a:t>
            </a:r>
            <a:r>
              <a:rPr dirty="0" spc="-30"/>
              <a:t> intensity</a:t>
            </a:r>
            <a:r>
              <a:rPr dirty="0" spc="-35"/>
              <a:t> </a:t>
            </a:r>
            <a:r>
              <a:rPr dirty="0" spc="-35"/>
              <a:t>value.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65"/>
              <a:t>reasons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0"/>
              <a:t>noise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10"/>
              <a:t>image</a:t>
            </a:r>
          </a:p>
          <a:p>
            <a:pPr marL="289560" marR="2716530">
              <a:lnSpc>
                <a:spcPct val="125299"/>
              </a:lnSpc>
            </a:pPr>
            <a:r>
              <a:rPr dirty="0"/>
              <a:t>Light</a:t>
            </a:r>
            <a:r>
              <a:rPr dirty="0" spc="-35"/>
              <a:t> </a:t>
            </a:r>
            <a:r>
              <a:rPr dirty="0" spc="-10"/>
              <a:t>variations </a:t>
            </a:r>
            <a:r>
              <a:rPr dirty="0" spc="-35"/>
              <a:t>Camera</a:t>
            </a:r>
            <a:r>
              <a:rPr dirty="0" spc="-30"/>
              <a:t> </a:t>
            </a:r>
            <a:r>
              <a:rPr dirty="0" spc="-45"/>
              <a:t>electronics </a:t>
            </a:r>
            <a:r>
              <a:rPr dirty="0" spc="-35"/>
              <a:t>Surface</a:t>
            </a:r>
            <a:r>
              <a:rPr dirty="0" spc="-30"/>
              <a:t> </a:t>
            </a:r>
            <a:r>
              <a:rPr dirty="0" spc="-50"/>
              <a:t>reflectance </a:t>
            </a:r>
            <a:r>
              <a:rPr dirty="0" spc="-20"/>
              <a:t>Lens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8985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5"/>
              <a:t>Image</a:t>
            </a:r>
            <a:r>
              <a:rPr dirty="0" spc="-20"/>
              <a:t> </a:t>
            </a:r>
            <a:r>
              <a:rPr dirty="0" spc="-55"/>
              <a:t>noise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989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542668"/>
            <a:ext cx="2722880" cy="6559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-16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):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true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pixel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values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dirty="0" sz="1100" i="1">
                <a:latin typeface="Arial"/>
                <a:cs typeface="Arial"/>
              </a:rPr>
              <a:t>n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):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noise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20">
                <a:latin typeface="Tahoma"/>
                <a:cs typeface="Tahoma"/>
              </a:rPr>
              <a:t> pixel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1162050">
              <a:lnSpc>
                <a:spcPct val="100000"/>
              </a:lnSpc>
              <a:spcBef>
                <a:spcPts val="330"/>
              </a:spcBef>
            </a:pPr>
            <a:r>
              <a:rPr dirty="0" baseline="12626" sz="1650" spc="-839">
                <a:latin typeface="Tahoma"/>
                <a:cs typeface="Tahoma"/>
              </a:rPr>
              <a:t>ˆ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-15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x,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-14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x,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n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x,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7991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9493" y="1420215"/>
            <a:ext cx="3265169" cy="114681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91386" y="2715112"/>
            <a:ext cx="18262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Noise </a:t>
            </a:r>
            <a:r>
              <a:rPr dirty="0" sz="1000" spc="-45">
                <a:latin typeface="Tahoma"/>
                <a:cs typeface="Tahoma"/>
              </a:rPr>
              <a:t>added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image.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95300" y="59878"/>
            <a:ext cx="89852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85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noise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300" y="306598"/>
            <a:ext cx="4387215" cy="614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FFFFFF"/>
                </a:solidFill>
                <a:latin typeface="Tahoma"/>
                <a:cs typeface="Tahoma"/>
              </a:rPr>
              <a:t>Gaussian</a:t>
            </a:r>
            <a:r>
              <a:rPr dirty="0" sz="9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noise</a:t>
            </a:r>
            <a:endParaRPr sz="900">
              <a:latin typeface="Tahoma"/>
              <a:cs typeface="Tahoma"/>
            </a:endParaRPr>
          </a:p>
          <a:p>
            <a:pPr marL="43180" marR="5080">
              <a:lnSpc>
                <a:spcPct val="102600"/>
              </a:lnSpc>
              <a:spcBef>
                <a:spcPts val="855"/>
              </a:spcBef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function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represents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distribution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variable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(random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variables)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symmetrical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bell-</a:t>
            </a:r>
            <a:r>
              <a:rPr dirty="0" sz="1100" spc="-45">
                <a:latin typeface="Tahoma"/>
                <a:cs typeface="Tahoma"/>
              </a:rPr>
              <a:t>shaped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graph.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821" y="1019746"/>
            <a:ext cx="3954272" cy="21620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685607" y="3366724"/>
            <a:ext cx="123761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Figure: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 spc="-35">
                <a:latin typeface="Tahoma"/>
                <a:cs typeface="Tahoma"/>
                <a:hlinkClick r:id="rId3" action="ppaction://hlinksldjump"/>
              </a:rPr>
              <a:t>Gaussian</a:t>
            </a:r>
            <a:r>
              <a:rPr dirty="0" sz="1000" spc="-15"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 spc="-35">
                <a:latin typeface="Tahoma"/>
                <a:cs typeface="Tahoma"/>
                <a:hlinkClick r:id="rId3" action="ppaction://hlinksldjump"/>
              </a:rPr>
              <a:t>Noise.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12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11428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661287"/>
            <a:ext cx="160096" cy="1600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2208301"/>
            <a:ext cx="160096" cy="1600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9743" y="1086191"/>
            <a:ext cx="1252855" cy="12858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dirty="0" sz="1100" spc="-80">
                <a:solidFill>
                  <a:srgbClr val="D6D6EF"/>
                </a:solidFill>
                <a:latin typeface="Tahoma"/>
                <a:cs typeface="Tahoma"/>
                <a:hlinkClick r:id="rId5" action="ppaction://hlinksldjump"/>
              </a:rPr>
              <a:t>Image</a:t>
            </a:r>
            <a:r>
              <a:rPr dirty="0" sz="1100" spc="15">
                <a:solidFill>
                  <a:srgbClr val="D6D6E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5" action="ppaction://hlinksldjump"/>
              </a:rPr>
              <a:t>Basics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buAutoNum type="arabicPlain"/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AutoNum type="arabicPlain"/>
            </a:pP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buClr>
                <a:srgbClr val="FAFAFD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dirty="0" sz="1100" spc="-8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noise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buAutoNum type="arabicPlain"/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AutoNum type="arabicPlain"/>
            </a:pP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5"/>
              </a:spcBef>
              <a:buClr>
                <a:srgbClr val="EAEAF7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dirty="0" sz="110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OpenCV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functions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13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13823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8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4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Tahoma"/>
                <a:cs typeface="Tahoma"/>
              </a:rPr>
              <a:t>sample</a:t>
            </a:r>
            <a:r>
              <a:rPr dirty="0" sz="14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program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448005"/>
            <a:ext cx="4608195" cy="3007995"/>
            <a:chOff x="0" y="448005"/>
            <a:chExt cx="4608195" cy="30079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298" y="448005"/>
              <a:ext cx="3749421" cy="29074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13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OpenCV</a:t>
            </a:r>
            <a:r>
              <a:rPr dirty="0" spc="15"/>
              <a:t> </a:t>
            </a:r>
            <a:r>
              <a:rPr dirty="0" spc="-30"/>
              <a:t>functions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87830"/>
            <a:ext cx="65265" cy="6526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08251" y="1525168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69935"/>
            <a:ext cx="65265" cy="6526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57528" y="2079358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28114" y="2079358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21164" y="2079358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4721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90"/>
              </a:spcBef>
            </a:pPr>
            <a:r>
              <a:rPr dirty="0" spc="-45"/>
              <a:t>Grayscale</a:t>
            </a:r>
            <a:r>
              <a:rPr dirty="0" spc="-5"/>
              <a:t> </a:t>
            </a:r>
            <a:r>
              <a:rPr dirty="0" spc="-10"/>
              <a:t>image</a:t>
            </a: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dirty="0" spc="80" b="1">
                <a:latin typeface="Calibri"/>
                <a:cs typeface="Calibri"/>
              </a:rPr>
              <a:t>cvtColor</a:t>
            </a:r>
            <a:r>
              <a:rPr dirty="0" spc="80">
                <a:latin typeface="Calibri"/>
                <a:cs typeface="Calibri"/>
              </a:rPr>
              <a:t>(src,</a:t>
            </a:r>
            <a:r>
              <a:rPr dirty="0" spc="16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dst,</a:t>
            </a:r>
            <a:r>
              <a:rPr dirty="0" spc="165">
                <a:latin typeface="Calibri"/>
                <a:cs typeface="Calibri"/>
              </a:rPr>
              <a:t> </a:t>
            </a:r>
            <a:r>
              <a:rPr dirty="0" spc="190">
                <a:latin typeface="Calibri"/>
                <a:cs typeface="Calibri"/>
              </a:rPr>
              <a:t>CV</a:t>
            </a:r>
            <a:r>
              <a:rPr dirty="0" spc="195">
                <a:latin typeface="Calibri"/>
                <a:cs typeface="Calibri"/>
              </a:rPr>
              <a:t> </a:t>
            </a:r>
            <a:r>
              <a:rPr dirty="0" spc="114">
                <a:latin typeface="Calibri"/>
                <a:cs typeface="Calibri"/>
              </a:rPr>
              <a:t>BGR2GRAY);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pc="-35"/>
              <a:t>Thresholding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 spc="-10"/>
              <a:t>binary</a:t>
            </a: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dirty="0" spc="-10"/>
              <a:t>#include</a:t>
            </a:r>
            <a:r>
              <a:rPr dirty="0" spc="-70"/>
              <a:t> </a:t>
            </a:r>
            <a:r>
              <a:rPr dirty="0" spc="-10"/>
              <a:t>”opencv2/imgproc/imgproc.hpp”</a:t>
            </a: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dirty="0">
                <a:latin typeface="Calibri"/>
                <a:cs typeface="Calibri"/>
              </a:rPr>
              <a:t>threshold</a:t>
            </a:r>
            <a:r>
              <a:rPr dirty="0" spc="17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(src</a:t>
            </a:r>
            <a:r>
              <a:rPr dirty="0" spc="21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gray,</a:t>
            </a:r>
            <a:r>
              <a:rPr dirty="0" spc="17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dst</a:t>
            </a:r>
            <a:r>
              <a:rPr dirty="0" spc="204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bin,</a:t>
            </a:r>
            <a:r>
              <a:rPr dirty="0" spc="17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120,</a:t>
            </a:r>
            <a:r>
              <a:rPr dirty="0" spc="17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255,</a:t>
            </a:r>
            <a:r>
              <a:rPr dirty="0" spc="175">
                <a:latin typeface="Calibri"/>
                <a:cs typeface="Calibri"/>
              </a:rPr>
              <a:t> </a:t>
            </a:r>
            <a:r>
              <a:rPr dirty="0" spc="165">
                <a:latin typeface="Calibri"/>
                <a:cs typeface="Calibri"/>
              </a:rPr>
              <a:t>THRESH</a:t>
            </a:r>
            <a:r>
              <a:rPr dirty="0" spc="200">
                <a:latin typeface="Calibri"/>
                <a:cs typeface="Calibri"/>
              </a:rPr>
              <a:t> </a:t>
            </a:r>
            <a:r>
              <a:rPr dirty="0" spc="105">
                <a:latin typeface="Calibri"/>
                <a:cs typeface="Calibri"/>
              </a:rPr>
              <a:t>BINARY)</a:t>
            </a:r>
            <a:r>
              <a:rPr dirty="0" spc="105"/>
              <a:t>;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13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1388110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/>
              <a:t>OpenCV</a:t>
            </a:r>
            <a:r>
              <a:rPr dirty="0" spc="15"/>
              <a:t> </a:t>
            </a:r>
            <a:r>
              <a:rPr dirty="0" spc="-30"/>
              <a:t>functions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filter</a:t>
            </a:r>
            <a:endParaRPr sz="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62938"/>
            <a:ext cx="65265" cy="6526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81339" y="1700276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33932" y="2044433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2932" y="1379498"/>
            <a:ext cx="2969895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Create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own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box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filter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dirty="0" sz="1100">
                <a:latin typeface="Calibri"/>
                <a:cs typeface="Calibri"/>
              </a:rPr>
              <a:t>kernel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 spc="295">
                <a:latin typeface="Calibri"/>
                <a:cs typeface="Calibri"/>
              </a:rPr>
              <a:t>=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 spc="75" b="1">
                <a:latin typeface="Calibri"/>
                <a:cs typeface="Calibri"/>
              </a:rPr>
              <a:t>Mat::ones</a:t>
            </a:r>
            <a:r>
              <a:rPr dirty="0" sz="1100" spc="75">
                <a:latin typeface="Calibri"/>
                <a:cs typeface="Calibri"/>
              </a:rPr>
              <a:t>(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3,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3,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 spc="190">
                <a:latin typeface="Calibri"/>
                <a:cs typeface="Calibri"/>
              </a:rPr>
              <a:t>CV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32F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 spc="80">
                <a:latin typeface="Calibri"/>
                <a:cs typeface="Calibri"/>
              </a:rPr>
              <a:t>)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 spc="114">
                <a:latin typeface="Calibri"/>
                <a:cs typeface="Calibri"/>
              </a:rPr>
              <a:t>/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9</a:t>
            </a:r>
            <a:r>
              <a:rPr dirty="0" sz="1100" spc="-25">
                <a:latin typeface="Tahoma"/>
                <a:cs typeface="Tahoma"/>
              </a:rPr>
              <a:t>; </a:t>
            </a:r>
            <a:r>
              <a:rPr dirty="0" sz="1100" spc="65" b="1">
                <a:latin typeface="Calibri"/>
                <a:cs typeface="Calibri"/>
              </a:rPr>
              <a:t>filter2D</a:t>
            </a:r>
            <a:r>
              <a:rPr dirty="0" sz="1100" spc="65">
                <a:latin typeface="Calibri"/>
                <a:cs typeface="Calibri"/>
              </a:rPr>
              <a:t>(src,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dst,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ddepth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,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kernel,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anchor,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delta, </a:t>
            </a:r>
            <a:r>
              <a:rPr dirty="0" sz="1100" spc="170">
                <a:latin typeface="Calibri"/>
                <a:cs typeface="Calibri"/>
              </a:rPr>
              <a:t>BORDER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 spc="150">
                <a:latin typeface="Calibri"/>
                <a:cs typeface="Calibri"/>
              </a:rPr>
              <a:t>DEFAULT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);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13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1388110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/>
              <a:t>OpenCV</a:t>
            </a:r>
            <a:r>
              <a:rPr dirty="0" spc="15"/>
              <a:t> </a:t>
            </a:r>
            <a:r>
              <a:rPr dirty="0" spc="-30"/>
              <a:t>functions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Smoothing</a:t>
            </a:r>
            <a:r>
              <a:rPr dirty="0" sz="900" spc="-5"/>
              <a:t> </a:t>
            </a:r>
            <a:r>
              <a:rPr dirty="0" sz="900" spc="-10"/>
              <a:t>images</a:t>
            </a:r>
            <a:endParaRPr sz="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9491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1808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90"/>
              </a:spcBef>
            </a:pPr>
            <a:r>
              <a:rPr dirty="0"/>
              <a:t>Block</a:t>
            </a:r>
            <a:r>
              <a:rPr dirty="0" spc="25"/>
              <a:t> </a:t>
            </a:r>
            <a:r>
              <a:rPr dirty="0" spc="-10"/>
              <a:t>filter</a:t>
            </a: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dirty="0" spc="95" b="1">
                <a:latin typeface="Calibri"/>
                <a:cs typeface="Calibri"/>
              </a:rPr>
              <a:t>blur</a:t>
            </a:r>
            <a:r>
              <a:rPr dirty="0" spc="95">
                <a:latin typeface="Calibri"/>
                <a:cs typeface="Calibri"/>
              </a:rPr>
              <a:t>(</a:t>
            </a:r>
            <a:r>
              <a:rPr dirty="0" spc="2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src,</a:t>
            </a:r>
            <a:r>
              <a:rPr dirty="0" spc="2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dst,</a:t>
            </a:r>
            <a:r>
              <a:rPr dirty="0" spc="2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Size(</a:t>
            </a:r>
            <a:r>
              <a:rPr dirty="0" spc="2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i,</a:t>
            </a:r>
            <a:r>
              <a:rPr dirty="0" spc="240">
                <a:latin typeface="Calibri"/>
                <a:cs typeface="Calibri"/>
              </a:rPr>
              <a:t> </a:t>
            </a:r>
            <a:r>
              <a:rPr dirty="0" spc="50">
                <a:latin typeface="Calibri"/>
                <a:cs typeface="Calibri"/>
              </a:rPr>
              <a:t>i</a:t>
            </a:r>
            <a:r>
              <a:rPr dirty="0" spc="235">
                <a:latin typeface="Calibri"/>
                <a:cs typeface="Calibri"/>
              </a:rPr>
              <a:t> </a:t>
            </a:r>
            <a:r>
              <a:rPr dirty="0" spc="55">
                <a:latin typeface="Calibri"/>
                <a:cs typeface="Calibri"/>
              </a:rPr>
              <a:t>),</a:t>
            </a:r>
            <a:r>
              <a:rPr dirty="0" spc="2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Point(-1,-</a:t>
            </a:r>
            <a:r>
              <a:rPr dirty="0" spc="-20">
                <a:latin typeface="Calibri"/>
                <a:cs typeface="Calibri"/>
              </a:rPr>
              <a:t>1));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pc="-35"/>
              <a:t>Gaussian</a:t>
            </a:r>
            <a:r>
              <a:rPr dirty="0" spc="-50"/>
              <a:t> </a:t>
            </a:r>
            <a:r>
              <a:rPr dirty="0" spc="-10"/>
              <a:t>filter</a:t>
            </a: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dirty="0" spc="110" b="1">
                <a:latin typeface="Calibri"/>
                <a:cs typeface="Calibri"/>
              </a:rPr>
              <a:t>GaussianBlur</a:t>
            </a:r>
            <a:r>
              <a:rPr dirty="0" spc="110">
                <a:latin typeface="Calibri"/>
                <a:cs typeface="Calibri"/>
              </a:rPr>
              <a:t>(</a:t>
            </a:r>
            <a:r>
              <a:rPr dirty="0" spc="16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src,</a:t>
            </a:r>
            <a:r>
              <a:rPr dirty="0" spc="17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dst,</a:t>
            </a:r>
            <a:r>
              <a:rPr dirty="0" spc="17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Size(</a:t>
            </a:r>
            <a:r>
              <a:rPr dirty="0" spc="17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i,</a:t>
            </a:r>
            <a:r>
              <a:rPr dirty="0" spc="170">
                <a:latin typeface="Calibri"/>
                <a:cs typeface="Calibri"/>
              </a:rPr>
              <a:t> </a:t>
            </a:r>
            <a:r>
              <a:rPr dirty="0" spc="50">
                <a:latin typeface="Calibri"/>
                <a:cs typeface="Calibri"/>
              </a:rPr>
              <a:t>i</a:t>
            </a:r>
            <a:r>
              <a:rPr dirty="0" spc="165">
                <a:latin typeface="Calibri"/>
                <a:cs typeface="Calibri"/>
              </a:rPr>
              <a:t> </a:t>
            </a:r>
            <a:r>
              <a:rPr dirty="0" spc="55">
                <a:latin typeface="Calibri"/>
                <a:cs typeface="Calibri"/>
              </a:rPr>
              <a:t>),</a:t>
            </a:r>
            <a:r>
              <a:rPr dirty="0" spc="17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0,</a:t>
            </a:r>
            <a:r>
              <a:rPr dirty="0" spc="17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0</a:t>
            </a:r>
            <a:r>
              <a:rPr dirty="0" spc="165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);</a:t>
            </a: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dirty="0" spc="-10"/>
              <a:t>Median</a:t>
            </a:r>
            <a:r>
              <a:rPr dirty="0" spc="-60"/>
              <a:t> </a:t>
            </a:r>
            <a:r>
              <a:rPr dirty="0" spc="-10"/>
              <a:t>filter</a:t>
            </a: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dirty="0" spc="110" b="1">
                <a:latin typeface="Calibri"/>
                <a:cs typeface="Calibri"/>
              </a:rPr>
              <a:t>medianBlur</a:t>
            </a:r>
            <a:r>
              <a:rPr dirty="0" spc="150" b="1">
                <a:latin typeface="Calibri"/>
                <a:cs typeface="Calibri"/>
              </a:rPr>
              <a:t> </a:t>
            </a:r>
            <a:r>
              <a:rPr dirty="0" spc="80">
                <a:latin typeface="Calibri"/>
                <a:cs typeface="Calibri"/>
              </a:rPr>
              <a:t>(</a:t>
            </a:r>
            <a:r>
              <a:rPr dirty="0" spc="15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src,</a:t>
            </a:r>
            <a:r>
              <a:rPr dirty="0" spc="1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dst,</a:t>
            </a:r>
            <a:r>
              <a:rPr dirty="0" spc="155">
                <a:latin typeface="Calibri"/>
                <a:cs typeface="Calibri"/>
              </a:rPr>
              <a:t> </a:t>
            </a:r>
            <a:r>
              <a:rPr dirty="0" spc="50">
                <a:latin typeface="Calibri"/>
                <a:cs typeface="Calibri"/>
              </a:rPr>
              <a:t>i</a:t>
            </a:r>
            <a:r>
              <a:rPr dirty="0" spc="155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);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7702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59127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13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248732"/>
            <a:ext cx="4608195" cy="207645"/>
            <a:chOff x="0" y="3248732"/>
            <a:chExt cx="4608195" cy="207645"/>
          </a:xfrm>
        </p:grpSpPr>
        <p:sp>
          <p:nvSpPr>
            <p:cNvPr id="3" name="object 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93977" y="1259733"/>
            <a:ext cx="242062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50">
                <a:latin typeface="Tahoma"/>
                <a:cs typeface="Tahoma"/>
              </a:rPr>
              <a:t>Next</a:t>
            </a:r>
            <a:r>
              <a:rPr dirty="0" sz="1700" spc="-70">
                <a:latin typeface="Tahoma"/>
                <a:cs typeface="Tahoma"/>
              </a:rPr>
              <a:t> </a:t>
            </a:r>
            <a:r>
              <a:rPr dirty="0" sz="1700" spc="-95">
                <a:latin typeface="Tahoma"/>
                <a:cs typeface="Tahoma"/>
              </a:rPr>
              <a:t>class</a:t>
            </a:r>
            <a:r>
              <a:rPr dirty="0" sz="1700" spc="-35">
                <a:latin typeface="Tahoma"/>
                <a:cs typeface="Tahoma"/>
              </a:rPr>
              <a:t> </a:t>
            </a:r>
            <a:r>
              <a:rPr dirty="0" sz="1700">
                <a:latin typeface="Tahoma"/>
                <a:cs typeface="Tahoma"/>
              </a:rPr>
              <a:t>-</a:t>
            </a:r>
            <a:r>
              <a:rPr dirty="0" sz="1700" spc="-55">
                <a:latin typeface="Tahoma"/>
                <a:cs typeface="Tahoma"/>
              </a:rPr>
              <a:t> </a:t>
            </a:r>
            <a:r>
              <a:rPr dirty="0" sz="1700" spc="-90">
                <a:latin typeface="Tahoma"/>
                <a:cs typeface="Tahoma"/>
              </a:rPr>
              <a:t>Edge</a:t>
            </a:r>
            <a:r>
              <a:rPr dirty="0" sz="1700" spc="-45">
                <a:latin typeface="Tahoma"/>
                <a:cs typeface="Tahoma"/>
              </a:rPr>
              <a:t> </a:t>
            </a:r>
            <a:r>
              <a:rPr dirty="0" sz="1700" spc="-60">
                <a:latin typeface="Tahoma"/>
                <a:cs typeface="Tahoma"/>
              </a:rPr>
              <a:t>Detection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-9372" y="3351784"/>
            <a:ext cx="3062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r>
              <a:rPr dirty="0" sz="600" spc="1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to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Computer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Vision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-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Working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with</a:t>
            </a:r>
            <a:r>
              <a:rPr dirty="0" sz="600" spc="6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Images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13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Abdul Basit </dc:creator>
  <dc:title>Introduction Computer Vision (CS641) - Lecture02 - Working with Images</dc:title>
  <dcterms:created xsi:type="dcterms:W3CDTF">2026-05-10T06:18:11Z</dcterms:created>
  <dcterms:modified xsi:type="dcterms:W3CDTF">2026-05-10T06:18:11Z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2024-05-15T00:00:00Z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2026-05-10T00:00:00Z</vt:filetime>
  </property>
  <property fmtid="{D5CDD505-2E9C-101B-9397-08002B2CF9AE}" pid="6" name="PTEX.Fullbanner">
    <vt:lpwstr>This is pdfTeX, Version 3.141592653-2.6-1.40.22 (TeX Live 2022/dev/Debian) kpathsea version 6.3.4/dev</vt:lpwstr>
  </property>
  <property fmtid="{D5CDD505-2E9C-101B-9397-08002B2CF9AE}" pid="7" name="Producer">
    <vt:lpwstr>pdfTeX-1.40.22</vt:lpwstr>
  </property>
</Properties>
</file>