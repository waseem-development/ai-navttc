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92976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238986"/>
            <a:ext cx="3959225" cy="998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-9372" y="3351784"/>
            <a:ext cx="1089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54831" y="3351784"/>
            <a:ext cx="54135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92879" y="3351784"/>
            <a:ext cx="306717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5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Relationship Id="rId6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Relationship Id="rId4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Relationship Id="rId4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Relationship Id="rId4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jpg"/><Relationship Id="rId4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2.jpg"/><Relationship Id="rId4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3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Relationship Id="rId4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jpg"/><Relationship Id="rId4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5.jpg"/><Relationship Id="rId5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Relationship Id="rId3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Relationship Id="rId3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jpg"/><Relationship Id="rId7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jpg"/><Relationship Id="rId3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slide" Target="slide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slide" Target="slide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Relationship Id="rId3" Type="http://schemas.openxmlformats.org/officeDocument/2006/relationships/slide" Target="slide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jpg"/><Relationship Id="rId3" Type="http://schemas.openxmlformats.org/officeDocument/2006/relationships/slide" Target="slide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4.jpg"/><Relationship Id="rId3" Type="http://schemas.openxmlformats.org/officeDocument/2006/relationships/slide" Target="slide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jpg"/><Relationship Id="rId3" Type="http://schemas.openxmlformats.org/officeDocument/2006/relationships/slide" Target="slide1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0.png"/><Relationship Id="rId13" Type="http://schemas.openxmlformats.org/officeDocument/2006/relationships/image" Target="../media/image7.png"/><Relationship Id="rId14" Type="http://schemas.openxmlformats.org/officeDocument/2006/relationships/image" Target="../media/image62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9.png"/><Relationship Id="rId19" Type="http://schemas.openxmlformats.org/officeDocument/2006/relationships/image" Target="../media/image10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slide" Target="slide1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jpg"/><Relationship Id="rId3" Type="http://schemas.openxmlformats.org/officeDocument/2006/relationships/slide" Target="slide1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84.jpg"/><Relationship Id="rId4" Type="http://schemas.openxmlformats.org/officeDocument/2006/relationships/slide" Target="slide1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slide" Target="slide1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jpg"/><Relationship Id="rId3" Type="http://schemas.openxmlformats.org/officeDocument/2006/relationships/slide" Target="slide1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slide" Target="slide1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101.png"/><Relationship Id="rId19" Type="http://schemas.openxmlformats.org/officeDocument/2006/relationships/image" Target="../media/image102.png"/><Relationship Id="rId20" Type="http://schemas.openxmlformats.org/officeDocument/2006/relationships/image" Target="../media/image103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slide" Target="slide1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slide" Target="slide1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2.jpg"/><Relationship Id="rId3" Type="http://schemas.openxmlformats.org/officeDocument/2006/relationships/slide" Target="slide1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slide" Target="slide1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5.jpg"/><Relationship Id="rId3" Type="http://schemas.openxmlformats.org/officeDocument/2006/relationships/slide" Target="slide1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image" Target="../media/image117.jpg"/><Relationship Id="rId4" Type="http://schemas.openxmlformats.org/officeDocument/2006/relationships/slide" Target="slide1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101.png"/><Relationship Id="rId19" Type="http://schemas.openxmlformats.org/officeDocument/2006/relationships/image" Target="../media/image102.png"/><Relationship Id="rId20" Type="http://schemas.openxmlformats.org/officeDocument/2006/relationships/image" Target="../media/image11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8.jpg"/><Relationship Id="rId3" Type="http://schemas.openxmlformats.org/officeDocument/2006/relationships/slide" Target="slide1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jpg"/><Relationship Id="rId3" Type="http://schemas.openxmlformats.org/officeDocument/2006/relationships/slide" Target="slide1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0.jpg"/><Relationship Id="rId3" Type="http://schemas.openxmlformats.org/officeDocument/2006/relationships/slide" Target="slide1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slide" Target="slide2.xml"/><Relationship Id="rId7" Type="http://schemas.openxmlformats.org/officeDocument/2006/relationships/slide" Target="slide3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slide" Target="slide27.xml"/><Relationship Id="rId16" Type="http://schemas.openxmlformats.org/officeDocument/2006/relationships/slide" Target="slide29.xml"/><Relationship Id="rId17" Type="http://schemas.openxmlformats.org/officeDocument/2006/relationships/slide" Target="slide35.xml"/><Relationship Id="rId18" Type="http://schemas.openxmlformats.org/officeDocument/2006/relationships/image" Target="../media/image101.png"/><Relationship Id="rId19" Type="http://schemas.openxmlformats.org/officeDocument/2006/relationships/image" Target="../media/image10.png"/><Relationship Id="rId20" Type="http://schemas.openxmlformats.org/officeDocument/2006/relationships/image" Target="../media/image103.png"/><Relationship Id="rId21" Type="http://schemas.openxmlformats.org/officeDocument/2006/relationships/slide" Target="slide42.xml"/><Relationship Id="rId22" Type="http://schemas.openxmlformats.org/officeDocument/2006/relationships/slide" Target="slide49.xml"/><Relationship Id="rId23" Type="http://schemas.openxmlformats.org/officeDocument/2006/relationships/slide" Target="slide53.xml"/><Relationship Id="rId24" Type="http://schemas.openxmlformats.org/officeDocument/2006/relationships/slide" Target="slide1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slide" Target="slide1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slide" Target="slide1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7.png"/><Relationship Id="rId3" Type="http://schemas.openxmlformats.org/officeDocument/2006/relationships/slide" Target="slide1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4.png"/><Relationship Id="rId5" Type="http://schemas.openxmlformats.org/officeDocument/2006/relationships/slide" Target="slide1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8.jpg"/><Relationship Id="rId3" Type="http://schemas.openxmlformats.org/officeDocument/2006/relationships/slide" Target="slide1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93305"/>
            <a:ext cx="4483735" cy="748030"/>
            <a:chOff x="87743" y="693305"/>
            <a:chExt cx="4483735" cy="748030"/>
          </a:xfrm>
        </p:grpSpPr>
        <p:sp>
          <p:nvSpPr>
            <p:cNvPr id="3" name="object 3"/>
            <p:cNvSpPr/>
            <p:nvPr/>
          </p:nvSpPr>
          <p:spPr>
            <a:xfrm>
              <a:off x="87743" y="69330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56562"/>
              <a:ext cx="4432935" cy="684530"/>
            </a:xfrm>
            <a:custGeom>
              <a:avLst/>
              <a:gdLst/>
              <a:ahLst/>
              <a:cxnLst/>
              <a:rect l="l" t="t" r="r" b="b"/>
              <a:pathLst>
                <a:path w="4432935" h="684530">
                  <a:moveTo>
                    <a:pt x="4432566" y="0"/>
                  </a:moveTo>
                  <a:lnTo>
                    <a:pt x="0" y="0"/>
                  </a:lnTo>
                  <a:lnTo>
                    <a:pt x="0" y="684405"/>
                  </a:lnTo>
                  <a:lnTo>
                    <a:pt x="4432566" y="68440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37726"/>
              <a:ext cx="4432935" cy="652780"/>
            </a:xfrm>
            <a:custGeom>
              <a:avLst/>
              <a:gdLst/>
              <a:ahLst/>
              <a:cxnLst/>
              <a:rect l="l" t="t" r="r" b="b"/>
              <a:pathLst>
                <a:path w="4432935" h="652780">
                  <a:moveTo>
                    <a:pt x="4432566" y="0"/>
                  </a:moveTo>
                  <a:lnTo>
                    <a:pt x="0" y="0"/>
                  </a:lnTo>
                  <a:lnTo>
                    <a:pt x="0" y="601641"/>
                  </a:lnTo>
                  <a:lnTo>
                    <a:pt x="4008" y="621365"/>
                  </a:lnTo>
                  <a:lnTo>
                    <a:pt x="14922" y="637518"/>
                  </a:lnTo>
                  <a:lnTo>
                    <a:pt x="31075" y="648433"/>
                  </a:lnTo>
                  <a:lnTo>
                    <a:pt x="50800" y="652441"/>
                  </a:lnTo>
                  <a:lnTo>
                    <a:pt x="4381765" y="652441"/>
                  </a:lnTo>
                  <a:lnTo>
                    <a:pt x="4401490" y="648433"/>
                  </a:lnTo>
                  <a:lnTo>
                    <a:pt x="4417643" y="637518"/>
                  </a:lnTo>
                  <a:lnTo>
                    <a:pt x="4428558" y="621365"/>
                  </a:lnTo>
                  <a:lnTo>
                    <a:pt x="4432566" y="60164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756562"/>
            <a:ext cx="4432935" cy="68453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52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Computer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Vision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CS642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)</a:t>
            </a:r>
            <a:endParaRPr sz="1400">
              <a:latin typeface="Tahoma"/>
              <a:cs typeface="Tahoma"/>
            </a:endParaRPr>
          </a:p>
          <a:p>
            <a:pPr algn="ctr" marR="93345">
              <a:lnSpc>
                <a:spcPct val="100000"/>
              </a:lnSpc>
              <a:spcBef>
                <a:spcPts val="325"/>
              </a:spcBef>
            </a:pP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05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829" y="1600249"/>
            <a:ext cx="138684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Dr.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Abdul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Basit</a:t>
            </a:r>
            <a:endParaRPr sz="1100">
              <a:latin typeface="Tahoma"/>
              <a:cs typeface="Tahoma"/>
            </a:endParaRPr>
          </a:p>
          <a:p>
            <a:pPr algn="ctr" marL="12700" marR="5080">
              <a:lnSpc>
                <a:spcPts val="950"/>
              </a:lnSpc>
              <a:spcBef>
                <a:spcPts val="1265"/>
              </a:spcBef>
            </a:pPr>
            <a:r>
              <a:rPr dirty="0" sz="800" spc="-20">
                <a:latin typeface="Arial MT"/>
                <a:cs typeface="Arial MT"/>
              </a:rPr>
              <a:t>Associate</a:t>
            </a:r>
            <a:r>
              <a:rPr dirty="0" sz="800" spc="3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Professor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CS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100">
                <a:latin typeface="Arial MT"/>
                <a:cs typeface="Arial MT"/>
              </a:rPr>
              <a:t>&amp;</a:t>
            </a:r>
            <a:r>
              <a:rPr dirty="0" sz="800" spc="3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IT</a:t>
            </a:r>
            <a:r>
              <a:rPr dirty="0" sz="800">
                <a:latin typeface="Arial MT"/>
                <a:cs typeface="Arial MT"/>
              </a:rPr>
              <a:t> 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marL="284480">
              <a:lnSpc>
                <a:spcPct val="100000"/>
              </a:lnSpc>
            </a:pPr>
            <a:r>
              <a:rPr dirty="0" sz="1100" spc="-20">
                <a:latin typeface="Tahoma"/>
                <a:cs typeface="Tahoma"/>
              </a:rPr>
              <a:t>June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17,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2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35"/>
              <a:t>detection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Overview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103" y="723925"/>
            <a:ext cx="3970019" cy="18516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2722478"/>
            <a:ext cx="435673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Edge</a:t>
            </a:r>
            <a:r>
              <a:rPr dirty="0" sz="1000" spc="-30">
                <a:latin typeface="Tahoma"/>
                <a:cs typeface="Tahoma"/>
              </a:rPr>
              <a:t> detection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examples.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 spc="-35">
                <a:latin typeface="Calibri"/>
                <a:cs typeface="Calibri"/>
              </a:rPr>
              <a:t>R</a:t>
            </a:r>
            <a:r>
              <a:rPr dirty="0" sz="1000" spc="-35">
                <a:latin typeface="Tahoma"/>
                <a:cs typeface="Tahoma"/>
              </a:rPr>
              <a:t>eprinted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Alper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Yilmez,Mubarak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Shah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Fall </a:t>
            </a:r>
            <a:r>
              <a:rPr dirty="0" sz="1000" spc="-10">
                <a:latin typeface="Tahoma"/>
                <a:cs typeface="Tahoma"/>
              </a:rPr>
              <a:t>2012UCF.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3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3220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35"/>
              <a:t>detection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5777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4693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50594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5300" y="306598"/>
            <a:ext cx="4257040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Overview</a:t>
            </a:r>
            <a:endParaRPr sz="900">
              <a:latin typeface="Arial MT"/>
              <a:cs typeface="Arial MT"/>
            </a:endParaRPr>
          </a:p>
          <a:p>
            <a:pPr marL="596900" marR="5080" indent="-277495">
              <a:lnSpc>
                <a:spcPct val="106200"/>
              </a:lnSpc>
              <a:spcBef>
                <a:spcPts val="940"/>
              </a:spcBef>
            </a:pPr>
            <a:r>
              <a:rPr dirty="0" sz="1100" spc="-40">
                <a:latin typeface="Tahoma"/>
                <a:cs typeface="Tahoma"/>
              </a:rPr>
              <a:t>Edges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sudden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changes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 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discontinuities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image </a:t>
            </a:r>
            <a:r>
              <a:rPr dirty="0" sz="1000" spc="-35">
                <a:latin typeface="Tahoma"/>
                <a:cs typeface="Tahoma"/>
              </a:rPr>
              <a:t>Intuitively,</a:t>
            </a:r>
            <a:r>
              <a:rPr dirty="0" sz="1000" spc="-20">
                <a:latin typeface="Tahoma"/>
                <a:cs typeface="Tahoma"/>
              </a:rPr>
              <a:t> most </a:t>
            </a:r>
            <a:r>
              <a:rPr dirty="0" sz="1000" spc="-35">
                <a:latin typeface="Tahoma"/>
                <a:cs typeface="Tahoma"/>
              </a:rPr>
              <a:t>semantic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FF0000"/>
                </a:solidFill>
                <a:latin typeface="Tahoma"/>
                <a:cs typeface="Tahoma"/>
              </a:rPr>
              <a:t>shape</a:t>
            </a:r>
            <a:r>
              <a:rPr dirty="0" sz="1000" spc="-2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FF0000"/>
                </a:solidFill>
                <a:latin typeface="Tahoma"/>
                <a:cs typeface="Tahoma"/>
              </a:rPr>
              <a:t>information</a:t>
            </a:r>
            <a:r>
              <a:rPr dirty="0" sz="1000" spc="-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from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can </a:t>
            </a:r>
            <a:r>
              <a:rPr dirty="0" sz="1000" spc="-10">
                <a:latin typeface="Tahoma"/>
                <a:cs typeface="Tahoma"/>
              </a:rPr>
              <a:t>be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encoded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edges</a:t>
            </a:r>
            <a:endParaRPr sz="1000">
              <a:latin typeface="Tahoma"/>
              <a:cs typeface="Tahoma"/>
            </a:endParaRPr>
          </a:p>
          <a:p>
            <a:pPr marL="596900">
              <a:lnSpc>
                <a:spcPts val="1195"/>
              </a:lnSpc>
            </a:pPr>
            <a:r>
              <a:rPr dirty="0" sz="1000">
                <a:latin typeface="Tahoma"/>
                <a:cs typeface="Tahoma"/>
              </a:rPr>
              <a:t>More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compact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than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pixels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9008" y="1402511"/>
            <a:ext cx="1244600" cy="13716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88174" y="2931088"/>
            <a:ext cx="26327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 spc="-30">
                <a:latin typeface="Tahoma"/>
                <a:cs typeface="Tahoma"/>
              </a:rPr>
              <a:t>Edges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image.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Reprinted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Lowe.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4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35"/>
              <a:t>detection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Overview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88503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461272"/>
            <a:ext cx="3670300" cy="445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 spc="-40">
                <a:latin typeface="Tahoma"/>
                <a:cs typeface="Tahoma"/>
              </a:rPr>
              <a:t>Edges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Tahoma"/>
                <a:cs typeface="Tahoma"/>
              </a:rPr>
              <a:t>extract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Tahoma"/>
                <a:cs typeface="Tahoma"/>
              </a:rPr>
              <a:t>information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recognize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objects. </a:t>
            </a:r>
            <a:r>
              <a:rPr dirty="0" sz="1100" spc="-50">
                <a:latin typeface="Tahoma"/>
                <a:cs typeface="Tahoma"/>
              </a:rPr>
              <a:t>Recover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FF0000"/>
                </a:solidFill>
                <a:latin typeface="Tahoma"/>
                <a:cs typeface="Tahoma"/>
              </a:rPr>
              <a:t>geometry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view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Tahoma"/>
                <a:cs typeface="Tahoma"/>
              </a:rPr>
              <a:t>points</a:t>
            </a:r>
            <a:r>
              <a:rPr dirty="0" sz="1100" spc="-1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98535"/>
            <a:ext cx="65265" cy="652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5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/>
          <p:nvPr/>
        </p:nvSpPr>
        <p:spPr>
          <a:xfrm>
            <a:off x="95300" y="14943"/>
            <a:ext cx="11322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Overview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761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54162"/>
            <a:ext cx="22821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Edges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caused</a:t>
            </a:r>
            <a:r>
              <a:rPr dirty="0" sz="1100" spc="-30">
                <a:latin typeface="Tahoma"/>
                <a:cs typeface="Tahoma"/>
              </a:rPr>
              <a:t> by </a:t>
            </a:r>
            <a:r>
              <a:rPr dirty="0" sz="1100" spc="-35">
                <a:latin typeface="Tahoma"/>
                <a:cs typeface="Tahoma"/>
              </a:rPr>
              <a:t>variety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reasons.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880" y="1246378"/>
            <a:ext cx="2625090" cy="11429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73848" y="2541275"/>
            <a:ext cx="24606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Edges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caused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variety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0">
                <a:latin typeface="Tahoma"/>
                <a:cs typeface="Tahoma"/>
              </a:rPr>
              <a:t> factors.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58614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358614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9810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300" y="14943"/>
            <a:ext cx="2776855" cy="7632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Discontinuities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discontinuities</a:t>
            </a:r>
            <a:r>
              <a:rPr dirty="0" sz="1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cause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edges.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008" y="902017"/>
            <a:ext cx="2540000" cy="19240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90525" y="3022414"/>
            <a:ext cx="4027804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Discontinuities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20">
                <a:latin typeface="Tahoma"/>
                <a:cs typeface="Tahoma"/>
              </a:rPr>
              <a:t> color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intensities.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Reprinted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Hoiem.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7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759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300" y="14943"/>
            <a:ext cx="2776855" cy="74104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Discontinuities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9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  <a:spcBef>
                <a:spcPts val="944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FF0000"/>
                </a:solidFill>
                <a:latin typeface="Tahoma"/>
                <a:cs typeface="Tahoma"/>
              </a:rPr>
              <a:t>discontinuities</a:t>
            </a:r>
            <a:r>
              <a:rPr dirty="0" sz="110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cause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edges.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101" y="813104"/>
            <a:ext cx="2788919" cy="20574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90525" y="3022414"/>
            <a:ext cx="4027804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Discontinuities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20">
                <a:latin typeface="Tahoma"/>
                <a:cs typeface="Tahoma"/>
              </a:rPr>
              <a:t> color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intensities.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Reprinted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Hoiem.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8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8258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300" y="14943"/>
            <a:ext cx="2589530" cy="74168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Discontinuities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dirty="0" sz="90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images</a:t>
            </a:r>
            <a:endParaRPr sz="9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  <a:spcBef>
                <a:spcPts val="950"/>
              </a:spcBef>
            </a:pPr>
            <a:r>
              <a:rPr dirty="0" sz="1100" spc="-40">
                <a:latin typeface="Tahoma"/>
                <a:cs typeface="Tahoma"/>
              </a:rPr>
              <a:t>Edges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caused</a:t>
            </a:r>
            <a:r>
              <a:rPr dirty="0" sz="1100" spc="-30">
                <a:latin typeface="Tahoma"/>
                <a:cs typeface="Tahoma"/>
              </a:rPr>
              <a:t> by </a:t>
            </a:r>
            <a:r>
              <a:rPr dirty="0" sz="1100" spc="-35">
                <a:latin typeface="Tahoma"/>
                <a:cs typeface="Tahoma"/>
              </a:rPr>
              <a:t>variety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reasons.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" y="815721"/>
            <a:ext cx="2815843" cy="205346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90525" y="3022414"/>
            <a:ext cx="4027804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55"/>
              </a:lnSpc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1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Discontinuities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20">
                <a:latin typeface="Tahoma"/>
                <a:cs typeface="Tahoma"/>
              </a:rPr>
              <a:t> color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intensities.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Reprinted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Hoiem.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/>
              <a:t>9</a:t>
            </a:r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EAEAF7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10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/>
          <p:nvPr/>
        </p:nvSpPr>
        <p:spPr>
          <a:xfrm>
            <a:off x="95300" y="59878"/>
            <a:ext cx="15779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Characterizing</a:t>
            </a:r>
            <a:r>
              <a:rPr dirty="0" sz="14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Edges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2487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41425"/>
            <a:ext cx="33274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Tahoma"/>
                <a:cs typeface="Tahoma"/>
              </a:rPr>
              <a:t>Edges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rapid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intensity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values.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718" y="800608"/>
            <a:ext cx="4236720" cy="19621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24852" y="2933705"/>
            <a:ext cx="3358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 spc="-35">
                <a:latin typeface="Tahoma"/>
                <a:cs typeface="Tahoma"/>
              </a:rPr>
              <a:t>Change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0">
                <a:latin typeface="Tahoma"/>
                <a:cs typeface="Tahoma"/>
              </a:rPr>
              <a:t> color </a:t>
            </a:r>
            <a:r>
              <a:rPr dirty="0" sz="1000" spc="-30">
                <a:latin typeface="Tahoma"/>
                <a:cs typeface="Tahoma"/>
              </a:rPr>
              <a:t>intensity.</a:t>
            </a:r>
            <a:r>
              <a:rPr dirty="0" sz="1000" spc="8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Derivative </a:t>
            </a:r>
            <a:r>
              <a:rPr dirty="0" sz="1000" spc="-65">
                <a:latin typeface="Tahoma"/>
                <a:cs typeface="Tahoma"/>
              </a:rPr>
              <a:t>shows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change.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11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926589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Characterizing</a:t>
            </a:r>
            <a:r>
              <a:rPr dirty="0" spc="20"/>
              <a:t> </a:t>
            </a:r>
            <a:r>
              <a:rPr dirty="0" spc="-10"/>
              <a:t>Edges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Color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Intensity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derivative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(change)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533" y="603021"/>
            <a:ext cx="3028950" cy="2276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9208" y="3000913"/>
            <a:ext cx="25495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Image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color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intensity.</a:t>
            </a:r>
            <a:r>
              <a:rPr dirty="0" sz="1000" spc="8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Hoiem.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Characterizing</a:t>
            </a:r>
            <a:r>
              <a:rPr dirty="0" spc="20"/>
              <a:t> </a:t>
            </a:r>
            <a:r>
              <a:rPr dirty="0" spc="-40"/>
              <a:t>Edges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With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55">
                <a:latin typeface="Arial MT"/>
                <a:cs typeface="Arial MT"/>
              </a:rPr>
              <a:t>some</a:t>
            </a:r>
            <a:r>
              <a:rPr dirty="0" sz="900" spc="50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Gaussian</a:t>
            </a:r>
            <a:r>
              <a:rPr dirty="0" sz="900" spc="5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noise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748" y="599871"/>
            <a:ext cx="3771900" cy="23126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4461" y="3045388"/>
            <a:ext cx="3620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Color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intensity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some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Gaussian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noise.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Hoiem.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13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14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Effect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55"/>
              <a:t>noise</a:t>
            </a:r>
            <a:r>
              <a:rPr dirty="0" spc="-40"/>
              <a:t> </a:t>
            </a:r>
            <a:r>
              <a:rPr dirty="0" spc="-50"/>
              <a:t>over</a:t>
            </a:r>
            <a:r>
              <a:rPr dirty="0" spc="-40"/>
              <a:t> </a:t>
            </a:r>
            <a:r>
              <a:rPr dirty="0" spc="-75"/>
              <a:t>edges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1487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31417"/>
            <a:ext cx="166306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Plotting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image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intensity.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898" y="900773"/>
            <a:ext cx="2880359" cy="17449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4461" y="2797650"/>
            <a:ext cx="36201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4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Color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intensity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with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some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Gaussian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noise.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D.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Hoiem.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15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2976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Effect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55"/>
              <a:t>noise</a:t>
            </a:r>
            <a:r>
              <a:rPr dirty="0" spc="-40"/>
              <a:t> </a:t>
            </a:r>
            <a:r>
              <a:rPr dirty="0" spc="-50"/>
              <a:t>over</a:t>
            </a:r>
            <a:r>
              <a:rPr dirty="0" spc="-40"/>
              <a:t> </a:t>
            </a:r>
            <a:r>
              <a:rPr dirty="0" spc="-75"/>
              <a:t>edges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0370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93519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797177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195198"/>
            <a:ext cx="3603625" cy="90805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35">
                <a:latin typeface="Tahoma"/>
                <a:cs typeface="Tahoma"/>
              </a:rPr>
              <a:t>Difference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filters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respond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strongly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0">
                <a:latin typeface="Tahoma"/>
                <a:cs typeface="Tahoma"/>
              </a:rPr>
              <a:t> noise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dirty="0" sz="1000" spc="-65">
                <a:latin typeface="Tahoma"/>
                <a:cs typeface="Tahoma"/>
              </a:rPr>
              <a:t>Image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noise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results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pixels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look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very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different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their neighbors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40">
                <a:latin typeface="Tahoma"/>
                <a:cs typeface="Tahoma"/>
              </a:rPr>
              <a:t>Generally,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larger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noise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stronger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response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>
                <a:latin typeface="Tahoma"/>
                <a:cs typeface="Tahoma"/>
              </a:rPr>
              <a:t>What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about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it?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94535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16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Effect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55"/>
              <a:t>noise</a:t>
            </a:r>
            <a:r>
              <a:rPr dirty="0" spc="-40"/>
              <a:t> </a:t>
            </a:r>
            <a:r>
              <a:rPr dirty="0" spc="-50"/>
              <a:t>over</a:t>
            </a:r>
            <a:r>
              <a:rPr dirty="0" spc="-40"/>
              <a:t> </a:t>
            </a:r>
            <a:r>
              <a:rPr dirty="0" spc="-75"/>
              <a:t>edges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300" y="306598"/>
            <a:ext cx="115633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Smooth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 the </a:t>
            </a:r>
            <a:r>
              <a:rPr dirty="0" sz="900" spc="-25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dirty="0" sz="9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7191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99866" y="648841"/>
            <a:ext cx="1308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dx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7532" y="563739"/>
            <a:ext cx="34982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Smooth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first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look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peaks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u="sng" baseline="31250" sz="1200" spc="-67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1250" sz="1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dirty="0" u="sng" baseline="31250" sz="1200" spc="22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baseline="31250" sz="1200" spc="-15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30">
                <a:latin typeface="Cambria"/>
                <a:cs typeface="Cambria"/>
              </a:rPr>
              <a:t> </a:t>
            </a:r>
            <a:r>
              <a:rPr dirty="0" sz="1100" spc="-75" i="1">
                <a:latin typeface="Arial"/>
                <a:cs typeface="Arial"/>
              </a:rPr>
              <a:t>g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983" y="832370"/>
            <a:ext cx="3051810" cy="230886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657045" y="3351560"/>
            <a:ext cx="129476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Figure: </a:t>
            </a:r>
            <a:r>
              <a:rPr dirty="0" sz="1000" spc="-30">
                <a:latin typeface="Tahoma"/>
                <a:cs typeface="Tahoma"/>
                <a:hlinkClick r:id="rId4" action="ppaction://hlinksldjump"/>
              </a:rPr>
              <a:t>Source:</a:t>
            </a:r>
            <a:r>
              <a:rPr dirty="0" sz="1000" spc="60"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1000">
                <a:latin typeface="Tahoma"/>
                <a:cs typeface="Tahoma"/>
                <a:hlinkClick r:id="rId4" action="ppaction://hlinksldjump"/>
              </a:rPr>
              <a:t>S.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Seitz.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17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2976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Effect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55"/>
              <a:t>noise</a:t>
            </a:r>
            <a:r>
              <a:rPr dirty="0" spc="-40"/>
              <a:t> </a:t>
            </a:r>
            <a:r>
              <a:rPr dirty="0" spc="-50"/>
              <a:t>over</a:t>
            </a:r>
            <a:r>
              <a:rPr dirty="0" spc="-40"/>
              <a:t> </a:t>
            </a:r>
            <a:r>
              <a:rPr dirty="0" spc="-75"/>
              <a:t>edges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719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300" y="306598"/>
            <a:ext cx="3844290" cy="448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Derivation</a:t>
            </a:r>
            <a:r>
              <a:rPr dirty="0" sz="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900">
              <a:latin typeface="Arial MT"/>
              <a:cs typeface="Arial MT"/>
            </a:endParaRPr>
          </a:p>
          <a:p>
            <a:pPr marL="320040">
              <a:lnSpc>
                <a:spcPct val="100000"/>
              </a:lnSpc>
              <a:spcBef>
                <a:spcPts val="940"/>
              </a:spcBef>
            </a:pPr>
            <a:r>
              <a:rPr dirty="0" sz="1100" spc="-30">
                <a:latin typeface="Tahoma"/>
                <a:cs typeface="Tahoma"/>
              </a:rPr>
              <a:t>Differentiation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convolution,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convolution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Tahoma"/>
                <a:cs typeface="Tahoma"/>
              </a:rPr>
              <a:t>associative</a:t>
            </a:r>
            <a:r>
              <a:rPr dirty="0" sz="1100" spc="-25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45411" y="963523"/>
            <a:ext cx="148590" cy="0"/>
          </a:xfrm>
          <a:custGeom>
            <a:avLst/>
            <a:gdLst/>
            <a:ahLst/>
            <a:cxnLst/>
            <a:rect l="l" t="t" r="r" b="b"/>
            <a:pathLst>
              <a:path w="148589" h="0">
                <a:moveTo>
                  <a:pt x="0" y="0"/>
                </a:moveTo>
                <a:lnTo>
                  <a:pt x="1481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826245" y="753185"/>
            <a:ext cx="97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7220" y="963523"/>
            <a:ext cx="148590" cy="0"/>
          </a:xfrm>
          <a:custGeom>
            <a:avLst/>
            <a:gdLst/>
            <a:ahLst/>
            <a:cxnLst/>
            <a:rect l="l" t="t" r="r" b="b"/>
            <a:pathLst>
              <a:path w="148589" h="0">
                <a:moveTo>
                  <a:pt x="0" y="0"/>
                </a:moveTo>
                <a:lnTo>
                  <a:pt x="1481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794520" y="941945"/>
            <a:ext cx="161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Arial"/>
                <a:cs typeface="Arial"/>
              </a:rPr>
              <a:t>dx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96071" y="846910"/>
            <a:ext cx="10566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74090" algn="l"/>
              </a:tabLst>
            </a:pP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190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-75" i="1">
                <a:latin typeface="Arial"/>
                <a:cs typeface="Arial"/>
              </a:rPr>
              <a:t>g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f</a:t>
            </a:r>
            <a:r>
              <a:rPr dirty="0" sz="1100" spc="190" i="1">
                <a:latin typeface="Arial"/>
                <a:cs typeface="Arial"/>
              </a:rPr>
              <a:t> </a:t>
            </a:r>
            <a:r>
              <a:rPr dirty="0" sz="1100" spc="-50">
                <a:latin typeface="Cambria"/>
                <a:cs typeface="Cambria"/>
              </a:rPr>
              <a:t>∗</a:t>
            </a:r>
            <a:r>
              <a:rPr dirty="0" sz="1100">
                <a:latin typeface="Cambria"/>
                <a:cs typeface="Cambria"/>
              </a:rPr>
              <a:t>	</a:t>
            </a:r>
            <a:r>
              <a:rPr dirty="0" sz="1100" spc="-50" i="1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932" y="730679"/>
            <a:ext cx="1590675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442085" marR="5080" indent="31115">
              <a:lnSpc>
                <a:spcPct val="112599"/>
              </a:lnSpc>
              <a:spcBef>
                <a:spcPts val="100"/>
              </a:spcBef>
            </a:pPr>
            <a:r>
              <a:rPr dirty="0" sz="1100" spc="-50" i="1">
                <a:latin typeface="Arial"/>
                <a:cs typeface="Arial"/>
              </a:rPr>
              <a:t>d </a:t>
            </a:r>
            <a:r>
              <a:rPr dirty="0" sz="1100" spc="-75" i="1">
                <a:latin typeface="Arial"/>
                <a:cs typeface="Arial"/>
              </a:rPr>
              <a:t>dx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reduces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operation.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97521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753" y="1399959"/>
            <a:ext cx="2895599" cy="1794510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18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</a:t>
            </a:r>
            <a:r>
              <a:rPr dirty="0" spc="5"/>
              <a:t> </a:t>
            </a:r>
            <a:r>
              <a:rPr dirty="0" spc="-35"/>
              <a:t>Edge</a:t>
            </a:r>
            <a:r>
              <a:rPr dirty="0" spc="10"/>
              <a:t> </a:t>
            </a:r>
            <a:r>
              <a:rPr dirty="0" spc="-25"/>
              <a:t>Detector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245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52270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743278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966" y="1907768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7966" y="2046947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153948"/>
            <a:ext cx="3814445" cy="98361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10">
                <a:latin typeface="Tahoma"/>
                <a:cs typeface="Tahoma"/>
              </a:rPr>
              <a:t>Criteria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good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edge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detector.</a:t>
            </a:r>
            <a:endParaRPr sz="1100">
              <a:latin typeface="Tahoma"/>
              <a:cs typeface="Tahoma"/>
            </a:endParaRPr>
          </a:p>
          <a:p>
            <a:pPr marL="289560" marR="66675">
              <a:lnSpc>
                <a:spcPct val="100000"/>
              </a:lnSpc>
              <a:spcBef>
                <a:spcPts val="175"/>
              </a:spcBef>
            </a:pPr>
            <a:r>
              <a:rPr dirty="0" sz="1000" spc="-20" b="1">
                <a:latin typeface="Arial"/>
                <a:cs typeface="Arial"/>
              </a:rPr>
              <a:t>Good</a:t>
            </a:r>
            <a:r>
              <a:rPr dirty="0" sz="1000" spc="2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detection:</a:t>
            </a:r>
            <a:r>
              <a:rPr dirty="0" sz="1000" spc="80" b="1">
                <a:latin typeface="Arial"/>
                <a:cs typeface="Arial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optimal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detector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should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find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all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real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edges, </a:t>
            </a:r>
            <a:r>
              <a:rPr dirty="0" sz="1000" spc="-30">
                <a:latin typeface="Tahoma"/>
                <a:cs typeface="Tahoma"/>
              </a:rPr>
              <a:t>ignoring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noise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other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artifacts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090"/>
              </a:lnSpc>
            </a:pPr>
            <a:r>
              <a:rPr dirty="0" sz="1000" spc="-20" b="1">
                <a:latin typeface="Arial"/>
                <a:cs typeface="Arial"/>
              </a:rPr>
              <a:t>Good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localization:</a:t>
            </a:r>
            <a:endParaRPr sz="1000">
              <a:latin typeface="Arial"/>
              <a:cs typeface="Arial"/>
            </a:endParaRPr>
          </a:p>
          <a:p>
            <a:pPr marL="566420" marR="5080">
              <a:lnSpc>
                <a:spcPct val="101499"/>
              </a:lnSpc>
              <a:spcBef>
                <a:spcPts val="180"/>
              </a:spcBef>
            </a:pPr>
            <a:r>
              <a:rPr dirty="0" sz="900">
                <a:latin typeface="Arial MT"/>
                <a:cs typeface="Arial MT"/>
              </a:rPr>
              <a:t>The </a:t>
            </a:r>
            <a:r>
              <a:rPr dirty="0" sz="900" spc="-70">
                <a:latin typeface="Arial MT"/>
                <a:cs typeface="Arial MT"/>
              </a:rPr>
              <a:t>edges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detected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45">
                <a:latin typeface="Arial MT"/>
                <a:cs typeface="Arial MT"/>
              </a:rPr>
              <a:t>as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close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45">
                <a:latin typeface="Arial MT"/>
                <a:cs typeface="Arial MT"/>
              </a:rPr>
              <a:t>as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possible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true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45">
                <a:latin typeface="Arial MT"/>
                <a:cs typeface="Arial MT"/>
              </a:rPr>
              <a:t>edges </a:t>
            </a:r>
            <a:r>
              <a:rPr dirty="0" sz="900">
                <a:latin typeface="Arial MT"/>
                <a:cs typeface="Arial MT"/>
              </a:rPr>
              <a:t>The </a:t>
            </a:r>
            <a:r>
              <a:rPr dirty="0" sz="900" spc="-10">
                <a:latin typeface="Arial MT"/>
                <a:cs typeface="Arial MT"/>
              </a:rPr>
              <a:t>detector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must return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one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point only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40">
                <a:latin typeface="Arial MT"/>
                <a:cs typeface="Arial MT"/>
              </a:rPr>
              <a:t>each</a:t>
            </a:r>
            <a:r>
              <a:rPr dirty="0" sz="900">
                <a:latin typeface="Arial MT"/>
                <a:cs typeface="Arial MT"/>
              </a:rPr>
              <a:t> true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55">
                <a:latin typeface="Arial MT"/>
                <a:cs typeface="Arial MT"/>
              </a:rPr>
              <a:t>edge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point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19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25222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Detecting</a:t>
            </a:r>
            <a:r>
              <a:rPr dirty="0" sz="9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Discontinuities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184" y="859434"/>
            <a:ext cx="4206240" cy="2286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20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13220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Derivatives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12" y="934046"/>
            <a:ext cx="4279392" cy="14676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60906" y="2523076"/>
            <a:ext cx="2087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 spc="-30">
                <a:latin typeface="Tahoma"/>
                <a:cs typeface="Tahoma"/>
              </a:rPr>
              <a:t>Source: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Yilmaz,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Mubarak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Shah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21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35"/>
              <a:t>detection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20">
                <a:latin typeface="Arial MT"/>
                <a:cs typeface="Arial MT"/>
              </a:rPr>
              <a:t>Derivatives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 Noise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25" y="931354"/>
            <a:ext cx="4184142" cy="14815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9491" y="2534353"/>
            <a:ext cx="40100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Zero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mean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additive</a:t>
            </a:r>
            <a:r>
              <a:rPr dirty="0" sz="1000" spc="-35">
                <a:latin typeface="Tahoma"/>
                <a:cs typeface="Tahoma"/>
              </a:rPr>
              <a:t> Gaussian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noise.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Yilmaz,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Mubarak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Shah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35"/>
              <a:t>detection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50">
                <a:latin typeface="Arial MT"/>
                <a:cs typeface="Arial MT"/>
              </a:rPr>
              <a:t>Gaussian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Smoothing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14514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904329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056157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207985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606006"/>
            <a:ext cx="3026410" cy="69532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20">
                <a:latin typeface="Tahoma"/>
                <a:cs typeface="Tahoma"/>
              </a:rPr>
              <a:t>Scale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Gaussian </a:t>
            </a:r>
            <a:r>
              <a:rPr dirty="0" sz="1100" spc="-25" i="1">
                <a:latin typeface="Arial"/>
                <a:cs typeface="Arial"/>
              </a:rPr>
              <a:t>σ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89560" marR="1778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As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σ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45">
                <a:latin typeface="Tahoma"/>
                <a:cs typeface="Tahoma"/>
              </a:rPr>
              <a:t>increases,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pixels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involved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average. </a:t>
            </a:r>
            <a:r>
              <a:rPr dirty="0" sz="1000">
                <a:latin typeface="Tahoma"/>
                <a:cs typeface="Tahoma"/>
              </a:rPr>
              <a:t>As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σ</a:t>
            </a:r>
            <a:r>
              <a:rPr dirty="0" sz="1000" spc="60" i="1">
                <a:latin typeface="Arial"/>
                <a:cs typeface="Arial"/>
              </a:rPr>
              <a:t> </a:t>
            </a:r>
            <a:r>
              <a:rPr dirty="0" sz="1000" spc="-45">
                <a:latin typeface="Tahoma"/>
                <a:cs typeface="Tahoma"/>
              </a:rPr>
              <a:t>increases,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image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more</a:t>
            </a:r>
            <a:r>
              <a:rPr dirty="0" sz="1000" spc="-10">
                <a:latin typeface="Tahoma"/>
                <a:cs typeface="Tahoma"/>
              </a:rPr>
              <a:t> blurred.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>
                <a:latin typeface="Tahoma"/>
                <a:cs typeface="Tahoma"/>
              </a:rPr>
              <a:t>As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σ</a:t>
            </a:r>
            <a:r>
              <a:rPr dirty="0" sz="1000" spc="50" i="1">
                <a:latin typeface="Arial"/>
                <a:cs typeface="Arial"/>
              </a:rPr>
              <a:t> </a:t>
            </a:r>
            <a:r>
              <a:rPr dirty="0" sz="1000" spc="-45">
                <a:latin typeface="Tahoma"/>
                <a:cs typeface="Tahoma"/>
              </a:rPr>
              <a:t>increases,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noise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more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effectively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suppressed.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544" y="1599679"/>
            <a:ext cx="4382008" cy="11244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60906" y="2845554"/>
            <a:ext cx="20872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 spc="-30">
                <a:latin typeface="Tahoma"/>
                <a:cs typeface="Tahoma"/>
              </a:rPr>
              <a:t>Source:</a:t>
            </a:r>
            <a:r>
              <a:rPr dirty="0" sz="1000" spc="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Yilmaz,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Mubarak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Shah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23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61099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50">
                <a:solidFill>
                  <a:srgbClr val="FFFFFF"/>
                </a:solidFill>
                <a:latin typeface="Arial MT"/>
                <a:cs typeface="Arial MT"/>
              </a:rPr>
              <a:t>Gaussian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Smoothing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(Examples)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22" y="688047"/>
            <a:ext cx="4328922" cy="24564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24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25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45"/>
              <a:t>detectors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657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5638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608213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2932" y="1158036"/>
            <a:ext cx="2229485" cy="96583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25">
                <a:latin typeface="Tahoma"/>
                <a:cs typeface="Tahoma"/>
              </a:rPr>
              <a:t>Gradient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operators</a:t>
            </a:r>
            <a:endParaRPr sz="1100">
              <a:latin typeface="Tahoma"/>
              <a:cs typeface="Tahoma"/>
            </a:endParaRPr>
          </a:p>
          <a:p>
            <a:pPr marL="289560" marR="1589405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Prewit Sobel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  <a:spcBef>
                <a:spcPts val="15"/>
              </a:spcBef>
            </a:pPr>
            <a:r>
              <a:rPr dirty="0" sz="1100" spc="-20">
                <a:latin typeface="Tahoma"/>
                <a:cs typeface="Tahoma"/>
              </a:rPr>
              <a:t>Laplacian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Gaussian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(Marr-</a:t>
            </a:r>
            <a:r>
              <a:rPr dirty="0" sz="1100" spc="-25">
                <a:latin typeface="Tahoma"/>
                <a:cs typeface="Tahoma"/>
              </a:rPr>
              <a:t>Hildreth) Gradient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Gaussian </a:t>
            </a:r>
            <a:r>
              <a:rPr dirty="0" sz="1100" spc="-10">
                <a:latin typeface="Tahoma"/>
                <a:cs typeface="Tahoma"/>
              </a:rPr>
              <a:t>(Canny)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05571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15604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26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26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60464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10"/>
              <a:t>detectors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Prewit</a:t>
            </a:r>
            <a:r>
              <a:rPr dirty="0" sz="900" spc="-10">
                <a:latin typeface="Arial MT"/>
                <a:cs typeface="Arial MT"/>
              </a:rPr>
              <a:t> and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30">
                <a:latin typeface="Arial MT"/>
                <a:cs typeface="Arial MT"/>
              </a:rPr>
              <a:t>Sobel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spc="-35">
                <a:latin typeface="Arial MT"/>
                <a:cs typeface="Arial MT"/>
              </a:rPr>
              <a:t>Edge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2148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611299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312951"/>
            <a:ext cx="1767839" cy="814069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derivatives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i="1">
                <a:latin typeface="Arial"/>
                <a:cs typeface="Arial"/>
              </a:rPr>
              <a:t>x</a:t>
            </a:r>
            <a:r>
              <a:rPr dirty="0" sz="1000" spc="85" i="1">
                <a:latin typeface="Arial"/>
                <a:cs typeface="Arial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i="1">
                <a:latin typeface="Arial"/>
                <a:cs typeface="Arial"/>
              </a:rPr>
              <a:t>y</a:t>
            </a:r>
            <a:r>
              <a:rPr dirty="0" sz="1000" spc="9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directions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  <a:spcBef>
                <a:spcPts val="20"/>
              </a:spcBef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35">
                <a:latin typeface="Tahoma"/>
                <a:cs typeface="Tahoma"/>
              </a:rPr>
              <a:t> gradient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magnitude </a:t>
            </a:r>
            <a:r>
              <a:rPr dirty="0" sz="1100" spc="-30">
                <a:latin typeface="Tahoma"/>
                <a:cs typeface="Tahoma"/>
              </a:rPr>
              <a:t>Threshold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magnitude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0865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18690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27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12522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detectors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Prewitt</a:t>
            </a:r>
            <a:r>
              <a:rPr dirty="0" sz="9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dirty="0" sz="9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86" y="817384"/>
            <a:ext cx="4203446" cy="213309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28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12331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detectors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Sobel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 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1080859"/>
            <a:ext cx="4333748" cy="173253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29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12331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detectors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Sobel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 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158" y="786968"/>
            <a:ext cx="4098290" cy="22091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30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12331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detectors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Sobel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 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713" y="799414"/>
            <a:ext cx="4111625" cy="21780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31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31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10"/>
              <a:t>detectors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Marr</a:t>
            </a:r>
            <a:r>
              <a:rPr dirty="0" sz="900" spc="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Hildreth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55">
                <a:latin typeface="Arial MT"/>
                <a:cs typeface="Arial MT"/>
              </a:rPr>
              <a:t>edge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9771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8750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7730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0625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096058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399728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1090724"/>
            <a:ext cx="4058285" cy="140271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100" spc="-20">
                <a:latin typeface="Tahoma"/>
                <a:cs typeface="Tahoma"/>
              </a:rPr>
              <a:t>Smooth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image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 Gaussian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filter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produce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image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20"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100">
                <a:latin typeface="Tahoma"/>
                <a:cs typeface="Tahoma"/>
              </a:rPr>
              <a:t>Apply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Laplacian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20">
                <a:latin typeface="Calibri"/>
                <a:cs typeface="Calibri"/>
              </a:rPr>
              <a:t>S</a:t>
            </a:r>
            <a:endParaRPr sz="1100">
              <a:latin typeface="Calibri"/>
              <a:cs typeface="Calibri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dirty="0" sz="1000" spc="-35">
                <a:latin typeface="Tahoma"/>
                <a:cs typeface="Tahoma"/>
              </a:rPr>
              <a:t>Used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mechanics,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electromagnetics,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wave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theory,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quantum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mechanics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Laplace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equation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0000"/>
                </a:solidFill>
                <a:latin typeface="Tahoma"/>
                <a:cs typeface="Tahoma"/>
              </a:rPr>
              <a:t>zero</a:t>
            </a:r>
            <a:r>
              <a:rPr dirty="0" sz="1100" spc="-3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Tahoma"/>
                <a:cs typeface="Tahoma"/>
              </a:rPr>
              <a:t>crossings</a:t>
            </a:r>
            <a:endParaRPr sz="1100">
              <a:latin typeface="Tahoma"/>
              <a:cs typeface="Tahoma"/>
            </a:endParaRPr>
          </a:p>
          <a:p>
            <a:pPr marL="289560" marR="539115">
              <a:lnSpc>
                <a:spcPct val="100000"/>
              </a:lnSpc>
              <a:spcBef>
                <a:spcPts val="175"/>
              </a:spcBef>
            </a:pPr>
            <a:r>
              <a:rPr dirty="0" sz="1000" spc="-10">
                <a:latin typeface="Tahoma"/>
                <a:cs typeface="Tahoma"/>
              </a:rPr>
              <a:t>Scan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along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each</a:t>
            </a:r>
            <a:r>
              <a:rPr dirty="0" sz="1000" spc="-35">
                <a:latin typeface="Tahoma"/>
                <a:cs typeface="Tahoma"/>
              </a:rPr>
              <a:t> row, record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60">
                <a:latin typeface="Tahoma"/>
                <a:cs typeface="Tahoma"/>
              </a:rPr>
              <a:t>edge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point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location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of </a:t>
            </a:r>
            <a:r>
              <a:rPr dirty="0" sz="1000" spc="-50">
                <a:latin typeface="Tahoma"/>
                <a:cs typeface="Tahoma"/>
              </a:rPr>
              <a:t>zero-</a:t>
            </a:r>
            <a:r>
              <a:rPr dirty="0" sz="1000" spc="-10">
                <a:latin typeface="Tahoma"/>
                <a:cs typeface="Tahoma"/>
              </a:rPr>
              <a:t>crossing.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 spc="-25">
                <a:latin typeface="Tahoma"/>
                <a:cs typeface="Tahoma"/>
              </a:rPr>
              <a:t>Repeat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above </a:t>
            </a:r>
            <a:r>
              <a:rPr dirty="0" sz="1000" spc="-25">
                <a:latin typeface="Tahoma"/>
                <a:cs typeface="Tahoma"/>
              </a:rPr>
              <a:t>step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along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each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column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39128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detectors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Marr</a:t>
            </a:r>
            <a:r>
              <a:rPr dirty="0" sz="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Hildreth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377" y="1038110"/>
            <a:ext cx="4144517" cy="160235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33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39128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detectors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Marr</a:t>
            </a:r>
            <a:r>
              <a:rPr dirty="0" sz="9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Hildreth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Arial MT"/>
                <a:cs typeface="Arial MT"/>
              </a:rPr>
              <a:t>edge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detector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119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77746"/>
            <a:ext cx="2429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Deriving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Laplacian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Gaussian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(LoG)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7075" y="1354810"/>
            <a:ext cx="3667125" cy="120904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34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12331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Edge</a:t>
            </a:r>
            <a:r>
              <a:rPr dirty="0" spc="-50"/>
              <a:t> </a:t>
            </a:r>
            <a:r>
              <a:rPr dirty="0" spc="-45"/>
              <a:t>detectors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Finding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Zero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Crossing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673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30653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458379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61020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762036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959394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149182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338997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0865" y="2490825"/>
            <a:ext cx="52590" cy="5259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1008201"/>
            <a:ext cx="2293620" cy="157607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20">
                <a:latin typeface="Tahoma"/>
                <a:cs typeface="Tahoma"/>
              </a:rPr>
              <a:t>Four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cases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zero-</a:t>
            </a:r>
            <a:r>
              <a:rPr dirty="0" sz="1100" spc="-10">
                <a:latin typeface="Tahoma"/>
                <a:cs typeface="Tahoma"/>
              </a:rPr>
              <a:t>crossings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>
                <a:latin typeface="Cambria"/>
                <a:cs typeface="Cambria"/>
              </a:rPr>
              <a:t>{</a:t>
            </a:r>
            <a:r>
              <a:rPr dirty="0" sz="1000">
                <a:latin typeface="Tahoma"/>
                <a:cs typeface="Tahoma"/>
              </a:rPr>
              <a:t>+,-</a:t>
            </a:r>
            <a:r>
              <a:rPr dirty="0" sz="1000" spc="55">
                <a:latin typeface="Cambria"/>
                <a:cs typeface="Cambria"/>
              </a:rPr>
              <a:t>}</a:t>
            </a:r>
            <a:endParaRPr sz="1000">
              <a:latin typeface="Cambria"/>
              <a:cs typeface="Cambria"/>
            </a:endParaRPr>
          </a:p>
          <a:p>
            <a:pPr marL="289560">
              <a:lnSpc>
                <a:spcPts val="1195"/>
              </a:lnSpc>
            </a:pPr>
            <a:r>
              <a:rPr dirty="0" sz="1000">
                <a:latin typeface="Cambria"/>
                <a:cs typeface="Cambria"/>
              </a:rPr>
              <a:t>{</a:t>
            </a:r>
            <a:r>
              <a:rPr dirty="0" sz="1000">
                <a:latin typeface="Tahoma"/>
                <a:cs typeface="Tahoma"/>
              </a:rPr>
              <a:t>+,0,-</a:t>
            </a:r>
            <a:r>
              <a:rPr dirty="0" sz="1000" spc="55">
                <a:latin typeface="Cambria"/>
                <a:cs typeface="Cambria"/>
              </a:rPr>
              <a:t>}</a:t>
            </a:r>
            <a:endParaRPr sz="1000">
              <a:latin typeface="Cambria"/>
              <a:cs typeface="Cambria"/>
            </a:endParaRPr>
          </a:p>
          <a:p>
            <a:pPr marL="289560">
              <a:lnSpc>
                <a:spcPts val="1195"/>
              </a:lnSpc>
            </a:pPr>
            <a:r>
              <a:rPr dirty="0" sz="1000" spc="50">
                <a:latin typeface="Cambria"/>
                <a:cs typeface="Cambria"/>
              </a:rPr>
              <a:t>{</a:t>
            </a:r>
            <a:r>
              <a:rPr dirty="0" sz="1000" spc="50">
                <a:latin typeface="Tahoma"/>
                <a:cs typeface="Tahoma"/>
              </a:rPr>
              <a:t>-</a:t>
            </a:r>
            <a:r>
              <a:rPr dirty="0" sz="1000" spc="-25">
                <a:latin typeface="Tahoma"/>
                <a:cs typeface="Tahoma"/>
              </a:rPr>
              <a:t>,+</a:t>
            </a:r>
            <a:r>
              <a:rPr dirty="0" sz="1000" spc="-25">
                <a:latin typeface="Cambria"/>
                <a:cs typeface="Cambria"/>
              </a:rPr>
              <a:t>}</a:t>
            </a:r>
            <a:endParaRPr sz="1000">
              <a:latin typeface="Cambria"/>
              <a:cs typeface="Cambria"/>
            </a:endParaRPr>
          </a:p>
          <a:p>
            <a:pPr marL="289560">
              <a:lnSpc>
                <a:spcPts val="1200"/>
              </a:lnSpc>
            </a:pPr>
            <a:r>
              <a:rPr dirty="0" sz="1000">
                <a:latin typeface="Cambria"/>
                <a:cs typeface="Cambria"/>
              </a:rPr>
              <a:t>{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10">
                <a:latin typeface="Tahoma"/>
                <a:cs typeface="Tahoma"/>
              </a:rPr>
              <a:t>,0,+</a:t>
            </a:r>
            <a:r>
              <a:rPr dirty="0" sz="1000" spc="-10">
                <a:latin typeface="Cambria"/>
                <a:cs typeface="Cambria"/>
              </a:rPr>
              <a:t>}</a:t>
            </a:r>
            <a:endParaRPr sz="1000">
              <a:latin typeface="Cambria"/>
              <a:cs typeface="Cambria"/>
            </a:endParaRPr>
          </a:p>
          <a:p>
            <a:pPr marL="12700" marR="5080">
              <a:lnSpc>
                <a:spcPct val="113199"/>
              </a:lnSpc>
              <a:spcBef>
                <a:spcPts val="180"/>
              </a:spcBef>
            </a:pPr>
            <a:r>
              <a:rPr dirty="0" sz="1100" spc="-20">
                <a:latin typeface="Tahoma"/>
                <a:cs typeface="Tahoma"/>
              </a:rPr>
              <a:t>Slope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zero-</a:t>
            </a:r>
            <a:r>
              <a:rPr dirty="0" sz="1100" spc="-45">
                <a:latin typeface="Tahoma"/>
                <a:cs typeface="Tahoma"/>
              </a:rPr>
              <a:t>crossing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Cambria"/>
                <a:cs typeface="Cambria"/>
              </a:rPr>
              <a:t>{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-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>
                <a:latin typeface="Cambria"/>
                <a:cs typeface="Cambria"/>
              </a:rPr>
              <a:t>}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is </a:t>
            </a:r>
            <a:r>
              <a:rPr dirty="0" sz="1100" spc="-30">
                <a:latin typeface="Cambria"/>
                <a:cs typeface="Cambria"/>
              </a:rPr>
              <a:t>|</a:t>
            </a:r>
            <a:r>
              <a:rPr dirty="0" sz="1100" spc="-30" i="1">
                <a:latin typeface="Arial"/>
                <a:cs typeface="Arial"/>
              </a:rPr>
              <a:t>a</a:t>
            </a:r>
            <a:r>
              <a:rPr dirty="0" sz="1100" spc="-30">
                <a:latin typeface="Tahoma"/>
                <a:cs typeface="Tahoma"/>
              </a:rPr>
              <a:t>+</a:t>
            </a:r>
            <a:r>
              <a:rPr dirty="0" sz="1100" spc="-30" i="1">
                <a:latin typeface="Arial"/>
                <a:cs typeface="Arial"/>
              </a:rPr>
              <a:t>b</a:t>
            </a:r>
            <a:r>
              <a:rPr dirty="0" sz="1100" spc="-30">
                <a:latin typeface="Cambria"/>
                <a:cs typeface="Cambria"/>
              </a:rPr>
              <a:t>|</a:t>
            </a:r>
            <a:r>
              <a:rPr dirty="0" sz="1100" spc="-30">
                <a:latin typeface="Tahoma"/>
                <a:cs typeface="Tahoma"/>
              </a:rPr>
              <a:t>.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mark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edge</a:t>
            </a:r>
            <a:endParaRPr sz="1100">
              <a:latin typeface="Tahoma"/>
              <a:cs typeface="Tahoma"/>
            </a:endParaRPr>
          </a:p>
          <a:p>
            <a:pPr marL="289560" marR="344805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Compute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slope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zero-</a:t>
            </a:r>
            <a:r>
              <a:rPr dirty="0" sz="1000" spc="-45">
                <a:latin typeface="Tahoma"/>
                <a:cs typeface="Tahoma"/>
              </a:rPr>
              <a:t>crossing </a:t>
            </a: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threshold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slope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35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65608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Finding</a:t>
            </a:r>
            <a:r>
              <a:rPr dirty="0" sz="1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Zero</a:t>
            </a:r>
            <a:r>
              <a:rPr dirty="0" sz="14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Crossing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Example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50" y="1152334"/>
            <a:ext cx="4022725" cy="134238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36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2099310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/>
              <a:t>Marr</a:t>
            </a:r>
            <a:r>
              <a:rPr dirty="0" spc="-40"/>
              <a:t> </a:t>
            </a:r>
            <a:r>
              <a:rPr dirty="0" spc="-10"/>
              <a:t>Hildreth</a:t>
            </a:r>
            <a:r>
              <a:rPr dirty="0" spc="-35"/>
              <a:t> </a:t>
            </a:r>
            <a:r>
              <a:rPr dirty="0" spc="-75"/>
              <a:t>edge</a:t>
            </a:r>
            <a:r>
              <a:rPr dirty="0" spc="-30"/>
              <a:t> </a:t>
            </a:r>
            <a:r>
              <a:rPr dirty="0" spc="-35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Algorithm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0972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99540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2932" y="1001191"/>
            <a:ext cx="977265" cy="39179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30">
                <a:latin typeface="Tahoma"/>
                <a:cs typeface="Tahoma"/>
              </a:rPr>
              <a:t>Compute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LoG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latin typeface="Tahoma"/>
                <a:cs typeface="Tahoma"/>
              </a:rPr>
              <a:t>Use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filter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3261" y="1367261"/>
            <a:ext cx="6159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Cambria"/>
                <a:cs typeface="Cambria"/>
              </a:rPr>
              <a:t>△</a:t>
            </a:r>
            <a:r>
              <a:rPr dirty="0" baseline="31746" sz="1050">
                <a:latin typeface="Arial MT"/>
                <a:cs typeface="Arial MT"/>
              </a:rPr>
              <a:t>2</a:t>
            </a:r>
            <a:r>
              <a:rPr dirty="0" sz="1000" i="1">
                <a:latin typeface="Arial"/>
                <a:cs typeface="Arial"/>
              </a:rPr>
              <a:t>g</a:t>
            </a:r>
            <a:r>
              <a:rPr dirty="0" sz="1000" spc="-155" i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(</a:t>
            </a:r>
            <a:r>
              <a:rPr dirty="0" sz="1000" i="1">
                <a:latin typeface="Arial"/>
                <a:cs typeface="Arial"/>
              </a:rPr>
              <a:t>x,</a:t>
            </a:r>
            <a:r>
              <a:rPr dirty="0" sz="1000" spc="-90" i="1">
                <a:latin typeface="Arial"/>
                <a:cs typeface="Arial"/>
              </a:rPr>
              <a:t> </a:t>
            </a:r>
            <a:r>
              <a:rPr dirty="0" sz="1000" spc="-45" i="1">
                <a:latin typeface="Arial"/>
                <a:cs typeface="Arial"/>
              </a:rPr>
              <a:t>y</a:t>
            </a:r>
            <a:r>
              <a:rPr dirty="0" sz="1000" spc="-15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679105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0034" y="1595010"/>
            <a:ext cx="8051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Use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4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filter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532" y="1669997"/>
            <a:ext cx="2907030" cy="92456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537970">
              <a:lnSpc>
                <a:spcPct val="100000"/>
              </a:lnSpc>
              <a:spcBef>
                <a:spcPts val="700"/>
              </a:spcBef>
            </a:pPr>
            <a:r>
              <a:rPr dirty="0" sz="1000" spc="-55" i="1">
                <a:latin typeface="Arial"/>
                <a:cs typeface="Arial"/>
              </a:rPr>
              <a:t>g</a:t>
            </a:r>
            <a:r>
              <a:rPr dirty="0" sz="1000" spc="-160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10" i="1">
                <a:latin typeface="Arial"/>
                <a:cs typeface="Arial"/>
              </a:rPr>
              <a:t>,</a:t>
            </a:r>
            <a:r>
              <a:rPr dirty="0" sz="1000" spc="-95" i="1">
                <a:latin typeface="Arial"/>
                <a:cs typeface="Arial"/>
              </a:rPr>
              <a:t> </a:t>
            </a:r>
            <a:r>
              <a:rPr dirty="0" sz="1000" spc="-35" i="1">
                <a:latin typeface="Arial"/>
                <a:cs typeface="Arial"/>
              </a:rPr>
              <a:t>g</a:t>
            </a:r>
            <a:r>
              <a:rPr dirty="0" baseline="-11904" sz="1050" spc="-52" i="1">
                <a:latin typeface="Arial"/>
                <a:cs typeface="Arial"/>
              </a:rPr>
              <a:t>xx</a:t>
            </a:r>
            <a:r>
              <a:rPr dirty="0" baseline="-11904" sz="1050" spc="-112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x</a:t>
            </a:r>
            <a:r>
              <a:rPr dirty="0" sz="1000" spc="-180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10" i="1">
                <a:latin typeface="Arial"/>
                <a:cs typeface="Arial"/>
              </a:rPr>
              <a:t>,</a:t>
            </a:r>
            <a:r>
              <a:rPr dirty="0" sz="1000" spc="-95" i="1">
                <a:latin typeface="Arial"/>
                <a:cs typeface="Arial"/>
              </a:rPr>
              <a:t> </a:t>
            </a:r>
            <a:r>
              <a:rPr dirty="0" sz="1000" spc="-55" i="1">
                <a:latin typeface="Arial"/>
                <a:cs typeface="Arial"/>
              </a:rPr>
              <a:t>g</a:t>
            </a:r>
            <a:r>
              <a:rPr dirty="0" sz="1000" spc="-160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y</a:t>
            </a:r>
            <a:r>
              <a:rPr dirty="0" sz="1000" spc="-155" i="1">
                <a:latin typeface="Arial"/>
                <a:cs typeface="Arial"/>
              </a:rPr>
              <a:t> </a:t>
            </a:r>
            <a:r>
              <a:rPr dirty="0" sz="1000" spc="-10">
                <a:latin typeface="Tahoma"/>
                <a:cs typeface="Tahoma"/>
              </a:rPr>
              <a:t>)</a:t>
            </a:r>
            <a:r>
              <a:rPr dirty="0" sz="1000" spc="-10" i="1">
                <a:latin typeface="Arial"/>
                <a:cs typeface="Arial"/>
              </a:rPr>
              <a:t>,</a:t>
            </a:r>
            <a:r>
              <a:rPr dirty="0" sz="1000" spc="-100" i="1">
                <a:latin typeface="Arial"/>
                <a:cs typeface="Arial"/>
              </a:rPr>
              <a:t> </a:t>
            </a:r>
            <a:r>
              <a:rPr dirty="0" sz="1000" spc="-35" i="1">
                <a:latin typeface="Arial"/>
                <a:cs typeface="Arial"/>
              </a:rPr>
              <a:t>g</a:t>
            </a:r>
            <a:r>
              <a:rPr dirty="0" baseline="-11904" sz="1050" spc="-52" i="1">
                <a:latin typeface="Arial"/>
                <a:cs typeface="Arial"/>
              </a:rPr>
              <a:t>yy</a:t>
            </a:r>
            <a:r>
              <a:rPr dirty="0" baseline="-11904" sz="1050" spc="-82" i="1">
                <a:latin typeface="Arial"/>
                <a:cs typeface="Arial"/>
              </a:rPr>
              <a:t> </a:t>
            </a:r>
            <a:r>
              <a:rPr dirty="0" sz="1000" spc="-30">
                <a:latin typeface="Tahoma"/>
                <a:cs typeface="Tahoma"/>
              </a:rPr>
              <a:t>(</a:t>
            </a:r>
            <a:r>
              <a:rPr dirty="0" sz="1000" spc="-30" i="1">
                <a:latin typeface="Arial"/>
                <a:cs typeface="Arial"/>
              </a:rPr>
              <a:t>y</a:t>
            </a:r>
            <a:r>
              <a:rPr dirty="0" sz="1000" spc="-155" i="1">
                <a:latin typeface="Arial"/>
                <a:cs typeface="Arial"/>
              </a:rPr>
              <a:t> </a:t>
            </a:r>
            <a:r>
              <a:rPr dirty="0" sz="1000" spc="-5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38100" marR="887094">
              <a:lnSpc>
                <a:spcPct val="125299"/>
              </a:lnSpc>
              <a:spcBef>
                <a:spcPts val="320"/>
              </a:spcBef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zero-</a:t>
            </a:r>
            <a:r>
              <a:rPr dirty="0" sz="1100" spc="-45">
                <a:latin typeface="Tahoma"/>
                <a:cs typeface="Tahoma"/>
              </a:rPr>
              <a:t>crossings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row </a:t>
            </a: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slope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zero-</a:t>
            </a:r>
            <a:r>
              <a:rPr dirty="0" sz="1100" spc="-10">
                <a:latin typeface="Tahoma"/>
                <a:cs typeface="Tahoma"/>
              </a:rPr>
              <a:t>crossings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latin typeface="Tahoma"/>
                <a:cs typeface="Tahoma"/>
              </a:rPr>
              <a:t>Apply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threshold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slope and </a:t>
            </a:r>
            <a:r>
              <a:rPr dirty="0" sz="1100" spc="-40">
                <a:latin typeface="Tahoma"/>
                <a:cs typeface="Tahoma"/>
              </a:rPr>
              <a:t>mark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66251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76284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486317"/>
            <a:ext cx="65265" cy="6526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8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37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38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Canny</a:t>
            </a:r>
            <a:r>
              <a:rPr dirty="0" spc="-55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35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Quality of an </a:t>
            </a:r>
            <a:r>
              <a:rPr dirty="0" sz="900" spc="-20">
                <a:latin typeface="Arial MT"/>
                <a:cs typeface="Arial MT"/>
              </a:rPr>
              <a:t>edge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9799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214550"/>
            <a:ext cx="4070350" cy="112839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92455">
              <a:lnSpc>
                <a:spcPct val="102600"/>
              </a:lnSpc>
              <a:spcBef>
                <a:spcPts val="55"/>
              </a:spcBef>
            </a:pPr>
            <a:r>
              <a:rPr dirty="0" sz="1100" spc="-30" b="1">
                <a:latin typeface="Arial"/>
                <a:cs typeface="Arial"/>
              </a:rPr>
              <a:t>Good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Detection:</a:t>
            </a:r>
            <a:r>
              <a:rPr dirty="0" sz="1100" spc="7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optimal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detector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must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minimize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 spc="-30">
                <a:latin typeface="Tahoma"/>
                <a:cs typeface="Tahoma"/>
              </a:rPr>
              <a:t>probability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false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positives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well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false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negatives.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 spc="-30" b="1">
                <a:latin typeface="Arial"/>
                <a:cs typeface="Arial"/>
              </a:rPr>
              <a:t>Good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Localization: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edges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detected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must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close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possible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true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edges.</a:t>
            </a:r>
            <a:endParaRPr sz="1100">
              <a:latin typeface="Tahoma"/>
              <a:cs typeface="Tahoma"/>
            </a:endParaRPr>
          </a:p>
          <a:p>
            <a:pPr marL="12700" marR="149860">
              <a:lnSpc>
                <a:spcPct val="102600"/>
              </a:lnSpc>
              <a:spcBef>
                <a:spcPts val="300"/>
              </a:spcBef>
            </a:pPr>
            <a:r>
              <a:rPr dirty="0" sz="1100" spc="-40" b="1">
                <a:latin typeface="Arial"/>
                <a:cs typeface="Arial"/>
              </a:rPr>
              <a:t>Single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70" b="1">
                <a:latin typeface="Arial"/>
                <a:cs typeface="Arial"/>
              </a:rPr>
              <a:t>Response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Constraint:</a:t>
            </a:r>
            <a:r>
              <a:rPr dirty="0" sz="1100" spc="9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detector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return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point </a:t>
            </a:r>
            <a:r>
              <a:rPr dirty="0" sz="1100" spc="-20">
                <a:latin typeface="Tahoma"/>
                <a:cs typeface="Tahoma"/>
              </a:rPr>
              <a:t>only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 </a:t>
            </a:r>
            <a:r>
              <a:rPr dirty="0" sz="1100" spc="-70">
                <a:latin typeface="Tahoma"/>
                <a:cs typeface="Tahoma"/>
              </a:rPr>
              <a:t>edge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point.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8009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62213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39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Canny</a:t>
            </a:r>
            <a:r>
              <a:rPr dirty="0" spc="-55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35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Algorithm</a:t>
            </a:r>
            <a:r>
              <a:rPr dirty="0" sz="900" spc="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steps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07131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29" y="12941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209228"/>
            <a:ext cx="2529205" cy="1075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6875">
              <a:lnSpc>
                <a:spcPct val="125299"/>
              </a:lnSpc>
              <a:spcBef>
                <a:spcPts val="100"/>
              </a:spcBef>
            </a:pPr>
            <a:r>
              <a:rPr dirty="0" sz="1100" spc="-20">
                <a:latin typeface="Tahoma"/>
                <a:cs typeface="Tahoma"/>
              </a:rPr>
              <a:t>Smooth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image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Gaussian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filter </a:t>
            </a:r>
            <a:r>
              <a:rPr dirty="0" sz="1100" spc="-30">
                <a:latin typeface="Tahoma"/>
                <a:cs typeface="Tahoma"/>
              </a:rPr>
              <a:t>Compute </a:t>
            </a:r>
            <a:r>
              <a:rPr dirty="0" sz="1100" spc="-35">
                <a:latin typeface="Tahoma"/>
                <a:cs typeface="Tahoma"/>
              </a:rPr>
              <a:t>derivative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filtered </a:t>
            </a:r>
            <a:r>
              <a:rPr dirty="0" sz="1100" spc="-60">
                <a:latin typeface="Tahoma"/>
                <a:cs typeface="Tahoma"/>
              </a:rPr>
              <a:t>image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40">
                <a:latin typeface="Tahoma"/>
                <a:cs typeface="Tahoma"/>
              </a:rPr>
              <a:t> magnitude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orientation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 </a:t>
            </a:r>
            <a:r>
              <a:rPr dirty="0" sz="1100">
                <a:latin typeface="Tahoma"/>
                <a:cs typeface="Tahoma"/>
              </a:rPr>
              <a:t>Apply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“Non-</a:t>
            </a:r>
            <a:r>
              <a:rPr dirty="0" sz="1100" spc="-25">
                <a:latin typeface="Tahoma"/>
                <a:cs typeface="Tahoma"/>
              </a:rPr>
              <a:t>maximum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Suppression”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Apply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“Hysteresis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Threshold”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17164"/>
            <a:ext cx="114214" cy="1142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51917" y="150423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27196"/>
            <a:ext cx="114214" cy="11421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917" y="17142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37229"/>
            <a:ext cx="114214" cy="1142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51917" y="192429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47261"/>
            <a:ext cx="114214" cy="11421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51917" y="2134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40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61544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Derivative</a:t>
            </a:r>
            <a:r>
              <a:rPr dirty="0" sz="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9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Gaussian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410" y="1018095"/>
            <a:ext cx="3600449" cy="16046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41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Canny</a:t>
            </a:r>
            <a:r>
              <a:rPr dirty="0" spc="-55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35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Smoothing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Derivatives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028417"/>
            <a:ext cx="114214" cy="1142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1929" y="101548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974291"/>
            <a:ext cx="6502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Smoothing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6059" y="1146364"/>
            <a:ext cx="16935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0">
                <a:latin typeface="Calibri"/>
                <a:cs typeface="Calibri"/>
              </a:rPr>
              <a:t>S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295">
                <a:latin typeface="Calibri"/>
                <a:cs typeface="Calibri"/>
              </a:rPr>
              <a:t>I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20">
                <a:latin typeface="Cambria"/>
                <a:cs typeface="Cambria"/>
              </a:rPr>
              <a:t> </a:t>
            </a:r>
            <a:r>
              <a:rPr dirty="0" sz="1100" spc="-75" i="1">
                <a:latin typeface="Arial"/>
                <a:cs typeface="Arial"/>
              </a:rPr>
              <a:t>g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5" i="1">
                <a:latin typeface="Arial"/>
                <a:cs typeface="Arial"/>
              </a:rPr>
              <a:t>g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15">
                <a:latin typeface="Cambria"/>
                <a:cs typeface="Cambria"/>
              </a:rPr>
              <a:t> </a:t>
            </a:r>
            <a:r>
              <a:rPr dirty="0" sz="1100" spc="245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54807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917" y="144187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1400681"/>
            <a:ext cx="509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Derivate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28394" y="1572754"/>
            <a:ext cx="16287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60">
                <a:latin typeface="Cambria"/>
                <a:cs typeface="Cambria"/>
              </a:rPr>
              <a:t>∇</a:t>
            </a:r>
            <a:r>
              <a:rPr dirty="0" sz="1100" spc="160">
                <a:latin typeface="Calibri"/>
                <a:cs typeface="Calibri"/>
              </a:rPr>
              <a:t>S</a:t>
            </a:r>
            <a:r>
              <a:rPr dirty="0" sz="1100" spc="55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250">
                <a:latin typeface="Cambria"/>
                <a:cs typeface="Cambria"/>
              </a:rPr>
              <a:t>∇</a:t>
            </a:r>
            <a:r>
              <a:rPr dirty="0" sz="1100" spc="-60">
                <a:latin typeface="Cambria"/>
                <a:cs typeface="Cambri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g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145">
                <a:latin typeface="Calibri"/>
                <a:cs typeface="Calibri"/>
              </a:rPr>
              <a:t>I</a:t>
            </a:r>
            <a:r>
              <a:rPr dirty="0" sz="1100" spc="145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60">
                <a:latin typeface="Tahoma"/>
                <a:cs typeface="Tahoma"/>
              </a:rPr>
              <a:t>(</a:t>
            </a:r>
            <a:r>
              <a:rPr dirty="0" sz="1100" spc="60">
                <a:latin typeface="Cambria"/>
                <a:cs typeface="Cambria"/>
              </a:rPr>
              <a:t>∇</a:t>
            </a:r>
            <a:r>
              <a:rPr dirty="0" sz="1100" spc="60" i="1">
                <a:latin typeface="Arial"/>
                <a:cs typeface="Arial"/>
              </a:rPr>
              <a:t>g</a:t>
            </a:r>
            <a:r>
              <a:rPr dirty="0" sz="1100" spc="-185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245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899" y="2184119"/>
            <a:ext cx="3600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60">
                <a:latin typeface="Cambria"/>
                <a:cs typeface="Cambria"/>
              </a:rPr>
              <a:t>∇</a:t>
            </a:r>
            <a:r>
              <a:rPr dirty="0" sz="1100" spc="160">
                <a:latin typeface="Calibri"/>
                <a:cs typeface="Calibri"/>
              </a:rPr>
              <a:t>S</a:t>
            </a:r>
            <a:r>
              <a:rPr dirty="0" sz="1100" spc="50">
                <a:latin typeface="Calibri"/>
                <a:cs typeface="Calibri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6838" y="2097861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6103" y="2155963"/>
            <a:ext cx="74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0536" y="2269933"/>
            <a:ext cx="195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Arial"/>
                <a:cs typeface="Arial"/>
              </a:rPr>
              <a:t>g</a:t>
            </a:r>
            <a:r>
              <a:rPr dirty="0" baseline="-10416" sz="1200" spc="-3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2822" y="1988767"/>
            <a:ext cx="307975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21615" algn="l"/>
              </a:tabLst>
            </a:pPr>
            <a:r>
              <a:rPr dirty="0" sz="110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6055" y="2184119"/>
            <a:ext cx="3448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5">
                <a:latin typeface="Cambria"/>
                <a:cs typeface="Cambria"/>
              </a:rPr>
              <a:t> </a:t>
            </a:r>
            <a:r>
              <a:rPr dirty="0" sz="1100" spc="295">
                <a:latin typeface="Calibri"/>
                <a:cs typeface="Calibri"/>
              </a:rPr>
              <a:t>I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06867" y="2155963"/>
            <a:ext cx="74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37601" y="2097861"/>
            <a:ext cx="363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g</a:t>
            </a:r>
            <a:r>
              <a:rPr dirty="0" sz="1100" spc="400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15">
                <a:latin typeface="Cambria"/>
                <a:cs typeface="Cambria"/>
              </a:rPr>
              <a:t> </a:t>
            </a:r>
            <a:r>
              <a:rPr dirty="0" sz="1100" spc="245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11299" y="2269933"/>
            <a:ext cx="416559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g</a:t>
            </a:r>
            <a:r>
              <a:rPr dirty="0" baseline="-10416" sz="1200" i="1">
                <a:latin typeface="Arial"/>
                <a:cs typeface="Arial"/>
              </a:rPr>
              <a:t>y</a:t>
            </a:r>
            <a:r>
              <a:rPr dirty="0" baseline="-10416" sz="1200" spc="179" i="1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25">
                <a:latin typeface="Cambria"/>
                <a:cs typeface="Cambria"/>
              </a:rPr>
              <a:t> </a:t>
            </a:r>
            <a:r>
              <a:rPr dirty="0" sz="1100" spc="245">
                <a:latin typeface="Calibri"/>
                <a:cs typeface="Calibri"/>
              </a:rPr>
              <a:t>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63585" y="1988767"/>
            <a:ext cx="511809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25450" algn="l"/>
              </a:tabLst>
            </a:pPr>
            <a:r>
              <a:rPr dirty="0" sz="110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9376" y="2320682"/>
            <a:ext cx="3714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90">
                <a:latin typeface="Cambria"/>
                <a:cs typeface="Cambria"/>
              </a:rPr>
              <a:t>∇</a:t>
            </a:r>
            <a:r>
              <a:rPr dirty="0" sz="1100" spc="90" i="1">
                <a:latin typeface="Arial"/>
                <a:cs typeface="Arial"/>
              </a:rPr>
              <a:t>g</a:t>
            </a:r>
            <a:r>
              <a:rPr dirty="0" sz="1100" spc="12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2543" y="2343112"/>
            <a:ext cx="127635" cy="0"/>
          </a:xfrm>
          <a:custGeom>
            <a:avLst/>
            <a:gdLst/>
            <a:ahLst/>
            <a:cxnLst/>
            <a:rect l="l" t="t" r="r" b="b"/>
            <a:pathLst>
              <a:path w="127635" h="0">
                <a:moveTo>
                  <a:pt x="0" y="0"/>
                </a:moveTo>
                <a:lnTo>
                  <a:pt x="12745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369843" y="2201200"/>
            <a:ext cx="142240" cy="44195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915"/>
              </a:lnSpc>
              <a:spcBef>
                <a:spcPts val="95"/>
              </a:spcBef>
            </a:pPr>
            <a:r>
              <a:rPr dirty="0" sz="800" spc="-25" i="1">
                <a:latin typeface="Calibri"/>
                <a:cs typeface="Calibri"/>
              </a:rPr>
              <a:t>∂</a:t>
            </a:r>
            <a:r>
              <a:rPr dirty="0" sz="800" spc="-25" i="1">
                <a:latin typeface="Arial"/>
                <a:cs typeface="Arial"/>
              </a:rPr>
              <a:t>g</a:t>
            </a:r>
            <a:endParaRPr sz="800">
              <a:latin typeface="Arial"/>
              <a:cs typeface="Arial"/>
            </a:endParaRPr>
          </a:p>
          <a:p>
            <a:pPr marL="15240">
              <a:lnSpc>
                <a:spcPts val="725"/>
              </a:lnSpc>
            </a:pPr>
            <a:r>
              <a:rPr dirty="0" sz="800" spc="-25" i="1">
                <a:latin typeface="Calibri"/>
                <a:cs typeface="Calibri"/>
              </a:rPr>
              <a:t>∂</a:t>
            </a:r>
            <a:r>
              <a:rPr dirty="0" sz="800" spc="-25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725"/>
              </a:lnSpc>
            </a:pPr>
            <a:r>
              <a:rPr dirty="0" u="sng" sz="800" spc="-25" i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dirty="0" u="sng" sz="8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</a:t>
            </a:r>
            <a:endParaRPr sz="800">
              <a:latin typeface="Arial"/>
              <a:cs typeface="Arial"/>
            </a:endParaRPr>
          </a:p>
          <a:p>
            <a:pPr marL="14604">
              <a:lnSpc>
                <a:spcPts val="915"/>
              </a:lnSpc>
            </a:pPr>
            <a:r>
              <a:rPr dirty="0" sz="800" spc="-25" i="1">
                <a:latin typeface="Calibri"/>
                <a:cs typeface="Calibri"/>
              </a:rPr>
              <a:t>∂</a:t>
            </a:r>
            <a:r>
              <a:rPr dirty="0" sz="800" spc="-25" i="1">
                <a:latin typeface="Arial"/>
                <a:cs typeface="Arial"/>
              </a:rPr>
              <a:t>y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73843" y="2083764"/>
            <a:ext cx="3454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50825" algn="l"/>
              </a:tabLst>
            </a:pPr>
            <a:r>
              <a:rPr dirty="0" sz="1100" spc="195">
                <a:latin typeface="Arial MT"/>
                <a:cs typeface="Arial MT"/>
              </a:rPr>
              <a:t>"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50">
                <a:latin typeface="Arial MT"/>
                <a:cs typeface="Arial MT"/>
              </a:rPr>
              <a:t>#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31793" y="2320682"/>
            <a:ext cx="1333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52049" y="2234424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 i="1">
                <a:latin typeface="Arial"/>
                <a:cs typeface="Arial"/>
              </a:rPr>
              <a:t>g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21328" y="2292526"/>
            <a:ext cx="749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x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25760" y="2406496"/>
            <a:ext cx="195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Arial"/>
                <a:cs typeface="Arial"/>
              </a:rPr>
              <a:t>g</a:t>
            </a:r>
            <a:r>
              <a:rPr dirty="0" baseline="-10416" sz="1200" spc="-37" i="1">
                <a:latin typeface="Arial"/>
                <a:cs typeface="Arial"/>
              </a:rPr>
              <a:t>y</a:t>
            </a:r>
            <a:endParaRPr baseline="-10416"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78034" y="2125331"/>
            <a:ext cx="307975" cy="19177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21615" algn="l"/>
              </a:tabLst>
            </a:pPr>
            <a:r>
              <a:rPr dirty="0" sz="1100">
                <a:latin typeface="Arial MT"/>
                <a:cs typeface="Arial MT"/>
              </a:rPr>
              <a:t>	 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2" name="object 3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Smoothing</a:t>
            </a:r>
            <a:r>
              <a:rPr dirty="0" sz="9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Derivatives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508" y="1068768"/>
            <a:ext cx="3818254" cy="152019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43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70370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Canny</a:t>
            </a:r>
            <a:r>
              <a:rPr dirty="0" spc="-55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10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Gradient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Magnitude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Direction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250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79054"/>
            <a:ext cx="3082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Computer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magnitude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direction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502" y="1379524"/>
            <a:ext cx="3929379" cy="120014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44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44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Maximum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Suppression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848" y="1090993"/>
            <a:ext cx="3760469" cy="138684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45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Maximum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Suppression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718" y="1014539"/>
            <a:ext cx="4000500" cy="16002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46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Non</a:t>
            </a:r>
            <a:r>
              <a:rPr dirty="0" sz="9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FFFFF"/>
                </a:solidFill>
                <a:latin typeface="Arial MT"/>
                <a:cs typeface="Arial MT"/>
              </a:rPr>
              <a:t>Maximum</a:t>
            </a:r>
            <a:r>
              <a:rPr dirty="0" sz="9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Suppression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172" y="1066101"/>
            <a:ext cx="3867149" cy="14935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47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13930"/>
            <a:ext cx="160096" cy="1600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83773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10098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125492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85837"/>
            <a:ext cx="1683385" cy="8331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78435" marR="635000" indent="-166370">
              <a:lnSpc>
                <a:spcPct val="102600"/>
              </a:lnSpc>
              <a:spcBef>
                <a:spcPts val="55"/>
              </a:spcBef>
              <a:buClr>
                <a:srgbClr val="FAFAFD"/>
              </a:buClr>
              <a:buSzPct val="72727"/>
              <a:buFont typeface="Arial MT"/>
              <a:buAutoNum type="arabicPlain"/>
              <a:tabLst>
                <a:tab pos="316230" algn="l"/>
              </a:tabLst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6" action="ppaction://hlinksldjump"/>
              </a:rPr>
              <a:t>detection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</a:rPr>
              <a:t>	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Overview</a:t>
            </a:r>
            <a:endParaRPr sz="1100">
              <a:latin typeface="Tahoma"/>
              <a:cs typeface="Tahoma"/>
            </a:endParaRPr>
          </a:p>
          <a:p>
            <a:pPr marL="316230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Discontinuity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in</a:t>
            </a:r>
            <a:r>
              <a:rPr dirty="0" sz="1100" spc="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Images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1015"/>
              </a:spcBef>
              <a:buClr>
                <a:srgbClr val="FAFAFD"/>
              </a:buClr>
              <a:buSzPct val="72727"/>
              <a:buFont typeface="Arial MT"/>
              <a:buAutoNum type="arabicPlain" startAt="2"/>
              <a:tabLst>
                <a:tab pos="179070" algn="l"/>
              </a:tabLst>
            </a:pPr>
            <a:r>
              <a:rPr dirty="0" sz="1100" spc="-4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Edges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9" action="ppaction://hlinksldjump"/>
              </a:rPr>
              <a:t>Characterization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1551762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55110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173" y="1523668"/>
            <a:ext cx="15068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Effect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of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noise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over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6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edges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1848599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184793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072398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244471"/>
            <a:ext cx="65265" cy="6526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5173" y="1820505"/>
            <a:ext cx="203263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Edge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15" action="ppaction://hlinksldjump"/>
              </a:rPr>
              <a:t>detectors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Prewit</a:t>
            </a:r>
            <a:r>
              <a:rPr dirty="0" sz="1100" spc="-6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and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Sobel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Edge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 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  <a:hlinkClick r:id="rId16" action="ppaction://hlinksldjump"/>
              </a:rPr>
              <a:t>Detector</a:t>
            </a:r>
            <a:r>
              <a:rPr dirty="0" sz="1100" spc="-3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Marr</a:t>
            </a:r>
            <a:r>
              <a:rPr dirty="0" sz="1100" spc="-5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Hildreth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2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Edge</a:t>
            </a:r>
            <a:r>
              <a:rPr dirty="0" sz="1100" spc="-45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17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9280" y="2489581"/>
            <a:ext cx="160096" cy="16009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743" y="248893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9582" y="2713393"/>
            <a:ext cx="65265" cy="6526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9582" y="2885465"/>
            <a:ext cx="65265" cy="6526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95173" y="2461487"/>
            <a:ext cx="17494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Canny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Edge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21" action="ppaction://hlinksldjump"/>
              </a:rPr>
              <a:t>Detector</a:t>
            </a:r>
            <a:endParaRPr sz="110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dirty="0" sz="1100" spc="-3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Non-</a:t>
            </a:r>
            <a:r>
              <a:rPr dirty="0" sz="1100" spc="-20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Maximum</a:t>
            </a:r>
            <a:r>
              <a:rPr dirty="0" sz="1100" spc="-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  <a:hlinkClick r:id="rId22" action="ppaction://hlinksldjump"/>
              </a:rPr>
              <a:t>Suppression</a:t>
            </a:r>
            <a:r>
              <a:rPr dirty="0" sz="1100" spc="-55">
                <a:solidFill>
                  <a:srgbClr val="CCCCCC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  <a:hlinkClick r:id="rId23" action="ppaction://hlinksldjump"/>
              </a:rPr>
              <a:t>Hysteresis</a:t>
            </a:r>
            <a:r>
              <a:rPr dirty="0" sz="1100" spc="-25">
                <a:latin typeface="Tahoma"/>
                <a:cs typeface="Tahoma"/>
                <a:hlinkClick r:id="rId23" action="ppaction://hlinksldjump"/>
              </a:rPr>
              <a:t> </a:t>
            </a:r>
            <a:r>
              <a:rPr dirty="0" sz="1100" spc="-10">
                <a:latin typeface="Tahoma"/>
                <a:cs typeface="Tahoma"/>
                <a:hlinkClick r:id="rId23" action="ppaction://hlinksldjump"/>
              </a:rPr>
              <a:t>Threshold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3" name="object 23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47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53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Canny</a:t>
            </a:r>
            <a:r>
              <a:rPr dirty="0" spc="-55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35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0">
                <a:latin typeface="Arial MT"/>
                <a:cs typeface="Arial MT"/>
              </a:rPr>
              <a:t>Hysteresis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Threshold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752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3732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689150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40992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238986"/>
            <a:ext cx="4078604" cy="9988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pixel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  <a:p>
            <a:pPr marL="289560" marR="1459865">
              <a:lnSpc>
                <a:spcPct val="100000"/>
              </a:lnSpc>
              <a:spcBef>
                <a:spcPts val="175"/>
              </a:spcBef>
            </a:pPr>
            <a:r>
              <a:rPr dirty="0" sz="1000" spc="-35">
                <a:latin typeface="Tahoma"/>
                <a:cs typeface="Tahoma"/>
              </a:rPr>
              <a:t>above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 b="1">
                <a:latin typeface="Arial"/>
                <a:cs typeface="Arial"/>
              </a:rPr>
              <a:t>High</a:t>
            </a:r>
            <a:r>
              <a:rPr dirty="0" sz="1000" spc="-10">
                <a:latin typeface="Tahoma"/>
                <a:cs typeface="Tahoma"/>
              </a:rPr>
              <a:t>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declare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an</a:t>
            </a:r>
            <a:r>
              <a:rPr dirty="0" sz="1000" spc="-30">
                <a:latin typeface="Tahoma"/>
                <a:cs typeface="Tahoma"/>
              </a:rPr>
              <a:t> ‘edge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pixel’ </a:t>
            </a:r>
            <a:r>
              <a:rPr dirty="0" sz="1000" spc="-30">
                <a:latin typeface="Tahoma"/>
                <a:cs typeface="Tahoma"/>
              </a:rPr>
              <a:t>below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 b="1">
                <a:latin typeface="Arial"/>
                <a:cs typeface="Arial"/>
              </a:rPr>
              <a:t>Low</a:t>
            </a:r>
            <a:r>
              <a:rPr dirty="0" sz="1000" spc="-45">
                <a:latin typeface="Tahoma"/>
                <a:cs typeface="Tahoma"/>
              </a:rPr>
              <a:t>,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declare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as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“non-</a:t>
            </a:r>
            <a:r>
              <a:rPr dirty="0" sz="1000" spc="-40">
                <a:latin typeface="Tahoma"/>
                <a:cs typeface="Tahoma"/>
              </a:rPr>
              <a:t>edge-</a:t>
            </a:r>
            <a:r>
              <a:rPr dirty="0" sz="1000" spc="-10">
                <a:latin typeface="Tahoma"/>
                <a:cs typeface="Tahoma"/>
              </a:rPr>
              <a:t>pixel”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5"/>
              </a:spcBef>
            </a:pPr>
            <a:r>
              <a:rPr dirty="0" sz="1000" spc="-25" b="1">
                <a:latin typeface="Arial"/>
                <a:cs typeface="Arial"/>
              </a:rPr>
              <a:t>between</a:t>
            </a:r>
            <a:r>
              <a:rPr dirty="0" sz="1000" spc="30" b="1">
                <a:latin typeface="Arial"/>
                <a:cs typeface="Arial"/>
              </a:rPr>
              <a:t> </a:t>
            </a:r>
            <a:r>
              <a:rPr dirty="0" sz="1000">
                <a:latin typeface="Tahoma"/>
                <a:cs typeface="Tahoma"/>
              </a:rPr>
              <a:t>“low”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“high”,Consider</a:t>
            </a:r>
            <a:r>
              <a:rPr dirty="0" sz="1000">
                <a:latin typeface="Tahoma"/>
                <a:cs typeface="Tahoma"/>
              </a:rPr>
              <a:t> its </a:t>
            </a:r>
            <a:r>
              <a:rPr dirty="0" sz="1000" spc="-45">
                <a:latin typeface="Tahoma"/>
                <a:cs typeface="Tahoma"/>
              </a:rPr>
              <a:t>neighbors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iteratively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then </a:t>
            </a:r>
            <a:r>
              <a:rPr dirty="0" sz="1000" spc="-40">
                <a:latin typeface="Tahoma"/>
                <a:cs typeface="Tahoma"/>
              </a:rPr>
              <a:t>declare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“edge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pixel”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if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FF0000"/>
                </a:solidFill>
                <a:latin typeface="Tahoma"/>
                <a:cs typeface="Tahoma"/>
              </a:rPr>
              <a:t>connected</a:t>
            </a:r>
            <a:r>
              <a:rPr dirty="0" sz="1000" spc="-15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’edge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pixel’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directly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or </a:t>
            </a:r>
            <a:r>
              <a:rPr dirty="0" sz="1000">
                <a:latin typeface="Tahoma"/>
                <a:cs typeface="Tahoma"/>
              </a:rPr>
              <a:t>via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pixels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between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“low”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“high”.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48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Hysteresis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Threshold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4660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63154"/>
            <a:ext cx="8724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Connectedness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305" y="1421142"/>
            <a:ext cx="3622675" cy="116014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49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Hysteresis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Threshold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170" y="1266126"/>
            <a:ext cx="3916044" cy="132460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50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20"/>
              <a:t>Canny</a:t>
            </a:r>
            <a:r>
              <a:rPr dirty="0" spc="-55"/>
              <a:t> </a:t>
            </a:r>
            <a:r>
              <a:rPr dirty="0" spc="-35"/>
              <a:t>Edge</a:t>
            </a:r>
            <a:r>
              <a:rPr dirty="0" spc="-55"/>
              <a:t> </a:t>
            </a:r>
            <a:r>
              <a:rPr dirty="0" spc="-35"/>
              <a:t>detector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0">
                <a:latin typeface="Arial MT"/>
                <a:cs typeface="Arial MT"/>
              </a:rPr>
              <a:t>Hysteresis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Threshold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4752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3732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840992"/>
            <a:ext cx="52590" cy="5259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pc="-20"/>
              <a:t>Scan</a:t>
            </a:r>
            <a:r>
              <a:rPr dirty="0" spc="-50"/>
              <a:t> </a:t>
            </a:r>
            <a:r>
              <a:rPr dirty="0" spc="-10"/>
              <a:t>the</a:t>
            </a:r>
            <a:r>
              <a:rPr dirty="0" spc="-50"/>
              <a:t> </a:t>
            </a:r>
            <a:r>
              <a:rPr dirty="0" spc="-40"/>
              <a:t>image</a:t>
            </a:r>
            <a:r>
              <a:rPr dirty="0" spc="-45"/>
              <a:t> </a:t>
            </a:r>
            <a:r>
              <a:rPr dirty="0" spc="-20"/>
              <a:t>from</a:t>
            </a:r>
            <a:r>
              <a:rPr dirty="0" spc="-50"/>
              <a:t> </a:t>
            </a:r>
            <a:r>
              <a:rPr dirty="0"/>
              <a:t>left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10"/>
              <a:t>right,</a:t>
            </a:r>
            <a:r>
              <a:rPr dirty="0" spc="-45"/>
              <a:t> </a:t>
            </a:r>
            <a:r>
              <a:rPr dirty="0" spc="-40"/>
              <a:t>top-</a:t>
            </a:r>
            <a:r>
              <a:rPr dirty="0" spc="-10"/>
              <a:t>bottom.</a:t>
            </a:r>
          </a:p>
          <a:p>
            <a:pPr marL="289560" marR="79375">
              <a:lnSpc>
                <a:spcPct val="100000"/>
              </a:lnSpc>
              <a:spcBef>
                <a:spcPts val="175"/>
              </a:spcBef>
            </a:pPr>
            <a:r>
              <a:rPr dirty="0" sz="1000"/>
              <a:t>The</a:t>
            </a:r>
            <a:r>
              <a:rPr dirty="0" sz="1000" spc="-35"/>
              <a:t> </a:t>
            </a:r>
            <a:r>
              <a:rPr dirty="0" sz="1000" spc="-25"/>
              <a:t>gradient </a:t>
            </a:r>
            <a:r>
              <a:rPr dirty="0" sz="1000" spc="-35"/>
              <a:t>magnitude</a:t>
            </a:r>
            <a:r>
              <a:rPr dirty="0" sz="1000" spc="-25"/>
              <a:t> </a:t>
            </a:r>
            <a:r>
              <a:rPr dirty="0" sz="1000"/>
              <a:t>at</a:t>
            </a:r>
            <a:r>
              <a:rPr dirty="0" sz="1000" spc="-30"/>
              <a:t> </a:t>
            </a:r>
            <a:r>
              <a:rPr dirty="0" sz="1000"/>
              <a:t>a</a:t>
            </a:r>
            <a:r>
              <a:rPr dirty="0" sz="1000" spc="-35"/>
              <a:t> </a:t>
            </a:r>
            <a:r>
              <a:rPr dirty="0" sz="1000" spc="-20"/>
              <a:t>pixel</a:t>
            </a:r>
            <a:r>
              <a:rPr dirty="0" sz="1000" spc="-25"/>
              <a:t> </a:t>
            </a:r>
            <a:r>
              <a:rPr dirty="0" sz="1000"/>
              <a:t>is</a:t>
            </a:r>
            <a:r>
              <a:rPr dirty="0" sz="1000" spc="-30"/>
              <a:t> </a:t>
            </a:r>
            <a:r>
              <a:rPr dirty="0" sz="1000" spc="-35"/>
              <a:t>above</a:t>
            </a:r>
            <a:r>
              <a:rPr dirty="0" sz="1000" spc="-30"/>
              <a:t> </a:t>
            </a:r>
            <a:r>
              <a:rPr dirty="0" sz="1000"/>
              <a:t>a</a:t>
            </a:r>
            <a:r>
              <a:rPr dirty="0" sz="1000" spc="-25"/>
              <a:t> </a:t>
            </a:r>
            <a:r>
              <a:rPr dirty="0" sz="1000" spc="-20"/>
              <a:t>high</a:t>
            </a:r>
            <a:r>
              <a:rPr dirty="0" sz="1000" spc="-30"/>
              <a:t> </a:t>
            </a:r>
            <a:r>
              <a:rPr dirty="0" sz="1000" spc="-35"/>
              <a:t>threshold</a:t>
            </a:r>
            <a:r>
              <a:rPr dirty="0" sz="1000" spc="-25"/>
              <a:t> </a:t>
            </a:r>
            <a:r>
              <a:rPr dirty="0" sz="1000" spc="-35"/>
              <a:t>declare </a:t>
            </a:r>
            <a:r>
              <a:rPr dirty="0" sz="1000"/>
              <a:t>that</a:t>
            </a:r>
            <a:r>
              <a:rPr dirty="0" sz="1000" spc="-75"/>
              <a:t> </a:t>
            </a:r>
            <a:r>
              <a:rPr dirty="0" sz="1000" spc="-20"/>
              <a:t>as</a:t>
            </a:r>
            <a:r>
              <a:rPr dirty="0" sz="1000" spc="-45"/>
              <a:t> </a:t>
            </a:r>
            <a:r>
              <a:rPr dirty="0" sz="1000"/>
              <a:t>an</a:t>
            </a:r>
            <a:r>
              <a:rPr dirty="0" sz="1000" spc="-40"/>
              <a:t> </a:t>
            </a:r>
            <a:r>
              <a:rPr dirty="0" sz="1000" spc="-60"/>
              <a:t>edge</a:t>
            </a:r>
            <a:r>
              <a:rPr dirty="0" sz="1000" spc="-20"/>
              <a:t> </a:t>
            </a:r>
            <a:r>
              <a:rPr dirty="0" sz="1000" spc="-10"/>
              <a:t>point</a:t>
            </a:r>
            <a:endParaRPr sz="1000"/>
          </a:p>
          <a:p>
            <a:pPr marL="289560">
              <a:lnSpc>
                <a:spcPts val="1190"/>
              </a:lnSpc>
            </a:pPr>
            <a:r>
              <a:rPr dirty="0" sz="1000" spc="-10"/>
              <a:t>Then</a:t>
            </a:r>
            <a:r>
              <a:rPr dirty="0" sz="1000" spc="-30"/>
              <a:t> </a:t>
            </a:r>
            <a:r>
              <a:rPr dirty="0" sz="1000" spc="-35"/>
              <a:t>recursively</a:t>
            </a:r>
            <a:r>
              <a:rPr dirty="0" sz="1000" spc="-25"/>
              <a:t> </a:t>
            </a:r>
            <a:r>
              <a:rPr dirty="0" sz="1000" spc="-35"/>
              <a:t>consider</a:t>
            </a:r>
            <a:r>
              <a:rPr dirty="0" sz="1000" spc="-30"/>
              <a:t> </a:t>
            </a:r>
            <a:r>
              <a:rPr dirty="0" sz="1000" spc="-20"/>
              <a:t>the</a:t>
            </a:r>
            <a:r>
              <a:rPr dirty="0" sz="1000" spc="-30"/>
              <a:t> </a:t>
            </a:r>
            <a:r>
              <a:rPr dirty="0" sz="1000" spc="-45"/>
              <a:t>neighbors</a:t>
            </a:r>
            <a:r>
              <a:rPr dirty="0" sz="1000" spc="-30"/>
              <a:t> </a:t>
            </a:r>
            <a:r>
              <a:rPr dirty="0" sz="1000"/>
              <a:t>of</a:t>
            </a:r>
            <a:r>
              <a:rPr dirty="0" sz="1000" spc="-30"/>
              <a:t> </a:t>
            </a:r>
            <a:r>
              <a:rPr dirty="0" sz="1000" spc="-10"/>
              <a:t>this</a:t>
            </a:r>
            <a:r>
              <a:rPr dirty="0" sz="1000" spc="-30"/>
              <a:t> </a:t>
            </a:r>
            <a:r>
              <a:rPr dirty="0" sz="1000" spc="-10"/>
              <a:t>pixel.</a:t>
            </a:r>
            <a:endParaRPr sz="1000"/>
          </a:p>
          <a:p>
            <a:pPr marL="289560" marR="5080">
              <a:lnSpc>
                <a:spcPts val="1200"/>
              </a:lnSpc>
              <a:spcBef>
                <a:spcPts val="40"/>
              </a:spcBef>
            </a:pPr>
            <a:r>
              <a:rPr dirty="0" sz="1000"/>
              <a:t>“If</a:t>
            </a:r>
            <a:r>
              <a:rPr dirty="0" sz="1000" spc="-30"/>
              <a:t> </a:t>
            </a:r>
            <a:r>
              <a:rPr dirty="0" sz="1000" spc="-10"/>
              <a:t>the</a:t>
            </a:r>
            <a:r>
              <a:rPr dirty="0" sz="1000" spc="-25"/>
              <a:t> </a:t>
            </a:r>
            <a:r>
              <a:rPr dirty="0" sz="1000" spc="-30"/>
              <a:t>gradient </a:t>
            </a:r>
            <a:r>
              <a:rPr dirty="0" sz="1000" spc="-35"/>
              <a:t>magnitude</a:t>
            </a:r>
            <a:r>
              <a:rPr dirty="0" sz="1000" spc="-25"/>
              <a:t> </a:t>
            </a:r>
            <a:r>
              <a:rPr dirty="0" sz="1000"/>
              <a:t>is</a:t>
            </a:r>
            <a:r>
              <a:rPr dirty="0" sz="1000" spc="-25"/>
              <a:t> </a:t>
            </a:r>
            <a:r>
              <a:rPr dirty="0" sz="1000" spc="-35"/>
              <a:t>above</a:t>
            </a:r>
            <a:r>
              <a:rPr dirty="0" sz="1000" spc="-25"/>
              <a:t> </a:t>
            </a:r>
            <a:r>
              <a:rPr dirty="0" sz="1000" spc="-20"/>
              <a:t>the</a:t>
            </a:r>
            <a:r>
              <a:rPr dirty="0" sz="1000" spc="-30"/>
              <a:t> </a:t>
            </a:r>
            <a:r>
              <a:rPr dirty="0" sz="1000" spc="-20"/>
              <a:t>low </a:t>
            </a:r>
            <a:r>
              <a:rPr dirty="0" sz="1000" spc="-35"/>
              <a:t>threshold</a:t>
            </a:r>
            <a:r>
              <a:rPr dirty="0" sz="1000" spc="-25"/>
              <a:t> </a:t>
            </a:r>
            <a:r>
              <a:rPr dirty="0" sz="1000" spc="-40"/>
              <a:t>declare</a:t>
            </a:r>
            <a:r>
              <a:rPr dirty="0" sz="1000" spc="-30"/>
              <a:t> </a:t>
            </a:r>
            <a:r>
              <a:rPr dirty="0" sz="1000"/>
              <a:t>that</a:t>
            </a:r>
            <a:r>
              <a:rPr dirty="0" sz="1000" spc="-25"/>
              <a:t> as </a:t>
            </a:r>
            <a:r>
              <a:rPr dirty="0" sz="1000"/>
              <a:t>an</a:t>
            </a:r>
            <a:r>
              <a:rPr dirty="0" sz="1000" spc="-60"/>
              <a:t> edge</a:t>
            </a:r>
            <a:r>
              <a:rPr dirty="0" sz="1000" spc="-20"/>
              <a:t> </a:t>
            </a:r>
            <a:r>
              <a:rPr dirty="0" sz="1000" spc="-10"/>
              <a:t>pixel.”</a:t>
            </a:r>
            <a:endParaRPr sz="1000"/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51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5786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Canny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detector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40">
                <a:solidFill>
                  <a:srgbClr val="FFFFFF"/>
                </a:solidFill>
                <a:latin typeface="Arial MT"/>
                <a:cs typeface="Arial MT"/>
              </a:rPr>
              <a:t>Hysteresis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MT"/>
                <a:cs typeface="Arial MT"/>
              </a:rPr>
              <a:t>Threshold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402" y="1009205"/>
            <a:ext cx="3782694" cy="15779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44383" y="3351784"/>
            <a:ext cx="149987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::</a:t>
            </a:r>
            <a:r>
              <a:rPr dirty="0" sz="600" spc="10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Edge</a:t>
            </a:r>
            <a:r>
              <a:rPr dirty="0" sz="600" spc="4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Detection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June</a:t>
            </a:r>
            <a:r>
              <a:rPr dirty="0" spc="5"/>
              <a:t> </a:t>
            </a:r>
            <a:r>
              <a:rPr dirty="0"/>
              <a:t>17,</a:t>
            </a:r>
            <a:r>
              <a:rPr dirty="0" spc="10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52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53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1306" y="1276751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6097" y="3341243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30">
                <a:latin typeface="Arial MT"/>
                <a:cs typeface="Arial MT"/>
              </a:rPr>
              <a:t>59</a:t>
            </a:r>
            <a:r>
              <a:rPr dirty="0" sz="600" spc="-55">
                <a:latin typeface="Arial MT"/>
                <a:cs typeface="Arial MT"/>
              </a:rPr>
              <a:t> </a:t>
            </a:r>
            <a:r>
              <a:rPr dirty="0" sz="600" spc="150">
                <a:latin typeface="Arial MT"/>
                <a:cs typeface="Arial MT"/>
              </a:rPr>
              <a:t>/</a:t>
            </a:r>
            <a:r>
              <a:rPr dirty="0" sz="600" spc="-55">
                <a:latin typeface="Arial MT"/>
                <a:cs typeface="Arial MT"/>
              </a:rPr>
              <a:t> </a:t>
            </a:r>
            <a:r>
              <a:rPr dirty="0" sz="600" spc="-35">
                <a:latin typeface="Arial MT"/>
                <a:cs typeface="Arial MT"/>
              </a:rPr>
              <a:t>59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 </dc:creator>
  <dc:title>Introduction to Computer Vision (CS642) - Lecture 05 - Edge Detection</dc:title>
  <dcterms:created xsi:type="dcterms:W3CDTF">2026-06-21T00:50:26Z</dcterms:created>
  <dcterms:modified xsi:type="dcterms:W3CDTF">2026-06-21T00:50:26Z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2026-06-21T00:00:00Z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oducer">
    <vt:lpwstr>pdfTeX-1.40.22</vt:lpwstr>
  </property>
</Properties>
</file>