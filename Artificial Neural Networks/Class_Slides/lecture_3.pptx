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14943"/>
            <a:ext cx="1132205" cy="4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4943"/>
            <a:ext cx="601345" cy="4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539329"/>
            <a:ext cx="4080510" cy="2346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-9372" y="3351784"/>
            <a:ext cx="108966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539909" y="3351784"/>
            <a:ext cx="65628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318521" y="3351784"/>
            <a:ext cx="28130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12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slide" Target="slide1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" Target="slide1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10.xml"/><Relationship Id="rId9" Type="http://schemas.openxmlformats.org/officeDocument/2006/relationships/slide" Target="slide14.xml"/><Relationship Id="rId10" Type="http://schemas.openxmlformats.org/officeDocument/2006/relationships/slide" Target="slide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10.xml"/><Relationship Id="rId9" Type="http://schemas.openxmlformats.org/officeDocument/2006/relationships/slide" Target="slide14.xml"/><Relationship Id="rId10" Type="http://schemas.openxmlformats.org/officeDocument/2006/relationships/slide" Target="slide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jpg"/><Relationship Id="rId6" Type="http://schemas.openxmlformats.org/officeDocument/2006/relationships/slide" Target="slide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" Target="slide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" Target="slide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slide" Target="slide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10.xml"/><Relationship Id="rId9" Type="http://schemas.openxmlformats.org/officeDocument/2006/relationships/slide" Target="slide14.xml"/><Relationship Id="rId10" Type="http://schemas.openxmlformats.org/officeDocument/2006/relationships/slide" Target="slide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slide" Target="slide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3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10.xml"/><Relationship Id="rId9" Type="http://schemas.openxmlformats.org/officeDocument/2006/relationships/slide" Target="slide14.xml"/><Relationship Id="rId10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slide" Target="slide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30.png"/><Relationship Id="rId4" Type="http://schemas.openxmlformats.org/officeDocument/2006/relationships/slide" Target="slide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10.xml"/><Relationship Id="rId9" Type="http://schemas.openxmlformats.org/officeDocument/2006/relationships/slide" Target="slide14.xml"/><Relationship Id="rId10" Type="http://schemas.openxmlformats.org/officeDocument/2006/relationships/slide" Target="slide1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slide" Target="slide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slide" Target="slide1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10.xml"/><Relationship Id="rId9" Type="http://schemas.openxmlformats.org/officeDocument/2006/relationships/slide" Target="slide14.xml"/><Relationship Id="rId10" Type="http://schemas.openxmlformats.org/officeDocument/2006/relationships/slide" Target="slide1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slide" Target="slide1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Relationship Id="rId3" Type="http://schemas.openxmlformats.org/officeDocument/2006/relationships/slide" Target="slide1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10.xml"/><Relationship Id="rId9" Type="http://schemas.openxmlformats.org/officeDocument/2006/relationships/slide" Target="slide14.xml"/><Relationship Id="rId10" Type="http://schemas.openxmlformats.org/officeDocument/2006/relationships/slide" Target="slide1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slide" Target="slide1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40.png"/><Relationship Id="rId4" Type="http://schemas.openxmlformats.org/officeDocument/2006/relationships/slide" Target="slide1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10.xml"/><Relationship Id="rId9" Type="http://schemas.openxmlformats.org/officeDocument/2006/relationships/slide" Target="slide14.xml"/><Relationship Id="rId10" Type="http://schemas.openxmlformats.org/officeDocument/2006/relationships/slide" Target="slide1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3" Type="http://schemas.openxmlformats.org/officeDocument/2006/relationships/slide" Target="slide1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Relationship Id="rId3" Type="http://schemas.openxmlformats.org/officeDocument/2006/relationships/slide" Target="slide1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10.xml"/><Relationship Id="rId9" Type="http://schemas.openxmlformats.org/officeDocument/2006/relationships/slide" Target="slide14.xml"/><Relationship Id="rId10" Type="http://schemas.openxmlformats.org/officeDocument/2006/relationships/slide" Target="slide1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38.png"/><Relationship Id="rId6" Type="http://schemas.openxmlformats.org/officeDocument/2006/relationships/slide" Target="slide1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10.xml"/><Relationship Id="rId9" Type="http://schemas.openxmlformats.org/officeDocument/2006/relationships/slide" Target="slide14.xml"/><Relationship Id="rId10" Type="http://schemas.openxmlformats.org/officeDocument/2006/relationships/slide" Target="slide1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slide" Target="slide1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693305"/>
            <a:ext cx="4483735" cy="748030"/>
            <a:chOff x="87743" y="693305"/>
            <a:chExt cx="4483735" cy="748030"/>
          </a:xfrm>
        </p:grpSpPr>
        <p:sp>
          <p:nvSpPr>
            <p:cNvPr id="3" name="object 3"/>
            <p:cNvSpPr/>
            <p:nvPr/>
          </p:nvSpPr>
          <p:spPr>
            <a:xfrm>
              <a:off x="87743" y="693305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8544" y="756562"/>
              <a:ext cx="4432935" cy="684530"/>
            </a:xfrm>
            <a:custGeom>
              <a:avLst/>
              <a:gdLst/>
              <a:ahLst/>
              <a:cxnLst/>
              <a:rect l="l" t="t" r="r" b="b"/>
              <a:pathLst>
                <a:path w="4432935" h="684530">
                  <a:moveTo>
                    <a:pt x="4432566" y="0"/>
                  </a:moveTo>
                  <a:lnTo>
                    <a:pt x="0" y="0"/>
                  </a:lnTo>
                  <a:lnTo>
                    <a:pt x="0" y="684405"/>
                  </a:lnTo>
                  <a:lnTo>
                    <a:pt x="4432566" y="68440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7743" y="737726"/>
              <a:ext cx="4432935" cy="652780"/>
            </a:xfrm>
            <a:custGeom>
              <a:avLst/>
              <a:gdLst/>
              <a:ahLst/>
              <a:cxnLst/>
              <a:rect l="l" t="t" r="r" b="b"/>
              <a:pathLst>
                <a:path w="4432935" h="652780">
                  <a:moveTo>
                    <a:pt x="4432566" y="0"/>
                  </a:moveTo>
                  <a:lnTo>
                    <a:pt x="0" y="0"/>
                  </a:lnTo>
                  <a:lnTo>
                    <a:pt x="0" y="601641"/>
                  </a:lnTo>
                  <a:lnTo>
                    <a:pt x="4008" y="621365"/>
                  </a:lnTo>
                  <a:lnTo>
                    <a:pt x="14922" y="637518"/>
                  </a:lnTo>
                  <a:lnTo>
                    <a:pt x="31075" y="648433"/>
                  </a:lnTo>
                  <a:lnTo>
                    <a:pt x="50800" y="652441"/>
                  </a:lnTo>
                  <a:lnTo>
                    <a:pt x="4381765" y="652441"/>
                  </a:lnTo>
                  <a:lnTo>
                    <a:pt x="4401490" y="648433"/>
                  </a:lnTo>
                  <a:lnTo>
                    <a:pt x="4417643" y="637518"/>
                  </a:lnTo>
                  <a:lnTo>
                    <a:pt x="4428558" y="621365"/>
                  </a:lnTo>
                  <a:lnTo>
                    <a:pt x="4432566" y="60164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8544" y="756562"/>
            <a:ext cx="4432935" cy="68453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algn="ctr" marR="93980">
              <a:lnSpc>
                <a:spcPct val="100000"/>
              </a:lnSpc>
              <a:spcBef>
                <a:spcPts val="52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Artificial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Neural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(CS642)</a:t>
            </a:r>
            <a:endParaRPr sz="1400">
              <a:latin typeface="Tahoma"/>
              <a:cs typeface="Tahoma"/>
            </a:endParaRPr>
          </a:p>
          <a:p>
            <a:pPr algn="ctr" marR="93980">
              <a:lnSpc>
                <a:spcPct val="100000"/>
              </a:lnSpc>
              <a:spcBef>
                <a:spcPts val="325"/>
              </a:spcBef>
            </a:pP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Lecture</a:t>
            </a:r>
            <a:r>
              <a:rPr dirty="0" sz="11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03</a:t>
            </a:r>
            <a:r>
              <a:rPr dirty="0" sz="11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- 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Dataset</a:t>
            </a:r>
            <a:r>
              <a:rPr dirty="0" sz="11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for </a:t>
            </a:r>
            <a:r>
              <a:rPr dirty="0" sz="1100" spc="-6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dirty="0" sz="11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87448" y="1600249"/>
            <a:ext cx="1233170" cy="9283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 MT"/>
                <a:cs typeface="Arial MT"/>
              </a:rPr>
              <a:t>Dr.</a:t>
            </a:r>
            <a:r>
              <a:rPr dirty="0" sz="1100" spc="1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Abdul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Basit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 algn="ctr" marL="12700" marR="5080">
              <a:lnSpc>
                <a:spcPts val="950"/>
              </a:lnSpc>
            </a:pPr>
            <a:r>
              <a:rPr dirty="0" sz="800" spc="-20">
                <a:latin typeface="Arial MT"/>
                <a:cs typeface="Arial MT"/>
              </a:rPr>
              <a:t>Associate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Professor</a:t>
            </a:r>
            <a:r>
              <a:rPr dirty="0" sz="800" spc="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-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CSIT </a:t>
            </a:r>
            <a:r>
              <a:rPr dirty="0" sz="800">
                <a:latin typeface="Arial MT"/>
                <a:cs typeface="Arial MT"/>
              </a:rPr>
              <a:t>University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Balochistan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100" spc="-25">
                <a:latin typeface="Arial MT"/>
                <a:cs typeface="Arial MT"/>
              </a:rPr>
              <a:t>October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24,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2025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Lec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74358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5"/>
              <a:t>Reference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5453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371078"/>
            <a:ext cx="3827145" cy="535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 MT"/>
                <a:cs typeface="Arial MT"/>
              </a:rPr>
              <a:t>Most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material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-25">
                <a:latin typeface="Arial MT"/>
                <a:cs typeface="Arial MT"/>
              </a:rPr>
              <a:t> lecture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are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reprinted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book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130">
                <a:latin typeface="Arial MT"/>
                <a:cs typeface="Arial MT"/>
              </a:rPr>
              <a:t>“ </a:t>
            </a:r>
            <a:r>
              <a:rPr dirty="0" sz="1100" spc="-75">
                <a:latin typeface="Arial MT"/>
                <a:cs typeface="Arial MT"/>
              </a:rPr>
              <a:t>Deep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Learning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Computer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Vision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Python”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by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“Dr.</a:t>
            </a:r>
            <a:r>
              <a:rPr dirty="0" sz="1100" spc="1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Adrian Rosebrock.’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Lec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66929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Datasets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66152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50367" rIns="0" bIns="0" rtlCol="0" vert="horz">
            <a:spAutoFit/>
          </a:bodyPr>
          <a:lstStyle/>
          <a:p>
            <a:pPr marL="12700" marR="132080">
              <a:lnSpc>
                <a:spcPct val="102600"/>
              </a:lnSpc>
              <a:spcBef>
                <a:spcPts val="55"/>
              </a:spcBef>
            </a:pPr>
            <a:r>
              <a:rPr dirty="0" spc="-45"/>
              <a:t>Before</a:t>
            </a:r>
            <a:r>
              <a:rPr dirty="0" spc="-10"/>
              <a:t> </a:t>
            </a:r>
            <a:r>
              <a:rPr dirty="0" spc="-95"/>
              <a:t>we</a:t>
            </a:r>
            <a:r>
              <a:rPr dirty="0" spc="20"/>
              <a:t> </a:t>
            </a:r>
            <a:r>
              <a:rPr dirty="0" spc="-40"/>
              <a:t>dive</a:t>
            </a:r>
            <a:r>
              <a:rPr dirty="0" spc="5"/>
              <a:t> </a:t>
            </a:r>
            <a:r>
              <a:rPr dirty="0"/>
              <a:t>into</a:t>
            </a:r>
            <a:r>
              <a:rPr dirty="0" spc="5"/>
              <a:t> </a:t>
            </a:r>
            <a:r>
              <a:rPr dirty="0" spc="-40"/>
              <a:t>any</a:t>
            </a:r>
            <a:r>
              <a:rPr dirty="0" spc="5"/>
              <a:t> </a:t>
            </a:r>
            <a:r>
              <a:rPr dirty="0" spc="-60"/>
              <a:t>code</a:t>
            </a:r>
            <a:r>
              <a:rPr dirty="0" spc="5"/>
              <a:t> </a:t>
            </a:r>
            <a:r>
              <a:rPr dirty="0" spc="-25"/>
              <a:t>looking</a:t>
            </a:r>
            <a:r>
              <a:rPr dirty="0" spc="5"/>
              <a:t> </a:t>
            </a:r>
            <a:r>
              <a:rPr dirty="0"/>
              <a:t>at</a:t>
            </a:r>
            <a:r>
              <a:rPr dirty="0" spc="5"/>
              <a:t> </a:t>
            </a:r>
            <a:r>
              <a:rPr dirty="0" spc="-25"/>
              <a:t>actually</a:t>
            </a:r>
            <a:r>
              <a:rPr dirty="0" spc="10"/>
              <a:t> </a:t>
            </a:r>
            <a:r>
              <a:rPr dirty="0" spc="-45"/>
              <a:t>how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5"/>
              <a:t> </a:t>
            </a:r>
            <a:r>
              <a:rPr dirty="0" spc="-20"/>
              <a:t>take</a:t>
            </a:r>
            <a:r>
              <a:rPr dirty="0" spc="5"/>
              <a:t> </a:t>
            </a:r>
            <a:r>
              <a:rPr dirty="0" spc="-50"/>
              <a:t>a </a:t>
            </a:r>
            <a:r>
              <a:rPr dirty="0" spc="-35"/>
              <a:t>dataset</a:t>
            </a:r>
            <a:r>
              <a:rPr dirty="0" spc="-25"/>
              <a:t> </a:t>
            </a:r>
            <a:r>
              <a:rPr dirty="0" spc="-45"/>
              <a:t>and</a:t>
            </a:r>
            <a:r>
              <a:rPr dirty="0" spc="-20"/>
              <a:t> </a:t>
            </a:r>
            <a:r>
              <a:rPr dirty="0" spc="-10"/>
              <a:t>build</a:t>
            </a:r>
            <a:r>
              <a:rPr dirty="0" spc="-20"/>
              <a:t> an </a:t>
            </a:r>
            <a:r>
              <a:rPr dirty="0" spc="-50"/>
              <a:t>image</a:t>
            </a:r>
            <a:r>
              <a:rPr dirty="0" spc="-20"/>
              <a:t> </a:t>
            </a:r>
            <a:r>
              <a:rPr dirty="0" spc="-40"/>
              <a:t>classifier,</a:t>
            </a:r>
            <a:r>
              <a:rPr dirty="0" spc="-20"/>
              <a:t> </a:t>
            </a:r>
            <a:r>
              <a:rPr dirty="0"/>
              <a:t>let’s</a:t>
            </a:r>
            <a:r>
              <a:rPr dirty="0" spc="-20"/>
              <a:t> </a:t>
            </a:r>
            <a:r>
              <a:rPr dirty="0"/>
              <a:t>first</a:t>
            </a:r>
            <a:r>
              <a:rPr dirty="0" spc="-20"/>
              <a:t> </a:t>
            </a:r>
            <a:r>
              <a:rPr dirty="0" spc="-45"/>
              <a:t>review</a:t>
            </a:r>
            <a:r>
              <a:rPr dirty="0" spc="-20"/>
              <a:t> </a:t>
            </a:r>
            <a:r>
              <a:rPr dirty="0" spc="-50">
                <a:solidFill>
                  <a:srgbClr val="FF0000"/>
                </a:solidFill>
              </a:rPr>
              <a:t>datasets</a:t>
            </a:r>
            <a:r>
              <a:rPr dirty="0" spc="-20">
                <a:solidFill>
                  <a:srgbClr val="FF0000"/>
                </a:solidFill>
              </a:rPr>
              <a:t> </a:t>
            </a:r>
            <a:r>
              <a:rPr dirty="0" spc="-20"/>
              <a:t>that </a:t>
            </a:r>
            <a:r>
              <a:rPr dirty="0" spc="-10"/>
              <a:t>you’ll</a:t>
            </a:r>
            <a:r>
              <a:rPr dirty="0" spc="-55"/>
              <a:t> </a:t>
            </a:r>
            <a:r>
              <a:rPr dirty="0" spc="-135"/>
              <a:t>see</a:t>
            </a:r>
            <a:r>
              <a:rPr dirty="0" spc="55"/>
              <a:t> </a:t>
            </a:r>
            <a:r>
              <a:rPr dirty="0" spc="-45"/>
              <a:t>inside</a:t>
            </a:r>
            <a:r>
              <a:rPr dirty="0"/>
              <a:t> </a:t>
            </a:r>
            <a:r>
              <a:rPr dirty="0" spc="-75"/>
              <a:t>Deep</a:t>
            </a:r>
            <a:r>
              <a:rPr dirty="0"/>
              <a:t> </a:t>
            </a:r>
            <a:r>
              <a:rPr dirty="0" spc="-50"/>
              <a:t>Learning</a:t>
            </a:r>
            <a:r>
              <a:rPr dirty="0" spc="5"/>
              <a:t> </a:t>
            </a:r>
            <a:r>
              <a:rPr dirty="0"/>
              <a:t>for </a:t>
            </a:r>
            <a:r>
              <a:rPr dirty="0" spc="-40"/>
              <a:t>Computer</a:t>
            </a:r>
            <a:r>
              <a:rPr dirty="0"/>
              <a:t> </a:t>
            </a:r>
            <a:r>
              <a:rPr dirty="0" spc="-10"/>
              <a:t>Vision.</a:t>
            </a: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pc="-85"/>
              <a:t>Some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55"/>
              <a:t>these</a:t>
            </a:r>
            <a:r>
              <a:rPr dirty="0" spc="5"/>
              <a:t> </a:t>
            </a:r>
            <a:r>
              <a:rPr dirty="0" spc="-50"/>
              <a:t>datasets</a:t>
            </a:r>
            <a:r>
              <a:rPr dirty="0" spc="5"/>
              <a:t> </a:t>
            </a:r>
            <a:r>
              <a:rPr dirty="0" spc="-60"/>
              <a:t>are</a:t>
            </a:r>
            <a:r>
              <a:rPr dirty="0" spc="5"/>
              <a:t> </a:t>
            </a:r>
            <a:r>
              <a:rPr dirty="0" spc="-50"/>
              <a:t>essentially</a:t>
            </a:r>
            <a:r>
              <a:rPr dirty="0" spc="5"/>
              <a:t> </a:t>
            </a:r>
            <a:r>
              <a:rPr dirty="0" spc="-55">
                <a:solidFill>
                  <a:srgbClr val="FF0000"/>
                </a:solidFill>
              </a:rPr>
              <a:t>solved</a:t>
            </a:r>
            <a:r>
              <a:rPr dirty="0" spc="-55"/>
              <a:t>,</a:t>
            </a:r>
            <a:r>
              <a:rPr dirty="0" spc="5"/>
              <a:t> </a:t>
            </a:r>
            <a:r>
              <a:rPr dirty="0" spc="-45"/>
              <a:t>enabling</a:t>
            </a:r>
            <a:r>
              <a:rPr dirty="0" spc="5"/>
              <a:t> </a:t>
            </a:r>
            <a:r>
              <a:rPr dirty="0" spc="-60"/>
              <a:t>us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5"/>
              <a:t> </a:t>
            </a:r>
            <a:r>
              <a:rPr dirty="0" spc="-10"/>
              <a:t>obtain </a:t>
            </a:r>
            <a:r>
              <a:rPr dirty="0" spc="-40"/>
              <a:t>extremely</a:t>
            </a:r>
            <a:r>
              <a:rPr dirty="0" spc="15"/>
              <a:t> </a:t>
            </a:r>
            <a:r>
              <a:rPr dirty="0" spc="-50"/>
              <a:t>high-accuracy</a:t>
            </a:r>
            <a:r>
              <a:rPr dirty="0" spc="20"/>
              <a:t> </a:t>
            </a:r>
            <a:r>
              <a:rPr dirty="0" spc="-55"/>
              <a:t>classifiers</a:t>
            </a:r>
            <a:r>
              <a:rPr dirty="0" spc="15"/>
              <a:t> </a:t>
            </a:r>
            <a:r>
              <a:rPr dirty="0"/>
              <a:t>(¿</a:t>
            </a:r>
            <a:r>
              <a:rPr dirty="0" spc="20"/>
              <a:t> </a:t>
            </a:r>
            <a:r>
              <a:rPr dirty="0" spc="-50"/>
              <a:t>95%</a:t>
            </a:r>
            <a:r>
              <a:rPr dirty="0" spc="15"/>
              <a:t> </a:t>
            </a:r>
            <a:r>
              <a:rPr dirty="0" spc="-40"/>
              <a:t>accuracy)</a:t>
            </a:r>
            <a:r>
              <a:rPr dirty="0" spc="20"/>
              <a:t> </a:t>
            </a:r>
            <a:r>
              <a:rPr dirty="0"/>
              <a:t>with</a:t>
            </a:r>
            <a:r>
              <a:rPr dirty="0" spc="20"/>
              <a:t> </a:t>
            </a:r>
            <a:r>
              <a:rPr dirty="0"/>
              <a:t>little</a:t>
            </a:r>
            <a:r>
              <a:rPr dirty="0" spc="15"/>
              <a:t> </a:t>
            </a:r>
            <a:r>
              <a:rPr dirty="0" spc="-10"/>
              <a:t>effort.</a:t>
            </a:r>
          </a:p>
          <a:p>
            <a:pPr marL="12700" marR="196850">
              <a:lnSpc>
                <a:spcPct val="102600"/>
              </a:lnSpc>
              <a:spcBef>
                <a:spcPts val="300"/>
              </a:spcBef>
            </a:pPr>
            <a:r>
              <a:rPr dirty="0"/>
              <a:t>A</a:t>
            </a:r>
            <a:r>
              <a:rPr dirty="0" spc="-5"/>
              <a:t> </a:t>
            </a:r>
            <a:r>
              <a:rPr dirty="0" spc="-20"/>
              <a:t>few</a:t>
            </a:r>
            <a:r>
              <a:rPr dirty="0"/>
              <a:t> of the </a:t>
            </a:r>
            <a:r>
              <a:rPr dirty="0" spc="-50"/>
              <a:t>datasets</a:t>
            </a:r>
            <a:r>
              <a:rPr dirty="0"/>
              <a:t> </a:t>
            </a:r>
            <a:r>
              <a:rPr dirty="0" spc="-60"/>
              <a:t>are</a:t>
            </a:r>
            <a:r>
              <a:rPr dirty="0" spc="-5"/>
              <a:t> </a:t>
            </a:r>
            <a:r>
              <a:rPr dirty="0"/>
              <a:t>part of </a:t>
            </a:r>
            <a:r>
              <a:rPr dirty="0" spc="-50"/>
              <a:t>image</a:t>
            </a:r>
            <a:r>
              <a:rPr dirty="0"/>
              <a:t> </a:t>
            </a:r>
            <a:r>
              <a:rPr dirty="0" spc="-40"/>
              <a:t>classification</a:t>
            </a:r>
            <a:r>
              <a:rPr dirty="0"/>
              <a:t> </a:t>
            </a:r>
            <a:r>
              <a:rPr dirty="0" spc="-25"/>
              <a:t>competitions </a:t>
            </a:r>
            <a:r>
              <a:rPr dirty="0" spc="-45"/>
              <a:t>and</a:t>
            </a:r>
            <a:r>
              <a:rPr dirty="0" spc="-30"/>
              <a:t> </a:t>
            </a:r>
            <a:r>
              <a:rPr dirty="0" spc="-70"/>
              <a:t>challenges</a:t>
            </a:r>
            <a:r>
              <a:rPr dirty="0" spc="-5"/>
              <a:t> </a:t>
            </a:r>
            <a:r>
              <a:rPr dirty="0"/>
              <a:t>(e.x.,</a:t>
            </a:r>
            <a:r>
              <a:rPr dirty="0" spc="-45"/>
              <a:t> Kaggle</a:t>
            </a:r>
            <a:r>
              <a:rPr dirty="0" spc="-15"/>
              <a:t> </a:t>
            </a:r>
            <a:r>
              <a:rPr dirty="0" spc="-55"/>
              <a:t>Dogs</a:t>
            </a:r>
            <a:r>
              <a:rPr dirty="0" spc="-20"/>
              <a:t> </a:t>
            </a:r>
            <a:r>
              <a:rPr dirty="0" spc="-10"/>
              <a:t>vs.</a:t>
            </a:r>
            <a:r>
              <a:rPr dirty="0" spc="70"/>
              <a:t> </a:t>
            </a:r>
            <a:r>
              <a:rPr dirty="0" spc="-40"/>
              <a:t>Cats</a:t>
            </a:r>
            <a:r>
              <a:rPr dirty="0" spc="-15"/>
              <a:t> </a:t>
            </a:r>
            <a:r>
              <a:rPr dirty="0" spc="-45"/>
              <a:t>and</a:t>
            </a:r>
            <a:r>
              <a:rPr dirty="0" spc="-20"/>
              <a:t> </a:t>
            </a:r>
            <a:r>
              <a:rPr dirty="0" spc="-75"/>
              <a:t>cs231n</a:t>
            </a:r>
            <a:r>
              <a:rPr dirty="0"/>
              <a:t> </a:t>
            </a:r>
            <a:r>
              <a:rPr dirty="0" spc="-20"/>
              <a:t>Tiny </a:t>
            </a:r>
            <a:r>
              <a:rPr dirty="0" spc="-45"/>
              <a:t>ImageNet</a:t>
            </a:r>
            <a:r>
              <a:rPr dirty="0" spc="-15"/>
              <a:t> </a:t>
            </a:r>
            <a:r>
              <a:rPr dirty="0" spc="-10"/>
              <a:t>200).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2034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02447"/>
            <a:ext cx="65265" cy="6526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Lec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383055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160685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77892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950999"/>
            <a:ext cx="65265" cy="6526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29743" y="1354961"/>
            <a:ext cx="2053589" cy="70802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16230" marR="5080" indent="-304165">
              <a:lnSpc>
                <a:spcPct val="102600"/>
              </a:lnSpc>
              <a:spcBef>
                <a:spcPts val="55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r>
              <a:rPr dirty="0" baseline="6944" sz="1200" spc="247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 spc="-4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Datasets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for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image</a:t>
            </a:r>
            <a:r>
              <a:rPr dirty="0" sz="1100" spc="1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classification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000000"/>
                </a:solidFill>
                <a:latin typeface="Arial MT"/>
                <a:cs typeface="Arial MT"/>
                <a:hlinkClick r:id="rId7" action="ppaction://hlinksldjump"/>
              </a:rPr>
              <a:t>MNIST</a:t>
            </a:r>
            <a:endParaRPr sz="1100">
              <a:latin typeface="Arial MT"/>
              <a:cs typeface="Arial MT"/>
            </a:endParaRPr>
          </a:p>
          <a:p>
            <a:pPr marL="316230" marR="1167765">
              <a:lnSpc>
                <a:spcPct val="102600"/>
              </a:lnSpc>
            </a:pPr>
            <a:r>
              <a:rPr dirty="0" sz="1100" spc="-75">
                <a:solidFill>
                  <a:srgbClr val="000000"/>
                </a:solidFill>
                <a:latin typeface="Arial MT"/>
                <a:cs typeface="Arial MT"/>
                <a:hlinkClick r:id="rId8" action="ppaction://hlinksldjump"/>
              </a:rPr>
              <a:t>CIFAR-</a:t>
            </a:r>
            <a:r>
              <a:rPr dirty="0" sz="1100" spc="-60">
                <a:solidFill>
                  <a:srgbClr val="000000"/>
                </a:solidFill>
                <a:latin typeface="Arial MT"/>
                <a:cs typeface="Arial MT"/>
                <a:hlinkClick r:id="rId8" action="ppaction://hlinksldjump"/>
              </a:rPr>
              <a:t>10</a:t>
            </a:r>
            <a:r>
              <a:rPr dirty="0" sz="1100" spc="-6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000000"/>
                </a:solidFill>
                <a:latin typeface="Arial MT"/>
                <a:cs typeface="Arial MT"/>
                <a:hlinkClick r:id="rId9" action="ppaction://hlinksldjump"/>
              </a:rPr>
              <a:t>SMILES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Lec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58803" y="3351784"/>
            <a:ext cx="24066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383055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160685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77892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950999"/>
            <a:ext cx="65265" cy="6526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29743" y="1354961"/>
            <a:ext cx="2053589" cy="70802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16230" marR="5080" indent="-304165">
              <a:lnSpc>
                <a:spcPct val="102600"/>
              </a:lnSpc>
              <a:spcBef>
                <a:spcPts val="55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r>
              <a:rPr dirty="0" baseline="6944" sz="1200" spc="247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 spc="-4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Datasets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for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image</a:t>
            </a:r>
            <a:r>
              <a:rPr dirty="0" sz="1100" spc="1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classification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000000"/>
                </a:solidFill>
                <a:latin typeface="Arial MT"/>
                <a:cs typeface="Arial MT"/>
                <a:hlinkClick r:id="rId7" action="ppaction://hlinksldjump"/>
              </a:rPr>
              <a:t>MNIST</a:t>
            </a:r>
            <a:endParaRPr sz="1100">
              <a:latin typeface="Arial MT"/>
              <a:cs typeface="Arial MT"/>
            </a:endParaRPr>
          </a:p>
          <a:p>
            <a:pPr marL="316230" marR="1167765">
              <a:lnSpc>
                <a:spcPct val="102600"/>
              </a:lnSpc>
            </a:pPr>
            <a:r>
              <a:rPr dirty="0" sz="1100" spc="-75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CIFAR-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10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9" action="ppaction://hlinksldjump"/>
              </a:rPr>
              <a:t>SMILES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Lec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58803" y="3351784"/>
            <a:ext cx="24066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MNIST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22769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539329"/>
            <a:ext cx="3980179" cy="11283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MNIST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(“NIST”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stands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0000"/>
                </a:solidFill>
                <a:latin typeface="Arial MT"/>
                <a:cs typeface="Arial MT"/>
              </a:rPr>
              <a:t>National</a:t>
            </a:r>
            <a:r>
              <a:rPr dirty="0" sz="110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0000"/>
                </a:solidFill>
                <a:latin typeface="Arial MT"/>
                <a:cs typeface="Arial MT"/>
              </a:rPr>
              <a:t>Institute</a:t>
            </a:r>
            <a:r>
              <a:rPr dirty="0" sz="110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dirty="0" sz="110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 spc="-55">
                <a:solidFill>
                  <a:srgbClr val="FF0000"/>
                </a:solidFill>
                <a:latin typeface="Arial MT"/>
                <a:cs typeface="Arial MT"/>
              </a:rPr>
              <a:t>Standards</a:t>
            </a:r>
            <a:r>
              <a:rPr dirty="0" sz="110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FF0000"/>
                </a:solidFill>
                <a:latin typeface="Arial MT"/>
                <a:cs typeface="Arial MT"/>
              </a:rPr>
              <a:t>and </a:t>
            </a:r>
            <a:r>
              <a:rPr dirty="0" sz="1100" spc="-55">
                <a:solidFill>
                  <a:srgbClr val="FF0000"/>
                </a:solidFill>
                <a:latin typeface="Arial MT"/>
                <a:cs typeface="Arial MT"/>
              </a:rPr>
              <a:t>Technology</a:t>
            </a:r>
            <a:r>
              <a:rPr dirty="0" sz="11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while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130">
                <a:latin typeface="Arial MT"/>
                <a:cs typeface="Arial MT"/>
              </a:rPr>
              <a:t>“M”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stands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FF0000"/>
                </a:solidFill>
                <a:latin typeface="Arial MT"/>
                <a:cs typeface="Arial MT"/>
              </a:rPr>
              <a:t>modified</a:t>
            </a:r>
            <a:r>
              <a:rPr dirty="0" sz="110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 spc="-105">
                <a:latin typeface="Arial MT"/>
                <a:cs typeface="Arial MT"/>
              </a:rPr>
              <a:t>as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data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has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been </a:t>
            </a:r>
            <a:r>
              <a:rPr dirty="0" sz="1100" spc="-80">
                <a:latin typeface="Arial MT"/>
                <a:cs typeface="Arial MT"/>
              </a:rPr>
              <a:t>preprocessed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focus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solely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 the </a:t>
            </a:r>
            <a:r>
              <a:rPr dirty="0" sz="1100" spc="-20">
                <a:latin typeface="Arial MT"/>
                <a:cs typeface="Arial MT"/>
              </a:rPr>
              <a:t>task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 digit </a:t>
            </a:r>
            <a:r>
              <a:rPr dirty="0" sz="1100" spc="-10">
                <a:latin typeface="Arial MT"/>
                <a:cs typeface="Arial MT"/>
              </a:rPr>
              <a:t>recognition.</a:t>
            </a:r>
            <a:endParaRPr sz="1100">
              <a:latin typeface="Arial MT"/>
              <a:cs typeface="Arial MT"/>
            </a:endParaRPr>
          </a:p>
          <a:p>
            <a:pPr algn="just" marL="12700" marR="231140">
              <a:lnSpc>
                <a:spcPct val="102600"/>
              </a:lnSpc>
              <a:spcBef>
                <a:spcPts val="300"/>
              </a:spcBef>
            </a:pPr>
            <a:r>
              <a:rPr dirty="0" sz="1100" spc="-35">
                <a:latin typeface="Arial MT"/>
                <a:cs typeface="Arial MT"/>
              </a:rPr>
              <a:t>dataset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one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most </a:t>
            </a:r>
            <a:r>
              <a:rPr dirty="0" sz="1100" spc="-25">
                <a:latin typeface="Arial MT"/>
                <a:cs typeface="Arial MT"/>
              </a:rPr>
              <a:t>well </a:t>
            </a:r>
            <a:r>
              <a:rPr dirty="0" sz="1100" spc="-35">
                <a:latin typeface="Arial MT"/>
                <a:cs typeface="Arial MT"/>
              </a:rPr>
              <a:t>studied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datasets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computer </a:t>
            </a:r>
            <a:r>
              <a:rPr dirty="0" sz="1100" spc="-35">
                <a:latin typeface="Arial MT"/>
                <a:cs typeface="Arial MT"/>
              </a:rPr>
              <a:t>vision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machine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learning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literature.</a:t>
            </a:r>
            <a:endParaRPr sz="11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334"/>
              </a:spcBef>
            </a:pPr>
            <a:r>
              <a:rPr dirty="0" sz="1100" spc="-10">
                <a:latin typeface="Arial MT"/>
                <a:cs typeface="Arial MT"/>
              </a:rPr>
              <a:t>This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datasets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 MT"/>
                <a:cs typeface="Arial MT"/>
              </a:rPr>
              <a:t>benchmark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7695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5906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5716" y="1795005"/>
            <a:ext cx="3756659" cy="75133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844" y="2658559"/>
            <a:ext cx="433197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1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goal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this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dataset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correctly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classify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handwritten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digits,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0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–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200"/>
              </a:lnSpc>
            </a:pPr>
            <a:r>
              <a:rPr dirty="0" sz="1000">
                <a:latin typeface="Arial MT"/>
                <a:cs typeface="Arial MT"/>
              </a:rPr>
              <a:t>9.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Source:</a:t>
            </a:r>
            <a:r>
              <a:rPr dirty="0" sz="1000" spc="7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Adrain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Book.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Lec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5</a:t>
            </a:r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MNIST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53248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37451" rIns="0" bIns="0" rtlCol="0" vert="horz">
            <a:spAutoFit/>
          </a:bodyPr>
          <a:lstStyle/>
          <a:p>
            <a:pPr marL="12700" marR="22860">
              <a:lnSpc>
                <a:spcPct val="102600"/>
              </a:lnSpc>
              <a:spcBef>
                <a:spcPts val="55"/>
              </a:spcBef>
            </a:pPr>
            <a:r>
              <a:rPr dirty="0"/>
              <a:t>MNIST</a:t>
            </a:r>
            <a:r>
              <a:rPr dirty="0" spc="-15"/>
              <a:t> </a:t>
            </a:r>
            <a:r>
              <a:rPr dirty="0" spc="-10"/>
              <a:t>itself</a:t>
            </a:r>
            <a:r>
              <a:rPr dirty="0" spc="-5"/>
              <a:t> </a:t>
            </a:r>
            <a:r>
              <a:rPr dirty="0" spc="-50"/>
              <a:t>consists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45">
                <a:solidFill>
                  <a:srgbClr val="FF0000"/>
                </a:solidFill>
              </a:rPr>
              <a:t>60,000</a:t>
            </a:r>
            <a:r>
              <a:rPr dirty="0" spc="-5">
                <a:solidFill>
                  <a:srgbClr val="FF0000"/>
                </a:solidFill>
              </a:rPr>
              <a:t> </a:t>
            </a:r>
            <a:r>
              <a:rPr dirty="0" spc="-10"/>
              <a:t>training</a:t>
            </a:r>
            <a:r>
              <a:rPr dirty="0" spc="-5"/>
              <a:t> </a:t>
            </a:r>
            <a:r>
              <a:rPr dirty="0" spc="-75"/>
              <a:t>images</a:t>
            </a:r>
            <a:r>
              <a:rPr dirty="0"/>
              <a:t> </a:t>
            </a:r>
            <a:r>
              <a:rPr dirty="0" spc="-45"/>
              <a:t>and</a:t>
            </a:r>
            <a:r>
              <a:rPr dirty="0" spc="-5"/>
              <a:t> </a:t>
            </a:r>
            <a:r>
              <a:rPr dirty="0" spc="-45"/>
              <a:t>10,000</a:t>
            </a:r>
            <a:r>
              <a:rPr dirty="0" spc="-5"/>
              <a:t> </a:t>
            </a:r>
            <a:r>
              <a:rPr dirty="0" spc="-10"/>
              <a:t>testing </a:t>
            </a:r>
            <a:r>
              <a:rPr dirty="0" spc="-50"/>
              <a:t>images.</a:t>
            </a:r>
            <a:r>
              <a:rPr dirty="0" spc="25"/>
              <a:t> </a:t>
            </a:r>
            <a:r>
              <a:rPr dirty="0" spc="-60"/>
              <a:t>Each</a:t>
            </a:r>
            <a:r>
              <a:rPr dirty="0"/>
              <a:t> </a:t>
            </a:r>
            <a:r>
              <a:rPr dirty="0" spc="-30"/>
              <a:t>feature</a:t>
            </a:r>
            <a:r>
              <a:rPr dirty="0"/>
              <a:t> </a:t>
            </a:r>
            <a:r>
              <a:rPr dirty="0" spc="-30"/>
              <a:t>vector</a:t>
            </a:r>
            <a:r>
              <a:rPr dirty="0"/>
              <a:t> </a:t>
            </a:r>
            <a:r>
              <a:rPr dirty="0" spc="-10"/>
              <a:t>is</a:t>
            </a:r>
            <a:r>
              <a:rPr dirty="0"/>
              <a:t> </a:t>
            </a:r>
            <a:r>
              <a:rPr dirty="0" spc="-45"/>
              <a:t>784-</a:t>
            </a:r>
            <a:r>
              <a:rPr dirty="0" spc="-10"/>
              <a:t>dim,</a:t>
            </a:r>
            <a:r>
              <a:rPr dirty="0"/>
              <a:t> </a:t>
            </a:r>
            <a:r>
              <a:rPr dirty="0" spc="-55"/>
              <a:t>corresponding</a:t>
            </a:r>
            <a:r>
              <a:rPr dirty="0"/>
              <a:t> to the </a:t>
            </a:r>
            <a:r>
              <a:rPr dirty="0" spc="-70"/>
              <a:t>28 </a:t>
            </a:r>
            <a:r>
              <a:rPr dirty="0" spc="-60" i="1">
                <a:latin typeface="Verdana"/>
                <a:cs typeface="Verdana"/>
              </a:rPr>
              <a:t>×</a:t>
            </a:r>
            <a:r>
              <a:rPr dirty="0" spc="-145" i="1">
                <a:latin typeface="Verdana"/>
                <a:cs typeface="Verdana"/>
              </a:rPr>
              <a:t> </a:t>
            </a:r>
            <a:r>
              <a:rPr dirty="0" spc="-25"/>
              <a:t>28 </a:t>
            </a:r>
            <a:r>
              <a:rPr dirty="0" spc="-75"/>
              <a:t>grayscale</a:t>
            </a:r>
            <a:r>
              <a:rPr dirty="0" spc="5"/>
              <a:t> </a:t>
            </a:r>
            <a:r>
              <a:rPr dirty="0" spc="-30"/>
              <a:t>pixel</a:t>
            </a:r>
            <a:r>
              <a:rPr dirty="0" spc="10"/>
              <a:t> </a:t>
            </a:r>
            <a:r>
              <a:rPr dirty="0" spc="-35"/>
              <a:t>intensities</a:t>
            </a:r>
            <a:r>
              <a:rPr dirty="0" spc="5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 spc="-35"/>
              <a:t>image.</a:t>
            </a:r>
            <a:r>
              <a:rPr dirty="0" spc="110"/>
              <a:t> </a:t>
            </a:r>
            <a:r>
              <a:rPr dirty="0" spc="-70"/>
              <a:t>These</a:t>
            </a:r>
            <a:r>
              <a:rPr dirty="0" spc="5"/>
              <a:t> </a:t>
            </a:r>
            <a:r>
              <a:rPr dirty="0" spc="-75"/>
              <a:t>grayscale</a:t>
            </a:r>
            <a:r>
              <a:rPr dirty="0" spc="10"/>
              <a:t> </a:t>
            </a:r>
            <a:r>
              <a:rPr dirty="0" spc="-10"/>
              <a:t>pixel </a:t>
            </a:r>
            <a:r>
              <a:rPr dirty="0" spc="-35"/>
              <a:t>intensities</a:t>
            </a:r>
            <a:r>
              <a:rPr dirty="0" spc="-10"/>
              <a:t> </a:t>
            </a:r>
            <a:r>
              <a:rPr dirty="0" spc="-60"/>
              <a:t>are</a:t>
            </a:r>
            <a:r>
              <a:rPr dirty="0" spc="-5"/>
              <a:t> </a:t>
            </a:r>
            <a:r>
              <a:rPr dirty="0" spc="-60"/>
              <a:t>unsigned</a:t>
            </a:r>
            <a:r>
              <a:rPr dirty="0" spc="-5"/>
              <a:t> </a:t>
            </a:r>
            <a:r>
              <a:rPr dirty="0" spc="-40"/>
              <a:t>integers,</a:t>
            </a:r>
            <a:r>
              <a:rPr dirty="0" spc="-5"/>
              <a:t> </a:t>
            </a:r>
            <a:r>
              <a:rPr dirty="0" spc="-10"/>
              <a:t>falling</a:t>
            </a:r>
            <a:r>
              <a:rPr dirty="0" spc="-5"/>
              <a:t> </a:t>
            </a:r>
            <a:r>
              <a:rPr dirty="0"/>
              <a:t>into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60"/>
              <a:t>range</a:t>
            </a:r>
            <a:r>
              <a:rPr dirty="0" spc="-5"/>
              <a:t> </a:t>
            </a:r>
            <a:r>
              <a:rPr dirty="0"/>
              <a:t>[0,</a:t>
            </a:r>
            <a:r>
              <a:rPr dirty="0" spc="-5"/>
              <a:t> </a:t>
            </a:r>
            <a:r>
              <a:rPr dirty="0" spc="-10"/>
              <a:t>255].</a:t>
            </a:r>
          </a:p>
          <a:p>
            <a:pPr algn="just" marL="12700" marR="5080">
              <a:lnSpc>
                <a:spcPct val="102600"/>
              </a:lnSpc>
              <a:spcBef>
                <a:spcPts val="300"/>
              </a:spcBef>
            </a:pPr>
            <a:r>
              <a:rPr dirty="0"/>
              <a:t>All</a:t>
            </a:r>
            <a:r>
              <a:rPr dirty="0" spc="-15"/>
              <a:t> </a:t>
            </a:r>
            <a:r>
              <a:rPr dirty="0" spc="-10"/>
              <a:t>digits </a:t>
            </a:r>
            <a:r>
              <a:rPr dirty="0" spc="-60"/>
              <a:t>are</a:t>
            </a:r>
            <a:r>
              <a:rPr dirty="0" spc="-15"/>
              <a:t> </a:t>
            </a:r>
            <a:r>
              <a:rPr dirty="0" spc="-60"/>
              <a:t>placed</a:t>
            </a:r>
            <a:r>
              <a:rPr dirty="0" spc="-10"/>
              <a:t> </a:t>
            </a:r>
            <a:r>
              <a:rPr dirty="0"/>
              <a:t>on</a:t>
            </a:r>
            <a:r>
              <a:rPr dirty="0" spc="-1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 spc="-30"/>
              <a:t>black</a:t>
            </a:r>
            <a:r>
              <a:rPr dirty="0" spc="-10"/>
              <a:t> </a:t>
            </a:r>
            <a:r>
              <a:rPr dirty="0" spc="-45"/>
              <a:t>background</a:t>
            </a:r>
            <a:r>
              <a:rPr dirty="0" spc="-1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 spc="-40"/>
              <a:t>foreground</a:t>
            </a:r>
            <a:r>
              <a:rPr dirty="0" spc="-15"/>
              <a:t> </a:t>
            </a:r>
            <a:r>
              <a:rPr dirty="0" spc="-10"/>
              <a:t>being white</a:t>
            </a:r>
            <a:r>
              <a:rPr dirty="0" spc="-65"/>
              <a:t> </a:t>
            </a:r>
            <a:r>
              <a:rPr dirty="0" spc="-45"/>
              <a:t>and</a:t>
            </a:r>
            <a:r>
              <a:rPr dirty="0" spc="-30"/>
              <a:t> </a:t>
            </a:r>
            <a:r>
              <a:rPr dirty="0" spc="-100"/>
              <a:t>shades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 spc="-25"/>
              <a:t>gray.</a:t>
            </a:r>
            <a:r>
              <a:rPr dirty="0" spc="70"/>
              <a:t> </a:t>
            </a:r>
            <a:r>
              <a:rPr dirty="0" spc="-60"/>
              <a:t>Given</a:t>
            </a:r>
            <a:r>
              <a:rPr dirty="0" spc="-15"/>
              <a:t> </a:t>
            </a:r>
            <a:r>
              <a:rPr dirty="0" spc="-60"/>
              <a:t>these</a:t>
            </a:r>
            <a:r>
              <a:rPr dirty="0" spc="-15"/>
              <a:t> </a:t>
            </a:r>
            <a:r>
              <a:rPr dirty="0" spc="-25"/>
              <a:t>raw</a:t>
            </a:r>
            <a:r>
              <a:rPr dirty="0" spc="-30"/>
              <a:t> pixel</a:t>
            </a:r>
            <a:r>
              <a:rPr dirty="0" spc="-25"/>
              <a:t> </a:t>
            </a:r>
            <a:r>
              <a:rPr dirty="0" spc="-30"/>
              <a:t>intensities,</a:t>
            </a:r>
            <a:r>
              <a:rPr dirty="0" spc="-25"/>
              <a:t> </a:t>
            </a:r>
            <a:r>
              <a:rPr dirty="0"/>
              <a:t>our</a:t>
            </a:r>
            <a:r>
              <a:rPr dirty="0" spc="-30"/>
              <a:t> </a:t>
            </a:r>
            <a:r>
              <a:rPr dirty="0" spc="-35"/>
              <a:t>goal</a:t>
            </a:r>
            <a:r>
              <a:rPr dirty="0" spc="-25"/>
              <a:t> is </a:t>
            </a:r>
            <a:r>
              <a:rPr dirty="0"/>
              <a:t>to train</a:t>
            </a:r>
            <a:r>
              <a:rPr dirty="0" spc="5"/>
              <a:t> </a:t>
            </a:r>
            <a:r>
              <a:rPr dirty="0"/>
              <a:t>a </a:t>
            </a:r>
            <a:r>
              <a:rPr dirty="0" spc="-40"/>
              <a:t>neural</a:t>
            </a:r>
            <a:r>
              <a:rPr dirty="0" spc="5"/>
              <a:t> </a:t>
            </a:r>
            <a:r>
              <a:rPr dirty="0" spc="-35"/>
              <a:t>network</a:t>
            </a:r>
            <a:r>
              <a:rPr dirty="0"/>
              <a:t> to</a:t>
            </a:r>
            <a:r>
              <a:rPr dirty="0" spc="5"/>
              <a:t> </a:t>
            </a:r>
            <a:r>
              <a:rPr dirty="0" spc="-25"/>
              <a:t>correctly</a:t>
            </a:r>
            <a:r>
              <a:rPr dirty="0"/>
              <a:t> </a:t>
            </a:r>
            <a:r>
              <a:rPr dirty="0" spc="-45"/>
              <a:t>classify</a:t>
            </a:r>
            <a:r>
              <a:rPr dirty="0" spc="5"/>
              <a:t> </a:t>
            </a:r>
            <a:r>
              <a:rPr dirty="0"/>
              <a:t>the </a:t>
            </a:r>
            <a:r>
              <a:rPr dirty="0" spc="-10"/>
              <a:t>digits.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79511"/>
            <a:ext cx="65265" cy="6526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Lec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6</a:t>
            </a:r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4943"/>
            <a:ext cx="1672589" cy="454025"/>
          </a:xfrm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Animals: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Dogs,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Cats,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35">
                <a:latin typeface="Arial MT"/>
                <a:cs typeface="Arial MT"/>
              </a:rPr>
              <a:t>Pandas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44346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28548" rIns="0" bIns="0" rtlCol="0" vert="horz">
            <a:spAutoFit/>
          </a:bodyPr>
          <a:lstStyle/>
          <a:p>
            <a:pPr marL="12700" marR="61594">
              <a:lnSpc>
                <a:spcPct val="102600"/>
              </a:lnSpc>
              <a:spcBef>
                <a:spcPts val="55"/>
              </a:spcBef>
            </a:pPr>
            <a:r>
              <a:rPr dirty="0"/>
              <a:t>The</a:t>
            </a:r>
            <a:r>
              <a:rPr dirty="0" spc="-15"/>
              <a:t> </a:t>
            </a:r>
            <a:r>
              <a:rPr dirty="0" spc="-65"/>
              <a:t>purpose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this</a:t>
            </a:r>
            <a:r>
              <a:rPr dirty="0" spc="-10"/>
              <a:t> </a:t>
            </a:r>
            <a:r>
              <a:rPr dirty="0" spc="-35"/>
              <a:t>dataset</a:t>
            </a:r>
            <a:r>
              <a:rPr dirty="0" spc="-15"/>
              <a:t> </a:t>
            </a:r>
            <a:r>
              <a:rPr dirty="0" spc="-10"/>
              <a:t>is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 spc="-25"/>
              <a:t>correctly</a:t>
            </a:r>
            <a:r>
              <a:rPr dirty="0" spc="-10"/>
              <a:t> </a:t>
            </a:r>
            <a:r>
              <a:rPr dirty="0" spc="-45"/>
              <a:t>classify</a:t>
            </a:r>
            <a:r>
              <a:rPr dirty="0" spc="-15"/>
              <a:t> </a:t>
            </a:r>
            <a:r>
              <a:rPr dirty="0" spc="-20"/>
              <a:t>an</a:t>
            </a:r>
            <a:r>
              <a:rPr dirty="0" spc="-10"/>
              <a:t> </a:t>
            </a:r>
            <a:r>
              <a:rPr dirty="0" spc="-50"/>
              <a:t>image</a:t>
            </a:r>
            <a:r>
              <a:rPr dirty="0" spc="-15"/>
              <a:t> </a:t>
            </a:r>
            <a:r>
              <a:rPr dirty="0" spc="-25"/>
              <a:t>as contain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 spc="-25"/>
              <a:t>dog,</a:t>
            </a:r>
            <a:r>
              <a:rPr dirty="0" spc="-20"/>
              <a:t> </a:t>
            </a:r>
            <a:r>
              <a:rPr dirty="0"/>
              <a:t>cat,</a:t>
            </a:r>
            <a:r>
              <a:rPr dirty="0" spc="-20"/>
              <a:t> </a:t>
            </a:r>
            <a:r>
              <a:rPr dirty="0"/>
              <a:t>or</a:t>
            </a:r>
            <a:r>
              <a:rPr dirty="0" spc="-20"/>
              <a:t> </a:t>
            </a:r>
            <a:r>
              <a:rPr dirty="0" spc="-35"/>
              <a:t>panda.</a:t>
            </a:r>
            <a:r>
              <a:rPr dirty="0" spc="65"/>
              <a:t> </a:t>
            </a:r>
            <a:r>
              <a:rPr dirty="0" spc="-30"/>
              <a:t>Containing</a:t>
            </a:r>
            <a:r>
              <a:rPr dirty="0" spc="-20"/>
              <a:t> only </a:t>
            </a:r>
            <a:r>
              <a:rPr dirty="0" spc="-40"/>
              <a:t>3,000</a:t>
            </a:r>
            <a:r>
              <a:rPr dirty="0" spc="-20"/>
              <a:t> </a:t>
            </a:r>
            <a:r>
              <a:rPr dirty="0" spc="-65"/>
              <a:t>images,</a:t>
            </a:r>
            <a:r>
              <a:rPr dirty="0" spc="-10"/>
              <a:t> </a:t>
            </a:r>
            <a:r>
              <a:rPr dirty="0" spc="-25"/>
              <a:t>the </a:t>
            </a:r>
            <a:r>
              <a:rPr dirty="0" spc="-35"/>
              <a:t>Animals</a:t>
            </a:r>
            <a:r>
              <a:rPr dirty="0" spc="-15"/>
              <a:t> </a:t>
            </a:r>
            <a:r>
              <a:rPr dirty="0" spc="-35"/>
              <a:t>dataset</a:t>
            </a:r>
            <a:r>
              <a:rPr dirty="0" spc="-10"/>
              <a:t> is</a:t>
            </a:r>
            <a:r>
              <a:rPr dirty="0" spc="-15"/>
              <a:t> </a:t>
            </a:r>
            <a:r>
              <a:rPr dirty="0" spc="-30"/>
              <a:t>meant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 spc="-30"/>
              <a:t>be</a:t>
            </a:r>
            <a:r>
              <a:rPr dirty="0" spc="-15"/>
              <a:t> </a:t>
            </a:r>
            <a:r>
              <a:rPr dirty="0" spc="-30"/>
              <a:t>another</a:t>
            </a:r>
            <a:r>
              <a:rPr dirty="0" spc="-10"/>
              <a:t> </a:t>
            </a:r>
            <a:r>
              <a:rPr dirty="0" spc="-10">
                <a:solidFill>
                  <a:srgbClr val="FF0000"/>
                </a:solidFill>
              </a:rPr>
              <a:t>introductory</a:t>
            </a:r>
            <a:r>
              <a:rPr dirty="0" spc="-15">
                <a:solidFill>
                  <a:srgbClr val="FF0000"/>
                </a:solidFill>
              </a:rPr>
              <a:t> </a:t>
            </a:r>
            <a:r>
              <a:rPr dirty="0" spc="-35"/>
              <a:t>dataset</a:t>
            </a:r>
            <a:r>
              <a:rPr dirty="0" spc="-10"/>
              <a:t> </a:t>
            </a:r>
            <a:r>
              <a:rPr dirty="0"/>
              <a:t>that</a:t>
            </a:r>
            <a:r>
              <a:rPr dirty="0" spc="-10"/>
              <a:t> </a:t>
            </a:r>
            <a:r>
              <a:rPr dirty="0" spc="-25"/>
              <a:t>we </a:t>
            </a:r>
            <a:r>
              <a:rPr dirty="0" spc="-45"/>
              <a:t>can</a:t>
            </a:r>
            <a:r>
              <a:rPr dirty="0" spc="-30"/>
              <a:t> </a:t>
            </a:r>
            <a:r>
              <a:rPr dirty="0" spc="-25"/>
              <a:t>quickly</a:t>
            </a:r>
            <a:r>
              <a:rPr dirty="0" spc="-50"/>
              <a:t> </a:t>
            </a:r>
            <a:r>
              <a:rPr dirty="0"/>
              <a:t>train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 spc="-80"/>
              <a:t>deep</a:t>
            </a:r>
            <a:r>
              <a:rPr dirty="0" spc="5"/>
              <a:t> </a:t>
            </a:r>
            <a:r>
              <a:rPr dirty="0" spc="-45"/>
              <a:t>learning</a:t>
            </a:r>
            <a:r>
              <a:rPr dirty="0" spc="-25"/>
              <a:t> </a:t>
            </a:r>
            <a:r>
              <a:rPr dirty="0" spc="-35"/>
              <a:t>model</a:t>
            </a:r>
            <a:r>
              <a:rPr dirty="0" spc="-25"/>
              <a:t> </a:t>
            </a:r>
            <a:r>
              <a:rPr dirty="0"/>
              <a:t>on</a:t>
            </a:r>
            <a:r>
              <a:rPr dirty="0" spc="-25"/>
              <a:t> either </a:t>
            </a:r>
            <a:r>
              <a:rPr dirty="0"/>
              <a:t>our</a:t>
            </a:r>
            <a:r>
              <a:rPr dirty="0" spc="-20"/>
              <a:t> </a:t>
            </a:r>
            <a:r>
              <a:rPr dirty="0" spc="-45"/>
              <a:t>CPU</a:t>
            </a:r>
            <a:r>
              <a:rPr dirty="0" spc="-25"/>
              <a:t> </a:t>
            </a:r>
            <a:r>
              <a:rPr dirty="0"/>
              <a:t>or</a:t>
            </a:r>
            <a:r>
              <a:rPr dirty="0" spc="-25"/>
              <a:t> GPU </a:t>
            </a:r>
            <a:r>
              <a:rPr dirty="0" spc="-45"/>
              <a:t>and</a:t>
            </a:r>
            <a:r>
              <a:rPr dirty="0"/>
              <a:t> </a:t>
            </a:r>
            <a:r>
              <a:rPr dirty="0" spc="-10"/>
              <a:t>obtain</a:t>
            </a:r>
            <a:r>
              <a:rPr dirty="0" spc="5"/>
              <a:t> </a:t>
            </a:r>
            <a:r>
              <a:rPr dirty="0" spc="-80"/>
              <a:t>reasonable</a:t>
            </a:r>
            <a:r>
              <a:rPr dirty="0" spc="5"/>
              <a:t> </a:t>
            </a:r>
            <a:r>
              <a:rPr dirty="0" spc="-10"/>
              <a:t>accuracy.</a:t>
            </a: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pc="-75"/>
              <a:t>Images</a:t>
            </a:r>
            <a:r>
              <a:rPr dirty="0"/>
              <a:t> for</a:t>
            </a:r>
            <a:r>
              <a:rPr dirty="0" spc="-55"/>
              <a:t> </a:t>
            </a:r>
            <a:r>
              <a:rPr dirty="0"/>
              <a:t>this</a:t>
            </a:r>
            <a:r>
              <a:rPr dirty="0" spc="-15"/>
              <a:t> </a:t>
            </a:r>
            <a:r>
              <a:rPr dirty="0" spc="-35"/>
              <a:t>dataset</a:t>
            </a:r>
            <a:r>
              <a:rPr dirty="0" spc="-20"/>
              <a:t> </a:t>
            </a:r>
            <a:r>
              <a:rPr dirty="0" spc="-75"/>
              <a:t>were</a:t>
            </a:r>
            <a:r>
              <a:rPr dirty="0"/>
              <a:t> </a:t>
            </a:r>
            <a:r>
              <a:rPr dirty="0" spc="-45"/>
              <a:t>gathered</a:t>
            </a:r>
            <a:r>
              <a:rPr dirty="0" spc="-15"/>
              <a:t> </a:t>
            </a:r>
            <a:r>
              <a:rPr dirty="0" spc="-10"/>
              <a:t>by</a:t>
            </a:r>
            <a:r>
              <a:rPr dirty="0" spc="-20"/>
              <a:t> </a:t>
            </a:r>
            <a:r>
              <a:rPr dirty="0" spc="-45"/>
              <a:t>sampling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45"/>
              <a:t>Kaggle</a:t>
            </a:r>
            <a:r>
              <a:rPr dirty="0" spc="-20"/>
              <a:t> </a:t>
            </a:r>
            <a:r>
              <a:rPr dirty="0" spc="-20">
                <a:solidFill>
                  <a:srgbClr val="FF0000"/>
                </a:solidFill>
              </a:rPr>
              <a:t>Dogs </a:t>
            </a:r>
            <a:r>
              <a:rPr dirty="0" spc="-10">
                <a:solidFill>
                  <a:srgbClr val="FF0000"/>
                </a:solidFill>
              </a:rPr>
              <a:t>vs.</a:t>
            </a:r>
            <a:r>
              <a:rPr dirty="0" spc="65">
                <a:solidFill>
                  <a:srgbClr val="FF0000"/>
                </a:solidFill>
              </a:rPr>
              <a:t> </a:t>
            </a:r>
            <a:r>
              <a:rPr dirty="0" spc="-50">
                <a:solidFill>
                  <a:srgbClr val="FF0000"/>
                </a:solidFill>
              </a:rPr>
              <a:t>Cats</a:t>
            </a:r>
            <a:r>
              <a:rPr dirty="0" spc="-20">
                <a:solidFill>
                  <a:srgbClr val="FF0000"/>
                </a:solidFill>
              </a:rPr>
              <a:t> </a:t>
            </a:r>
            <a:r>
              <a:rPr dirty="0" spc="-75"/>
              <a:t>images</a:t>
            </a:r>
            <a:r>
              <a:rPr dirty="0"/>
              <a:t> </a:t>
            </a:r>
            <a:r>
              <a:rPr dirty="0" spc="-40"/>
              <a:t>along</a:t>
            </a:r>
            <a:r>
              <a:rPr dirty="0" spc="-15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45">
                <a:solidFill>
                  <a:srgbClr val="FF0000"/>
                </a:solidFill>
              </a:rPr>
              <a:t>ImageNet</a:t>
            </a:r>
            <a:r>
              <a:rPr dirty="0" spc="-15">
                <a:solidFill>
                  <a:srgbClr val="FF0000"/>
                </a:solidFill>
              </a:rPr>
              <a:t> </a:t>
            </a:r>
            <a:r>
              <a:rPr dirty="0" spc="-35"/>
              <a:t>dataset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60">
                <a:solidFill>
                  <a:srgbClr val="FF0000"/>
                </a:solidFill>
              </a:rPr>
              <a:t>panda</a:t>
            </a:r>
            <a:r>
              <a:rPr dirty="0" spc="-15">
                <a:solidFill>
                  <a:srgbClr val="FF0000"/>
                </a:solidFill>
              </a:rPr>
              <a:t> </a:t>
            </a:r>
            <a:r>
              <a:rPr dirty="0" spc="-50"/>
              <a:t>examples.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142680"/>
            <a:ext cx="65265" cy="6526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Lec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7</a:t>
            </a:r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4943"/>
            <a:ext cx="1672589" cy="454025"/>
          </a:xfrm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Animals: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Dogs,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Cats,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35">
                <a:latin typeface="Arial MT"/>
                <a:cs typeface="Arial MT"/>
              </a:rPr>
              <a:t>Pandas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5933" y="612546"/>
            <a:ext cx="2206625" cy="21812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4" y="2920344"/>
            <a:ext cx="4357370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sample</a:t>
            </a:r>
            <a:r>
              <a:rPr dirty="0" sz="1000">
                <a:latin typeface="Arial MT"/>
                <a:cs typeface="Arial MT"/>
              </a:rPr>
              <a:t> of the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3-</a:t>
            </a:r>
            <a:r>
              <a:rPr dirty="0" sz="1000" spc="-50">
                <a:latin typeface="Arial MT"/>
                <a:cs typeface="Arial MT"/>
              </a:rPr>
              <a:t>class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animals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dataset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consisting</a:t>
            </a:r>
            <a:r>
              <a:rPr dirty="0" sz="1000">
                <a:latin typeface="Arial MT"/>
                <a:cs typeface="Arial MT"/>
              </a:rPr>
              <a:t> of </a:t>
            </a:r>
            <a:r>
              <a:rPr dirty="0" sz="1000" spc="-30">
                <a:latin typeface="Arial MT"/>
                <a:cs typeface="Arial MT"/>
              </a:rPr>
              <a:t>1,000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images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per </a:t>
            </a:r>
            <a:r>
              <a:rPr dirty="0" sz="1000" spc="-20">
                <a:latin typeface="Arial MT"/>
                <a:cs typeface="Arial MT"/>
              </a:rPr>
              <a:t>dog,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cat, </a:t>
            </a:r>
            <a:r>
              <a:rPr dirty="0" sz="1000" spc="-20">
                <a:latin typeface="Arial MT"/>
                <a:cs typeface="Arial MT"/>
              </a:rPr>
              <a:t>and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panda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class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respectively</a:t>
            </a:r>
            <a:r>
              <a:rPr dirty="0" sz="1000">
                <a:latin typeface="Arial MT"/>
                <a:cs typeface="Arial MT"/>
              </a:rPr>
              <a:t> for a total of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3,000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images.</a:t>
            </a:r>
            <a:r>
              <a:rPr dirty="0" sz="1000" spc="9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Source: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Adrain Book.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358803" y="3351784"/>
            <a:ext cx="24066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8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383055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160685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77892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950999"/>
            <a:ext cx="65265" cy="6526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29743" y="1354961"/>
            <a:ext cx="2053589" cy="70802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16230" marR="5080" indent="-304165">
              <a:lnSpc>
                <a:spcPct val="102600"/>
              </a:lnSpc>
              <a:spcBef>
                <a:spcPts val="55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r>
              <a:rPr dirty="0" baseline="6944" sz="1200" spc="247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 spc="-4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Datasets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for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image</a:t>
            </a:r>
            <a:r>
              <a:rPr dirty="0" sz="1100" spc="1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classification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7" action="ppaction://hlinksldjump"/>
              </a:rPr>
              <a:t>MNIST</a:t>
            </a:r>
            <a:endParaRPr sz="1100">
              <a:latin typeface="Arial MT"/>
              <a:cs typeface="Arial MT"/>
            </a:endParaRPr>
          </a:p>
          <a:p>
            <a:pPr marL="316230" marR="1167765">
              <a:lnSpc>
                <a:spcPct val="102600"/>
              </a:lnSpc>
            </a:pPr>
            <a:r>
              <a:rPr dirty="0" sz="1100" spc="-75">
                <a:solidFill>
                  <a:srgbClr val="000000"/>
                </a:solidFill>
                <a:latin typeface="Arial MT"/>
                <a:cs typeface="Arial MT"/>
                <a:hlinkClick r:id="rId8" action="ppaction://hlinksldjump"/>
              </a:rPr>
              <a:t>CIFAR-</a:t>
            </a:r>
            <a:r>
              <a:rPr dirty="0" sz="1100" spc="-60">
                <a:solidFill>
                  <a:srgbClr val="000000"/>
                </a:solidFill>
                <a:latin typeface="Arial MT"/>
                <a:cs typeface="Arial MT"/>
                <a:hlinkClick r:id="rId8" action="ppaction://hlinksldjump"/>
              </a:rPr>
              <a:t>10</a:t>
            </a:r>
            <a:r>
              <a:rPr dirty="0" sz="1100" spc="-6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9" action="ppaction://hlinksldjump"/>
              </a:rPr>
              <a:t>SMILES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5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58803" y="3351784"/>
            <a:ext cx="24066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8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5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50">
                <a:latin typeface="Arial MT"/>
                <a:cs typeface="Arial MT"/>
              </a:rPr>
              <a:t>CIFAR-</a:t>
            </a:r>
            <a:r>
              <a:rPr dirty="0" sz="900" spc="-25">
                <a:latin typeface="Arial MT"/>
                <a:cs typeface="Arial MT"/>
              </a:rPr>
              <a:t>10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42505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859064"/>
            <a:ext cx="4077970" cy="202628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Arial MT"/>
                <a:cs typeface="Arial MT"/>
              </a:rPr>
              <a:t>Just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like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MNIST,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75">
                <a:solidFill>
                  <a:srgbClr val="FF0000"/>
                </a:solidFill>
                <a:latin typeface="Arial MT"/>
                <a:cs typeface="Arial MT"/>
              </a:rPr>
              <a:t>CIFAR-</a:t>
            </a:r>
            <a:r>
              <a:rPr dirty="0" sz="1100">
                <a:solidFill>
                  <a:srgbClr val="FF0000"/>
                </a:solidFill>
                <a:latin typeface="Arial MT"/>
                <a:cs typeface="Arial MT"/>
              </a:rPr>
              <a:t>10</a:t>
            </a:r>
            <a:r>
              <a:rPr dirty="0" sz="11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considered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another </a:t>
            </a:r>
            <a:r>
              <a:rPr dirty="0" sz="1100" spc="-10">
                <a:latin typeface="Arial MT"/>
                <a:cs typeface="Arial MT"/>
              </a:rPr>
              <a:t>standard </a:t>
            </a:r>
            <a:r>
              <a:rPr dirty="0" sz="1100" spc="-50">
                <a:latin typeface="Arial MT"/>
                <a:cs typeface="Arial MT"/>
              </a:rPr>
              <a:t>benchmark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dataset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image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classification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computer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vision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and </a:t>
            </a:r>
            <a:r>
              <a:rPr dirty="0" sz="1100" spc="-55">
                <a:latin typeface="Arial MT"/>
                <a:cs typeface="Arial MT"/>
              </a:rPr>
              <a:t>machine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learning</a:t>
            </a:r>
            <a:r>
              <a:rPr dirty="0" sz="1100" spc="-10">
                <a:latin typeface="Arial MT"/>
                <a:cs typeface="Arial MT"/>
              </a:rPr>
              <a:t> literature.</a:t>
            </a:r>
            <a:endParaRPr sz="1100">
              <a:latin typeface="Arial MT"/>
              <a:cs typeface="Arial MT"/>
            </a:endParaRPr>
          </a:p>
          <a:p>
            <a:pPr marL="12700" marR="17145">
              <a:lnSpc>
                <a:spcPct val="102600"/>
              </a:lnSpc>
              <a:spcBef>
                <a:spcPts val="300"/>
              </a:spcBef>
            </a:pPr>
            <a:r>
              <a:rPr dirty="0" sz="1100" spc="-75">
                <a:latin typeface="Arial MT"/>
                <a:cs typeface="Arial MT"/>
              </a:rPr>
              <a:t>CIFAR-</a:t>
            </a:r>
            <a:r>
              <a:rPr dirty="0" sz="1100">
                <a:latin typeface="Arial MT"/>
                <a:cs typeface="Arial MT"/>
              </a:rPr>
              <a:t>10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consists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60,000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32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×</a:t>
            </a:r>
            <a:r>
              <a:rPr dirty="0" sz="1100" spc="-145" i="1">
                <a:latin typeface="Verdana"/>
                <a:cs typeface="Verdana"/>
              </a:rPr>
              <a:t> </a:t>
            </a:r>
            <a:r>
              <a:rPr dirty="0" sz="1100" spc="-70">
                <a:latin typeface="Arial MT"/>
                <a:cs typeface="Arial MT"/>
              </a:rPr>
              <a:t>32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×</a:t>
            </a:r>
            <a:r>
              <a:rPr dirty="0" sz="1100" spc="-145" i="1">
                <a:latin typeface="Verdana"/>
                <a:cs typeface="Verdana"/>
              </a:rPr>
              <a:t> </a:t>
            </a:r>
            <a:r>
              <a:rPr dirty="0" sz="1100">
                <a:latin typeface="Arial MT"/>
                <a:cs typeface="Arial MT"/>
              </a:rPr>
              <a:t>3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(RGB)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resulting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a </a:t>
            </a:r>
            <a:r>
              <a:rPr dirty="0" sz="1100" spc="-30">
                <a:latin typeface="Arial MT"/>
                <a:cs typeface="Arial MT"/>
              </a:rPr>
              <a:t>feature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vector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dimensionality</a:t>
            </a:r>
            <a:r>
              <a:rPr dirty="0" sz="1100">
                <a:latin typeface="Arial MT"/>
                <a:cs typeface="Arial MT"/>
              </a:rPr>
              <a:t> of </a:t>
            </a:r>
            <a:r>
              <a:rPr dirty="0" sz="1100" spc="-10">
                <a:latin typeface="Arial MT"/>
                <a:cs typeface="Arial MT"/>
              </a:rPr>
              <a:t>3072.</a:t>
            </a:r>
            <a:endParaRPr sz="1100">
              <a:latin typeface="Arial MT"/>
              <a:cs typeface="Arial MT"/>
            </a:endParaRPr>
          </a:p>
          <a:p>
            <a:pPr algn="just" marL="12700" marR="215900">
              <a:lnSpc>
                <a:spcPct val="102600"/>
              </a:lnSpc>
              <a:spcBef>
                <a:spcPts val="300"/>
              </a:spcBef>
            </a:pPr>
            <a:r>
              <a:rPr dirty="0" sz="1100" spc="-30">
                <a:latin typeface="Arial MT"/>
                <a:cs typeface="Arial MT"/>
              </a:rPr>
              <a:t>As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 </a:t>
            </a:r>
            <a:r>
              <a:rPr dirty="0" sz="1100" spc="-70">
                <a:latin typeface="Arial MT"/>
                <a:cs typeface="Arial MT"/>
              </a:rPr>
              <a:t>name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suggests,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CIFAR-</a:t>
            </a:r>
            <a:r>
              <a:rPr dirty="0" sz="1100">
                <a:latin typeface="Arial MT"/>
                <a:cs typeface="Arial MT"/>
              </a:rPr>
              <a:t>10 </a:t>
            </a:r>
            <a:r>
              <a:rPr dirty="0" sz="1100" spc="-50">
                <a:latin typeface="Arial MT"/>
                <a:cs typeface="Arial MT"/>
              </a:rPr>
              <a:t>consists</a:t>
            </a:r>
            <a:r>
              <a:rPr dirty="0" sz="1100">
                <a:latin typeface="Arial MT"/>
                <a:cs typeface="Arial MT"/>
              </a:rPr>
              <a:t> of </a:t>
            </a:r>
            <a:r>
              <a:rPr dirty="0" sz="1100" spc="-10">
                <a:latin typeface="Arial MT"/>
                <a:cs typeface="Arial MT"/>
              </a:rPr>
              <a:t>10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classes,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including: </a:t>
            </a:r>
            <a:r>
              <a:rPr dirty="0" sz="1100" spc="-45">
                <a:latin typeface="Arial MT"/>
                <a:cs typeface="Arial MT"/>
              </a:rPr>
              <a:t>airplanes,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automobiles,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birds,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cats,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deer,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dogs,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frogs,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horses,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ships,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trucks.</a:t>
            </a:r>
            <a:endParaRPr sz="1100">
              <a:latin typeface="Arial MT"/>
              <a:cs typeface="Arial MT"/>
            </a:endParaRPr>
          </a:p>
          <a:p>
            <a:pPr marL="12700" marR="27940">
              <a:lnSpc>
                <a:spcPct val="102600"/>
              </a:lnSpc>
              <a:spcBef>
                <a:spcPts val="300"/>
              </a:spcBef>
            </a:pPr>
            <a:r>
              <a:rPr dirty="0" sz="1100" spc="-70">
                <a:latin typeface="Arial MT"/>
                <a:cs typeface="Arial MT"/>
              </a:rPr>
              <a:t>Compared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i="1">
                <a:latin typeface="Verdana"/>
                <a:cs typeface="Verdana"/>
              </a:rPr>
              <a:t>≥</a:t>
            </a:r>
            <a:r>
              <a:rPr dirty="0" sz="1100" spc="-70" i="1">
                <a:latin typeface="Verdana"/>
                <a:cs typeface="Verdana"/>
              </a:rPr>
              <a:t> </a:t>
            </a:r>
            <a:r>
              <a:rPr dirty="0" sz="1100" spc="-50">
                <a:latin typeface="Arial MT"/>
                <a:cs typeface="Arial MT"/>
              </a:rPr>
              <a:t>97%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classification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accuracy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MNIST,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it’s </a:t>
            </a:r>
            <a:r>
              <a:rPr dirty="0" sz="1100" spc="-30">
                <a:latin typeface="Arial MT"/>
                <a:cs typeface="Arial MT"/>
              </a:rPr>
              <a:t>substantially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harder</a:t>
            </a:r>
            <a:r>
              <a:rPr dirty="0" sz="1100" spc="-10">
                <a:latin typeface="Arial MT"/>
                <a:cs typeface="Arial MT"/>
              </a:rPr>
              <a:t> obtain </a:t>
            </a:r>
            <a:r>
              <a:rPr dirty="0" sz="1100" spc="-60">
                <a:latin typeface="Arial MT"/>
                <a:cs typeface="Arial MT"/>
              </a:rPr>
              <a:t>such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model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CIFAR-</a:t>
            </a:r>
            <a:r>
              <a:rPr dirty="0" sz="1100">
                <a:latin typeface="Arial MT"/>
                <a:cs typeface="Arial MT"/>
              </a:rPr>
              <a:t>10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it’s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bigger brother,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80">
                <a:solidFill>
                  <a:srgbClr val="FF0000"/>
                </a:solidFill>
                <a:latin typeface="Arial MT"/>
                <a:cs typeface="Arial MT"/>
              </a:rPr>
              <a:t>CIFAR-</a:t>
            </a:r>
            <a:r>
              <a:rPr dirty="0" sz="1100" spc="-25">
                <a:solidFill>
                  <a:srgbClr val="FF0000"/>
                </a:solidFill>
                <a:latin typeface="Arial MT"/>
                <a:cs typeface="Arial MT"/>
              </a:rPr>
              <a:t>100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96694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78800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432977"/>
            <a:ext cx="65265" cy="6526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9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60134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Dataset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50">
                <a:solidFill>
                  <a:srgbClr val="FFFFFF"/>
                </a:solidFill>
                <a:latin typeface="Arial MT"/>
                <a:cs typeface="Arial MT"/>
              </a:rPr>
              <a:t>CIFAR-</a:t>
            </a:r>
            <a:r>
              <a:rPr dirty="0" sz="900" spc="-25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5804" y="605739"/>
            <a:ext cx="2852928" cy="224256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55510" y="2986867"/>
            <a:ext cx="32550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2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Example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images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from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ten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class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CIFAR-</a:t>
            </a:r>
            <a:r>
              <a:rPr dirty="0" sz="1000">
                <a:latin typeface="Arial MT"/>
                <a:cs typeface="Arial MT"/>
              </a:rPr>
              <a:t>10</a:t>
            </a:r>
            <a:r>
              <a:rPr dirty="0" sz="1000" spc="-10">
                <a:latin typeface="Arial MT"/>
                <a:cs typeface="Arial MT"/>
              </a:rPr>
              <a:t> dataset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10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5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50">
                <a:latin typeface="Arial MT"/>
                <a:cs typeface="Arial MT"/>
              </a:rPr>
              <a:t>CIFAR-</a:t>
            </a:r>
            <a:r>
              <a:rPr dirty="0" sz="900" spc="-25">
                <a:latin typeface="Arial MT"/>
                <a:cs typeface="Arial MT"/>
              </a:rPr>
              <a:t>10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9719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313737"/>
            <a:ext cx="4079875" cy="8801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challenge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comes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dramatic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variance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how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 MT"/>
                <a:cs typeface="Arial MT"/>
              </a:rPr>
              <a:t>objects </a:t>
            </a:r>
            <a:r>
              <a:rPr dirty="0" sz="1100" spc="-45">
                <a:solidFill>
                  <a:srgbClr val="FF0000"/>
                </a:solidFill>
                <a:latin typeface="Arial MT"/>
                <a:cs typeface="Arial MT"/>
              </a:rPr>
              <a:t>appear</a:t>
            </a:r>
            <a:r>
              <a:rPr dirty="0" sz="1100" spc="-45">
                <a:latin typeface="Arial MT"/>
                <a:cs typeface="Arial MT"/>
              </a:rPr>
              <a:t>.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For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example,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we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can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longer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assume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image </a:t>
            </a:r>
            <a:r>
              <a:rPr dirty="0" sz="1100" spc="-30">
                <a:latin typeface="Arial MT"/>
                <a:cs typeface="Arial MT"/>
              </a:rPr>
              <a:t>containing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green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pixel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 </a:t>
            </a:r>
            <a:r>
              <a:rPr dirty="0" sz="1100" spc="-50">
                <a:latin typeface="Arial MT"/>
                <a:cs typeface="Arial MT"/>
              </a:rPr>
              <a:t>given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(x,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y)-coordinate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frog.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This </a:t>
            </a:r>
            <a:r>
              <a:rPr dirty="0" sz="1100" spc="-30">
                <a:latin typeface="Arial MT"/>
                <a:cs typeface="Arial MT"/>
              </a:rPr>
              <a:t>pixel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could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be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part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background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forest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contains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deer. </a:t>
            </a:r>
            <a:r>
              <a:rPr dirty="0" sz="1100">
                <a:latin typeface="Arial MT"/>
                <a:cs typeface="Arial MT"/>
              </a:rPr>
              <a:t>Or,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pixel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could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simply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be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color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green</a:t>
            </a:r>
            <a:r>
              <a:rPr dirty="0" sz="1100" spc="-10">
                <a:latin typeface="Arial MT"/>
                <a:cs typeface="Arial MT"/>
              </a:rPr>
              <a:t> truck.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318521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11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383055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160685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77892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950999"/>
            <a:ext cx="65265" cy="6526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29743" y="1354961"/>
            <a:ext cx="2053589" cy="70802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16230" marR="5080" indent="-304165">
              <a:lnSpc>
                <a:spcPct val="102600"/>
              </a:lnSpc>
              <a:spcBef>
                <a:spcPts val="55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r>
              <a:rPr dirty="0" baseline="6944" sz="1200" spc="247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 spc="-4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Datasets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for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image</a:t>
            </a:r>
            <a:r>
              <a:rPr dirty="0" sz="1100" spc="1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classification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7" action="ppaction://hlinksldjump"/>
              </a:rPr>
              <a:t>MNIST</a:t>
            </a:r>
            <a:endParaRPr sz="1100">
              <a:latin typeface="Arial MT"/>
              <a:cs typeface="Arial MT"/>
            </a:endParaRPr>
          </a:p>
          <a:p>
            <a:pPr marL="316230" marR="1167765">
              <a:lnSpc>
                <a:spcPct val="102600"/>
              </a:lnSpc>
            </a:pPr>
            <a:r>
              <a:rPr dirty="0" sz="1100" spc="-75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CIFAR-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10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000000"/>
                </a:solidFill>
                <a:latin typeface="Arial MT"/>
                <a:cs typeface="Arial MT"/>
                <a:hlinkClick r:id="rId9" action="ppaction://hlinksldjump"/>
              </a:rPr>
              <a:t>SMILES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18521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11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5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SMILES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1318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229727"/>
            <a:ext cx="4065270" cy="10902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107314">
              <a:lnSpc>
                <a:spcPct val="102600"/>
              </a:lnSpc>
              <a:spcBef>
                <a:spcPts val="55"/>
              </a:spcBef>
            </a:pPr>
            <a:r>
              <a:rPr dirty="0" sz="1100" spc="-60">
                <a:latin typeface="Arial MT"/>
                <a:cs typeface="Arial MT"/>
              </a:rPr>
              <a:t>Consists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0">
                <a:solidFill>
                  <a:srgbClr val="FF0000"/>
                </a:solidFill>
                <a:latin typeface="Arial MT"/>
                <a:cs typeface="Arial MT"/>
              </a:rPr>
              <a:t>faces</a:t>
            </a:r>
            <a:r>
              <a:rPr dirty="0" sz="1100" spc="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are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either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smiling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or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smiling.</a:t>
            </a:r>
            <a:r>
              <a:rPr dirty="0" sz="1100" spc="114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In </a:t>
            </a:r>
            <a:r>
              <a:rPr dirty="0" sz="1100">
                <a:latin typeface="Arial MT"/>
                <a:cs typeface="Arial MT"/>
              </a:rPr>
              <a:t>total,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there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are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FF0000"/>
                </a:solidFill>
                <a:latin typeface="Arial MT"/>
                <a:cs typeface="Arial MT"/>
              </a:rPr>
              <a:t>13,165</a:t>
            </a:r>
            <a:r>
              <a:rPr dirty="0" sz="1100" spc="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grayscale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dataset,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each </a:t>
            </a:r>
            <a:r>
              <a:rPr dirty="0" sz="1100" spc="-50">
                <a:latin typeface="Arial MT"/>
                <a:cs typeface="Arial MT"/>
              </a:rPr>
              <a:t>image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having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 </a:t>
            </a:r>
            <a:r>
              <a:rPr dirty="0" sz="1100" spc="-70">
                <a:latin typeface="Arial MT"/>
                <a:cs typeface="Arial MT"/>
              </a:rPr>
              <a:t>size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 </a:t>
            </a:r>
            <a:r>
              <a:rPr dirty="0" sz="1100" spc="-75">
                <a:latin typeface="Arial MT"/>
                <a:cs typeface="Arial MT"/>
              </a:rPr>
              <a:t>64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×</a:t>
            </a:r>
            <a:r>
              <a:rPr dirty="0" sz="1100" spc="-145" i="1">
                <a:latin typeface="Verdana"/>
                <a:cs typeface="Verdana"/>
              </a:rPr>
              <a:t> </a:t>
            </a:r>
            <a:r>
              <a:rPr dirty="0" sz="1100" spc="-25">
                <a:latin typeface="Arial MT"/>
                <a:cs typeface="Arial MT"/>
              </a:rPr>
              <a:t>64.</a:t>
            </a:r>
            <a:endParaRPr sz="1100">
              <a:latin typeface="Arial MT"/>
              <a:cs typeface="Arial MT"/>
            </a:endParaRPr>
          </a:p>
          <a:p>
            <a:pPr algn="just"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>
                <a:latin typeface="Arial MT"/>
                <a:cs typeface="Arial MT"/>
              </a:rPr>
              <a:t> in this </a:t>
            </a:r>
            <a:r>
              <a:rPr dirty="0" sz="1100" spc="-35">
                <a:latin typeface="Arial MT"/>
                <a:cs typeface="Arial MT"/>
              </a:rPr>
              <a:t>dataset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are</a:t>
            </a:r>
            <a:r>
              <a:rPr dirty="0" sz="1100">
                <a:latin typeface="Arial MT"/>
                <a:cs typeface="Arial MT"/>
              </a:rPr>
              <a:t> tightly </a:t>
            </a:r>
            <a:r>
              <a:rPr dirty="0" sz="1100" spc="-55">
                <a:latin typeface="Arial MT"/>
                <a:cs typeface="Arial MT"/>
              </a:rPr>
              <a:t>cropped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around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 </a:t>
            </a:r>
            <a:r>
              <a:rPr dirty="0" sz="1100" spc="-50">
                <a:latin typeface="Arial MT"/>
                <a:cs typeface="Arial MT"/>
              </a:rPr>
              <a:t>face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allowing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us </a:t>
            </a:r>
            <a:r>
              <a:rPr dirty="0" sz="1100">
                <a:latin typeface="Arial MT"/>
                <a:cs typeface="Arial MT"/>
              </a:rPr>
              <a:t>to </a:t>
            </a:r>
            <a:r>
              <a:rPr dirty="0" sz="1100" spc="-75">
                <a:latin typeface="Arial MT"/>
                <a:cs typeface="Arial MT"/>
              </a:rPr>
              <a:t>devise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machine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learning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algorithms</a:t>
            </a:r>
            <a:r>
              <a:rPr dirty="0" sz="1100">
                <a:latin typeface="Arial MT"/>
                <a:cs typeface="Arial MT"/>
              </a:rPr>
              <a:t> that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focus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solely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 the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task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of </a:t>
            </a:r>
            <a:r>
              <a:rPr dirty="0" sz="1100" spc="-45">
                <a:latin typeface="Arial MT"/>
                <a:cs typeface="Arial MT"/>
              </a:rPr>
              <a:t>smile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recognition.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67357"/>
            <a:ext cx="65265" cy="6526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12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5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SMILES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44" y="956208"/>
            <a:ext cx="4332224" cy="143306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4" y="2523469"/>
            <a:ext cx="4222115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3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Top:</a:t>
            </a:r>
            <a:r>
              <a:rPr dirty="0" sz="1000" spc="13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Examples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”smiling”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faces.</a:t>
            </a:r>
            <a:r>
              <a:rPr dirty="0" sz="1000" spc="1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Bottom:</a:t>
            </a:r>
            <a:r>
              <a:rPr dirty="0" sz="1000" spc="135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Samples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”not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smiling” </a:t>
            </a:r>
            <a:r>
              <a:rPr dirty="0" sz="1000" spc="-40">
                <a:latin typeface="Arial MT"/>
                <a:cs typeface="Arial MT"/>
              </a:rPr>
              <a:t>faces.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We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will later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train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 </a:t>
            </a:r>
            <a:r>
              <a:rPr dirty="0" sz="1000" spc="-25">
                <a:latin typeface="Arial MT"/>
                <a:cs typeface="Arial MT"/>
              </a:rPr>
              <a:t>Convolutional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Neural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Network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 </a:t>
            </a:r>
            <a:r>
              <a:rPr dirty="0" sz="1000" spc="-45">
                <a:latin typeface="Arial MT"/>
                <a:cs typeface="Arial MT"/>
              </a:rPr>
              <a:t>recognize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between </a:t>
            </a:r>
            <a:r>
              <a:rPr dirty="0" sz="1000" spc="-20">
                <a:latin typeface="Arial MT"/>
                <a:cs typeface="Arial MT"/>
              </a:rPr>
              <a:t>smiling and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not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smiling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faces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real-</a:t>
            </a:r>
            <a:r>
              <a:rPr dirty="0" sz="1000">
                <a:latin typeface="Arial MT"/>
                <a:cs typeface="Arial MT"/>
              </a:rPr>
              <a:t>time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video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streams.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Source:</a:t>
            </a:r>
            <a:r>
              <a:rPr dirty="0" sz="1000" spc="7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Adrian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Book.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13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5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SMILES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44346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160893"/>
            <a:ext cx="3903979" cy="126238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12700" marR="130175">
              <a:lnSpc>
                <a:spcPct val="102600"/>
              </a:lnSpc>
              <a:spcBef>
                <a:spcPts val="55"/>
              </a:spcBef>
            </a:pPr>
            <a:r>
              <a:rPr dirty="0" sz="1100" spc="-45">
                <a:solidFill>
                  <a:srgbClr val="FF0000"/>
                </a:solidFill>
                <a:latin typeface="Arial MT"/>
                <a:cs typeface="Arial MT"/>
              </a:rPr>
              <a:t>Decoupling</a:t>
            </a:r>
            <a:r>
              <a:rPr dirty="0" sz="11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computer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vision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preprocessing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machine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learning </a:t>
            </a:r>
            <a:r>
              <a:rPr dirty="0" sz="1100" spc="-45">
                <a:latin typeface="Arial MT"/>
                <a:cs typeface="Arial MT"/>
              </a:rPr>
              <a:t>(especially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benchmark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datasets)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common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trend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you’ll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see when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reviewing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popular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benchmark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datasets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some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cases,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it’s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unfair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assume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machine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learning </a:t>
            </a:r>
            <a:r>
              <a:rPr dirty="0" sz="1100" spc="-70">
                <a:latin typeface="Arial MT"/>
                <a:cs typeface="Arial MT"/>
              </a:rPr>
              <a:t>researcher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has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enough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exposure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computer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vision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properly </a:t>
            </a:r>
            <a:r>
              <a:rPr dirty="0" sz="1100" spc="-75">
                <a:latin typeface="Arial MT"/>
                <a:cs typeface="Arial MT"/>
              </a:rPr>
              <a:t>preprocess</a:t>
            </a:r>
            <a:r>
              <a:rPr dirty="0" sz="1100">
                <a:latin typeface="Arial MT"/>
                <a:cs typeface="Arial MT"/>
              </a:rPr>
              <a:t> 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dataset</a:t>
            </a:r>
            <a:r>
              <a:rPr dirty="0" sz="1100">
                <a:latin typeface="Arial MT"/>
                <a:cs typeface="Arial MT"/>
              </a:rPr>
              <a:t> of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prior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 </a:t>
            </a:r>
            <a:r>
              <a:rPr dirty="0" sz="1100" spc="-40">
                <a:latin typeface="Arial MT"/>
                <a:cs typeface="Arial MT"/>
              </a:rPr>
              <a:t>applying</a:t>
            </a:r>
            <a:r>
              <a:rPr dirty="0" sz="1100">
                <a:latin typeface="Arial MT"/>
                <a:cs typeface="Arial MT"/>
              </a:rPr>
              <a:t> their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own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machine </a:t>
            </a:r>
            <a:r>
              <a:rPr dirty="0" sz="1100" spc="-45">
                <a:latin typeface="Arial MT"/>
                <a:cs typeface="Arial MT"/>
              </a:rPr>
              <a:t>learning</a:t>
            </a:r>
            <a:r>
              <a:rPr dirty="0" sz="1100" spc="-10">
                <a:latin typeface="Arial MT"/>
                <a:cs typeface="Arial MT"/>
              </a:rPr>
              <a:t> algorithms.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98535"/>
            <a:ext cx="65265" cy="6526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18521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14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383055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160685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77892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950999"/>
            <a:ext cx="65265" cy="6526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29743" y="1354961"/>
            <a:ext cx="2053589" cy="70802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16230" marR="5080" indent="-304165">
              <a:lnSpc>
                <a:spcPct val="102600"/>
              </a:lnSpc>
              <a:spcBef>
                <a:spcPts val="55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r>
              <a:rPr dirty="0" baseline="6944" sz="1200" spc="247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 spc="-4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Datasets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for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image</a:t>
            </a:r>
            <a:r>
              <a:rPr dirty="0" sz="1100" spc="1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classification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7" action="ppaction://hlinksldjump"/>
              </a:rPr>
              <a:t>MNIST</a:t>
            </a:r>
            <a:endParaRPr sz="1100">
              <a:latin typeface="Arial MT"/>
              <a:cs typeface="Arial MT"/>
            </a:endParaRPr>
          </a:p>
          <a:p>
            <a:pPr marL="316230" marR="1167765">
              <a:lnSpc>
                <a:spcPct val="102600"/>
              </a:lnSpc>
            </a:pPr>
            <a:r>
              <a:rPr dirty="0" sz="1100" spc="-75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CIFAR-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10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9" action="ppaction://hlinksldjump"/>
              </a:rPr>
              <a:t>SMILES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18521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14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Kaggle: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Dogs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vs.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Cats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82001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98561"/>
            <a:ext cx="4079875" cy="9182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Dogs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vs.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Cats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challenge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part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Kaggle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competition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devise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learning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algorithm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can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correctly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classify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image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5">
                <a:latin typeface="Arial MT"/>
                <a:cs typeface="Arial MT"/>
              </a:rPr>
              <a:t>as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containing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35">
                <a:solidFill>
                  <a:srgbClr val="FF0000"/>
                </a:solidFill>
                <a:latin typeface="Arial MT"/>
                <a:cs typeface="Arial MT"/>
              </a:rPr>
              <a:t>dog </a:t>
            </a:r>
            <a:r>
              <a:rPr dirty="0" sz="1100">
                <a:solidFill>
                  <a:srgbClr val="FF0000"/>
                </a:solidFill>
                <a:latin typeface="Arial MT"/>
                <a:cs typeface="Arial MT"/>
              </a:rPr>
              <a:t>or</a:t>
            </a:r>
            <a:r>
              <a:rPr dirty="0" sz="11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11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0000"/>
                </a:solidFill>
                <a:latin typeface="Arial MT"/>
                <a:cs typeface="Arial MT"/>
              </a:rPr>
              <a:t>cat</a:t>
            </a:r>
            <a:r>
              <a:rPr dirty="0" sz="1100" spc="-2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algn="just" marL="12700" marR="210185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total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FF0000"/>
                </a:solidFill>
                <a:latin typeface="Arial MT"/>
                <a:cs typeface="Arial MT"/>
              </a:rPr>
              <a:t>25,000</a:t>
            </a:r>
            <a:r>
              <a:rPr dirty="0" sz="110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are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provided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train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your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algorithm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with </a:t>
            </a:r>
            <a:r>
              <a:rPr dirty="0" sz="1100" spc="-40">
                <a:latin typeface="Arial MT"/>
                <a:cs typeface="Arial MT"/>
              </a:rPr>
              <a:t>varying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image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resolutions.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36191"/>
            <a:ext cx="65265" cy="652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15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4943"/>
            <a:ext cx="1132205" cy="454025"/>
          </a:xfrm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Kaggle: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Dogs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vs.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Cats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754" y="609041"/>
            <a:ext cx="2740152" cy="21610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4" y="2907822"/>
            <a:ext cx="412242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1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goal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this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2-</a:t>
            </a:r>
            <a:r>
              <a:rPr dirty="0" sz="1000" spc="-50">
                <a:latin typeface="Arial MT"/>
                <a:cs typeface="Arial MT"/>
              </a:rPr>
              <a:t>class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challenge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correctly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identify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given</a:t>
            </a:r>
            <a:r>
              <a:rPr dirty="0" sz="1000" spc="-10">
                <a:latin typeface="Arial MT"/>
                <a:cs typeface="Arial MT"/>
              </a:rPr>
              <a:t> input </a:t>
            </a:r>
            <a:r>
              <a:rPr dirty="0" sz="1000" spc="-40">
                <a:latin typeface="Arial MT"/>
                <a:cs typeface="Arial MT"/>
              </a:rPr>
              <a:t>image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-85">
                <a:latin typeface="Arial MT"/>
                <a:cs typeface="Arial MT"/>
              </a:rPr>
              <a:t>as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containing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”dog”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or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”cat”.</a:t>
            </a:r>
            <a:r>
              <a:rPr dirty="0" sz="1000" spc="15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Source:</a:t>
            </a:r>
            <a:r>
              <a:rPr dirty="0" sz="1000" spc="15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Adrian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Book.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Lec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318521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16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383055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160685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77892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950999"/>
            <a:ext cx="65265" cy="6526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29743" y="1354961"/>
            <a:ext cx="2053589" cy="70802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16230" marR="5080" indent="-304165">
              <a:lnSpc>
                <a:spcPct val="102600"/>
              </a:lnSpc>
              <a:spcBef>
                <a:spcPts val="55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r>
              <a:rPr dirty="0" baseline="6944" sz="1200" spc="247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 spc="-4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Datasets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for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image</a:t>
            </a:r>
            <a:r>
              <a:rPr dirty="0" sz="1100" spc="1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classification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7" action="ppaction://hlinksldjump"/>
              </a:rPr>
              <a:t>MNIST</a:t>
            </a:r>
            <a:endParaRPr sz="1100">
              <a:latin typeface="Arial MT"/>
              <a:cs typeface="Arial MT"/>
            </a:endParaRPr>
          </a:p>
          <a:p>
            <a:pPr marL="316230" marR="1167765">
              <a:lnSpc>
                <a:spcPct val="102600"/>
              </a:lnSpc>
            </a:pPr>
            <a:r>
              <a:rPr dirty="0" sz="1100" spc="-75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CIFAR-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10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9" action="ppaction://hlinksldjump"/>
              </a:rPr>
              <a:t>SMILES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Lec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18521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16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5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45">
                <a:latin typeface="Arial MT"/>
                <a:cs typeface="Arial MT"/>
              </a:rPr>
              <a:t>Flowers-</a:t>
            </a:r>
            <a:r>
              <a:rPr dirty="0" sz="900" spc="-25">
                <a:latin typeface="Arial MT"/>
                <a:cs typeface="Arial MT"/>
              </a:rPr>
              <a:t>17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9150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75703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/>
              <a:t>The</a:t>
            </a:r>
            <a:r>
              <a:rPr dirty="0" spc="-40"/>
              <a:t> </a:t>
            </a:r>
            <a:r>
              <a:rPr dirty="0" spc="-70"/>
              <a:t>Flowers-</a:t>
            </a:r>
            <a:r>
              <a:rPr dirty="0" spc="-35"/>
              <a:t>17</a:t>
            </a:r>
            <a:r>
              <a:rPr dirty="0" spc="-15"/>
              <a:t> </a:t>
            </a:r>
            <a:r>
              <a:rPr dirty="0" spc="-35"/>
              <a:t>dataset</a:t>
            </a:r>
            <a:r>
              <a:rPr dirty="0" spc="-20"/>
              <a:t> </a:t>
            </a:r>
            <a:r>
              <a:rPr dirty="0" spc="-10"/>
              <a:t>is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 spc="-10"/>
              <a:t>17</a:t>
            </a:r>
            <a:r>
              <a:rPr dirty="0" spc="-20"/>
              <a:t> </a:t>
            </a:r>
            <a:r>
              <a:rPr dirty="0" spc="-45"/>
              <a:t>category</a:t>
            </a:r>
            <a:r>
              <a:rPr dirty="0" spc="-15"/>
              <a:t> </a:t>
            </a:r>
            <a:r>
              <a:rPr dirty="0" spc="-35"/>
              <a:t>dataset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 spc="-10"/>
              <a:t>80</a:t>
            </a:r>
            <a:r>
              <a:rPr dirty="0" spc="-20"/>
              <a:t> </a:t>
            </a:r>
            <a:r>
              <a:rPr dirty="0" spc="-75"/>
              <a:t>images</a:t>
            </a:r>
            <a:r>
              <a:rPr dirty="0"/>
              <a:t> </a:t>
            </a:r>
            <a:r>
              <a:rPr dirty="0" spc="-25"/>
              <a:t>per </a:t>
            </a:r>
            <a:r>
              <a:rPr dirty="0" spc="-80"/>
              <a:t>class</a:t>
            </a:r>
            <a:r>
              <a:rPr dirty="0" spc="5"/>
              <a:t> </a:t>
            </a:r>
            <a:r>
              <a:rPr dirty="0" spc="-30"/>
              <a:t>curated</a:t>
            </a:r>
            <a:r>
              <a:rPr dirty="0" spc="-45"/>
              <a:t> </a:t>
            </a:r>
            <a:r>
              <a:rPr dirty="0" spc="-10"/>
              <a:t>by</a:t>
            </a:r>
            <a:r>
              <a:rPr dirty="0" spc="-20"/>
              <a:t> </a:t>
            </a:r>
            <a:r>
              <a:rPr dirty="0" spc="-40"/>
              <a:t>Nilsback</a:t>
            </a:r>
            <a:r>
              <a:rPr dirty="0" spc="-20"/>
              <a:t> </a:t>
            </a:r>
            <a:r>
              <a:rPr dirty="0"/>
              <a:t>et</a:t>
            </a:r>
            <a:r>
              <a:rPr dirty="0" spc="-20"/>
              <a:t> </a:t>
            </a:r>
            <a:r>
              <a:rPr dirty="0"/>
              <a:t>al.</a:t>
            </a:r>
            <a:r>
              <a:rPr dirty="0" spc="70"/>
              <a:t> </a:t>
            </a:r>
            <a:r>
              <a:rPr dirty="0"/>
              <a:t>[52].</a:t>
            </a:r>
            <a:r>
              <a:rPr dirty="0" spc="7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35"/>
              <a:t>goal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this</a:t>
            </a:r>
            <a:r>
              <a:rPr dirty="0" spc="-20"/>
              <a:t> </a:t>
            </a:r>
            <a:r>
              <a:rPr dirty="0" spc="-35"/>
              <a:t>dataset</a:t>
            </a:r>
            <a:r>
              <a:rPr dirty="0" spc="-20"/>
              <a:t> </a:t>
            </a:r>
            <a:r>
              <a:rPr dirty="0" spc="-10"/>
              <a:t>is</a:t>
            </a:r>
            <a:r>
              <a:rPr dirty="0" spc="-20"/>
              <a:t> </a:t>
            </a:r>
            <a:r>
              <a:rPr dirty="0" spc="-25"/>
              <a:t>to correctly</a:t>
            </a:r>
            <a:r>
              <a:rPr dirty="0" spc="-30"/>
              <a:t> </a:t>
            </a:r>
            <a:r>
              <a:rPr dirty="0" spc="-20"/>
              <a:t>predict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90"/>
              <a:t>species</a:t>
            </a:r>
            <a:r>
              <a:rPr dirty="0" spc="1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35"/>
              <a:t>flower</a:t>
            </a:r>
            <a:r>
              <a:rPr dirty="0" spc="-10"/>
              <a:t> </a:t>
            </a:r>
            <a:r>
              <a:rPr dirty="0"/>
              <a:t>for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-50"/>
              <a:t>given</a:t>
            </a:r>
            <a:r>
              <a:rPr dirty="0" spc="-5"/>
              <a:t> </a:t>
            </a:r>
            <a:r>
              <a:rPr dirty="0"/>
              <a:t>input</a:t>
            </a:r>
            <a:r>
              <a:rPr dirty="0" spc="-5"/>
              <a:t> </a:t>
            </a:r>
            <a:r>
              <a:rPr dirty="0" spc="-35"/>
              <a:t>image.</a:t>
            </a:r>
            <a:r>
              <a:rPr dirty="0" spc="90"/>
              <a:t> </a:t>
            </a:r>
            <a:r>
              <a:rPr dirty="0" spc="-50"/>
              <a:t>A </a:t>
            </a:r>
            <a:r>
              <a:rPr dirty="0" spc="-75"/>
              <a:t>sample</a:t>
            </a:r>
            <a:r>
              <a:rPr dirty="0" spc="15"/>
              <a:t> </a:t>
            </a:r>
            <a:r>
              <a:rPr dirty="0"/>
              <a:t>of</a:t>
            </a:r>
            <a:r>
              <a:rPr dirty="0" spc="15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70"/>
              <a:t>Flowers-</a:t>
            </a:r>
            <a:r>
              <a:rPr dirty="0" spc="-35"/>
              <a:t>17</a:t>
            </a:r>
            <a:r>
              <a:rPr dirty="0" spc="15"/>
              <a:t> </a:t>
            </a:r>
            <a:r>
              <a:rPr dirty="0" spc="-10"/>
              <a:t>dataset</a:t>
            </a:r>
          </a:p>
          <a:p>
            <a:pPr marL="12700" marR="109855">
              <a:lnSpc>
                <a:spcPct val="102600"/>
              </a:lnSpc>
              <a:spcBef>
                <a:spcPts val="300"/>
              </a:spcBef>
            </a:pPr>
            <a:r>
              <a:rPr dirty="0" spc="-70"/>
              <a:t>Flowers-</a:t>
            </a:r>
            <a:r>
              <a:rPr dirty="0" spc="-35"/>
              <a:t>17</a:t>
            </a:r>
            <a:r>
              <a:rPr dirty="0" spc="-5"/>
              <a:t> </a:t>
            </a:r>
            <a:r>
              <a:rPr dirty="0" spc="-45"/>
              <a:t>can</a:t>
            </a:r>
            <a:r>
              <a:rPr dirty="0" spc="-5"/>
              <a:t> </a:t>
            </a:r>
            <a:r>
              <a:rPr dirty="0" spc="-30"/>
              <a:t>be</a:t>
            </a:r>
            <a:r>
              <a:rPr dirty="0" spc="-5"/>
              <a:t> </a:t>
            </a:r>
            <a:r>
              <a:rPr dirty="0" spc="-65"/>
              <a:t>considered</a:t>
            </a:r>
            <a:r>
              <a:rPr dirty="0" spc="-5"/>
              <a:t> </a:t>
            </a:r>
            <a:r>
              <a:rPr dirty="0"/>
              <a:t>a </a:t>
            </a:r>
            <a:r>
              <a:rPr dirty="0" spc="-45"/>
              <a:t>challenging</a:t>
            </a:r>
            <a:r>
              <a:rPr dirty="0" spc="-5"/>
              <a:t> </a:t>
            </a:r>
            <a:r>
              <a:rPr dirty="0" spc="-35"/>
              <a:t>dataset</a:t>
            </a:r>
            <a:r>
              <a:rPr dirty="0" spc="-5"/>
              <a:t> </a:t>
            </a:r>
            <a:r>
              <a:rPr dirty="0" spc="-55"/>
              <a:t>due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 spc="-25"/>
              <a:t>the dramatic</a:t>
            </a:r>
            <a:r>
              <a:rPr dirty="0" spc="15"/>
              <a:t> </a:t>
            </a:r>
            <a:r>
              <a:rPr dirty="0" spc="-85"/>
              <a:t>changes</a:t>
            </a:r>
            <a:r>
              <a:rPr dirty="0" spc="15"/>
              <a:t> </a:t>
            </a:r>
            <a:r>
              <a:rPr dirty="0"/>
              <a:t>in</a:t>
            </a:r>
            <a:r>
              <a:rPr dirty="0" spc="20"/>
              <a:t> </a:t>
            </a:r>
            <a:r>
              <a:rPr dirty="0" spc="-70"/>
              <a:t>scale,</a:t>
            </a:r>
            <a:r>
              <a:rPr dirty="0" spc="15"/>
              <a:t> </a:t>
            </a:r>
            <a:r>
              <a:rPr dirty="0" spc="-30"/>
              <a:t>view-</a:t>
            </a:r>
            <a:r>
              <a:rPr dirty="0" spc="15"/>
              <a:t> </a:t>
            </a:r>
            <a:r>
              <a:rPr dirty="0"/>
              <a:t>point</a:t>
            </a:r>
            <a:r>
              <a:rPr dirty="0" spc="20"/>
              <a:t> </a:t>
            </a:r>
            <a:r>
              <a:rPr dirty="0" spc="-65"/>
              <a:t>angles,</a:t>
            </a:r>
            <a:r>
              <a:rPr dirty="0" spc="15"/>
              <a:t> </a:t>
            </a:r>
            <a:r>
              <a:rPr dirty="0" spc="-45"/>
              <a:t>background</a:t>
            </a:r>
            <a:r>
              <a:rPr dirty="0" spc="15"/>
              <a:t> </a:t>
            </a:r>
            <a:r>
              <a:rPr dirty="0" spc="-10"/>
              <a:t>clutter, </a:t>
            </a:r>
            <a:r>
              <a:rPr dirty="0" spc="-40"/>
              <a:t>varying</a:t>
            </a:r>
            <a:r>
              <a:rPr dirty="0"/>
              <a:t> </a:t>
            </a:r>
            <a:r>
              <a:rPr dirty="0" spc="-10"/>
              <a:t>lighting</a:t>
            </a:r>
            <a:r>
              <a:rPr dirty="0" spc="5"/>
              <a:t> </a:t>
            </a:r>
            <a:r>
              <a:rPr dirty="0" spc="-30"/>
              <a:t>conditions,</a:t>
            </a:r>
            <a:r>
              <a:rPr dirty="0" spc="5"/>
              <a:t> </a:t>
            </a:r>
            <a:r>
              <a:rPr dirty="0" spc="-45"/>
              <a:t>and</a:t>
            </a:r>
            <a:r>
              <a:rPr dirty="0" spc="5"/>
              <a:t> </a:t>
            </a:r>
            <a:r>
              <a:rPr dirty="0" spc="-45"/>
              <a:t>intra-</a:t>
            </a:r>
            <a:r>
              <a:rPr dirty="0" spc="-30"/>
              <a:t>class</a:t>
            </a:r>
            <a:r>
              <a:rPr dirty="0" spc="5"/>
              <a:t> </a:t>
            </a:r>
            <a:r>
              <a:rPr dirty="0" spc="-10"/>
              <a:t>variation.</a:t>
            </a:r>
          </a:p>
          <a:p>
            <a:pPr marL="12700" marR="329565">
              <a:lnSpc>
                <a:spcPct val="102699"/>
              </a:lnSpc>
              <a:spcBef>
                <a:spcPts val="300"/>
              </a:spcBef>
            </a:pPr>
            <a:r>
              <a:rPr dirty="0" spc="-25"/>
              <a:t>As</a:t>
            </a:r>
            <a:r>
              <a:rPr dirty="0"/>
              <a:t> a</a:t>
            </a:r>
            <a:r>
              <a:rPr dirty="0" spc="5"/>
              <a:t> </a:t>
            </a:r>
            <a:r>
              <a:rPr dirty="0" spc="-60"/>
              <a:t>general</a:t>
            </a:r>
            <a:r>
              <a:rPr dirty="0" spc="5"/>
              <a:t> </a:t>
            </a:r>
            <a:r>
              <a:rPr dirty="0" spc="-20"/>
              <a:t>rule</a:t>
            </a:r>
            <a:r>
              <a:rPr dirty="0"/>
              <a:t> of</a:t>
            </a:r>
            <a:r>
              <a:rPr dirty="0" spc="5"/>
              <a:t> </a:t>
            </a:r>
            <a:r>
              <a:rPr dirty="0"/>
              <a:t>thumb,</a:t>
            </a:r>
            <a:r>
              <a:rPr dirty="0" spc="5"/>
              <a:t> </a:t>
            </a:r>
            <a:r>
              <a:rPr dirty="0"/>
              <a:t>it’s </a:t>
            </a:r>
            <a:r>
              <a:rPr dirty="0" spc="-60"/>
              <a:t>advisable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5"/>
              <a:t> </a:t>
            </a:r>
            <a:r>
              <a:rPr dirty="0" spc="-70"/>
              <a:t>have</a:t>
            </a:r>
            <a:r>
              <a:rPr dirty="0"/>
              <a:t> </a:t>
            </a:r>
            <a:r>
              <a:rPr dirty="0" spc="-60"/>
              <a:t>1,000-</a:t>
            </a:r>
            <a:r>
              <a:rPr dirty="0" spc="-10"/>
              <a:t>5,000 </a:t>
            </a:r>
            <a:r>
              <a:rPr dirty="0" spc="-70"/>
              <a:t>example</a:t>
            </a:r>
            <a:r>
              <a:rPr dirty="0" spc="-5"/>
              <a:t> </a:t>
            </a:r>
            <a:r>
              <a:rPr dirty="0" spc="-75"/>
              <a:t>images</a:t>
            </a:r>
            <a:r>
              <a:rPr dirty="0"/>
              <a:t> </a:t>
            </a:r>
            <a:r>
              <a:rPr dirty="0" spc="-20"/>
              <a:t>per</a:t>
            </a:r>
            <a:r>
              <a:rPr dirty="0" spc="5"/>
              <a:t> </a:t>
            </a:r>
            <a:r>
              <a:rPr dirty="0" spc="-80"/>
              <a:t>class</a:t>
            </a:r>
            <a:r>
              <a:rPr dirty="0" spc="5"/>
              <a:t> </a:t>
            </a:r>
            <a:r>
              <a:rPr dirty="0" spc="-60"/>
              <a:t>when</a:t>
            </a:r>
            <a:r>
              <a:rPr dirty="0"/>
              <a:t> </a:t>
            </a:r>
            <a:r>
              <a:rPr dirty="0" spc="-10"/>
              <a:t>training</a:t>
            </a:r>
            <a:r>
              <a:rPr dirty="0"/>
              <a:t> a</a:t>
            </a:r>
            <a:r>
              <a:rPr dirty="0" spc="5"/>
              <a:t> </a:t>
            </a:r>
            <a:r>
              <a:rPr dirty="0" spc="-80"/>
              <a:t>deep</a:t>
            </a:r>
            <a:r>
              <a:rPr dirty="0" spc="5"/>
              <a:t> </a:t>
            </a:r>
            <a:r>
              <a:rPr dirty="0" spc="-40"/>
              <a:t>neural</a:t>
            </a:r>
            <a:r>
              <a:rPr dirty="0"/>
              <a:t> </a:t>
            </a:r>
            <a:r>
              <a:rPr dirty="0" spc="-25"/>
              <a:t>network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17763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371941"/>
            <a:ext cx="65265" cy="6526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17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5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45">
                <a:latin typeface="Arial MT"/>
                <a:cs typeface="Arial MT"/>
              </a:rPr>
              <a:t>Flowers-</a:t>
            </a:r>
            <a:r>
              <a:rPr dirty="0" sz="900" spc="-25">
                <a:latin typeface="Arial MT"/>
                <a:cs typeface="Arial MT"/>
              </a:rPr>
              <a:t>17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446" y="622071"/>
            <a:ext cx="2651125" cy="20066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4" y="2733019"/>
            <a:ext cx="4139565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2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sample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five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(out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seventeen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total)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classes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Flowers-</a:t>
            </a:r>
            <a:r>
              <a:rPr dirty="0" sz="1000" spc="-25">
                <a:latin typeface="Arial MT"/>
                <a:cs typeface="Arial MT"/>
              </a:rPr>
              <a:t>17 </a:t>
            </a:r>
            <a:r>
              <a:rPr dirty="0" sz="1000" spc="-30">
                <a:latin typeface="Arial MT"/>
                <a:cs typeface="Arial MT"/>
              </a:rPr>
              <a:t>dataset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where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60">
                <a:latin typeface="Arial MT"/>
                <a:cs typeface="Arial MT"/>
              </a:rPr>
              <a:t>each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class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represents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specific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flower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species.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Source: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Adrian Book.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318521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18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383055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160685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77892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950999"/>
            <a:ext cx="65265" cy="6526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29743" y="1354961"/>
            <a:ext cx="2053589" cy="70802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16230" marR="5080" indent="-304165">
              <a:lnSpc>
                <a:spcPct val="102600"/>
              </a:lnSpc>
              <a:spcBef>
                <a:spcPts val="55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r>
              <a:rPr dirty="0" baseline="6944" sz="1200" spc="247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 spc="-4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Datasets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for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image</a:t>
            </a:r>
            <a:r>
              <a:rPr dirty="0" sz="1100" spc="1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classification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7" action="ppaction://hlinksldjump"/>
              </a:rPr>
              <a:t>MNIST</a:t>
            </a:r>
            <a:endParaRPr sz="1100">
              <a:latin typeface="Arial MT"/>
              <a:cs typeface="Arial MT"/>
            </a:endParaRPr>
          </a:p>
          <a:p>
            <a:pPr marL="316230" marR="1167765">
              <a:lnSpc>
                <a:spcPct val="102600"/>
              </a:lnSpc>
            </a:pPr>
            <a:r>
              <a:rPr dirty="0" sz="1100" spc="-75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CIFAR-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10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9" action="ppaction://hlinksldjump"/>
              </a:rPr>
              <a:t>SMILES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18521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18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4943"/>
            <a:ext cx="755650" cy="454025"/>
          </a:xfrm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40">
                <a:latin typeface="Arial MT"/>
                <a:cs typeface="Arial MT"/>
              </a:rPr>
              <a:t>CALTECH-</a:t>
            </a:r>
            <a:r>
              <a:rPr dirty="0" sz="900" spc="-25">
                <a:latin typeface="Arial MT"/>
                <a:cs typeface="Arial MT"/>
              </a:rPr>
              <a:t>101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75512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092071"/>
            <a:ext cx="4044315" cy="14344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CALTECH-</a:t>
            </a:r>
            <a:r>
              <a:rPr dirty="0" sz="1100" spc="-10">
                <a:latin typeface="Arial MT"/>
                <a:cs typeface="Arial MT"/>
              </a:rPr>
              <a:t>101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dataset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popular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benchmark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dataset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object </a:t>
            </a:r>
            <a:r>
              <a:rPr dirty="0" sz="1100" spc="-25">
                <a:latin typeface="Arial MT"/>
                <a:cs typeface="Arial MT"/>
              </a:rPr>
              <a:t>detection.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Typically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used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object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detection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(i.e.,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predicting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(x, </a:t>
            </a:r>
            <a:r>
              <a:rPr dirty="0" sz="1100" spc="-30">
                <a:latin typeface="Arial MT"/>
                <a:cs typeface="Arial MT"/>
              </a:rPr>
              <a:t>y)-</a:t>
            </a:r>
            <a:r>
              <a:rPr dirty="0" sz="1100" spc="-40">
                <a:latin typeface="Arial MT"/>
                <a:cs typeface="Arial MT"/>
              </a:rPr>
              <a:t>coordinates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bounding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box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particular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object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an </a:t>
            </a:r>
            <a:r>
              <a:rPr dirty="0" sz="1100" spc="-30">
                <a:latin typeface="Arial MT"/>
                <a:cs typeface="Arial MT"/>
              </a:rPr>
              <a:t>image),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we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can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use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CALTECH-</a:t>
            </a:r>
            <a:r>
              <a:rPr dirty="0" sz="1100" spc="-10">
                <a:latin typeface="Arial MT"/>
                <a:cs typeface="Arial MT"/>
              </a:rPr>
              <a:t>101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study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deep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learning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algorithms </a:t>
            </a:r>
            <a:r>
              <a:rPr dirty="0" sz="1100" spc="-105">
                <a:latin typeface="Arial MT"/>
                <a:cs typeface="Arial MT"/>
              </a:rPr>
              <a:t>as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well.</a:t>
            </a:r>
            <a:endParaRPr sz="1100">
              <a:latin typeface="Arial MT"/>
              <a:cs typeface="Arial MT"/>
            </a:endParaRPr>
          </a:p>
          <a:p>
            <a:pPr marL="12700" marR="163195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dataset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8,677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includes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101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categories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spanning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a </a:t>
            </a:r>
            <a:r>
              <a:rPr dirty="0" sz="1100" spc="-70">
                <a:latin typeface="Arial MT"/>
                <a:cs typeface="Arial MT"/>
              </a:rPr>
              <a:t>diverse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range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objects,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including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elephants,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bicycles,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soccer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balls,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even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human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brains,</a:t>
            </a:r>
            <a:r>
              <a:rPr dirty="0" sz="1100">
                <a:latin typeface="Arial MT"/>
                <a:cs typeface="Arial MT"/>
              </a:rPr>
              <a:t> just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 </a:t>
            </a:r>
            <a:r>
              <a:rPr dirty="0" sz="1100" spc="-70">
                <a:latin typeface="Arial MT"/>
                <a:cs typeface="Arial MT"/>
              </a:rPr>
              <a:t>name</a:t>
            </a:r>
            <a:r>
              <a:rPr dirty="0" sz="1100">
                <a:latin typeface="Arial MT"/>
                <a:cs typeface="Arial MT"/>
              </a:rPr>
              <a:t> a </a:t>
            </a:r>
            <a:r>
              <a:rPr dirty="0" sz="1100" spc="-20">
                <a:latin typeface="Arial MT"/>
                <a:cs typeface="Arial MT"/>
              </a:rPr>
              <a:t>few.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073846"/>
            <a:ext cx="65265" cy="6526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19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4943"/>
            <a:ext cx="970915" cy="454025"/>
          </a:xfrm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latin typeface="Arial MT"/>
                <a:cs typeface="Arial MT"/>
              </a:rPr>
              <a:t>Tiny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ImageNet</a:t>
            </a:r>
            <a:r>
              <a:rPr dirty="0" sz="900" spc="4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200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44346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28548" rIns="0" bIns="0" rtlCol="0" vert="horz">
            <a:spAutoFit/>
          </a:bodyPr>
          <a:lstStyle/>
          <a:p>
            <a:pPr marL="12700" marR="223520">
              <a:lnSpc>
                <a:spcPct val="102699"/>
              </a:lnSpc>
              <a:spcBef>
                <a:spcPts val="55"/>
              </a:spcBef>
            </a:pPr>
            <a:r>
              <a:rPr dirty="0" spc="-50"/>
              <a:t>image</a:t>
            </a:r>
            <a:r>
              <a:rPr dirty="0"/>
              <a:t> </a:t>
            </a:r>
            <a:r>
              <a:rPr dirty="0" spc="-40"/>
              <a:t>classification</a:t>
            </a:r>
            <a:r>
              <a:rPr dirty="0"/>
              <a:t> </a:t>
            </a:r>
            <a:r>
              <a:rPr dirty="0" spc="-55"/>
              <a:t>challenge</a:t>
            </a:r>
            <a:r>
              <a:rPr dirty="0"/>
              <a:t> for</a:t>
            </a:r>
            <a:r>
              <a:rPr dirty="0" spc="5"/>
              <a:t> </a:t>
            </a:r>
            <a:r>
              <a:rPr dirty="0" spc="-40"/>
              <a:t>students</a:t>
            </a:r>
            <a:r>
              <a:rPr dirty="0"/>
              <a:t> </a:t>
            </a:r>
            <a:r>
              <a:rPr dirty="0" spc="-30"/>
              <a:t>similar</a:t>
            </a:r>
            <a:r>
              <a:rPr dirty="0"/>
              <a:t> to</a:t>
            </a:r>
            <a:r>
              <a:rPr dirty="0" spc="5"/>
              <a:t> </a:t>
            </a:r>
            <a:r>
              <a:rPr dirty="0"/>
              <a:t>the </a:t>
            </a:r>
            <a:r>
              <a:rPr dirty="0" spc="-35"/>
              <a:t>ImageNet </a:t>
            </a:r>
            <a:r>
              <a:rPr dirty="0" spc="-55"/>
              <a:t>challenge,</a:t>
            </a:r>
            <a:r>
              <a:rPr dirty="0" spc="5"/>
              <a:t> </a:t>
            </a:r>
            <a:r>
              <a:rPr dirty="0"/>
              <a:t>but</a:t>
            </a:r>
            <a:r>
              <a:rPr dirty="0" spc="10"/>
              <a:t> </a:t>
            </a:r>
            <a:r>
              <a:rPr dirty="0" spc="-45"/>
              <a:t>smaller</a:t>
            </a:r>
            <a:r>
              <a:rPr dirty="0" spc="5"/>
              <a:t> </a:t>
            </a:r>
            <a:r>
              <a:rPr dirty="0"/>
              <a:t>in</a:t>
            </a:r>
            <a:r>
              <a:rPr dirty="0" spc="10"/>
              <a:t> </a:t>
            </a:r>
            <a:r>
              <a:rPr dirty="0" spc="-10"/>
              <a:t>scope.</a:t>
            </a: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pc="-30"/>
              <a:t>There</a:t>
            </a:r>
            <a:r>
              <a:rPr dirty="0" spc="-35"/>
              <a:t> </a:t>
            </a:r>
            <a:r>
              <a:rPr dirty="0" spc="-65"/>
              <a:t>are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/>
              <a:t>total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45"/>
              <a:t>200</a:t>
            </a:r>
            <a:r>
              <a:rPr dirty="0" spc="-5"/>
              <a:t> </a:t>
            </a:r>
            <a:r>
              <a:rPr dirty="0" spc="-60"/>
              <a:t>image</a:t>
            </a:r>
            <a:r>
              <a:rPr dirty="0" spc="-5"/>
              <a:t> </a:t>
            </a:r>
            <a:r>
              <a:rPr dirty="0" spc="-100"/>
              <a:t>classes</a:t>
            </a:r>
            <a:r>
              <a:rPr dirty="0" spc="25"/>
              <a:t> </a:t>
            </a:r>
            <a:r>
              <a:rPr dirty="0"/>
              <a:t>in this</a:t>
            </a:r>
            <a:r>
              <a:rPr dirty="0" spc="-5"/>
              <a:t> </a:t>
            </a:r>
            <a:r>
              <a:rPr dirty="0" spc="-35"/>
              <a:t>dataset</a:t>
            </a:r>
            <a:r>
              <a:rPr dirty="0" spc="-5"/>
              <a:t> </a:t>
            </a:r>
            <a:r>
              <a:rPr dirty="0"/>
              <a:t>with</a:t>
            </a:r>
            <a:r>
              <a:rPr dirty="0" spc="-5"/>
              <a:t> </a:t>
            </a:r>
            <a:r>
              <a:rPr dirty="0" spc="-45"/>
              <a:t>500</a:t>
            </a:r>
            <a:r>
              <a:rPr dirty="0" spc="-5"/>
              <a:t> </a:t>
            </a:r>
            <a:r>
              <a:rPr dirty="0" spc="-40"/>
              <a:t>images </a:t>
            </a:r>
            <a:r>
              <a:rPr dirty="0"/>
              <a:t>for</a:t>
            </a:r>
            <a:r>
              <a:rPr dirty="0" spc="-20"/>
              <a:t> </a:t>
            </a:r>
            <a:r>
              <a:rPr dirty="0" spc="-10"/>
              <a:t>training,</a:t>
            </a:r>
            <a:r>
              <a:rPr dirty="0" spc="-5"/>
              <a:t> </a:t>
            </a:r>
            <a:r>
              <a:rPr dirty="0" spc="-10"/>
              <a:t>50</a:t>
            </a:r>
            <a:r>
              <a:rPr dirty="0" spc="-5"/>
              <a:t> </a:t>
            </a:r>
            <a:r>
              <a:rPr dirty="0" spc="-75"/>
              <a:t>images</a:t>
            </a:r>
            <a:r>
              <a:rPr dirty="0"/>
              <a:t> for</a:t>
            </a:r>
            <a:r>
              <a:rPr dirty="0" spc="-5"/>
              <a:t> </a:t>
            </a:r>
            <a:r>
              <a:rPr dirty="0" spc="-25"/>
              <a:t>validation,</a:t>
            </a:r>
            <a:r>
              <a:rPr dirty="0" spc="-5"/>
              <a:t> </a:t>
            </a:r>
            <a:r>
              <a:rPr dirty="0" spc="-45"/>
              <a:t>and</a:t>
            </a:r>
            <a:r>
              <a:rPr dirty="0" spc="-5"/>
              <a:t> </a:t>
            </a:r>
            <a:r>
              <a:rPr dirty="0" spc="-10"/>
              <a:t>50</a:t>
            </a:r>
            <a:r>
              <a:rPr dirty="0" spc="-5"/>
              <a:t> </a:t>
            </a:r>
            <a:r>
              <a:rPr dirty="0" spc="-75"/>
              <a:t>images</a:t>
            </a:r>
            <a:r>
              <a:rPr dirty="0"/>
              <a:t> for</a:t>
            </a:r>
            <a:r>
              <a:rPr dirty="0" spc="-5"/>
              <a:t> </a:t>
            </a:r>
            <a:r>
              <a:rPr dirty="0" spc="-20"/>
              <a:t>testing</a:t>
            </a:r>
            <a:r>
              <a:rPr dirty="0" spc="-5"/>
              <a:t> </a:t>
            </a:r>
            <a:r>
              <a:rPr dirty="0" spc="-25"/>
              <a:t>per </a:t>
            </a:r>
            <a:r>
              <a:rPr dirty="0" spc="-50"/>
              <a:t>class.</a:t>
            </a:r>
            <a:r>
              <a:rPr dirty="0" spc="20"/>
              <a:t> </a:t>
            </a:r>
            <a:r>
              <a:rPr dirty="0" spc="-60"/>
              <a:t>Each</a:t>
            </a:r>
            <a:r>
              <a:rPr dirty="0" spc="20"/>
              <a:t> </a:t>
            </a:r>
            <a:r>
              <a:rPr dirty="0" spc="-50"/>
              <a:t>image</a:t>
            </a:r>
            <a:r>
              <a:rPr dirty="0" spc="15"/>
              <a:t> </a:t>
            </a:r>
            <a:r>
              <a:rPr dirty="0" spc="-85"/>
              <a:t>has</a:t>
            </a:r>
            <a:r>
              <a:rPr dirty="0" spc="20"/>
              <a:t> </a:t>
            </a:r>
            <a:r>
              <a:rPr dirty="0" spc="-70"/>
              <a:t>been</a:t>
            </a:r>
            <a:r>
              <a:rPr dirty="0" spc="15"/>
              <a:t> </a:t>
            </a:r>
            <a:r>
              <a:rPr dirty="0" spc="-80"/>
              <a:t>preprocessed</a:t>
            </a:r>
            <a:r>
              <a:rPr dirty="0" spc="15"/>
              <a:t> </a:t>
            </a:r>
            <a:r>
              <a:rPr dirty="0" spc="-45"/>
              <a:t>and</a:t>
            </a:r>
            <a:r>
              <a:rPr dirty="0" spc="20"/>
              <a:t> </a:t>
            </a:r>
            <a:r>
              <a:rPr dirty="0" spc="-50"/>
              <a:t>cropped</a:t>
            </a:r>
            <a:r>
              <a:rPr dirty="0" spc="15"/>
              <a:t> </a:t>
            </a:r>
            <a:r>
              <a:rPr dirty="0"/>
              <a:t>to</a:t>
            </a:r>
            <a:r>
              <a:rPr dirty="0" spc="20"/>
              <a:t> </a:t>
            </a:r>
            <a:r>
              <a:rPr dirty="0" spc="-70"/>
              <a:t>64 </a:t>
            </a:r>
            <a:r>
              <a:rPr dirty="0" spc="-60" i="1">
                <a:latin typeface="Verdana"/>
                <a:cs typeface="Verdana"/>
              </a:rPr>
              <a:t>×</a:t>
            </a:r>
            <a:r>
              <a:rPr dirty="0" spc="-145" i="1">
                <a:latin typeface="Verdana"/>
                <a:cs typeface="Verdana"/>
              </a:rPr>
              <a:t> </a:t>
            </a:r>
            <a:r>
              <a:rPr dirty="0" spc="-70"/>
              <a:t>64</a:t>
            </a:r>
            <a:r>
              <a:rPr dirty="0" spc="-65"/>
              <a:t> </a:t>
            </a:r>
            <a:r>
              <a:rPr dirty="0" spc="-60" i="1">
                <a:latin typeface="Verdana"/>
                <a:cs typeface="Verdana"/>
              </a:rPr>
              <a:t>×</a:t>
            </a:r>
            <a:r>
              <a:rPr dirty="0" spc="-145" i="1">
                <a:latin typeface="Verdana"/>
                <a:cs typeface="Verdana"/>
              </a:rPr>
              <a:t> </a:t>
            </a:r>
            <a:r>
              <a:rPr dirty="0" spc="-50"/>
              <a:t>3 </a:t>
            </a:r>
            <a:r>
              <a:rPr dirty="0" spc="-45"/>
              <a:t>pixels</a:t>
            </a:r>
            <a:r>
              <a:rPr dirty="0" spc="10"/>
              <a:t> </a:t>
            </a:r>
            <a:r>
              <a:rPr dirty="0" spc="-35"/>
              <a:t>making</a:t>
            </a:r>
            <a:r>
              <a:rPr dirty="0" spc="10"/>
              <a:t> </a:t>
            </a:r>
            <a:r>
              <a:rPr dirty="0"/>
              <a:t>it</a:t>
            </a:r>
            <a:r>
              <a:rPr dirty="0" spc="15"/>
              <a:t> </a:t>
            </a:r>
            <a:r>
              <a:rPr dirty="0" spc="-75"/>
              <a:t>easier</a:t>
            </a:r>
            <a:r>
              <a:rPr dirty="0" spc="10"/>
              <a:t> </a:t>
            </a:r>
            <a:r>
              <a:rPr dirty="0"/>
              <a:t>for</a:t>
            </a:r>
            <a:r>
              <a:rPr dirty="0" spc="10"/>
              <a:t> </a:t>
            </a:r>
            <a:r>
              <a:rPr dirty="0" spc="-40"/>
              <a:t>students</a:t>
            </a:r>
            <a:r>
              <a:rPr dirty="0" spc="15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 spc="-35"/>
              <a:t>focus</a:t>
            </a:r>
            <a:r>
              <a:rPr dirty="0" spc="10"/>
              <a:t> </a:t>
            </a:r>
            <a:r>
              <a:rPr dirty="0"/>
              <a:t>on</a:t>
            </a:r>
            <a:r>
              <a:rPr dirty="0" spc="15"/>
              <a:t> </a:t>
            </a:r>
            <a:r>
              <a:rPr dirty="0" spc="-80"/>
              <a:t>deep</a:t>
            </a:r>
            <a:r>
              <a:rPr dirty="0" spc="10"/>
              <a:t> </a:t>
            </a:r>
            <a:r>
              <a:rPr dirty="0" spc="-10"/>
              <a:t>learning </a:t>
            </a:r>
            <a:r>
              <a:rPr dirty="0" spc="-55"/>
              <a:t>techniques</a:t>
            </a:r>
            <a:r>
              <a:rPr dirty="0" spc="-20"/>
              <a:t> </a:t>
            </a:r>
            <a:r>
              <a:rPr dirty="0" spc="-10"/>
              <a:t>rather</a:t>
            </a:r>
            <a:r>
              <a:rPr dirty="0" spc="-20"/>
              <a:t> </a:t>
            </a:r>
            <a:r>
              <a:rPr dirty="0"/>
              <a:t>than</a:t>
            </a:r>
            <a:r>
              <a:rPr dirty="0" spc="-15"/>
              <a:t> </a:t>
            </a:r>
            <a:r>
              <a:rPr dirty="0" spc="-30"/>
              <a:t>computer</a:t>
            </a:r>
            <a:r>
              <a:rPr dirty="0" spc="-10"/>
              <a:t> </a:t>
            </a:r>
            <a:r>
              <a:rPr dirty="0" spc="-35"/>
              <a:t>vision</a:t>
            </a:r>
            <a:r>
              <a:rPr dirty="0" spc="-15"/>
              <a:t> </a:t>
            </a:r>
            <a:r>
              <a:rPr dirty="0" spc="-70"/>
              <a:t>preprocessing</a:t>
            </a:r>
            <a:r>
              <a:rPr dirty="0" spc="-5"/>
              <a:t> </a:t>
            </a:r>
            <a:r>
              <a:rPr dirty="0" spc="-10"/>
              <a:t>functions.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26450"/>
            <a:ext cx="65265" cy="6526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18521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383055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160685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77892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950999"/>
            <a:ext cx="65265" cy="6526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29743" y="1354961"/>
            <a:ext cx="2053589" cy="70802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16230" marR="5080" indent="-304165">
              <a:lnSpc>
                <a:spcPct val="102600"/>
              </a:lnSpc>
              <a:spcBef>
                <a:spcPts val="55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r>
              <a:rPr dirty="0" baseline="6944" sz="1200" spc="247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 spc="-4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Datasets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for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image</a:t>
            </a:r>
            <a:r>
              <a:rPr dirty="0" sz="1100" spc="1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classification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7" action="ppaction://hlinksldjump"/>
              </a:rPr>
              <a:t>MNIST</a:t>
            </a:r>
            <a:endParaRPr sz="1100">
              <a:latin typeface="Arial MT"/>
              <a:cs typeface="Arial MT"/>
            </a:endParaRPr>
          </a:p>
          <a:p>
            <a:pPr marL="316230" marR="1167765">
              <a:lnSpc>
                <a:spcPct val="102600"/>
              </a:lnSpc>
            </a:pPr>
            <a:r>
              <a:rPr dirty="0" sz="1100" spc="-75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CIFAR-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10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9" action="ppaction://hlinksldjump"/>
              </a:rPr>
              <a:t>SMILES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18521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5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Adience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9719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313737"/>
            <a:ext cx="4053204" cy="8801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0">
                <a:solidFill>
                  <a:srgbClr val="FF0000"/>
                </a:solidFill>
                <a:latin typeface="Arial MT"/>
                <a:cs typeface="Arial MT"/>
              </a:rPr>
              <a:t>Adience</a:t>
            </a:r>
            <a:r>
              <a:rPr dirty="0" sz="110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 spc="-35">
                <a:solidFill>
                  <a:srgbClr val="FF0000"/>
                </a:solidFill>
                <a:latin typeface="Arial MT"/>
                <a:cs typeface="Arial MT"/>
              </a:rPr>
              <a:t>dataset</a:t>
            </a:r>
            <a:r>
              <a:rPr dirty="0" sz="1100" spc="-35">
                <a:latin typeface="Arial MT"/>
                <a:cs typeface="Arial MT"/>
              </a:rPr>
              <a:t>,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Constructed</a:t>
            </a:r>
            <a:r>
              <a:rPr dirty="0" sz="1100">
                <a:latin typeface="Arial MT"/>
                <a:cs typeface="Arial MT"/>
              </a:rPr>
              <a:t> in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2014,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used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facilitate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 study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age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gender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recognition.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total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26,580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are </a:t>
            </a:r>
            <a:r>
              <a:rPr dirty="0" sz="1100" spc="-45">
                <a:latin typeface="Arial MT"/>
                <a:cs typeface="Arial MT"/>
              </a:rPr>
              <a:t>included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dataset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ages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ranging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0-</a:t>
            </a:r>
            <a:r>
              <a:rPr dirty="0" sz="1100">
                <a:latin typeface="Arial MT"/>
                <a:cs typeface="Arial MT"/>
              </a:rPr>
              <a:t>60.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goal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this </a:t>
            </a:r>
            <a:r>
              <a:rPr dirty="0" sz="1100" spc="-35">
                <a:latin typeface="Arial MT"/>
                <a:cs typeface="Arial MT"/>
              </a:rPr>
              <a:t>dataset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correctly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predict</a:t>
            </a:r>
            <a:r>
              <a:rPr dirty="0" sz="1100">
                <a:latin typeface="Arial MT"/>
                <a:cs typeface="Arial MT"/>
              </a:rPr>
              <a:t> both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age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gender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 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subject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image.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318521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21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60134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Dataset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Adience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666" y="599783"/>
            <a:ext cx="2574417" cy="253390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38544" y="3314882"/>
            <a:ext cx="896619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55"/>
              </a:lnSpc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1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sample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6689" y="3314882"/>
            <a:ext cx="1994535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55"/>
              </a:lnSpc>
            </a:pP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 </a:t>
            </a:r>
            <a:r>
              <a:rPr dirty="0" sz="1000" spc="-45">
                <a:latin typeface="Arial MT"/>
                <a:cs typeface="Arial MT"/>
                <a:hlinkClick r:id="rId3" action="ppaction://hlinksldjump"/>
              </a:rPr>
              <a:t>Adience</a:t>
            </a:r>
            <a:r>
              <a:rPr dirty="0" sz="1000" spc="-5"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000" spc="-30">
                <a:latin typeface="Arial MT"/>
                <a:cs typeface="Arial MT"/>
                <a:hlinkClick r:id="rId3" action="ppaction://hlinksldjump"/>
              </a:rPr>
              <a:t>dataset</a:t>
            </a:r>
            <a:r>
              <a:rPr dirty="0" sz="1000" spc="-5"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000">
                <a:latin typeface="Arial MT"/>
                <a:cs typeface="Arial MT"/>
                <a:hlinkClick r:id="rId3" action="ppaction://hlinksldjump"/>
              </a:rPr>
              <a:t>for </a:t>
            </a:r>
            <a:r>
              <a:rPr dirty="0" sz="1000" spc="-65">
                <a:latin typeface="Arial MT"/>
                <a:cs typeface="Arial MT"/>
                <a:hlinkClick r:id="rId3" action="ppaction://hlinksldjump"/>
              </a:rPr>
              <a:t>age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and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ge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36263" y="3314882"/>
            <a:ext cx="1085215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55"/>
              </a:lnSpc>
            </a:pPr>
            <a:r>
              <a:rPr dirty="0" sz="1000" spc="-20">
                <a:latin typeface="Arial MT"/>
                <a:cs typeface="Arial MT"/>
              </a:rPr>
              <a:t>recognition.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 spc="110">
                <a:latin typeface="Arial MT"/>
                <a:cs typeface="Arial MT"/>
              </a:rPr>
              <a:t>Ag</a:t>
            </a:r>
            <a:r>
              <a:rPr dirty="0" sz="1000" spc="-9285">
                <a:latin typeface="Arial MT"/>
                <a:cs typeface="Arial MT"/>
              </a:rPr>
              <a:t>e</a:t>
            </a:r>
            <a:r>
              <a:rPr dirty="0" sz="1000" spc="110">
                <a:latin typeface="Arial MT"/>
                <a:cs typeface="Arial MT"/>
              </a:rPr>
              <a:t>der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58188" y="3302182"/>
            <a:ext cx="90805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1000" spc="-50">
                <a:latin typeface="Arial MT"/>
                <a:cs typeface="Arial MT"/>
              </a:rPr>
              <a:t>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Lec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18521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22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383055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160685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77892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950999"/>
            <a:ext cx="65265" cy="6526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29743" y="1354961"/>
            <a:ext cx="2053589" cy="70802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16230" marR="5080" indent="-304165">
              <a:lnSpc>
                <a:spcPct val="102600"/>
              </a:lnSpc>
              <a:spcBef>
                <a:spcPts val="55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r>
              <a:rPr dirty="0" baseline="6944" sz="1200" spc="247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 spc="-4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Datasets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for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image</a:t>
            </a:r>
            <a:r>
              <a:rPr dirty="0" sz="1100" spc="1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classification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7" action="ppaction://hlinksldjump"/>
              </a:rPr>
              <a:t>MNIST</a:t>
            </a:r>
            <a:endParaRPr sz="1100">
              <a:latin typeface="Arial MT"/>
              <a:cs typeface="Arial MT"/>
            </a:endParaRPr>
          </a:p>
          <a:p>
            <a:pPr marL="316230" marR="1167765">
              <a:lnSpc>
                <a:spcPct val="102600"/>
              </a:lnSpc>
            </a:pPr>
            <a:r>
              <a:rPr dirty="0" sz="1100" spc="-75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CIFAR-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10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9" action="ppaction://hlinksldjump"/>
              </a:rPr>
              <a:t>SMILES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Lec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22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5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Adience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76325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992872"/>
            <a:ext cx="4078604" cy="168275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47625">
              <a:lnSpc>
                <a:spcPct val="102600"/>
              </a:lnSpc>
              <a:spcBef>
                <a:spcPts val="55"/>
              </a:spcBef>
            </a:pPr>
            <a:r>
              <a:rPr dirty="0" sz="1100" spc="-45">
                <a:latin typeface="Arial MT"/>
                <a:cs typeface="Arial MT"/>
              </a:rPr>
              <a:t>ImageNet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actually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project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aimed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labeling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10">
                <a:latin typeface="Arial MT"/>
                <a:cs typeface="Arial MT"/>
              </a:rPr>
              <a:t> categorizing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>
                <a:latin typeface="Arial MT"/>
                <a:cs typeface="Arial MT"/>
              </a:rPr>
              <a:t> into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almost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FF0000"/>
                </a:solidFill>
                <a:latin typeface="Arial MT"/>
                <a:cs typeface="Arial MT"/>
              </a:rPr>
              <a:t>22,000</a:t>
            </a:r>
            <a:r>
              <a:rPr dirty="0" sz="110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categories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based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defined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set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words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phrases.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 spc="-30">
                <a:latin typeface="Arial MT"/>
                <a:cs typeface="Arial MT"/>
              </a:rPr>
              <a:t>there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are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over</a:t>
            </a:r>
            <a:r>
              <a:rPr dirty="0" sz="1100" spc="-10">
                <a:latin typeface="Arial MT"/>
                <a:cs typeface="Arial MT"/>
              </a:rPr>
              <a:t> 14 million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>
                <a:latin typeface="Arial MT"/>
                <a:cs typeface="Arial MT"/>
              </a:rPr>
              <a:t> in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ImageNet</a:t>
            </a:r>
            <a:r>
              <a:rPr dirty="0" sz="1100" spc="-10">
                <a:latin typeface="Arial MT"/>
                <a:cs typeface="Arial MT"/>
              </a:rPr>
              <a:t> project.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 spc="-45">
                <a:latin typeface="Arial MT"/>
                <a:cs typeface="Arial MT"/>
              </a:rPr>
              <a:t>ImageNet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follows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WordNet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hierarchy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[59].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Each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meaningful </a:t>
            </a:r>
            <a:r>
              <a:rPr dirty="0" sz="1100" spc="-35">
                <a:latin typeface="Arial MT"/>
                <a:cs typeface="Arial MT"/>
              </a:rPr>
              <a:t>word/phrase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inside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WordNet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called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“synonym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set”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“synset”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for </a:t>
            </a:r>
            <a:r>
              <a:rPr dirty="0" sz="1100" spc="-10">
                <a:latin typeface="Arial MT"/>
                <a:cs typeface="Arial MT"/>
              </a:rPr>
              <a:t>short.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Arial MT"/>
                <a:cs typeface="Arial MT"/>
              </a:rPr>
              <a:t>Within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ImageNet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project,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are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organized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according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these </a:t>
            </a:r>
            <a:r>
              <a:rPr dirty="0" sz="1100" spc="-70">
                <a:solidFill>
                  <a:srgbClr val="FF0000"/>
                </a:solidFill>
                <a:latin typeface="Arial MT"/>
                <a:cs typeface="Arial MT"/>
              </a:rPr>
              <a:t>synsets</a:t>
            </a:r>
            <a:r>
              <a:rPr dirty="0" sz="1100" spc="-70">
                <a:latin typeface="Arial MT"/>
                <a:cs typeface="Arial MT"/>
              </a:rPr>
              <a:t>,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goal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being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have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0000"/>
                </a:solidFill>
                <a:latin typeface="Arial MT"/>
                <a:cs typeface="Arial MT"/>
              </a:rPr>
              <a:t>1,000+</a:t>
            </a:r>
            <a:r>
              <a:rPr dirty="0" sz="1100" spc="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per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synset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3050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4053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394712"/>
            <a:ext cx="65265" cy="6526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18521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23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Contents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383055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160685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77892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950999"/>
            <a:ext cx="65265" cy="6526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29743" y="1354961"/>
            <a:ext cx="2053589" cy="70802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16230" marR="5080" indent="-304165">
              <a:lnSpc>
                <a:spcPct val="102600"/>
              </a:lnSpc>
              <a:spcBef>
                <a:spcPts val="55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r>
              <a:rPr dirty="0" baseline="6944" sz="1200" spc="247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 spc="-4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Datasets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for</a:t>
            </a:r>
            <a:r>
              <a:rPr dirty="0" sz="1100" spc="1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5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image</a:t>
            </a:r>
            <a:r>
              <a:rPr dirty="0" sz="1100" spc="15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  <a:hlinkClick r:id="rId6" action="ppaction://hlinksldjump"/>
              </a:rPr>
              <a:t>classification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7" action="ppaction://hlinksldjump"/>
              </a:rPr>
              <a:t>MNIST</a:t>
            </a:r>
            <a:endParaRPr sz="1100">
              <a:latin typeface="Arial MT"/>
              <a:cs typeface="Arial MT"/>
            </a:endParaRPr>
          </a:p>
          <a:p>
            <a:pPr marL="316230" marR="1167765">
              <a:lnSpc>
                <a:spcPct val="102600"/>
              </a:lnSpc>
            </a:pPr>
            <a:r>
              <a:rPr dirty="0" sz="1100" spc="-75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CIFAR-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  <a:hlinkClick r:id="rId8" action="ppaction://hlinksldjump"/>
              </a:rPr>
              <a:t>10</a:t>
            </a:r>
            <a:r>
              <a:rPr dirty="0" sz="1100" spc="-6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9" action="ppaction://hlinksldjump"/>
              </a:rPr>
              <a:t>SMILES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Lec</a:t>
            </a:r>
            <a:r>
              <a:rPr dirty="0" sz="600" spc="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for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18521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23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5"/>
              <a:t>Dataset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Adience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65313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081873"/>
            <a:ext cx="4036060" cy="495934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229"/>
              </a:spcBef>
            </a:pPr>
            <a:r>
              <a:rPr dirty="0" sz="1100" spc="-45">
                <a:latin typeface="Arial MT"/>
                <a:cs typeface="Arial MT"/>
              </a:rPr>
              <a:t>ImageNet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actually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project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aimed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labeling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10">
                <a:latin typeface="Arial MT"/>
                <a:cs typeface="Arial MT"/>
              </a:rPr>
              <a:t> categorizing </a:t>
            </a:r>
            <a:r>
              <a:rPr dirty="0" sz="1100" spc="-75">
                <a:latin typeface="Arial MT"/>
                <a:cs typeface="Arial MT"/>
              </a:rPr>
              <a:t>images</a:t>
            </a:r>
            <a:r>
              <a:rPr dirty="0" sz="1100">
                <a:latin typeface="Arial MT"/>
                <a:cs typeface="Arial MT"/>
              </a:rPr>
              <a:t> into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almost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FF0000"/>
                </a:solidFill>
                <a:latin typeface="Arial MT"/>
                <a:cs typeface="Arial MT"/>
              </a:rPr>
              <a:t>22,000</a:t>
            </a:r>
            <a:r>
              <a:rPr dirty="0" sz="110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categories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based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defined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set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words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phrases.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108" y="1620262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4352" y="160732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0021" y="1574690"/>
            <a:ext cx="3613150" cy="936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10">
                <a:latin typeface="Arial MT"/>
                <a:cs typeface="Arial MT"/>
              </a:rPr>
              <a:t>Angry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ts val="1200"/>
              </a:lnSpc>
              <a:spcBef>
                <a:spcPts val="40"/>
              </a:spcBef>
            </a:pPr>
            <a:r>
              <a:rPr dirty="0" sz="1000" spc="-30">
                <a:latin typeface="Arial MT"/>
                <a:cs typeface="Arial MT"/>
              </a:rPr>
              <a:t>Disgust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(sometimes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grouped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with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“Fear”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due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class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imbalance) </a:t>
            </a:r>
            <a:r>
              <a:rPr dirty="0" sz="1000" spc="-20">
                <a:latin typeface="Arial MT"/>
                <a:cs typeface="Arial MT"/>
              </a:rPr>
              <a:t>Fear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150"/>
              </a:lnSpc>
            </a:pPr>
            <a:r>
              <a:rPr dirty="0" sz="1000" spc="-10">
                <a:latin typeface="Arial MT"/>
                <a:cs typeface="Arial MT"/>
              </a:rPr>
              <a:t>Happy</a:t>
            </a:r>
            <a:endParaRPr sz="1000">
              <a:latin typeface="Arial MT"/>
              <a:cs typeface="Arial MT"/>
            </a:endParaRPr>
          </a:p>
          <a:p>
            <a:pPr marL="12700" marR="3173095">
              <a:lnSpc>
                <a:spcPts val="1200"/>
              </a:lnSpc>
              <a:spcBef>
                <a:spcPts val="35"/>
              </a:spcBef>
            </a:pPr>
            <a:r>
              <a:rPr dirty="0" sz="1000" spc="-25">
                <a:latin typeface="Arial MT"/>
                <a:cs typeface="Arial MT"/>
              </a:rPr>
              <a:t>Sad </a:t>
            </a:r>
            <a:r>
              <a:rPr dirty="0" sz="1000" spc="-65">
                <a:latin typeface="Arial MT"/>
                <a:cs typeface="Arial MT"/>
              </a:rPr>
              <a:t>Surprise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108" y="1772091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4352" y="1759158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108" y="1923919"/>
            <a:ext cx="114214" cy="1142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34352" y="191098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0108" y="2075748"/>
            <a:ext cx="114214" cy="11421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34352" y="2062815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0108" y="2227576"/>
            <a:ext cx="114214" cy="11421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34352" y="221464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0108" y="2379405"/>
            <a:ext cx="114214" cy="11421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34352" y="2366485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393532" y="3351784"/>
            <a:ext cx="140144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Lec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03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-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Dataset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for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Image</a:t>
            </a:r>
            <a:r>
              <a:rPr dirty="0" sz="600" spc="15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Classification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October</a:t>
            </a:r>
            <a:r>
              <a:rPr dirty="0" spc="20"/>
              <a:t> </a:t>
            </a:r>
            <a:r>
              <a:rPr dirty="0"/>
              <a:t>24,</a:t>
            </a:r>
            <a:r>
              <a:rPr dirty="0" spc="20"/>
              <a:t> </a:t>
            </a:r>
            <a:r>
              <a:rPr dirty="0" spc="-20"/>
              <a:t>2025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318521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24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1306" y="1276751"/>
            <a:ext cx="765810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35">
                <a:latin typeface="Tahoma"/>
                <a:cs typeface="Tahoma"/>
              </a:rPr>
              <a:t>The</a:t>
            </a:r>
            <a:r>
              <a:rPr dirty="0" sz="1700" spc="-90">
                <a:latin typeface="Tahoma"/>
                <a:cs typeface="Tahoma"/>
              </a:rPr>
              <a:t> </a:t>
            </a:r>
            <a:r>
              <a:rPr dirty="0" sz="1700" spc="-55">
                <a:latin typeface="Tahoma"/>
                <a:cs typeface="Tahoma"/>
              </a:rPr>
              <a:t>End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86097" y="3341243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30">
                <a:latin typeface="Arial MT"/>
                <a:cs typeface="Arial MT"/>
              </a:rPr>
              <a:t>34</a:t>
            </a:r>
            <a:r>
              <a:rPr dirty="0" sz="600" spc="-55">
                <a:latin typeface="Arial MT"/>
                <a:cs typeface="Arial MT"/>
              </a:rPr>
              <a:t> </a:t>
            </a:r>
            <a:r>
              <a:rPr dirty="0" sz="600" spc="150">
                <a:latin typeface="Arial MT"/>
                <a:cs typeface="Arial MT"/>
              </a:rPr>
              <a:t>/</a:t>
            </a:r>
            <a:r>
              <a:rPr dirty="0" sz="600" spc="-55">
                <a:latin typeface="Arial MT"/>
                <a:cs typeface="Arial MT"/>
              </a:rPr>
              <a:t> </a:t>
            </a:r>
            <a:r>
              <a:rPr dirty="0" sz="600" spc="-35">
                <a:latin typeface="Arial MT"/>
                <a:cs typeface="Arial MT"/>
              </a:rPr>
              <a:t>15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Abdul Basit </dc:creator>
  <dc:title>Artificial Neural Network (CS642) - Lecture 03 - Dataset for Image Classification</dc:title>
  <dcterms:created xsi:type="dcterms:W3CDTF">2026-08-16T14:24:01Z</dcterms:created>
  <dcterms:modified xsi:type="dcterms:W3CDTF">2026-08-16T14:24:01Z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2025-10-24T00:00:00Z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2026-08-16T00:00:00Z</vt:filetime>
  </property>
  <property fmtid="{D5CDD505-2E9C-101B-9397-08002B2CF9AE}" pid="6" name="PTEX.Fullbanner">
    <vt:lpwstr>This is pdfTeX, Version 3.141592653-2.6-1.40.22 (TeX Live 2022/dev/Debian) kpathsea version 6.3.4/dev</vt:lpwstr>
  </property>
  <property fmtid="{D5CDD505-2E9C-101B-9397-08002B2CF9AE}" pid="7" name="Producer">
    <vt:lpwstr>pdfTeX-1.40.22</vt:lpwstr>
  </property>
</Properties>
</file>