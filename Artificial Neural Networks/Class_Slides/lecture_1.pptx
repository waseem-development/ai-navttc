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199390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199390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82712"/>
            <a:ext cx="4078604" cy="1472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-9372" y="3351784"/>
            <a:ext cx="10896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539909" y="3351784"/>
            <a:ext cx="61595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60697" y="3341243"/>
            <a:ext cx="339128" cy="112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#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0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slide" Target="slide4.xml"/><Relationship Id="rId9" Type="http://schemas.openxmlformats.org/officeDocument/2006/relationships/slide" Target="slide9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20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" Target="slide20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slide" Target="slide2.xml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slide" Target="slide4.xml"/><Relationship Id="rId9" Type="http://schemas.openxmlformats.org/officeDocument/2006/relationships/slide" Target="slide9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20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slide" Target="slide20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slide" Target="slide20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slide" Target="slide20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" Target="slide20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slide" Target="slide4.xml"/><Relationship Id="rId9" Type="http://schemas.openxmlformats.org/officeDocument/2006/relationships/slide" Target="slide9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20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slide" Target="slide2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" Target="slide20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slide" Target="slide4.xml"/><Relationship Id="rId9" Type="http://schemas.openxmlformats.org/officeDocument/2006/relationships/slide" Target="slide9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20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slide" Target="slide20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6.png"/><Relationship Id="rId8" Type="http://schemas.openxmlformats.org/officeDocument/2006/relationships/slide" Target="slide4.xml"/><Relationship Id="rId9" Type="http://schemas.openxmlformats.org/officeDocument/2006/relationships/slide" Target="slide9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20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slide" Target="slide20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slide" Target="slide20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slide" Target="slide20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Relationship Id="rId3" Type="http://schemas.openxmlformats.org/officeDocument/2006/relationships/slide" Target="slide20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slide" Target="slide20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93305"/>
            <a:ext cx="4483735" cy="748030"/>
            <a:chOff x="87743" y="693305"/>
            <a:chExt cx="4483735" cy="748030"/>
          </a:xfrm>
        </p:grpSpPr>
        <p:sp>
          <p:nvSpPr>
            <p:cNvPr id="3" name="object 3"/>
            <p:cNvSpPr/>
            <p:nvPr/>
          </p:nvSpPr>
          <p:spPr>
            <a:xfrm>
              <a:off x="87743" y="69330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756562"/>
              <a:ext cx="4432935" cy="684530"/>
            </a:xfrm>
            <a:custGeom>
              <a:avLst/>
              <a:gdLst/>
              <a:ahLst/>
              <a:cxnLst/>
              <a:rect l="l" t="t" r="r" b="b"/>
              <a:pathLst>
                <a:path w="4432935" h="684530">
                  <a:moveTo>
                    <a:pt x="4432566" y="0"/>
                  </a:moveTo>
                  <a:lnTo>
                    <a:pt x="0" y="0"/>
                  </a:lnTo>
                  <a:lnTo>
                    <a:pt x="0" y="684405"/>
                  </a:lnTo>
                  <a:lnTo>
                    <a:pt x="4432566" y="68440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737726"/>
              <a:ext cx="4432935" cy="652780"/>
            </a:xfrm>
            <a:custGeom>
              <a:avLst/>
              <a:gdLst/>
              <a:ahLst/>
              <a:cxnLst/>
              <a:rect l="l" t="t" r="r" b="b"/>
              <a:pathLst>
                <a:path w="4432935" h="652780">
                  <a:moveTo>
                    <a:pt x="4432566" y="0"/>
                  </a:moveTo>
                  <a:lnTo>
                    <a:pt x="0" y="0"/>
                  </a:lnTo>
                  <a:lnTo>
                    <a:pt x="0" y="601641"/>
                  </a:lnTo>
                  <a:lnTo>
                    <a:pt x="4008" y="621365"/>
                  </a:lnTo>
                  <a:lnTo>
                    <a:pt x="14922" y="637518"/>
                  </a:lnTo>
                  <a:lnTo>
                    <a:pt x="31075" y="648433"/>
                  </a:lnTo>
                  <a:lnTo>
                    <a:pt x="50800" y="652441"/>
                  </a:lnTo>
                  <a:lnTo>
                    <a:pt x="4381765" y="652441"/>
                  </a:lnTo>
                  <a:lnTo>
                    <a:pt x="4401490" y="648433"/>
                  </a:lnTo>
                  <a:lnTo>
                    <a:pt x="4417643" y="637518"/>
                  </a:lnTo>
                  <a:lnTo>
                    <a:pt x="4428558" y="621365"/>
                  </a:lnTo>
                  <a:lnTo>
                    <a:pt x="4432566" y="60164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8544" y="756562"/>
            <a:ext cx="4432935" cy="68453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52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Artificial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Neural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(CS642)</a:t>
            </a:r>
            <a:endParaRPr sz="1400">
              <a:latin typeface="Tahoma"/>
              <a:cs typeface="Tahoma"/>
            </a:endParaRPr>
          </a:p>
          <a:p>
            <a:pPr algn="ctr" marR="94615">
              <a:lnSpc>
                <a:spcPct val="100000"/>
              </a:lnSpc>
              <a:spcBef>
                <a:spcPts val="325"/>
              </a:spcBef>
            </a:pPr>
            <a:r>
              <a:rPr dirty="0" sz="1100" spc="-30">
                <a:solidFill>
                  <a:srgbClr val="FFFFFF"/>
                </a:solidFill>
                <a:latin typeface="Microsoft Sans Serif"/>
                <a:cs typeface="Microsoft Sans Serif"/>
              </a:rPr>
              <a:t>Lecture</a:t>
            </a:r>
            <a:r>
              <a:rPr dirty="0" sz="11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Microsoft Sans Serif"/>
                <a:cs typeface="Microsoft Sans Serif"/>
              </a:rPr>
              <a:t>01</a:t>
            </a:r>
            <a:r>
              <a:rPr dirty="0" sz="11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dirty="0" sz="11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Microsoft Sans Serif"/>
                <a:cs typeface="Microsoft Sans Serif"/>
              </a:rPr>
              <a:t>Introduction</a:t>
            </a:r>
            <a:r>
              <a:rPr dirty="0" sz="11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11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Microsoft Sans Serif"/>
                <a:cs typeface="Microsoft Sans Serif"/>
              </a:rPr>
              <a:t>Machine</a:t>
            </a:r>
            <a:r>
              <a:rPr dirty="0" sz="11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7448" y="1600249"/>
            <a:ext cx="1233170" cy="9283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Microsoft Sans Serif"/>
                <a:cs typeface="Microsoft Sans Serif"/>
              </a:rPr>
              <a:t>Dr.</a:t>
            </a:r>
            <a:r>
              <a:rPr dirty="0" sz="1100" spc="1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Abdul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Basit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950"/>
              </a:lnSpc>
            </a:pPr>
            <a:r>
              <a:rPr dirty="0" sz="800" spc="-20">
                <a:latin typeface="Arial MT"/>
                <a:cs typeface="Arial MT"/>
              </a:rPr>
              <a:t>Associate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Professor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-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CSIT </a:t>
            </a:r>
            <a:r>
              <a:rPr dirty="0" sz="800">
                <a:latin typeface="Arial MT"/>
                <a:cs typeface="Arial MT"/>
              </a:rPr>
              <a:t>University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Balochistan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100" spc="-25">
                <a:latin typeface="Microsoft Sans Serif"/>
                <a:cs typeface="Microsoft Sans Serif"/>
              </a:rPr>
              <a:t>October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24,</a:t>
            </a:r>
            <a:r>
              <a:rPr dirty="0" sz="1100" spc="-20">
                <a:latin typeface="Microsoft Sans Serif"/>
                <a:cs typeface="Microsoft Sans Serif"/>
              </a:rPr>
              <a:t> 2025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734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3333B2"/>
                </a:solidFill>
                <a:latin typeface="Microsoft Sans Serif"/>
                <a:cs typeface="Microsoft Sans Serif"/>
                <a:hlinkClick r:id="rId3" action="ppaction://hlinksldjump"/>
              </a:rPr>
              <a:t>Introduction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743" y="1247075"/>
            <a:ext cx="1631314" cy="144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8" action="ppaction://hlinksldjump"/>
              </a:rPr>
              <a:t>Applications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Clr>
                <a:srgbClr val="FAFAFD"/>
              </a:buClr>
              <a:buFont typeface="Arial MT"/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spcBef>
                <a:spcPts val="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solidFill>
                  <a:srgbClr val="D6D6EF"/>
                </a:solidFill>
                <a:latin typeface="Microsoft Sans Serif"/>
                <a:cs typeface="Microsoft Sans Serif"/>
                <a:hlinkClick r:id="rId9" action="ppaction://hlinksldjump"/>
              </a:rPr>
              <a:t>Data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Clr>
                <a:srgbClr val="FAFAFD"/>
              </a:buClr>
              <a:buFont typeface="Arial MT"/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Artificial</a:t>
            </a:r>
            <a:r>
              <a:rPr dirty="0" sz="1100" spc="2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Neural</a:t>
            </a:r>
            <a:r>
              <a:rPr dirty="0" sz="1100" spc="30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Network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Clr>
                <a:srgbClr val="FAFAFD"/>
              </a:buClr>
              <a:buFont typeface="Arial MT"/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224154" indent="-211454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224154" algn="l"/>
              </a:tabLst>
            </a:pPr>
            <a:r>
              <a:rPr dirty="0" sz="1100" spc="-3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How</a:t>
            </a:r>
            <a:r>
              <a:rPr dirty="0" sz="1100" spc="-4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7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Deep</a:t>
            </a:r>
            <a:r>
              <a:rPr dirty="0" sz="1100" spc="-5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is</a:t>
            </a:r>
            <a:r>
              <a:rPr dirty="0" sz="1100" spc="-2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deep?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 spc="-55"/>
              <a:t>machine</a:t>
            </a:r>
            <a:r>
              <a:rPr dirty="0" spc="-20"/>
              <a:t> </a:t>
            </a:r>
            <a:r>
              <a:rPr dirty="0" spc="-40"/>
              <a:t>learning?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1686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18233"/>
            <a:ext cx="3985895" cy="9182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35">
                <a:latin typeface="Microsoft Sans Serif"/>
                <a:cs typeface="Microsoft Sans Serif"/>
              </a:rPr>
              <a:t>Machine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learning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is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an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30">
                <a:latin typeface="Microsoft Sans Serif"/>
                <a:cs typeface="Microsoft Sans Serif"/>
              </a:rPr>
              <a:t>application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artificial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intelligence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(AI)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that </a:t>
            </a:r>
            <a:r>
              <a:rPr dirty="0" sz="1100" spc="-55">
                <a:latin typeface="Microsoft Sans Serif"/>
                <a:cs typeface="Microsoft Sans Serif"/>
              </a:rPr>
              <a:t>provides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80">
                <a:latin typeface="Microsoft Sans Serif"/>
                <a:cs typeface="Microsoft Sans Serif"/>
              </a:rPr>
              <a:t>systems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ability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30">
                <a:latin typeface="Microsoft Sans Serif"/>
                <a:cs typeface="Microsoft Sans Serif"/>
              </a:rPr>
              <a:t>automatically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and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improve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from </a:t>
            </a:r>
            <a:r>
              <a:rPr dirty="0" sz="1100" spc="-65">
                <a:latin typeface="Microsoft Sans Serif"/>
                <a:cs typeface="Microsoft Sans Serif"/>
              </a:rPr>
              <a:t>experience</a:t>
            </a:r>
            <a:r>
              <a:rPr dirty="0" sz="1100">
                <a:latin typeface="Microsoft Sans Serif"/>
                <a:cs typeface="Microsoft Sans Serif"/>
              </a:rPr>
              <a:t> without </a:t>
            </a:r>
            <a:r>
              <a:rPr dirty="0" sz="1100" spc="-40">
                <a:latin typeface="Microsoft Sans Serif"/>
                <a:cs typeface="Microsoft Sans Serif"/>
              </a:rPr>
              <a:t>being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explicitly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programmed.</a:t>
            </a:r>
            <a:endParaRPr sz="1100">
              <a:latin typeface="Microsoft Sans Serif"/>
              <a:cs typeface="Microsoft Sans Serif"/>
            </a:endParaRPr>
          </a:p>
          <a:p>
            <a:pPr marL="12700" marR="6985">
              <a:lnSpc>
                <a:spcPct val="102699"/>
              </a:lnSpc>
              <a:spcBef>
                <a:spcPts val="300"/>
              </a:spcBef>
            </a:pPr>
            <a:r>
              <a:rPr dirty="0" sz="1100" spc="-35">
                <a:latin typeface="Microsoft Sans Serif"/>
                <a:cs typeface="Microsoft Sans Serif"/>
              </a:rPr>
              <a:t>Machine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learning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65">
                <a:latin typeface="Microsoft Sans Serif"/>
                <a:cs typeface="Microsoft Sans Serif"/>
              </a:rPr>
              <a:t>focuses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on the </a:t>
            </a:r>
            <a:r>
              <a:rPr dirty="0" sz="1100" spc="-55">
                <a:latin typeface="Microsoft Sans Serif"/>
                <a:cs typeface="Microsoft Sans Serif"/>
              </a:rPr>
              <a:t>development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 </a:t>
            </a:r>
            <a:r>
              <a:rPr dirty="0" sz="1100" spc="-30">
                <a:latin typeface="Microsoft Sans Serif"/>
                <a:cs typeface="Microsoft Sans Serif"/>
              </a:rPr>
              <a:t>computer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programs </a:t>
            </a:r>
            <a:r>
              <a:rPr dirty="0" sz="1100">
                <a:latin typeface="Microsoft Sans Serif"/>
                <a:cs typeface="Microsoft Sans Serif"/>
              </a:rPr>
              <a:t>that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can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100">
                <a:latin typeface="Microsoft Sans Serif"/>
                <a:cs typeface="Microsoft Sans Serif"/>
              </a:rPr>
              <a:t>access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data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and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 spc="-95">
                <a:latin typeface="Microsoft Sans Serif"/>
                <a:cs typeface="Microsoft Sans Serif"/>
              </a:rPr>
              <a:t>use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it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themselves.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55863"/>
            <a:ext cx="65265" cy="652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734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3" action="ppaction://hlinksldjump"/>
              </a:rPr>
              <a:t>Introduction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743" y="1247075"/>
            <a:ext cx="1631314" cy="144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10">
                <a:solidFill>
                  <a:srgbClr val="3333B2"/>
                </a:solidFill>
                <a:latin typeface="Microsoft Sans Serif"/>
                <a:cs typeface="Microsoft Sans Serif"/>
                <a:hlinkClick r:id="rId8" action="ppaction://hlinksldjump"/>
              </a:rPr>
              <a:t>Applications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spcBef>
                <a:spcPts val="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solidFill>
                  <a:srgbClr val="D6D6EF"/>
                </a:solidFill>
                <a:latin typeface="Microsoft Sans Serif"/>
                <a:cs typeface="Microsoft Sans Serif"/>
                <a:hlinkClick r:id="rId9" action="ppaction://hlinksldjump"/>
              </a:rPr>
              <a:t>Data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Artificial</a:t>
            </a:r>
            <a:r>
              <a:rPr dirty="0" sz="1100" spc="2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Neural</a:t>
            </a:r>
            <a:r>
              <a:rPr dirty="0" sz="1100" spc="30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Network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224154" indent="-211454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224154" algn="l"/>
              </a:tabLst>
            </a:pPr>
            <a:r>
              <a:rPr dirty="0" sz="1100" spc="-3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How</a:t>
            </a:r>
            <a:r>
              <a:rPr dirty="0" sz="1100" spc="-4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7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Deep</a:t>
            </a:r>
            <a:r>
              <a:rPr dirty="0" sz="1100" spc="-5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is</a:t>
            </a:r>
            <a:r>
              <a:rPr dirty="0" sz="1100" spc="-2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deep?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 spc="-55"/>
              <a:t>machine</a:t>
            </a:r>
            <a:r>
              <a:rPr dirty="0" spc="-20"/>
              <a:t> </a:t>
            </a:r>
            <a:r>
              <a:rPr dirty="0" spc="-40"/>
              <a:t>learning?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6135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34120"/>
            <a:ext cx="1135380" cy="1285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10489">
              <a:lnSpc>
                <a:spcPct val="125299"/>
              </a:lnSpc>
              <a:spcBef>
                <a:spcPts val="100"/>
              </a:spcBef>
            </a:pPr>
            <a:r>
              <a:rPr dirty="0" sz="1100" spc="-40">
                <a:latin typeface="Microsoft Sans Serif"/>
                <a:cs typeface="Microsoft Sans Serif"/>
              </a:rPr>
              <a:t>Computer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Vision </a:t>
            </a:r>
            <a:r>
              <a:rPr dirty="0" sz="1100" spc="-55">
                <a:latin typeface="Microsoft Sans Serif"/>
                <a:cs typeface="Microsoft Sans Serif"/>
              </a:rPr>
              <a:t>Image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75">
                <a:latin typeface="Microsoft Sans Serif"/>
                <a:cs typeface="Microsoft Sans Serif"/>
              </a:rPr>
              <a:t>Processing </a:t>
            </a:r>
            <a:r>
              <a:rPr dirty="0" sz="1100" spc="-10">
                <a:latin typeface="Microsoft Sans Serif"/>
                <a:cs typeface="Microsoft Sans Serif"/>
              </a:rPr>
              <a:t>Marketing</a:t>
            </a:r>
            <a:endParaRPr sz="1100">
              <a:latin typeface="Microsoft Sans Serif"/>
              <a:cs typeface="Microsoft Sans Serif"/>
            </a:endParaRPr>
          </a:p>
          <a:p>
            <a:pPr marL="12700" marR="5080">
              <a:lnSpc>
                <a:spcPct val="125299"/>
              </a:lnSpc>
            </a:pPr>
            <a:r>
              <a:rPr dirty="0" sz="1100" spc="-70">
                <a:latin typeface="Microsoft Sans Serif"/>
                <a:cs typeface="Microsoft Sans Serif"/>
              </a:rPr>
              <a:t>Search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Engines Object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55">
                <a:latin typeface="Microsoft Sans Serif"/>
                <a:cs typeface="Microsoft Sans Serif"/>
              </a:rPr>
              <a:t>Recognition </a:t>
            </a:r>
            <a:r>
              <a:rPr dirty="0" sz="1100" spc="-80">
                <a:latin typeface="Microsoft Sans Serif"/>
                <a:cs typeface="Microsoft Sans Serif"/>
              </a:rPr>
              <a:t>Face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Recognition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7138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8141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9144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01481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211514"/>
            <a:ext cx="65265" cy="6526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99390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machine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learning?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798" y="1329842"/>
            <a:ext cx="4229548" cy="128015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99390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machine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learning?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718" y="1028344"/>
            <a:ext cx="4124959" cy="139128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 spc="-55"/>
              <a:t>machine</a:t>
            </a:r>
            <a:r>
              <a:rPr dirty="0" spc="-20"/>
              <a:t> </a:t>
            </a:r>
            <a:r>
              <a:rPr dirty="0" spc="-40"/>
              <a:t>learning?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5973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76285"/>
            <a:ext cx="4078604" cy="7461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dirty="0" sz="1100" spc="-65">
                <a:latin typeface="Microsoft Sans Serif"/>
                <a:cs typeface="Microsoft Sans Serif"/>
              </a:rPr>
              <a:t>Supervised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learning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5">
                <a:latin typeface="Microsoft Sans Serif"/>
                <a:cs typeface="Microsoft Sans Serif"/>
              </a:rPr>
              <a:t>machine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learning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task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learning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10">
                <a:latin typeface="Microsoft Sans Serif"/>
                <a:cs typeface="Microsoft Sans Serif"/>
              </a:rPr>
              <a:t> function </a:t>
            </a:r>
            <a:r>
              <a:rPr dirty="0" sz="1100">
                <a:latin typeface="Microsoft Sans Serif"/>
                <a:cs typeface="Microsoft Sans Serif"/>
              </a:rPr>
              <a:t>that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75">
                <a:latin typeface="Microsoft Sans Serif"/>
                <a:cs typeface="Microsoft Sans Serif"/>
              </a:rPr>
              <a:t>maps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an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input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an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output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90">
                <a:latin typeface="Microsoft Sans Serif"/>
                <a:cs typeface="Microsoft Sans Serif"/>
              </a:rPr>
              <a:t>based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on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65">
                <a:latin typeface="Microsoft Sans Serif"/>
                <a:cs typeface="Microsoft Sans Serif"/>
              </a:rPr>
              <a:t>example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input-</a:t>
            </a:r>
            <a:r>
              <a:rPr dirty="0" sz="1100">
                <a:latin typeface="Microsoft Sans Serif"/>
                <a:cs typeface="Microsoft Sans Serif"/>
              </a:rPr>
              <a:t>output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pairs.</a:t>
            </a:r>
            <a:endParaRPr sz="1100">
              <a:latin typeface="Microsoft Sans Serif"/>
              <a:cs typeface="Microsoft Sans Serif"/>
            </a:endParaRPr>
          </a:p>
          <a:p>
            <a:pPr marL="12700" marR="179705">
              <a:lnSpc>
                <a:spcPct val="102699"/>
              </a:lnSpc>
              <a:spcBef>
                <a:spcPts val="295"/>
              </a:spcBef>
            </a:pPr>
            <a:r>
              <a:rPr dirty="0" sz="1100">
                <a:latin typeface="Microsoft Sans Serif"/>
                <a:cs typeface="Microsoft Sans Serif"/>
              </a:rPr>
              <a:t>It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30">
                <a:latin typeface="Microsoft Sans Serif"/>
                <a:cs typeface="Microsoft Sans Serif"/>
              </a:rPr>
              <a:t>infers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function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from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labeled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training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data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consisting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set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of </a:t>
            </a:r>
            <a:r>
              <a:rPr dirty="0" sz="1100" spc="-10">
                <a:latin typeface="Microsoft Sans Serif"/>
                <a:cs typeface="Microsoft Sans Serif"/>
              </a:rPr>
              <a:t>training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examples.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41843"/>
            <a:ext cx="65265" cy="652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734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3" action="ppaction://hlinksldjump"/>
              </a:rPr>
              <a:t>Introduction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743" y="1247075"/>
            <a:ext cx="1631314" cy="144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8" action="ppaction://hlinksldjump"/>
              </a:rPr>
              <a:t>Applications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spcBef>
                <a:spcPts val="5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solidFill>
                  <a:srgbClr val="3333B2"/>
                </a:solidFill>
                <a:latin typeface="Microsoft Sans Serif"/>
                <a:cs typeface="Microsoft Sans Serif"/>
                <a:hlinkClick r:id="rId9" action="ppaction://hlinksldjump"/>
              </a:rPr>
              <a:t>Data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Artificial</a:t>
            </a:r>
            <a:r>
              <a:rPr dirty="0" sz="1100" spc="2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Neural</a:t>
            </a:r>
            <a:r>
              <a:rPr dirty="0" sz="1100" spc="30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Network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224154" indent="-211454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224154" algn="l"/>
              </a:tabLst>
            </a:pPr>
            <a:r>
              <a:rPr dirty="0" sz="1100" spc="-3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How</a:t>
            </a:r>
            <a:r>
              <a:rPr dirty="0" sz="1100" spc="-4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7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Deep</a:t>
            </a:r>
            <a:r>
              <a:rPr dirty="0" sz="1100" spc="-5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is</a:t>
            </a:r>
            <a:r>
              <a:rPr dirty="0" sz="1100" spc="-2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deep?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Deep</a:t>
            </a:r>
            <a:r>
              <a:rPr dirty="0" spc="-75"/>
              <a:t> </a:t>
            </a:r>
            <a:r>
              <a:rPr dirty="0" spc="-45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74927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91474"/>
            <a:ext cx="4079240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central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goal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AI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provide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set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algorithms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and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techniques </a:t>
            </a:r>
            <a:r>
              <a:rPr dirty="0" sz="1100">
                <a:latin typeface="Microsoft Sans Serif"/>
                <a:cs typeface="Microsoft Sans Serif"/>
              </a:rPr>
              <a:t>that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can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be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 spc="-85">
                <a:latin typeface="Microsoft Sans Serif"/>
                <a:cs typeface="Microsoft Sans Serif"/>
              </a:rPr>
              <a:t>used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70">
                <a:latin typeface="Microsoft Sans Serif"/>
                <a:cs typeface="Microsoft Sans Serif"/>
              </a:rPr>
              <a:t>solve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 spc="-55">
                <a:latin typeface="Microsoft Sans Serif"/>
                <a:cs typeface="Microsoft Sans Serif"/>
              </a:rPr>
              <a:t>problems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that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humans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 spc="-30">
                <a:latin typeface="Microsoft Sans Serif"/>
                <a:cs typeface="Microsoft Sans Serif"/>
              </a:rPr>
              <a:t>perform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intuitively </a:t>
            </a:r>
            <a:r>
              <a:rPr dirty="0" sz="1100" spc="-35">
                <a:latin typeface="Microsoft Sans Serif"/>
                <a:cs typeface="Microsoft Sans Serif"/>
              </a:rPr>
              <a:t>and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near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automatically,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but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are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otherwise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very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challenging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for </a:t>
            </a:r>
            <a:r>
              <a:rPr dirty="0" sz="1100" spc="-10">
                <a:latin typeface="Microsoft Sans Serif"/>
                <a:cs typeface="Microsoft Sans Serif"/>
              </a:rPr>
              <a:t>computers.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Deep</a:t>
            </a:r>
            <a:r>
              <a:rPr dirty="0" spc="-75"/>
              <a:t> </a:t>
            </a:r>
            <a:r>
              <a:rPr dirty="0" spc="-45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8441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00974"/>
            <a:ext cx="4070985" cy="14344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4191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5">
                <a:latin typeface="Microsoft Sans Serif"/>
                <a:cs typeface="Microsoft Sans Serif"/>
              </a:rPr>
              <a:t>great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60">
                <a:solidFill>
                  <a:srgbClr val="FF0000"/>
                </a:solidFill>
                <a:latin typeface="Microsoft Sans Serif"/>
                <a:cs typeface="Microsoft Sans Serif"/>
              </a:rPr>
              <a:t>example</a:t>
            </a:r>
            <a:r>
              <a:rPr dirty="0" sz="1100" spc="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 </a:t>
            </a:r>
            <a:r>
              <a:rPr dirty="0" sz="1100" spc="-60">
                <a:latin typeface="Microsoft Sans Serif"/>
                <a:cs typeface="Microsoft Sans Serif"/>
              </a:rPr>
              <a:t>such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80">
                <a:latin typeface="Microsoft Sans Serif"/>
                <a:cs typeface="Microsoft Sans Serif"/>
              </a:rPr>
              <a:t>class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AI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55">
                <a:latin typeface="Microsoft Sans Serif"/>
                <a:cs typeface="Microsoft Sans Serif"/>
              </a:rPr>
              <a:t>problems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5">
                <a:latin typeface="Microsoft Sans Serif"/>
                <a:cs typeface="Microsoft Sans Serif"/>
              </a:rPr>
              <a:t>interpreting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and </a:t>
            </a:r>
            <a:r>
              <a:rPr dirty="0" sz="1100" spc="-45">
                <a:latin typeface="Microsoft Sans Serif"/>
                <a:cs typeface="Microsoft Sans Serif"/>
              </a:rPr>
              <a:t>understanding</a:t>
            </a:r>
            <a:r>
              <a:rPr dirty="0" sz="1100">
                <a:latin typeface="Microsoft Sans Serif"/>
                <a:cs typeface="Microsoft Sans Serif"/>
              </a:rPr>
              <a:t> the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contents</a:t>
            </a:r>
            <a:r>
              <a:rPr dirty="0" sz="1100">
                <a:latin typeface="Microsoft Sans Serif"/>
                <a:cs typeface="Microsoft Sans Serif"/>
              </a:rPr>
              <a:t> of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an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image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215">
                <a:latin typeface="Microsoft Sans Serif"/>
                <a:cs typeface="Microsoft Sans Serif"/>
              </a:rPr>
              <a:t>–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this </a:t>
            </a:r>
            <a:r>
              <a:rPr dirty="0" sz="1100" spc="-10">
                <a:latin typeface="Microsoft Sans Serif"/>
                <a:cs typeface="Microsoft Sans Serif"/>
              </a:rPr>
              <a:t>task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is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something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that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human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can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do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with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little-</a:t>
            </a:r>
            <a:r>
              <a:rPr dirty="0" sz="1100" spc="-25">
                <a:latin typeface="Microsoft Sans Serif"/>
                <a:cs typeface="Microsoft Sans Serif"/>
              </a:rPr>
              <a:t>to-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effort,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but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it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80">
                <a:latin typeface="Microsoft Sans Serif"/>
                <a:cs typeface="Microsoft Sans Serif"/>
              </a:rPr>
              <a:t>has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proven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be </a:t>
            </a:r>
            <a:r>
              <a:rPr dirty="0" sz="1100" spc="-40">
                <a:latin typeface="Microsoft Sans Serif"/>
                <a:cs typeface="Microsoft Sans Serif"/>
              </a:rPr>
              <a:t>extremely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difficult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65">
                <a:latin typeface="Microsoft Sans Serif"/>
                <a:cs typeface="Microsoft Sans Serif"/>
              </a:rPr>
              <a:t>machines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accomplish</a:t>
            </a:r>
            <a:endParaRPr sz="1100">
              <a:latin typeface="Microsoft Sans Serif"/>
              <a:cs typeface="Microsoft Sans Serif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spc="-20">
                <a:latin typeface="Microsoft Sans Serif"/>
                <a:cs typeface="Microsoft Sans Serif"/>
              </a:rPr>
              <a:t>While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AI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embodies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large,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diverse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set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work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related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automatic </a:t>
            </a:r>
            <a:r>
              <a:rPr dirty="0" sz="1100" spc="-55">
                <a:latin typeface="Microsoft Sans Serif"/>
                <a:cs typeface="Microsoft Sans Serif"/>
              </a:rPr>
              <a:t>machine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reasoning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(infer-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ence,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planning,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heuristics,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etc.),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the</a:t>
            </a:r>
            <a:r>
              <a:rPr dirty="0" sz="1100" spc="500">
                <a:latin typeface="Microsoft Sans Serif"/>
                <a:cs typeface="Microsoft Sans Serif"/>
              </a:rPr>
              <a:t> </a:t>
            </a:r>
            <a:r>
              <a:rPr dirty="0" sz="1100" spc="-55">
                <a:latin typeface="Microsoft Sans Serif"/>
                <a:cs typeface="Microsoft Sans Serif"/>
              </a:rPr>
              <a:t>machine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learning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subfield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tends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be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specifically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interested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pattern </a:t>
            </a:r>
            <a:r>
              <a:rPr dirty="0" sz="1100" spc="-30">
                <a:latin typeface="Microsoft Sans Serif"/>
                <a:cs typeface="Microsoft Sans Serif"/>
              </a:rPr>
              <a:t>recognition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and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learning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from </a:t>
            </a:r>
            <a:r>
              <a:rPr dirty="0" sz="1100" spc="-10">
                <a:latin typeface="Microsoft Sans Serif"/>
                <a:cs typeface="Microsoft Sans Serif"/>
              </a:rPr>
              <a:t>data.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10677"/>
            <a:ext cx="65265" cy="652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734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3" action="ppaction://hlinksldjump"/>
              </a:rPr>
              <a:t>Introduction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743" y="1247075"/>
            <a:ext cx="1631314" cy="144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8" action="ppaction://hlinksldjump"/>
              </a:rPr>
              <a:t>Applications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spcBef>
                <a:spcPts val="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solidFill>
                  <a:srgbClr val="D6D6EF"/>
                </a:solidFill>
                <a:latin typeface="Microsoft Sans Serif"/>
                <a:cs typeface="Microsoft Sans Serif"/>
                <a:hlinkClick r:id="rId9" action="ppaction://hlinksldjump"/>
              </a:rPr>
              <a:t>Data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solidFill>
                  <a:srgbClr val="3333B2"/>
                </a:solidFill>
                <a:latin typeface="Microsoft Sans Serif"/>
                <a:cs typeface="Microsoft Sans Serif"/>
                <a:hlinkClick r:id="rId10" action="ppaction://hlinksldjump"/>
              </a:rPr>
              <a:t>Artificial</a:t>
            </a:r>
            <a:r>
              <a:rPr dirty="0" sz="1100" spc="25">
                <a:solidFill>
                  <a:srgbClr val="3333B2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3333B2"/>
                </a:solidFill>
                <a:latin typeface="Microsoft Sans Serif"/>
                <a:cs typeface="Microsoft Sans Serif"/>
                <a:hlinkClick r:id="rId10" action="ppaction://hlinksldjump"/>
              </a:rPr>
              <a:t>Neural</a:t>
            </a:r>
            <a:r>
              <a:rPr dirty="0" sz="1100" spc="30">
                <a:solidFill>
                  <a:srgbClr val="3333B2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3333B2"/>
                </a:solidFill>
                <a:latin typeface="Microsoft Sans Serif"/>
                <a:cs typeface="Microsoft Sans Serif"/>
                <a:hlinkClick r:id="rId10" action="ppaction://hlinksldjump"/>
              </a:rPr>
              <a:t>Network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224154" indent="-211454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224154" algn="l"/>
              </a:tabLst>
            </a:pPr>
            <a:r>
              <a:rPr dirty="0" sz="1100" spc="-3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How</a:t>
            </a:r>
            <a:r>
              <a:rPr dirty="0" sz="1100" spc="-4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7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Deep</a:t>
            </a:r>
            <a:r>
              <a:rPr dirty="0" sz="1100" spc="-5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is</a:t>
            </a:r>
            <a:r>
              <a:rPr dirty="0" sz="1100" spc="-2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11" action="ppaction://hlinksldjump"/>
              </a:rPr>
              <a:t>deep?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Deep</a:t>
            </a:r>
            <a:r>
              <a:rPr dirty="0" spc="-75"/>
              <a:t> </a:t>
            </a:r>
            <a:r>
              <a:rPr dirty="0" spc="-45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5453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371078"/>
            <a:ext cx="3948429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70">
                <a:latin typeface="Microsoft Sans Serif"/>
                <a:cs typeface="Microsoft Sans Serif"/>
              </a:rPr>
              <a:t>Deep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Learning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is</a:t>
            </a:r>
            <a:r>
              <a:rPr dirty="0" sz="1100">
                <a:latin typeface="Microsoft Sans Serif"/>
                <a:cs typeface="Microsoft Sans Serif"/>
              </a:rPr>
              <a:t> 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subfield</a:t>
            </a:r>
            <a:r>
              <a:rPr dirty="0" sz="1100">
                <a:latin typeface="Microsoft Sans Serif"/>
                <a:cs typeface="Microsoft Sans Serif"/>
              </a:rPr>
              <a:t> of </a:t>
            </a:r>
            <a:r>
              <a:rPr dirty="0" sz="1100" spc="-55">
                <a:latin typeface="Microsoft Sans Serif"/>
                <a:cs typeface="Microsoft Sans Serif"/>
              </a:rPr>
              <a:t>machine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learning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concerned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with </a:t>
            </a:r>
            <a:r>
              <a:rPr dirty="0" sz="1100" spc="-35">
                <a:latin typeface="Microsoft Sans Serif"/>
                <a:cs typeface="Microsoft Sans Serif"/>
              </a:rPr>
              <a:t>algorithms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inspired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by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structure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and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function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brain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called </a:t>
            </a:r>
            <a:r>
              <a:rPr dirty="0" sz="1100">
                <a:latin typeface="Microsoft Sans Serif"/>
                <a:cs typeface="Microsoft Sans Serif"/>
              </a:rPr>
              <a:t>artificial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neural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networks.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28762"/>
            <a:ext cx="734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3" action="ppaction://hlinksldjump"/>
              </a:rPr>
              <a:t>Introduction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743" y="1247075"/>
            <a:ext cx="1631314" cy="144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10">
                <a:solidFill>
                  <a:srgbClr val="D6D6EF"/>
                </a:solidFill>
                <a:latin typeface="Microsoft Sans Serif"/>
                <a:cs typeface="Microsoft Sans Serif"/>
                <a:hlinkClick r:id="rId8" action="ppaction://hlinksldjump"/>
              </a:rPr>
              <a:t>Applications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spcBef>
                <a:spcPts val="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20">
                <a:solidFill>
                  <a:srgbClr val="D6D6EF"/>
                </a:solidFill>
                <a:latin typeface="Microsoft Sans Serif"/>
                <a:cs typeface="Microsoft Sans Serif"/>
                <a:hlinkClick r:id="rId9" action="ppaction://hlinksldjump"/>
              </a:rPr>
              <a:t>Data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Artificial</a:t>
            </a:r>
            <a:r>
              <a:rPr dirty="0" sz="1100" spc="2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Neural</a:t>
            </a:r>
            <a:r>
              <a:rPr dirty="0" sz="1100" spc="30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D6D6EF"/>
                </a:solidFill>
                <a:latin typeface="Microsoft Sans Serif"/>
                <a:cs typeface="Microsoft Sans Serif"/>
                <a:hlinkClick r:id="rId10" action="ppaction://hlinksldjump"/>
              </a:rPr>
              <a:t>Network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AutoNum type="arabicPlain" startAt="2"/>
            </a:pPr>
            <a:endParaRPr sz="1100">
              <a:latin typeface="Microsoft Sans Serif"/>
              <a:cs typeface="Microsoft Sans Serif"/>
            </a:endParaRPr>
          </a:p>
          <a:p>
            <a:pPr marL="224154" indent="-211454">
              <a:lnSpc>
                <a:spcPct val="100000"/>
              </a:lnSpc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224154" algn="l"/>
              </a:tabLst>
            </a:pPr>
            <a:r>
              <a:rPr dirty="0" sz="1100" spc="-30">
                <a:solidFill>
                  <a:srgbClr val="3333B2"/>
                </a:solidFill>
                <a:latin typeface="Microsoft Sans Serif"/>
                <a:cs typeface="Microsoft Sans Serif"/>
                <a:hlinkClick r:id="rId11" action="ppaction://hlinksldjump"/>
              </a:rPr>
              <a:t>How</a:t>
            </a:r>
            <a:r>
              <a:rPr dirty="0" sz="1100" spc="-40">
                <a:solidFill>
                  <a:srgbClr val="3333B2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70">
                <a:solidFill>
                  <a:srgbClr val="3333B2"/>
                </a:solidFill>
                <a:latin typeface="Microsoft Sans Serif"/>
                <a:cs typeface="Microsoft Sans Serif"/>
                <a:hlinkClick r:id="rId11" action="ppaction://hlinksldjump"/>
              </a:rPr>
              <a:t>Deep</a:t>
            </a:r>
            <a:r>
              <a:rPr dirty="0" sz="1100" spc="-5">
                <a:solidFill>
                  <a:srgbClr val="3333B2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Microsoft Sans Serif"/>
                <a:cs typeface="Microsoft Sans Serif"/>
                <a:hlinkClick r:id="rId11" action="ppaction://hlinksldjump"/>
              </a:rPr>
              <a:t>is</a:t>
            </a:r>
            <a:r>
              <a:rPr dirty="0" sz="1100" spc="-20">
                <a:solidFill>
                  <a:srgbClr val="3333B2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Microsoft Sans Serif"/>
                <a:cs typeface="Microsoft Sans Serif"/>
                <a:hlinkClick r:id="rId11" action="ppaction://hlinksldjump"/>
              </a:rPr>
              <a:t>deep?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Deep</a:t>
            </a:r>
            <a:r>
              <a:rPr dirty="0" spc="-75"/>
              <a:t> </a:t>
            </a:r>
            <a:r>
              <a:rPr dirty="0" spc="-45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4374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360308"/>
            <a:ext cx="3959225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40">
                <a:latin typeface="Microsoft Sans Serif"/>
                <a:cs typeface="Microsoft Sans Serif"/>
              </a:rPr>
              <a:t>When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you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hear</a:t>
            </a:r>
            <a:r>
              <a:rPr dirty="0" sz="1100">
                <a:latin typeface="Microsoft Sans Serif"/>
                <a:cs typeface="Microsoft Sans Serif"/>
              </a:rPr>
              <a:t> the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term </a:t>
            </a:r>
            <a:r>
              <a:rPr dirty="0" sz="1100" spc="-80">
                <a:latin typeface="Microsoft Sans Serif"/>
                <a:cs typeface="Microsoft Sans Serif"/>
              </a:rPr>
              <a:t>deep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learning,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just think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 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large,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deep </a:t>
            </a:r>
            <a:r>
              <a:rPr dirty="0" sz="1100" spc="-40">
                <a:latin typeface="Microsoft Sans Serif"/>
                <a:cs typeface="Microsoft Sans Serif"/>
              </a:rPr>
              <a:t>neural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net.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 spc="-70">
                <a:latin typeface="Microsoft Sans Serif"/>
                <a:cs typeface="Microsoft Sans Serif"/>
              </a:rPr>
              <a:t>Deep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refers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number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65">
                <a:latin typeface="Microsoft Sans Serif"/>
                <a:cs typeface="Microsoft Sans Serif"/>
              </a:rPr>
              <a:t>layers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typically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and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70">
                <a:latin typeface="Microsoft Sans Serif"/>
                <a:cs typeface="Microsoft Sans Serif"/>
              </a:rPr>
              <a:t>so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this </a:t>
            </a:r>
            <a:r>
              <a:rPr dirty="0" sz="1100">
                <a:latin typeface="Microsoft Sans Serif"/>
                <a:cs typeface="Microsoft Sans Serif"/>
              </a:rPr>
              <a:t>kind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popular</a:t>
            </a:r>
            <a:r>
              <a:rPr dirty="0" sz="1100">
                <a:latin typeface="Microsoft Sans Serif"/>
                <a:cs typeface="Microsoft Sans Serif"/>
              </a:rPr>
              <a:t> term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that’s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70">
                <a:latin typeface="Microsoft Sans Serif"/>
                <a:cs typeface="Microsoft Sans Serif"/>
              </a:rPr>
              <a:t>been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adopted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 the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press.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41287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dirty="0" sz="14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75">
                <a:solidFill>
                  <a:srgbClr val="FFFFFF"/>
                </a:solidFill>
                <a:latin typeface="Tahoma"/>
                <a:cs typeface="Tahoma"/>
              </a:rPr>
              <a:t>deep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deep?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615" y="578954"/>
            <a:ext cx="1471041" cy="25477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Deep</a:t>
            </a:r>
            <a:r>
              <a:rPr dirty="0" spc="-75"/>
              <a:t> </a:t>
            </a:r>
            <a:r>
              <a:rPr dirty="0" spc="-45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74927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91474"/>
            <a:ext cx="4078604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35">
                <a:solidFill>
                  <a:srgbClr val="FF0000"/>
                </a:solidFill>
                <a:latin typeface="Microsoft Sans Serif"/>
                <a:cs typeface="Microsoft Sans Serif"/>
              </a:rPr>
              <a:t>Convolutional</a:t>
            </a:r>
            <a:r>
              <a:rPr dirty="0" sz="1100" spc="-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5">
                <a:solidFill>
                  <a:srgbClr val="FF0000"/>
                </a:solidFill>
                <a:latin typeface="Microsoft Sans Serif"/>
                <a:cs typeface="Microsoft Sans Serif"/>
              </a:rPr>
              <a:t>Neural</a:t>
            </a:r>
            <a:r>
              <a:rPr dirty="0" sz="110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5">
                <a:solidFill>
                  <a:srgbClr val="FF0000"/>
                </a:solidFill>
                <a:latin typeface="Microsoft Sans Serif"/>
                <a:cs typeface="Microsoft Sans Serif"/>
              </a:rPr>
              <a:t>Network</a:t>
            </a:r>
            <a:r>
              <a:rPr dirty="0" sz="1100" spc="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FF0000"/>
                </a:solidFill>
                <a:latin typeface="Microsoft Sans Serif"/>
                <a:cs typeface="Microsoft Sans Serif"/>
              </a:rPr>
              <a:t>(CNN) </a:t>
            </a:r>
            <a:r>
              <a:rPr dirty="0" sz="1100" spc="-10">
                <a:latin typeface="Microsoft Sans Serif"/>
                <a:cs typeface="Microsoft Sans Serif"/>
              </a:rPr>
              <a:t>is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 </a:t>
            </a:r>
            <a:r>
              <a:rPr dirty="0" sz="1100" spc="-10">
                <a:latin typeface="Microsoft Sans Serif"/>
                <a:cs typeface="Microsoft Sans Serif"/>
              </a:rPr>
              <a:t>type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 </a:t>
            </a:r>
            <a:r>
              <a:rPr dirty="0" sz="1100" spc="-80">
                <a:latin typeface="Microsoft Sans Serif"/>
                <a:cs typeface="Microsoft Sans Serif"/>
              </a:rPr>
              <a:t>deep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learning algorithm.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But </a:t>
            </a:r>
            <a:r>
              <a:rPr dirty="0" sz="1100" spc="-85">
                <a:latin typeface="Microsoft Sans Serif"/>
                <a:cs typeface="Microsoft Sans Serif"/>
              </a:rPr>
              <a:t>suppose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80">
                <a:latin typeface="Microsoft Sans Serif"/>
                <a:cs typeface="Microsoft Sans Serif"/>
              </a:rPr>
              <a:t>we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had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 </a:t>
            </a:r>
            <a:r>
              <a:rPr dirty="0" sz="1100" spc="-20">
                <a:latin typeface="Microsoft Sans Serif"/>
                <a:cs typeface="Microsoft Sans Serif"/>
              </a:rPr>
              <a:t>CNN</a:t>
            </a:r>
            <a:r>
              <a:rPr dirty="0" sz="1100">
                <a:latin typeface="Microsoft Sans Serif"/>
                <a:cs typeface="Microsoft Sans Serif"/>
              </a:rPr>
              <a:t> with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only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one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convolutional </a:t>
            </a:r>
            <a:r>
              <a:rPr dirty="0" sz="1100" spc="-50">
                <a:latin typeface="Microsoft Sans Serif"/>
                <a:cs typeface="Microsoft Sans Serif"/>
              </a:rPr>
              <a:t>layer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215">
                <a:latin typeface="Microsoft Sans Serif"/>
                <a:cs typeface="Microsoft Sans Serif"/>
              </a:rPr>
              <a:t>–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network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that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is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shallow,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but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yet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still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60">
                <a:latin typeface="Microsoft Sans Serif"/>
                <a:cs typeface="Microsoft Sans Serif"/>
              </a:rPr>
              <a:t>belongs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family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of </a:t>
            </a:r>
            <a:r>
              <a:rPr dirty="0" sz="1100" spc="-35">
                <a:latin typeface="Microsoft Sans Serif"/>
                <a:cs typeface="Microsoft Sans Serif"/>
              </a:rPr>
              <a:t>algorithms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inside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80">
                <a:latin typeface="Microsoft Sans Serif"/>
                <a:cs typeface="Microsoft Sans Serif"/>
              </a:rPr>
              <a:t>deep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learning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45">
                <a:latin typeface="Microsoft Sans Serif"/>
                <a:cs typeface="Microsoft Sans Serif"/>
              </a:rPr>
              <a:t>camp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65">
                <a:latin typeface="Microsoft Sans Serif"/>
                <a:cs typeface="Microsoft Sans Serif"/>
              </a:rPr>
              <a:t>considered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be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“deep”?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41287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dirty="0" sz="14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75">
                <a:solidFill>
                  <a:srgbClr val="FFFFFF"/>
                </a:solidFill>
                <a:latin typeface="Tahoma"/>
                <a:cs typeface="Tahoma"/>
              </a:rPr>
              <a:t>deep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deep?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261" y="1030859"/>
            <a:ext cx="2402840" cy="138176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Deep</a:t>
            </a:r>
            <a:r>
              <a:rPr dirty="0" spc="-75"/>
              <a:t> </a:t>
            </a:r>
            <a:r>
              <a:rPr dirty="0" spc="-45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615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pc="-10"/>
              <a:t>Are </a:t>
            </a:r>
            <a:r>
              <a:rPr dirty="0" spc="-35"/>
              <a:t>you</a:t>
            </a:r>
            <a:r>
              <a:rPr dirty="0" spc="-5"/>
              <a:t> </a:t>
            </a:r>
            <a:r>
              <a:rPr dirty="0" spc="-40"/>
              <a:t>using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55"/>
              <a:t>specialized</a:t>
            </a:r>
            <a:r>
              <a:rPr dirty="0" spc="-10"/>
              <a:t> </a:t>
            </a:r>
            <a:r>
              <a:rPr dirty="0" spc="-35"/>
              <a:t>network</a:t>
            </a:r>
            <a:r>
              <a:rPr dirty="0" spc="-5"/>
              <a:t> </a:t>
            </a:r>
            <a:r>
              <a:rPr dirty="0" spc="-35"/>
              <a:t>architecture</a:t>
            </a:r>
            <a:r>
              <a:rPr dirty="0" spc="-5"/>
              <a:t> </a:t>
            </a:r>
            <a:r>
              <a:rPr dirty="0" spc="-60"/>
              <a:t>such</a:t>
            </a:r>
            <a:r>
              <a:rPr dirty="0" spc="-5"/>
              <a:t> </a:t>
            </a:r>
            <a:r>
              <a:rPr dirty="0" spc="-25"/>
              <a:t>as </a:t>
            </a:r>
            <a:r>
              <a:rPr dirty="0" spc="-35"/>
              <a:t>Convolutional</a:t>
            </a:r>
            <a:r>
              <a:rPr dirty="0" spc="-5"/>
              <a:t> </a:t>
            </a:r>
            <a:r>
              <a:rPr dirty="0" spc="-35"/>
              <a:t>Neural</a:t>
            </a:r>
            <a:r>
              <a:rPr dirty="0"/>
              <a:t> </a:t>
            </a:r>
            <a:r>
              <a:rPr dirty="0" spc="-40"/>
              <a:t>Networks,</a:t>
            </a:r>
            <a:r>
              <a:rPr dirty="0"/>
              <a:t> </a:t>
            </a:r>
            <a:r>
              <a:rPr dirty="0" spc="-40"/>
              <a:t>Recurrent</a:t>
            </a:r>
            <a:r>
              <a:rPr dirty="0"/>
              <a:t> </a:t>
            </a:r>
            <a:r>
              <a:rPr dirty="0" spc="-35"/>
              <a:t>Neural</a:t>
            </a:r>
            <a:r>
              <a:rPr dirty="0"/>
              <a:t> </a:t>
            </a:r>
            <a:r>
              <a:rPr dirty="0" spc="-40"/>
              <a:t>Networks,</a:t>
            </a:r>
            <a:r>
              <a:rPr dirty="0"/>
              <a:t> or </a:t>
            </a:r>
            <a:r>
              <a:rPr dirty="0" spc="-20"/>
              <a:t>Long </a:t>
            </a:r>
            <a:r>
              <a:rPr dirty="0" spc="-40"/>
              <a:t>Short-</a:t>
            </a:r>
            <a:r>
              <a:rPr dirty="0" spc="-25"/>
              <a:t>Term</a:t>
            </a:r>
            <a:r>
              <a:rPr dirty="0" spc="20"/>
              <a:t> </a:t>
            </a:r>
            <a:r>
              <a:rPr dirty="0" spc="-35"/>
              <a:t>Memory</a:t>
            </a:r>
            <a:r>
              <a:rPr dirty="0" spc="20"/>
              <a:t> </a:t>
            </a:r>
            <a:r>
              <a:rPr dirty="0"/>
              <a:t>(LSTM)</a:t>
            </a:r>
            <a:r>
              <a:rPr dirty="0" spc="20"/>
              <a:t> </a:t>
            </a:r>
            <a:r>
              <a:rPr dirty="0" spc="-50"/>
              <a:t>networks?</a:t>
            </a:r>
            <a:r>
              <a:rPr dirty="0" spc="125"/>
              <a:t> </a:t>
            </a:r>
            <a:r>
              <a:rPr dirty="0"/>
              <a:t>If</a:t>
            </a:r>
            <a:r>
              <a:rPr dirty="0" spc="20"/>
              <a:t> </a:t>
            </a:r>
            <a:r>
              <a:rPr dirty="0" spc="-35"/>
              <a:t>so,</a:t>
            </a:r>
            <a:r>
              <a:rPr dirty="0" spc="20"/>
              <a:t> </a:t>
            </a:r>
            <a:r>
              <a:rPr dirty="0" spc="-75"/>
              <a:t>yes,</a:t>
            </a:r>
            <a:r>
              <a:rPr dirty="0" spc="20"/>
              <a:t> </a:t>
            </a:r>
            <a:r>
              <a:rPr dirty="0" spc="-35"/>
              <a:t>you</a:t>
            </a:r>
            <a:r>
              <a:rPr dirty="0" spc="25"/>
              <a:t> </a:t>
            </a:r>
            <a:r>
              <a:rPr dirty="0" spc="-60"/>
              <a:t>are</a:t>
            </a:r>
            <a:r>
              <a:rPr dirty="0" spc="20"/>
              <a:t> </a:t>
            </a:r>
            <a:r>
              <a:rPr dirty="0" spc="-25"/>
              <a:t>performing </a:t>
            </a:r>
            <a:r>
              <a:rPr dirty="0" spc="-80"/>
              <a:t>deep</a:t>
            </a:r>
            <a:r>
              <a:rPr dirty="0" spc="20"/>
              <a:t> </a:t>
            </a:r>
            <a:r>
              <a:rPr dirty="0" spc="-10"/>
              <a:t>learning.</a:t>
            </a:r>
          </a:p>
          <a:p>
            <a:pPr marL="12700" marR="351155">
              <a:lnSpc>
                <a:spcPct val="102600"/>
              </a:lnSpc>
              <a:spcBef>
                <a:spcPts val="300"/>
              </a:spcBef>
            </a:pPr>
            <a:r>
              <a:rPr dirty="0" spc="-65"/>
              <a:t>Does</a:t>
            </a:r>
            <a:r>
              <a:rPr dirty="0" spc="-10"/>
              <a:t> </a:t>
            </a:r>
            <a:r>
              <a:rPr dirty="0" spc="-25"/>
              <a:t>your</a:t>
            </a:r>
            <a:r>
              <a:rPr dirty="0" spc="-15"/>
              <a:t> </a:t>
            </a:r>
            <a:r>
              <a:rPr dirty="0" spc="-35"/>
              <a:t>network</a:t>
            </a:r>
            <a:r>
              <a:rPr dirty="0" spc="-5"/>
              <a:t> </a:t>
            </a:r>
            <a:r>
              <a:rPr dirty="0" spc="-70"/>
              <a:t>have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20"/>
              <a:t>depth</a:t>
            </a:r>
            <a:r>
              <a:rPr dirty="0" spc="-5"/>
              <a:t> </a:t>
            </a:r>
            <a:r>
              <a:rPr dirty="0"/>
              <a:t>¿</a:t>
            </a:r>
            <a:r>
              <a:rPr dirty="0" spc="-5"/>
              <a:t> </a:t>
            </a:r>
            <a:r>
              <a:rPr dirty="0" spc="-10"/>
              <a:t>2?</a:t>
            </a:r>
            <a:r>
              <a:rPr dirty="0" spc="85"/>
              <a:t> </a:t>
            </a:r>
            <a:r>
              <a:rPr dirty="0"/>
              <a:t>If</a:t>
            </a:r>
            <a:r>
              <a:rPr dirty="0" spc="-5"/>
              <a:t> </a:t>
            </a:r>
            <a:r>
              <a:rPr dirty="0" spc="-75"/>
              <a:t>yes,</a:t>
            </a:r>
            <a:r>
              <a:rPr dirty="0" spc="5"/>
              <a:t> </a:t>
            </a:r>
            <a:r>
              <a:rPr dirty="0" spc="-35"/>
              <a:t>you</a:t>
            </a:r>
            <a:r>
              <a:rPr dirty="0" spc="-10"/>
              <a:t> </a:t>
            </a:r>
            <a:r>
              <a:rPr dirty="0" spc="-60"/>
              <a:t>are</a:t>
            </a:r>
            <a:r>
              <a:rPr dirty="0" spc="-5"/>
              <a:t> </a:t>
            </a:r>
            <a:r>
              <a:rPr dirty="0" spc="-30"/>
              <a:t>doing</a:t>
            </a:r>
            <a:r>
              <a:rPr dirty="0" spc="-5"/>
              <a:t> </a:t>
            </a:r>
            <a:r>
              <a:rPr dirty="0" spc="-45"/>
              <a:t>deep </a:t>
            </a:r>
            <a:r>
              <a:rPr dirty="0" spc="-10"/>
              <a:t>learning.</a:t>
            </a:r>
          </a:p>
          <a:p>
            <a:pPr marL="12700" marR="55880">
              <a:lnSpc>
                <a:spcPct val="102699"/>
              </a:lnSpc>
              <a:spcBef>
                <a:spcPts val="300"/>
              </a:spcBef>
            </a:pPr>
            <a:r>
              <a:rPr dirty="0" spc="-65"/>
              <a:t>Does</a:t>
            </a:r>
            <a:r>
              <a:rPr dirty="0" spc="-10"/>
              <a:t> </a:t>
            </a:r>
            <a:r>
              <a:rPr dirty="0" spc="-25"/>
              <a:t>your</a:t>
            </a:r>
            <a:r>
              <a:rPr dirty="0" spc="-10"/>
              <a:t> </a:t>
            </a:r>
            <a:r>
              <a:rPr dirty="0" spc="-35"/>
              <a:t>network</a:t>
            </a:r>
            <a:r>
              <a:rPr dirty="0" spc="-5"/>
              <a:t> </a:t>
            </a:r>
            <a:r>
              <a:rPr dirty="0" spc="-70"/>
              <a:t>have</a:t>
            </a:r>
            <a:r>
              <a:rPr dirty="0"/>
              <a:t> a</a:t>
            </a:r>
            <a:r>
              <a:rPr dirty="0" spc="-10"/>
              <a:t> </a:t>
            </a:r>
            <a:r>
              <a:rPr dirty="0" spc="-20"/>
              <a:t>depth</a:t>
            </a:r>
            <a:r>
              <a:rPr dirty="0" spc="-5"/>
              <a:t> </a:t>
            </a:r>
            <a:r>
              <a:rPr dirty="0"/>
              <a:t>¿</a:t>
            </a:r>
            <a:r>
              <a:rPr dirty="0" spc="-5"/>
              <a:t> </a:t>
            </a:r>
            <a:r>
              <a:rPr dirty="0" spc="-30"/>
              <a:t>10?</a:t>
            </a:r>
            <a:r>
              <a:rPr dirty="0" spc="85"/>
              <a:t> </a:t>
            </a:r>
            <a:r>
              <a:rPr dirty="0"/>
              <a:t>If</a:t>
            </a:r>
            <a:r>
              <a:rPr dirty="0" spc="-5"/>
              <a:t> </a:t>
            </a:r>
            <a:r>
              <a:rPr dirty="0" spc="-35"/>
              <a:t>so,</a:t>
            </a:r>
            <a:r>
              <a:rPr dirty="0" spc="-5"/>
              <a:t> </a:t>
            </a:r>
            <a:r>
              <a:rPr dirty="0" spc="-35"/>
              <a:t>you</a:t>
            </a:r>
            <a:r>
              <a:rPr dirty="0" spc="-10"/>
              <a:t> </a:t>
            </a:r>
            <a:r>
              <a:rPr dirty="0" spc="-60"/>
              <a:t>are</a:t>
            </a:r>
            <a:r>
              <a:rPr dirty="0" spc="-5"/>
              <a:t> </a:t>
            </a:r>
            <a:r>
              <a:rPr dirty="0" spc="-35"/>
              <a:t>performing</a:t>
            </a:r>
            <a:r>
              <a:rPr dirty="0" spc="-5"/>
              <a:t> </a:t>
            </a:r>
            <a:r>
              <a:rPr dirty="0" spc="-20"/>
              <a:t>very </a:t>
            </a:r>
            <a:r>
              <a:rPr dirty="0" spc="-80"/>
              <a:t>deep</a:t>
            </a:r>
            <a:r>
              <a:rPr dirty="0" spc="10"/>
              <a:t> </a:t>
            </a:r>
            <a:r>
              <a:rPr dirty="0" spc="-45"/>
              <a:t>learning</a:t>
            </a:r>
            <a:r>
              <a:rPr dirty="0" spc="15"/>
              <a:t> </a:t>
            </a:r>
            <a:r>
              <a:rPr dirty="0" spc="-10"/>
              <a:t>[40].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9241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74519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0751" y="3351784"/>
            <a:ext cx="140652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ANN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Machine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0485">
              <a:lnSpc>
                <a:spcPts val="675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t>10</a:t>
            </a:fld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50">
                <a:solidFill>
                  <a:srgbClr val="FFFFFF"/>
                </a:solidFill>
              </a:rPr>
              <a:t>/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1306" y="1276751"/>
            <a:ext cx="765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35">
                <a:latin typeface="Tahoma"/>
                <a:cs typeface="Tahoma"/>
              </a:rPr>
              <a:t>The</a:t>
            </a:r>
            <a:r>
              <a:rPr dirty="0" sz="1700" spc="-90">
                <a:latin typeface="Tahoma"/>
                <a:cs typeface="Tahoma"/>
              </a:rPr>
              <a:t> </a:t>
            </a:r>
            <a:r>
              <a:rPr dirty="0" sz="1700" spc="-55">
                <a:latin typeface="Tahoma"/>
                <a:cs typeface="Tahoma"/>
              </a:rPr>
              <a:t>End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20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Abdul Basit </dc:creator>
  <dc:title>Artificial Neural Network (CS642) - Lecture 01 - Introduction to Machine Learning</dc:title>
  <dcterms:created xsi:type="dcterms:W3CDTF">2026-08-16T08:23:31Z</dcterms:created>
  <dcterms:modified xsi:type="dcterms:W3CDTF">2026-08-16T08:23:31Z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2025-10-24T00:00:00Z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2026-08-16T00:00:00Z</vt:filetime>
  </property>
  <property fmtid="{D5CDD505-2E9C-101B-9397-08002B2CF9AE}" pid="6" name="PTEX.Fullbanner">
    <vt:lpwstr>This is pdfTeX, Version 3.141592653-2.6-1.40.22 (TeX Live 2022/dev/Debian) kpathsea version 6.3.4/dev</vt:lpwstr>
  </property>
  <property fmtid="{D5CDD505-2E9C-101B-9397-08002B2CF9AE}" pid="7" name="Producer">
    <vt:lpwstr>pdfTeX-1.40.22</vt:lpwstr>
  </property>
</Properties>
</file>