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692640" y="5394960"/>
            <a:ext cx="3291840" cy="3291840"/>
          </a:xfrm>
          <a:prstGeom prst="ellipse">
            <a:avLst/>
          </a:prstGeom>
          <a:solidFill>
            <a:srgbClr val="184038"/>
          </a:solidFill>
          <a:ln w="12700">
            <a:solidFill>
              <a:srgbClr val="333333"/>
            </a:solidFill>
            <a:prstDash val="solid"/>
          </a:ln>
        </p:spPr>
      </p:sp>
      <p:sp>
        <p:nvSpPr>
          <p:cNvPr id="3" name="Shape 1"/>
          <p:cNvSpPr/>
          <p:nvPr/>
        </p:nvSpPr>
        <p:spPr>
          <a:xfrm>
            <a:off x="640080" y="640080"/>
            <a:ext cx="960120" cy="960120"/>
          </a:xfrm>
          <a:prstGeom prst="ellipse">
            <a:avLst/>
          </a:prstGeom>
          <a:solidFill>
            <a:srgbClr val="2C6E63"/>
          </a:solidFill>
          <a:ln w="12700">
            <a:solidFill>
              <a:srgbClr val="333333"/>
            </a:solidFill>
            <a:prstDash val="solid"/>
          </a:ln>
        </p:spPr>
      </p:sp>
      <p:pic>
        <p:nvPicPr>
          <p:cNvPr id="4" name="Image 0" descr="/home/claude/work/icons_png/trendingUp.png">    </p:cNvPr>
          <p:cNvPicPr>
            <a:picLocks noChangeAspect="1"/>
          </p:cNvPicPr>
          <p:nvPr/>
        </p:nvPicPr>
        <p:blipFill>
          <a:blip r:embed="rId1"/>
          <a:stretch>
            <a:fillRect/>
          </a:stretch>
        </p:blipFill>
        <p:spPr>
          <a:xfrm>
            <a:off x="859536" y="859536"/>
            <a:ext cx="521208" cy="521208"/>
          </a:xfrm>
          <a:prstGeom prst="rect">
            <a:avLst/>
          </a:prstGeom>
        </p:spPr>
      </p:pic>
      <p:sp>
        <p:nvSpPr>
          <p:cNvPr id="5" name="Text 2"/>
          <p:cNvSpPr/>
          <p:nvPr/>
        </p:nvSpPr>
        <p:spPr>
          <a:xfrm>
            <a:off x="640080" y="2468880"/>
            <a:ext cx="9601200" cy="1737360"/>
          </a:xfrm>
          <a:prstGeom prst="rect">
            <a:avLst/>
          </a:prstGeom>
          <a:noFill/>
          <a:ln/>
        </p:spPr>
        <p:txBody>
          <a:bodyPr wrap="square" lIns="0" tIns="0" rIns="0" bIns="0" rtlCol="0" anchor="ctr"/>
          <a:lstStyle/>
          <a:p>
            <a:pPr algn="l" indent="0" marL="0">
              <a:lnSpc>
                <a:spcPts val="4800"/>
              </a:lnSpc>
              <a:buNone/>
            </a:pPr>
            <a:r>
              <a:rPr lang="en-US" sz="4400" b="1" dirty="0">
                <a:solidFill>
                  <a:srgbClr val="FFFFFF"/>
                </a:solidFill>
                <a:latin typeface="Cambria" pitchFamily="34" charset="0"/>
                <a:ea typeface="Cambria" pitchFamily="34" charset="-122"/>
                <a:cs typeface="Cambria" pitchFamily="34" charset="-120"/>
              </a:rPr>
              <a:t>Linear Regression</a:t>
            </a:r>
            <a:endParaRPr lang="en-US" sz="4400" dirty="0"/>
          </a:p>
        </p:txBody>
      </p:sp>
      <p:sp>
        <p:nvSpPr>
          <p:cNvPr id="6" name="Text 3"/>
          <p:cNvSpPr/>
          <p:nvPr/>
        </p:nvSpPr>
        <p:spPr>
          <a:xfrm>
            <a:off x="658368" y="3794760"/>
            <a:ext cx="8686800" cy="548640"/>
          </a:xfrm>
          <a:prstGeom prst="rect">
            <a:avLst/>
          </a:prstGeom>
          <a:noFill/>
          <a:ln/>
        </p:spPr>
        <p:txBody>
          <a:bodyPr wrap="square" lIns="0" tIns="0" rIns="0" bIns="0" rtlCol="0" anchor="ctr"/>
          <a:lstStyle/>
          <a:p>
            <a:pPr algn="l" indent="0" marL="0">
              <a:buNone/>
            </a:pPr>
            <a:r>
              <a:rPr lang="en-US" sz="1900" dirty="0">
                <a:solidFill>
                  <a:srgbClr val="C9D3CC"/>
                </a:solidFill>
                <a:latin typeface="Calibri" pitchFamily="34" charset="0"/>
                <a:ea typeface="Calibri" pitchFamily="34" charset="-122"/>
                <a:cs typeface="Calibri" pitchFamily="34" charset="-120"/>
              </a:rPr>
              <a:t>Predicting Continuous Values — The Math Behind the Best-Fit Line</a:t>
            </a:r>
            <a:endParaRPr lang="en-US" sz="1900" dirty="0"/>
          </a:p>
        </p:txBody>
      </p:sp>
      <p:sp>
        <p:nvSpPr>
          <p:cNvPr id="7" name="Text 4"/>
          <p:cNvSpPr/>
          <p:nvPr/>
        </p:nvSpPr>
        <p:spPr>
          <a:xfrm>
            <a:off x="658368" y="6080760"/>
            <a:ext cx="3657600" cy="365760"/>
          </a:xfrm>
          <a:prstGeom prst="rect">
            <a:avLst/>
          </a:prstGeom>
          <a:noFill/>
          <a:ln/>
        </p:spPr>
        <p:txBody>
          <a:bodyPr wrap="square" lIns="0" tIns="0" rIns="0" bIns="0" rtlCol="0" anchor="ctr"/>
          <a:lstStyle/>
          <a:p>
            <a:pPr algn="l" indent="0" marL="0">
              <a:buNone/>
            </a:pPr>
            <a:r>
              <a:rPr lang="en-US" sz="1300" spc="100" kern="0" dirty="0">
                <a:solidFill>
                  <a:srgbClr val="E7C588"/>
                </a:solidFill>
                <a:latin typeface="Calibri" pitchFamily="34" charset="0"/>
                <a:ea typeface="Calibri" pitchFamily="34" charset="-122"/>
                <a:cs typeface="Calibri" pitchFamily="34" charset="-120"/>
              </a:rPr>
              <a:t>AI &amp; ML FOUNDATIONS</a:t>
            </a:r>
            <a:endParaRPr lang="en-US" sz="13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640080"/>
          </a:xfrm>
          <a:prstGeom prst="rect">
            <a:avLst/>
          </a:prstGeom>
          <a:noFill/>
          <a:ln/>
        </p:spPr>
        <p:txBody>
          <a:bodyPr wrap="square" lIns="0" tIns="0" rIns="0" bIns="0" rtlCol="0" anchor="ctr"/>
          <a:lstStyle/>
          <a:p>
            <a:pPr indent="0" marL="0">
              <a:buNone/>
            </a:pPr>
            <a:r>
              <a:rPr lang="en-US" sz="3000" b="1" dirty="0">
                <a:solidFill>
                  <a:srgbClr val="1B2420"/>
                </a:solidFill>
                <a:latin typeface="Cambria" pitchFamily="34" charset="0"/>
                <a:ea typeface="Cambria" pitchFamily="34" charset="-122"/>
                <a:cs typeface="Cambria" pitchFamily="34" charset="-120"/>
              </a:rPr>
              <a:t>What We're Covering Today</a:t>
            </a:r>
            <a:endParaRPr lang="en-US" sz="3000" dirty="0"/>
          </a:p>
        </p:txBody>
      </p:sp>
      <p:sp>
        <p:nvSpPr>
          <p:cNvPr id="3" name="Shape 1"/>
          <p:cNvSpPr/>
          <p:nvPr/>
        </p:nvSpPr>
        <p:spPr>
          <a:xfrm>
            <a:off x="640080" y="1508760"/>
            <a:ext cx="457200" cy="457200"/>
          </a:xfrm>
          <a:prstGeom prst="ellipse">
            <a:avLst/>
          </a:prstGeom>
          <a:solidFill>
            <a:srgbClr val="2C6E63"/>
          </a:solidFill>
          <a:ln w="12700">
            <a:solidFill>
              <a:srgbClr val="333333"/>
            </a:solidFill>
            <a:prstDash val="solid"/>
          </a:ln>
        </p:spPr>
      </p:sp>
      <p:pic>
        <p:nvPicPr>
          <p:cNvPr id="4" name="Image 0" descr="/home/claude/work/icons_png/target.png">    </p:cNvPr>
          <p:cNvPicPr>
            <a:picLocks noChangeAspect="1"/>
          </p:cNvPicPr>
          <p:nvPr/>
        </p:nvPicPr>
        <p:blipFill>
          <a:blip r:embed="rId1"/>
          <a:stretch>
            <a:fillRect/>
          </a:stretch>
        </p:blipFill>
        <p:spPr>
          <a:xfrm>
            <a:off x="740664" y="1609344"/>
            <a:ext cx="256032" cy="256032"/>
          </a:xfrm>
          <a:prstGeom prst="rect">
            <a:avLst/>
          </a:prstGeom>
        </p:spPr>
      </p:pic>
      <p:sp>
        <p:nvSpPr>
          <p:cNvPr id="5" name="Text 2"/>
          <p:cNvSpPr/>
          <p:nvPr/>
        </p:nvSpPr>
        <p:spPr>
          <a:xfrm>
            <a:off x="1261872" y="146304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What is Regression, and how it differs from classification</a:t>
            </a:r>
            <a:endParaRPr lang="en-US" sz="1350" dirty="0"/>
          </a:p>
        </p:txBody>
      </p:sp>
      <p:sp>
        <p:nvSpPr>
          <p:cNvPr id="6" name="Shape 3"/>
          <p:cNvSpPr/>
          <p:nvPr/>
        </p:nvSpPr>
        <p:spPr>
          <a:xfrm>
            <a:off x="6355080" y="1508760"/>
            <a:ext cx="457200" cy="457200"/>
          </a:xfrm>
          <a:prstGeom prst="ellipse">
            <a:avLst/>
          </a:prstGeom>
          <a:solidFill>
            <a:srgbClr val="2C6E63"/>
          </a:solidFill>
          <a:ln w="12700">
            <a:solidFill>
              <a:srgbClr val="333333"/>
            </a:solidFill>
            <a:prstDash val="solid"/>
          </a:ln>
        </p:spPr>
      </p:sp>
      <p:pic>
        <p:nvPicPr>
          <p:cNvPr id="7" name="Image 1" descr="/home/claude/work/icons_png/trendingUp.png">    </p:cNvPr>
          <p:cNvPicPr>
            <a:picLocks noChangeAspect="1"/>
          </p:cNvPicPr>
          <p:nvPr/>
        </p:nvPicPr>
        <p:blipFill>
          <a:blip r:embed="rId2"/>
          <a:stretch>
            <a:fillRect/>
          </a:stretch>
        </p:blipFill>
        <p:spPr>
          <a:xfrm>
            <a:off x="6455664" y="1609344"/>
            <a:ext cx="256032" cy="256032"/>
          </a:xfrm>
          <a:prstGeom prst="rect">
            <a:avLst/>
          </a:prstGeom>
        </p:spPr>
      </p:pic>
      <p:sp>
        <p:nvSpPr>
          <p:cNvPr id="8" name="Text 4"/>
          <p:cNvSpPr/>
          <p:nvPr/>
        </p:nvSpPr>
        <p:spPr>
          <a:xfrm>
            <a:off x="6976872" y="146304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Linear Regression — the problem statement &amp; best-fit line</a:t>
            </a:r>
            <a:endParaRPr lang="en-US" sz="1350" dirty="0"/>
          </a:p>
        </p:txBody>
      </p:sp>
      <p:sp>
        <p:nvSpPr>
          <p:cNvPr id="9" name="Shape 5"/>
          <p:cNvSpPr/>
          <p:nvPr/>
        </p:nvSpPr>
        <p:spPr>
          <a:xfrm>
            <a:off x="640080" y="2377440"/>
            <a:ext cx="457200" cy="457200"/>
          </a:xfrm>
          <a:prstGeom prst="ellipse">
            <a:avLst/>
          </a:prstGeom>
          <a:solidFill>
            <a:srgbClr val="2C6E63"/>
          </a:solidFill>
          <a:ln w="12700">
            <a:solidFill>
              <a:srgbClr val="333333"/>
            </a:solidFill>
            <a:prstDash val="solid"/>
          </a:ln>
        </p:spPr>
      </p:sp>
      <p:pic>
        <p:nvPicPr>
          <p:cNvPr id="10" name="Image 2" descr="/home/claude/work/icons_png/activity.png">    </p:cNvPr>
          <p:cNvPicPr>
            <a:picLocks noChangeAspect="1"/>
          </p:cNvPicPr>
          <p:nvPr/>
        </p:nvPicPr>
        <p:blipFill>
          <a:blip r:embed="rId3"/>
          <a:stretch>
            <a:fillRect/>
          </a:stretch>
        </p:blipFill>
        <p:spPr>
          <a:xfrm>
            <a:off x="740664" y="2478024"/>
            <a:ext cx="256032" cy="256032"/>
          </a:xfrm>
          <a:prstGeom prst="rect">
            <a:avLst/>
          </a:prstGeom>
        </p:spPr>
      </p:pic>
      <p:sp>
        <p:nvSpPr>
          <p:cNvPr id="11" name="Text 6"/>
          <p:cNvSpPr/>
          <p:nvPr/>
        </p:nvSpPr>
        <p:spPr>
          <a:xfrm>
            <a:off x="1261872" y="233172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The Cost Function — measuring how wrong the line is</a:t>
            </a:r>
            <a:endParaRPr lang="en-US" sz="1350" dirty="0"/>
          </a:p>
        </p:txBody>
      </p:sp>
      <p:sp>
        <p:nvSpPr>
          <p:cNvPr id="12" name="Shape 7"/>
          <p:cNvSpPr/>
          <p:nvPr/>
        </p:nvSpPr>
        <p:spPr>
          <a:xfrm>
            <a:off x="6355080" y="2377440"/>
            <a:ext cx="457200" cy="457200"/>
          </a:xfrm>
          <a:prstGeom prst="ellipse">
            <a:avLst/>
          </a:prstGeom>
          <a:solidFill>
            <a:srgbClr val="2C6E63"/>
          </a:solidFill>
          <a:ln w="12700">
            <a:solidFill>
              <a:srgbClr val="333333"/>
            </a:solidFill>
            <a:prstDash val="solid"/>
          </a:ln>
        </p:spPr>
      </p:sp>
      <p:pic>
        <p:nvPicPr>
          <p:cNvPr id="13" name="Image 3" descr="/home/claude/work/icons_png/mountain.png">    </p:cNvPr>
          <p:cNvPicPr>
            <a:picLocks noChangeAspect="1"/>
          </p:cNvPicPr>
          <p:nvPr/>
        </p:nvPicPr>
        <p:blipFill>
          <a:blip r:embed="rId4"/>
          <a:stretch>
            <a:fillRect/>
          </a:stretch>
        </p:blipFill>
        <p:spPr>
          <a:xfrm>
            <a:off x="6455664" y="2478024"/>
            <a:ext cx="256032" cy="256032"/>
          </a:xfrm>
          <a:prstGeom prst="rect">
            <a:avLst/>
          </a:prstGeom>
        </p:spPr>
      </p:pic>
      <p:sp>
        <p:nvSpPr>
          <p:cNvPr id="14" name="Text 8"/>
          <p:cNvSpPr/>
          <p:nvPr/>
        </p:nvSpPr>
        <p:spPr>
          <a:xfrm>
            <a:off x="6976872" y="233172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Gradient Descent — finding the minimum error</a:t>
            </a:r>
            <a:endParaRPr lang="en-US" sz="1350" dirty="0"/>
          </a:p>
        </p:txBody>
      </p:sp>
      <p:sp>
        <p:nvSpPr>
          <p:cNvPr id="15" name="Shape 9"/>
          <p:cNvSpPr/>
          <p:nvPr/>
        </p:nvSpPr>
        <p:spPr>
          <a:xfrm>
            <a:off x="640080" y="3246120"/>
            <a:ext cx="457200" cy="457200"/>
          </a:xfrm>
          <a:prstGeom prst="ellipse">
            <a:avLst/>
          </a:prstGeom>
          <a:solidFill>
            <a:srgbClr val="2C6E63"/>
          </a:solidFill>
          <a:ln w="12700">
            <a:solidFill>
              <a:srgbClr val="333333"/>
            </a:solidFill>
            <a:prstDash val="solid"/>
          </a:ln>
        </p:spPr>
      </p:sp>
      <p:pic>
        <p:nvPicPr>
          <p:cNvPr id="16" name="Image 4" descr="/home/claude/work/icons_png/repeat.png">    </p:cNvPr>
          <p:cNvPicPr>
            <a:picLocks noChangeAspect="1"/>
          </p:cNvPicPr>
          <p:nvPr/>
        </p:nvPicPr>
        <p:blipFill>
          <a:blip r:embed="rId5"/>
          <a:stretch>
            <a:fillRect/>
          </a:stretch>
        </p:blipFill>
        <p:spPr>
          <a:xfrm>
            <a:off x="740664" y="3346704"/>
            <a:ext cx="256032" cy="256032"/>
          </a:xfrm>
          <a:prstGeom prst="rect">
            <a:avLst/>
          </a:prstGeom>
        </p:spPr>
      </p:pic>
      <p:sp>
        <p:nvSpPr>
          <p:cNvPr id="17" name="Text 10"/>
          <p:cNvSpPr/>
          <p:nvPr/>
        </p:nvSpPr>
        <p:spPr>
          <a:xfrm>
            <a:off x="1261872" y="320040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Repeat &amp; Convergence Theorem, and the Learning Rate</a:t>
            </a:r>
            <a:endParaRPr lang="en-US" sz="1350" dirty="0"/>
          </a:p>
        </p:txBody>
      </p:sp>
      <p:sp>
        <p:nvSpPr>
          <p:cNvPr id="18" name="Shape 11"/>
          <p:cNvSpPr/>
          <p:nvPr/>
        </p:nvSpPr>
        <p:spPr>
          <a:xfrm>
            <a:off x="6355080" y="3246120"/>
            <a:ext cx="457200" cy="457200"/>
          </a:xfrm>
          <a:prstGeom prst="ellipse">
            <a:avLst/>
          </a:prstGeom>
          <a:solidFill>
            <a:srgbClr val="2C6E63"/>
          </a:solidFill>
          <a:ln w="12700">
            <a:solidFill>
              <a:srgbClr val="333333"/>
            </a:solidFill>
            <a:prstDash val="solid"/>
          </a:ln>
        </p:spPr>
      </p:sp>
      <p:pic>
        <p:nvPicPr>
          <p:cNvPr id="19" name="Image 5" descr="/home/claude/work/icons_png/box.png">    </p:cNvPr>
          <p:cNvPicPr>
            <a:picLocks noChangeAspect="1"/>
          </p:cNvPicPr>
          <p:nvPr/>
        </p:nvPicPr>
        <p:blipFill>
          <a:blip r:embed="rId6"/>
          <a:stretch>
            <a:fillRect/>
          </a:stretch>
        </p:blipFill>
        <p:spPr>
          <a:xfrm>
            <a:off x="6455664" y="3346704"/>
            <a:ext cx="256032" cy="256032"/>
          </a:xfrm>
          <a:prstGeom prst="rect">
            <a:avLst/>
          </a:prstGeom>
        </p:spPr>
      </p:pic>
      <p:sp>
        <p:nvSpPr>
          <p:cNvPr id="20" name="Text 12"/>
          <p:cNvSpPr/>
          <p:nvPr/>
        </p:nvSpPr>
        <p:spPr>
          <a:xfrm>
            <a:off x="6976872" y="320040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Multiple Linear Regression &amp; the Hyperplane</a:t>
            </a:r>
            <a:endParaRPr lang="en-US" sz="1350" dirty="0"/>
          </a:p>
        </p:txBody>
      </p:sp>
      <p:sp>
        <p:nvSpPr>
          <p:cNvPr id="21" name="Shape 13"/>
          <p:cNvSpPr/>
          <p:nvPr/>
        </p:nvSpPr>
        <p:spPr>
          <a:xfrm>
            <a:off x="640080" y="4114800"/>
            <a:ext cx="457200" cy="457200"/>
          </a:xfrm>
          <a:prstGeom prst="ellipse">
            <a:avLst/>
          </a:prstGeom>
          <a:solidFill>
            <a:srgbClr val="2C6E63"/>
          </a:solidFill>
          <a:ln w="12700">
            <a:solidFill>
              <a:srgbClr val="333333"/>
            </a:solidFill>
            <a:prstDash val="solid"/>
          </a:ln>
        </p:spPr>
      </p:sp>
      <p:pic>
        <p:nvPicPr>
          <p:cNvPr id="22" name="Image 6" descr="/home/claude/work/icons_png/percent.png">    </p:cNvPr>
          <p:cNvPicPr>
            <a:picLocks noChangeAspect="1"/>
          </p:cNvPicPr>
          <p:nvPr/>
        </p:nvPicPr>
        <p:blipFill>
          <a:blip r:embed="rId7"/>
          <a:stretch>
            <a:fillRect/>
          </a:stretch>
        </p:blipFill>
        <p:spPr>
          <a:xfrm>
            <a:off x="740664" y="4215384"/>
            <a:ext cx="256032" cy="256032"/>
          </a:xfrm>
          <a:prstGeom prst="rect">
            <a:avLst/>
          </a:prstGeom>
        </p:spPr>
      </p:pic>
      <p:sp>
        <p:nvSpPr>
          <p:cNvPr id="23" name="Text 14"/>
          <p:cNvSpPr/>
          <p:nvPr/>
        </p:nvSpPr>
        <p:spPr>
          <a:xfrm>
            <a:off x="1261872" y="406908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Model Evaluation — R² and Adjusted R²</a:t>
            </a:r>
            <a:endParaRPr lang="en-US" sz="1350" dirty="0"/>
          </a:p>
        </p:txBody>
      </p:sp>
      <p:sp>
        <p:nvSpPr>
          <p:cNvPr id="24" name="Shape 15"/>
          <p:cNvSpPr/>
          <p:nvPr/>
        </p:nvSpPr>
        <p:spPr>
          <a:xfrm>
            <a:off x="6355080" y="4114800"/>
            <a:ext cx="457200" cy="457200"/>
          </a:xfrm>
          <a:prstGeom prst="ellipse">
            <a:avLst/>
          </a:prstGeom>
          <a:solidFill>
            <a:srgbClr val="2C6E63"/>
          </a:solidFill>
          <a:ln w="12700">
            <a:solidFill>
              <a:srgbClr val="333333"/>
            </a:solidFill>
            <a:prstDash val="solid"/>
          </a:ln>
        </p:spPr>
      </p:sp>
      <p:pic>
        <p:nvPicPr>
          <p:cNvPr id="25" name="Image 7" descr="/home/claude/work/icons_png/scale.png">    </p:cNvPr>
          <p:cNvPicPr>
            <a:picLocks noChangeAspect="1"/>
          </p:cNvPicPr>
          <p:nvPr/>
        </p:nvPicPr>
        <p:blipFill>
          <a:blip r:embed="rId8"/>
          <a:stretch>
            <a:fillRect/>
          </a:stretch>
        </p:blipFill>
        <p:spPr>
          <a:xfrm>
            <a:off x="6455664" y="4215384"/>
            <a:ext cx="256032" cy="256032"/>
          </a:xfrm>
          <a:prstGeom prst="rect">
            <a:avLst/>
          </a:prstGeom>
        </p:spPr>
      </p:pic>
      <p:sp>
        <p:nvSpPr>
          <p:cNvPr id="26" name="Text 16"/>
          <p:cNvSpPr/>
          <p:nvPr/>
        </p:nvSpPr>
        <p:spPr>
          <a:xfrm>
            <a:off x="6976872" y="406908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Overfitting vs. Underfitting — bias &amp; variance</a:t>
            </a:r>
            <a:endParaRPr lang="en-US" sz="1350" dirty="0"/>
          </a:p>
        </p:txBody>
      </p:sp>
      <p:sp>
        <p:nvSpPr>
          <p:cNvPr id="27" name="Shape 17"/>
          <p:cNvSpPr/>
          <p:nvPr/>
        </p:nvSpPr>
        <p:spPr>
          <a:xfrm>
            <a:off x="640080" y="4983480"/>
            <a:ext cx="457200" cy="457200"/>
          </a:xfrm>
          <a:prstGeom prst="ellipse">
            <a:avLst/>
          </a:prstGeom>
          <a:solidFill>
            <a:srgbClr val="2C6E63"/>
          </a:solidFill>
          <a:ln w="12700">
            <a:solidFill>
              <a:srgbClr val="333333"/>
            </a:solidFill>
            <a:prstDash val="solid"/>
          </a:ln>
        </p:spPr>
      </p:sp>
      <p:pic>
        <p:nvPicPr>
          <p:cNvPr id="28" name="Image 8" descr="/home/claude/work/icons_png/sliders.png">    </p:cNvPr>
          <p:cNvPicPr>
            <a:picLocks noChangeAspect="1"/>
          </p:cNvPicPr>
          <p:nvPr/>
        </p:nvPicPr>
        <p:blipFill>
          <a:blip r:embed="rId9"/>
          <a:stretch>
            <a:fillRect/>
          </a:stretch>
        </p:blipFill>
        <p:spPr>
          <a:xfrm>
            <a:off x="740664" y="5084064"/>
            <a:ext cx="256032" cy="256032"/>
          </a:xfrm>
          <a:prstGeom prst="rect">
            <a:avLst/>
          </a:prstGeom>
        </p:spPr>
      </p:pic>
      <p:sp>
        <p:nvSpPr>
          <p:cNvPr id="29" name="Text 18"/>
          <p:cNvSpPr/>
          <p:nvPr/>
        </p:nvSpPr>
        <p:spPr>
          <a:xfrm>
            <a:off x="1261872" y="493776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Ridge &amp; Lasso Regression — regularization</a:t>
            </a:r>
            <a:endParaRPr lang="en-US" sz="1350" dirty="0"/>
          </a:p>
        </p:txBody>
      </p:sp>
      <p:sp>
        <p:nvSpPr>
          <p:cNvPr id="30" name="Shape 19"/>
          <p:cNvSpPr/>
          <p:nvPr/>
        </p:nvSpPr>
        <p:spPr>
          <a:xfrm>
            <a:off x="6355080" y="4983480"/>
            <a:ext cx="457200" cy="457200"/>
          </a:xfrm>
          <a:prstGeom prst="ellipse">
            <a:avLst/>
          </a:prstGeom>
          <a:solidFill>
            <a:srgbClr val="2C6E63"/>
          </a:solidFill>
          <a:ln w="12700">
            <a:solidFill>
              <a:srgbClr val="333333"/>
            </a:solidFill>
            <a:prstDash val="solid"/>
          </a:ln>
        </p:spPr>
      </p:sp>
      <p:pic>
        <p:nvPicPr>
          <p:cNvPr id="31" name="Image 9" descr="/home/claude/work/icons_png/code.png">    </p:cNvPr>
          <p:cNvPicPr>
            <a:picLocks noChangeAspect="1"/>
          </p:cNvPicPr>
          <p:nvPr/>
        </p:nvPicPr>
        <p:blipFill>
          <a:blip r:embed="rId10"/>
          <a:stretch>
            <a:fillRect/>
          </a:stretch>
        </p:blipFill>
        <p:spPr>
          <a:xfrm>
            <a:off x="6455664" y="5084064"/>
            <a:ext cx="256032" cy="256032"/>
          </a:xfrm>
          <a:prstGeom prst="rect">
            <a:avLst/>
          </a:prstGeom>
        </p:spPr>
      </p:pic>
      <p:sp>
        <p:nvSpPr>
          <p:cNvPr id="32" name="Text 20"/>
          <p:cNvSpPr/>
          <p:nvPr/>
        </p:nvSpPr>
        <p:spPr>
          <a:xfrm>
            <a:off x="6976872" y="4937760"/>
            <a:ext cx="4709160" cy="594360"/>
          </a:xfrm>
          <a:prstGeom prst="rect">
            <a:avLst/>
          </a:prstGeom>
          <a:noFill/>
          <a:ln/>
        </p:spPr>
        <p:txBody>
          <a:bodyPr wrap="square" lIns="0" tIns="0" rIns="0" bIns="0" rtlCol="0" anchor="ctr"/>
          <a:lstStyle/>
          <a:p>
            <a:pPr indent="0" marL="0">
              <a:lnSpc>
                <a:spcPts val="1600"/>
              </a:lnSpc>
              <a:buNone/>
            </a:pPr>
            <a:r>
              <a:rPr lang="en-US" sz="1350" dirty="0">
                <a:solidFill>
                  <a:srgbClr val="1B2420"/>
                </a:solidFill>
                <a:latin typeface="Calibri" pitchFamily="34" charset="0"/>
                <a:ea typeface="Calibri" pitchFamily="34" charset="-122"/>
                <a:cs typeface="Calibri" pitchFamily="34" charset="-120"/>
              </a:rPr>
              <a:t>Building it for real with scikit-learn</a:t>
            </a:r>
            <a:endParaRPr lang="en-US" sz="1350" dirty="0"/>
          </a:p>
        </p:txBody>
      </p:sp>
      <p:sp>
        <p:nvSpPr>
          <p:cNvPr id="33" name="Text 2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2</a:t>
            </a:r>
            <a:endParaRPr lang="en-US" sz="1000" dirty="0"/>
          </a:p>
        </p:txBody>
      </p:sp>
      <p:sp>
        <p:nvSpPr>
          <p:cNvPr id="34" name="Shape 22"/>
          <p:cNvSpPr/>
          <p:nvPr/>
        </p:nvSpPr>
        <p:spPr>
          <a:xfrm>
            <a:off x="11475720" y="6400800"/>
            <a:ext cx="329184" cy="329184"/>
          </a:xfrm>
          <a:prstGeom prst="ellipse">
            <a:avLst/>
          </a:prstGeom>
          <a:solidFill>
            <a:srgbClr val="F1F3EC"/>
          </a:solidFill>
          <a:ln w="12700">
            <a:solidFill>
              <a:srgbClr val="333333"/>
            </a:solidFill>
            <a:prstDash val="solid"/>
          </a:ln>
        </p:spPr>
      </p:sp>
      <p:sp>
        <p:nvSpPr>
          <p:cNvPr id="35" name="Text 23"/>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052560" y="-1371600"/>
            <a:ext cx="4114800" cy="4114800"/>
          </a:xfrm>
          <a:prstGeom prst="ellipse">
            <a:avLst/>
          </a:prstGeom>
          <a:solidFill>
            <a:srgbClr val="184038"/>
          </a:solidFill>
          <a:ln w="12700">
            <a:solidFill>
              <a:srgbClr val="333333"/>
            </a:solidFill>
            <a:prstDash val="solid"/>
          </a:ln>
        </p:spPr>
      </p:sp>
      <p:sp>
        <p:nvSpPr>
          <p:cNvPr id="3" name="Shape 1"/>
          <p:cNvSpPr/>
          <p:nvPr/>
        </p:nvSpPr>
        <p:spPr>
          <a:xfrm>
            <a:off x="5547208" y="1371600"/>
            <a:ext cx="1097280" cy="1097280"/>
          </a:xfrm>
          <a:prstGeom prst="ellipse">
            <a:avLst/>
          </a:prstGeom>
          <a:solidFill>
            <a:srgbClr val="2C6E63"/>
          </a:solidFill>
          <a:ln w="12700">
            <a:solidFill>
              <a:srgbClr val="333333"/>
            </a:solidFill>
            <a:prstDash val="solid"/>
          </a:ln>
        </p:spPr>
      </p:sp>
      <p:pic>
        <p:nvPicPr>
          <p:cNvPr id="4" name="Image 0" descr="/home/claude/work/icons_png/target.png">    </p:cNvPr>
          <p:cNvPicPr>
            <a:picLocks noChangeAspect="1"/>
          </p:cNvPicPr>
          <p:nvPr/>
        </p:nvPicPr>
        <p:blipFill>
          <a:blip r:embed="rId1"/>
          <a:stretch>
            <a:fillRect/>
          </a:stretch>
        </p:blipFill>
        <p:spPr>
          <a:xfrm>
            <a:off x="5794096" y="1618488"/>
            <a:ext cx="603504" cy="603504"/>
          </a:xfrm>
          <a:prstGeom prst="rect">
            <a:avLst/>
          </a:prstGeom>
        </p:spPr>
      </p:pic>
      <p:sp>
        <p:nvSpPr>
          <p:cNvPr id="5" name="Text 2"/>
          <p:cNvSpPr/>
          <p:nvPr/>
        </p:nvSpPr>
        <p:spPr>
          <a:xfrm>
            <a:off x="0" y="2788920"/>
            <a:ext cx="12191695" cy="365760"/>
          </a:xfrm>
          <a:prstGeom prst="rect">
            <a:avLst/>
          </a:prstGeom>
          <a:noFill/>
          <a:ln/>
        </p:spPr>
        <p:txBody>
          <a:bodyPr wrap="square" lIns="0" tIns="0" rIns="0" bIns="0" rtlCol="0" anchor="ctr"/>
          <a:lstStyle/>
          <a:p>
            <a:pPr algn="ctr" indent="0" marL="0">
              <a:buNone/>
            </a:pPr>
            <a:r>
              <a:rPr lang="en-US" sz="1400" spc="300" kern="0" dirty="0">
                <a:solidFill>
                  <a:srgbClr val="E7C588"/>
                </a:solidFill>
                <a:latin typeface="Calibri" pitchFamily="34" charset="0"/>
                <a:ea typeface="Calibri" pitchFamily="34" charset="-122"/>
                <a:cs typeface="Calibri" pitchFamily="34" charset="-120"/>
              </a:rPr>
              <a:t>PART 1</a:t>
            </a:r>
            <a:endParaRPr lang="en-US" sz="1400" dirty="0"/>
          </a:p>
        </p:txBody>
      </p:sp>
      <p:sp>
        <p:nvSpPr>
          <p:cNvPr id="6" name="Text 3"/>
          <p:cNvSpPr/>
          <p:nvPr/>
        </p:nvSpPr>
        <p:spPr>
          <a:xfrm>
            <a:off x="914400" y="3200400"/>
            <a:ext cx="10362895"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What Is Regression?</a:t>
            </a:r>
            <a:endParaRPr lang="en-US" sz="3400" dirty="0"/>
          </a:p>
        </p:txBody>
      </p:sp>
      <p:sp>
        <p:nvSpPr>
          <p:cNvPr id="7" name="Text 4"/>
          <p:cNvSpPr/>
          <p:nvPr/>
        </p:nvSpPr>
        <p:spPr>
          <a:xfrm>
            <a:off x="1828800" y="4343400"/>
            <a:ext cx="8534095" cy="457200"/>
          </a:xfrm>
          <a:prstGeom prst="rect">
            <a:avLst/>
          </a:prstGeom>
          <a:noFill/>
          <a:ln/>
        </p:spPr>
        <p:txBody>
          <a:bodyPr wrap="square" lIns="0" tIns="0" rIns="0" bIns="0" rtlCol="0" anchor="ctr"/>
          <a:lstStyle/>
          <a:p>
            <a:pPr algn="ctr" indent="0" marL="0">
              <a:buNone/>
            </a:pPr>
            <a:r>
              <a:rPr lang="en-US" sz="1500" i="1" dirty="0">
                <a:solidFill>
                  <a:srgbClr val="C9D3CC"/>
                </a:solidFill>
                <a:latin typeface="Calibri" pitchFamily="34" charset="0"/>
                <a:ea typeface="Calibri" pitchFamily="34" charset="-122"/>
                <a:cs typeface="Calibri" pitchFamily="34" charset="-120"/>
              </a:rPr>
              <a:t>Predicting a number, not a category</a:t>
            </a:r>
            <a:endParaRPr lang="en-US" sz="15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target.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400" b="1" dirty="0">
                <a:solidFill>
                  <a:srgbClr val="1B2420"/>
                </a:solidFill>
                <a:latin typeface="Cambria" pitchFamily="34" charset="0"/>
                <a:ea typeface="Cambria" pitchFamily="34" charset="-122"/>
                <a:cs typeface="Cambria" pitchFamily="34" charset="-120"/>
              </a:rPr>
              <a:t>What Is Regression?</a:t>
            </a:r>
            <a:endParaRPr lang="en-US" sz="2400" dirty="0"/>
          </a:p>
        </p:txBody>
      </p:sp>
      <p:sp>
        <p:nvSpPr>
          <p:cNvPr id="5" name="Text 2"/>
          <p:cNvSpPr/>
          <p:nvPr/>
        </p:nvSpPr>
        <p:spPr>
          <a:xfrm>
            <a:off x="640080" y="1600200"/>
            <a:ext cx="6675120" cy="4297680"/>
          </a:xfrm>
          <a:prstGeom prst="rect">
            <a:avLst/>
          </a:prstGeom>
          <a:noFill/>
          <a:ln/>
        </p:spPr>
        <p:txBody>
          <a:bodyPr wrap="square" lIns="0" tIns="0" rIns="0" bIns="0" rtlCol="0" anchor="ctr"/>
          <a:lstStyle/>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Regression is a supervised learning task where the model predicts a continuous numeric value, instead of a category.</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Ask 'how much?' or 'how many?' and it's usually regression — price, temperature, salary, distance.</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This is the key difference from classification, which predicts a label (Yes/No, Spam/Not Spam) instead of a number.</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Linear Regression is the simplest and most fundamental regression algorithm — the natural starting point for ML.</a:t>
            </a:r>
            <a:endParaRPr lang="en-US" sz="1550" dirty="0"/>
          </a:p>
        </p:txBody>
      </p:sp>
      <p:sp>
        <p:nvSpPr>
          <p:cNvPr id="6" name="Shape 3"/>
          <p:cNvSpPr/>
          <p:nvPr/>
        </p:nvSpPr>
        <p:spPr>
          <a:xfrm>
            <a:off x="8229600" y="1828800"/>
            <a:ext cx="3337560" cy="3566160"/>
          </a:xfrm>
          <a:prstGeom prst="roundRect">
            <a:avLst>
              <a:gd name="adj" fmla="val 3288"/>
            </a:avLst>
          </a:prstGeom>
          <a:solidFill>
            <a:srgbClr val="F1F3EC"/>
          </a:solidFill>
          <a:ln w="12700">
            <a:solidFill>
              <a:srgbClr val="333333"/>
            </a:solidFill>
            <a:prstDash val="solid"/>
          </a:ln>
        </p:spPr>
      </p:sp>
      <p:sp>
        <p:nvSpPr>
          <p:cNvPr id="7" name="Shape 4"/>
          <p:cNvSpPr/>
          <p:nvPr/>
        </p:nvSpPr>
        <p:spPr>
          <a:xfrm>
            <a:off x="9441180" y="2331720"/>
            <a:ext cx="914400" cy="914400"/>
          </a:xfrm>
          <a:prstGeom prst="ellipse">
            <a:avLst/>
          </a:prstGeom>
          <a:solidFill>
            <a:srgbClr val="2C6E63"/>
          </a:solidFill>
          <a:ln w="12700">
            <a:solidFill>
              <a:srgbClr val="333333"/>
            </a:solidFill>
            <a:prstDash val="solid"/>
          </a:ln>
        </p:spPr>
      </p:sp>
      <p:pic>
        <p:nvPicPr>
          <p:cNvPr id="8" name="Image 1" descr="/home/claude/work/icons_png/scale.png">    </p:cNvPr>
          <p:cNvPicPr>
            <a:picLocks noChangeAspect="1"/>
          </p:cNvPicPr>
          <p:nvPr/>
        </p:nvPicPr>
        <p:blipFill>
          <a:blip r:embed="rId2"/>
          <a:stretch>
            <a:fillRect/>
          </a:stretch>
        </p:blipFill>
        <p:spPr>
          <a:xfrm>
            <a:off x="9642348" y="2532888"/>
            <a:ext cx="512064" cy="512064"/>
          </a:xfrm>
          <a:prstGeom prst="rect">
            <a:avLst/>
          </a:prstGeom>
        </p:spPr>
      </p:pic>
      <p:sp>
        <p:nvSpPr>
          <p:cNvPr id="9" name="Text 5"/>
          <p:cNvSpPr/>
          <p:nvPr/>
        </p:nvSpPr>
        <p:spPr>
          <a:xfrm>
            <a:off x="8458200" y="3520440"/>
            <a:ext cx="2880360" cy="1554480"/>
          </a:xfrm>
          <a:prstGeom prst="rect">
            <a:avLst/>
          </a:prstGeom>
          <a:noFill/>
          <a:ln/>
        </p:spPr>
        <p:txBody>
          <a:bodyPr wrap="square" lIns="0" tIns="0" rIns="0" bIns="0" rtlCol="0" anchor="t"/>
          <a:lstStyle/>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Regression →</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numbers</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Classification →</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categories</a:t>
            </a:r>
            <a:endParaRPr lang="en-US" sz="1700" dirty="0"/>
          </a:p>
        </p:txBody>
      </p:sp>
      <p:sp>
        <p:nvSpPr>
          <p:cNvPr id="10"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4</a:t>
            </a:r>
            <a:endParaRPr lang="en-US" sz="1000" dirty="0"/>
          </a:p>
        </p:txBody>
      </p:sp>
      <p:sp>
        <p:nvSpPr>
          <p:cNvPr id="11" name="Shape 7"/>
          <p:cNvSpPr/>
          <p:nvPr/>
        </p:nvSpPr>
        <p:spPr>
          <a:xfrm>
            <a:off x="11475720" y="6400800"/>
            <a:ext cx="329184" cy="329184"/>
          </a:xfrm>
          <a:prstGeom prst="ellipse">
            <a:avLst/>
          </a:prstGeom>
          <a:solidFill>
            <a:srgbClr val="F1F3EC"/>
          </a:solidFill>
          <a:ln w="12700">
            <a:solidFill>
              <a:srgbClr val="333333"/>
            </a:solidFill>
            <a:prstDash val="solid"/>
          </a:ln>
        </p:spPr>
      </p:sp>
      <p:sp>
        <p:nvSpPr>
          <p:cNvPr id="12" name="Text 8"/>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052560" y="-1371600"/>
            <a:ext cx="4114800" cy="4114800"/>
          </a:xfrm>
          <a:prstGeom prst="ellipse">
            <a:avLst/>
          </a:prstGeom>
          <a:solidFill>
            <a:srgbClr val="184038"/>
          </a:solidFill>
          <a:ln w="12700">
            <a:solidFill>
              <a:srgbClr val="333333"/>
            </a:solidFill>
            <a:prstDash val="solid"/>
          </a:ln>
        </p:spPr>
      </p:sp>
      <p:sp>
        <p:nvSpPr>
          <p:cNvPr id="3" name="Shape 1"/>
          <p:cNvSpPr/>
          <p:nvPr/>
        </p:nvSpPr>
        <p:spPr>
          <a:xfrm>
            <a:off x="5547208" y="1371600"/>
            <a:ext cx="1097280" cy="1097280"/>
          </a:xfrm>
          <a:prstGeom prst="ellipse">
            <a:avLst/>
          </a:prstGeom>
          <a:solidFill>
            <a:srgbClr val="2C6E63"/>
          </a:solidFill>
          <a:ln w="12700">
            <a:solidFill>
              <a:srgbClr val="333333"/>
            </a:solidFill>
            <a:prstDash val="solid"/>
          </a:ln>
        </p:spPr>
      </p:sp>
      <p:pic>
        <p:nvPicPr>
          <p:cNvPr id="4" name="Image 0" descr="/home/claude/work/icons_png/trendingUp.png">    </p:cNvPr>
          <p:cNvPicPr>
            <a:picLocks noChangeAspect="1"/>
          </p:cNvPicPr>
          <p:nvPr/>
        </p:nvPicPr>
        <p:blipFill>
          <a:blip r:embed="rId1"/>
          <a:stretch>
            <a:fillRect/>
          </a:stretch>
        </p:blipFill>
        <p:spPr>
          <a:xfrm>
            <a:off x="5794096" y="1618488"/>
            <a:ext cx="603504" cy="603504"/>
          </a:xfrm>
          <a:prstGeom prst="rect">
            <a:avLst/>
          </a:prstGeom>
        </p:spPr>
      </p:pic>
      <p:sp>
        <p:nvSpPr>
          <p:cNvPr id="5" name="Text 2"/>
          <p:cNvSpPr/>
          <p:nvPr/>
        </p:nvSpPr>
        <p:spPr>
          <a:xfrm>
            <a:off x="0" y="2788920"/>
            <a:ext cx="12191695" cy="365760"/>
          </a:xfrm>
          <a:prstGeom prst="rect">
            <a:avLst/>
          </a:prstGeom>
          <a:noFill/>
          <a:ln/>
        </p:spPr>
        <p:txBody>
          <a:bodyPr wrap="square" lIns="0" tIns="0" rIns="0" bIns="0" rtlCol="0" anchor="ctr"/>
          <a:lstStyle/>
          <a:p>
            <a:pPr algn="ctr" indent="0" marL="0">
              <a:buNone/>
            </a:pPr>
            <a:r>
              <a:rPr lang="en-US" sz="1400" spc="300" kern="0" dirty="0">
                <a:solidFill>
                  <a:srgbClr val="E7C588"/>
                </a:solidFill>
                <a:latin typeface="Calibri" pitchFamily="34" charset="0"/>
                <a:ea typeface="Calibri" pitchFamily="34" charset="-122"/>
                <a:cs typeface="Calibri" pitchFamily="34" charset="-120"/>
              </a:rPr>
              <a:t>PART 2</a:t>
            </a:r>
            <a:endParaRPr lang="en-US" sz="1400" dirty="0"/>
          </a:p>
        </p:txBody>
      </p:sp>
      <p:sp>
        <p:nvSpPr>
          <p:cNvPr id="6" name="Text 3"/>
          <p:cNvSpPr/>
          <p:nvPr/>
        </p:nvSpPr>
        <p:spPr>
          <a:xfrm>
            <a:off x="914400" y="3200400"/>
            <a:ext cx="10362895"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Linear Regression</a:t>
            </a:r>
            <a:endParaRPr lang="en-US" sz="3400" dirty="0"/>
          </a:p>
        </p:txBody>
      </p:sp>
      <p:sp>
        <p:nvSpPr>
          <p:cNvPr id="7" name="Text 4"/>
          <p:cNvSpPr/>
          <p:nvPr/>
        </p:nvSpPr>
        <p:spPr>
          <a:xfrm>
            <a:off x="1828800" y="4343400"/>
            <a:ext cx="8534095" cy="457200"/>
          </a:xfrm>
          <a:prstGeom prst="rect">
            <a:avLst/>
          </a:prstGeom>
          <a:noFill/>
          <a:ln/>
        </p:spPr>
        <p:txBody>
          <a:bodyPr wrap="square" lIns="0" tIns="0" rIns="0" bIns="0" rtlCol="0" anchor="ctr"/>
          <a:lstStyle/>
          <a:p>
            <a:pPr algn="ctr" indent="0" marL="0">
              <a:buNone/>
            </a:pPr>
            <a:r>
              <a:rPr lang="en-US" sz="1500" i="1" dirty="0">
                <a:solidFill>
                  <a:srgbClr val="C9D3CC"/>
                </a:solidFill>
                <a:latin typeface="Calibri" pitchFamily="34" charset="0"/>
                <a:ea typeface="Calibri" pitchFamily="34" charset="-122"/>
                <a:cs typeface="Calibri" pitchFamily="34" charset="-120"/>
              </a:rPr>
              <a:t>Fitting the best straight line through your data</a:t>
            </a:r>
            <a:endParaRPr lang="en-US" sz="15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database.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The Problem Statement</a:t>
            </a:r>
            <a:endParaRPr lang="en-US" sz="2300" dirty="0"/>
          </a:p>
        </p:txBody>
      </p:sp>
      <p:sp>
        <p:nvSpPr>
          <p:cNvPr id="5" name="Text 2"/>
          <p:cNvSpPr/>
          <p:nvPr/>
        </p:nvSpPr>
        <p:spPr>
          <a:xfrm>
            <a:off x="640080" y="1417320"/>
            <a:ext cx="5394960" cy="448056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Say we have a dataset of Age and Salary for a group of employees.</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Age is the input (feature) — what we already know about a person.</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Salary is the output (target) — what we want to predict for someone new.</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Plotting Age (x-axis) against Salary (y-axis) gives a scatter of points that roughly trends upward.</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The goal: find a line that best represents that trend, so we can predict Salary for any Age.</a:t>
            </a:r>
            <a:endParaRPr lang="en-US" sz="1350" dirty="0"/>
          </a:p>
        </p:txBody>
      </p:sp>
      <p:sp>
        <p:nvSpPr>
          <p:cNvPr id="6" name="Shape 3"/>
          <p:cNvSpPr/>
          <p:nvPr/>
        </p:nvSpPr>
        <p:spPr>
          <a:xfrm>
            <a:off x="6172200" y="1417320"/>
            <a:ext cx="5303520" cy="4297680"/>
          </a:xfrm>
          <a:prstGeom prst="roundRect">
            <a:avLst>
              <a:gd name="adj" fmla="val 2128"/>
            </a:avLst>
          </a:prstGeom>
          <a:solidFill>
            <a:srgbClr val="F1F3EC"/>
          </a:solidFill>
          <a:ln w="12700">
            <a:solidFill>
              <a:srgbClr val="333333"/>
            </a:solidFill>
            <a:prstDash val="solid"/>
          </a:ln>
        </p:spPr>
      </p:sp>
      <p:pic>
        <p:nvPicPr>
          <p:cNvPr id="7" name="Image 1" descr="/home/claude/work/charts/scatter_age_salary.png">    </p:cNvPr>
          <p:cNvPicPr>
            <a:picLocks noChangeAspect="1"/>
          </p:cNvPicPr>
          <p:nvPr/>
        </p:nvPicPr>
        <p:blipFill>
          <a:blip r:embed="rId2"/>
          <a:srcRect l="0" r="0" t="0" b="0"/>
          <a:stretch/>
        </p:blipFill>
        <p:spPr>
          <a:xfrm>
            <a:off x="6309360" y="1508760"/>
            <a:ext cx="5029200" cy="4114800"/>
          </a:xfrm>
          <a:prstGeom prst="rect">
            <a:avLst/>
          </a:prstGeom>
        </p:spPr>
      </p:pic>
      <p:sp>
        <p:nvSpPr>
          <p:cNvPr id="8" name="Text 4"/>
          <p:cNvSpPr/>
          <p:nvPr/>
        </p:nvSpPr>
        <p:spPr>
          <a:xfrm>
            <a:off x="6172200" y="5751576"/>
            <a:ext cx="530352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Raw data: each point is one employee's Age and Salary</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6</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waypoints.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The Best-Fit Line</a:t>
            </a:r>
            <a:endParaRPr lang="en-US" sz="2300" dirty="0"/>
          </a:p>
        </p:txBody>
      </p:sp>
      <p:sp>
        <p:nvSpPr>
          <p:cNvPr id="5" name="Text 2"/>
          <p:cNvSpPr/>
          <p:nvPr/>
        </p:nvSpPr>
        <p:spPr>
          <a:xfrm>
            <a:off x="640080" y="1417320"/>
            <a:ext cx="5394960" cy="448056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Among every possible line we could draw through the scatter plot, we want the one that lies closest to all the points overall.</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This is called the best-fit line (or regression line).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It won't pass through every point exactly — real data is noisy — but it captures the overall trend.</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Once we have this line, we can plug in any new Age and read off a predicted Salary.</a:t>
            </a:r>
            <a:endParaRPr lang="en-US" sz="1350" dirty="0"/>
          </a:p>
        </p:txBody>
      </p:sp>
      <p:sp>
        <p:nvSpPr>
          <p:cNvPr id="6" name="Shape 3"/>
          <p:cNvSpPr/>
          <p:nvPr/>
        </p:nvSpPr>
        <p:spPr>
          <a:xfrm>
            <a:off x="6172200" y="1417320"/>
            <a:ext cx="5303520" cy="4297680"/>
          </a:xfrm>
          <a:prstGeom prst="roundRect">
            <a:avLst>
              <a:gd name="adj" fmla="val 2128"/>
            </a:avLst>
          </a:prstGeom>
          <a:solidFill>
            <a:srgbClr val="F1F3EC"/>
          </a:solidFill>
          <a:ln w="12700">
            <a:solidFill>
              <a:srgbClr val="333333"/>
            </a:solidFill>
            <a:prstDash val="solid"/>
          </a:ln>
        </p:spPr>
      </p:sp>
      <p:pic>
        <p:nvPicPr>
          <p:cNvPr id="7" name="Image 1" descr="/home/claude/work/charts/bestfit_line.png">    </p:cNvPr>
          <p:cNvPicPr>
            <a:picLocks noChangeAspect="1"/>
          </p:cNvPicPr>
          <p:nvPr/>
        </p:nvPicPr>
        <p:blipFill>
          <a:blip r:embed="rId2"/>
          <a:srcRect l="0" r="0" t="0" b="0"/>
          <a:stretch/>
        </p:blipFill>
        <p:spPr>
          <a:xfrm>
            <a:off x="6309360" y="1508760"/>
            <a:ext cx="5029200" cy="4114800"/>
          </a:xfrm>
          <a:prstGeom prst="rect">
            <a:avLst/>
          </a:prstGeom>
        </p:spPr>
      </p:pic>
      <p:sp>
        <p:nvSpPr>
          <p:cNvPr id="8" name="Text 4"/>
          <p:cNvSpPr/>
          <p:nvPr/>
        </p:nvSpPr>
        <p:spPr>
          <a:xfrm>
            <a:off x="6172200" y="5751576"/>
            <a:ext cx="530352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The line that sits closest to every point overall</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7</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waypoints.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The Equation of a Line: y = mx + b</a:t>
            </a:r>
            <a:endParaRPr lang="en-US" sz="2300" dirty="0"/>
          </a:p>
        </p:txBody>
      </p:sp>
      <p:sp>
        <p:nvSpPr>
          <p:cNvPr id="5" name="Text 2"/>
          <p:cNvSpPr/>
          <p:nvPr/>
        </p:nvSpPr>
        <p:spPr>
          <a:xfrm>
            <a:off x="640080" y="1417320"/>
            <a:ext cx="10881360" cy="155448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Every straight line can be written as y = mx + b — the same equation from school algebra.  m is the slope — how steeply the line rises for each step along x.  b is the intercept — the value of y when x = 0, where the line crosses the y-axis.  x is the data point you plug in, and y is the resulting prediction.</a:t>
            </a:r>
            <a:endParaRPr lang="en-US" sz="1350" dirty="0"/>
          </a:p>
        </p:txBody>
      </p:sp>
      <p:sp>
        <p:nvSpPr>
          <p:cNvPr id="6" name="Shape 3"/>
          <p:cNvSpPr/>
          <p:nvPr/>
        </p:nvSpPr>
        <p:spPr>
          <a:xfrm>
            <a:off x="975208" y="2926080"/>
            <a:ext cx="10241280" cy="3474720"/>
          </a:xfrm>
          <a:prstGeom prst="roundRect">
            <a:avLst>
              <a:gd name="adj" fmla="val 2632"/>
            </a:avLst>
          </a:prstGeom>
          <a:solidFill>
            <a:srgbClr val="F1F3EC"/>
          </a:solidFill>
          <a:ln w="12700">
            <a:solidFill>
              <a:srgbClr val="333333"/>
            </a:solidFill>
            <a:prstDash val="solid"/>
          </a:ln>
        </p:spPr>
      </p:sp>
      <p:pic>
        <p:nvPicPr>
          <p:cNvPr id="7" name="Image 1" descr="/home/claude/work/charts/slope_demo.png">    </p:cNvPr>
          <p:cNvPicPr>
            <a:picLocks noChangeAspect="1"/>
          </p:cNvPicPr>
          <p:nvPr/>
        </p:nvPicPr>
        <p:blipFill>
          <a:blip r:embed="rId2"/>
          <a:srcRect l="0" r="0" t="0" b="0"/>
          <a:stretch/>
        </p:blipFill>
        <p:spPr>
          <a:xfrm>
            <a:off x="1112368" y="3017520"/>
            <a:ext cx="9966960" cy="3291840"/>
          </a:xfrm>
          <a:prstGeom prst="rect">
            <a:avLst/>
          </a:prstGeom>
        </p:spPr>
      </p:pic>
      <p:sp>
        <p:nvSpPr>
          <p:cNvPr id="8" name="Text 4"/>
          <p:cNvSpPr/>
          <p:nvPr/>
        </p:nvSpPr>
        <p:spPr>
          <a:xfrm>
            <a:off x="975208" y="6437376"/>
            <a:ext cx="1024128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Same line, two different slopes — m controls the steepness, b shifts it up or down</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8</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calculator.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200" b="1" dirty="0">
                <a:solidFill>
                  <a:srgbClr val="1B2420"/>
                </a:solidFill>
                <a:latin typeface="Cambria" pitchFamily="34" charset="0"/>
                <a:ea typeface="Cambria" pitchFamily="34" charset="-122"/>
                <a:cs typeface="Cambria" pitchFamily="34" charset="-120"/>
              </a:rPr>
              <a:t>Worked Example: Reading the Line</a:t>
            </a:r>
            <a:endParaRPr lang="en-US" sz="2200" dirty="0"/>
          </a:p>
        </p:txBody>
      </p:sp>
      <p:sp>
        <p:nvSpPr>
          <p:cNvPr id="5" name="Text 2"/>
          <p:cNvSpPr/>
          <p:nvPr/>
        </p:nvSpPr>
        <p:spPr>
          <a:xfrm>
            <a:off x="640080" y="1371600"/>
            <a:ext cx="10881360" cy="1417320"/>
          </a:xfrm>
          <a:prstGeom prst="rect">
            <a:avLst/>
          </a:prstGeom>
          <a:noFill/>
          <a:ln/>
        </p:spPr>
        <p:txBody>
          <a:bodyPr wrap="square" lIns="0" tIns="0" rIns="0" bIns="0" rtlCol="0" anchor="ctr"/>
          <a:lstStyle/>
          <a:p>
            <a:pPr marL="203200" indent="-203200">
              <a:lnSpc>
                <a:spcPts val="1800"/>
              </a:lnSpc>
              <a:spcAft>
                <a:spcPts val="800"/>
              </a:spcAft>
              <a:buSzPct val="100000"/>
              <a:buChar char="▪"/>
            </a:pPr>
            <a:r>
              <a:rPr lang="en-US" sz="1400" dirty="0">
                <a:solidFill>
                  <a:srgbClr val="1B2420"/>
                </a:solidFill>
                <a:latin typeface="Calibri" pitchFamily="34" charset="0"/>
                <a:ea typeface="Calibri" pitchFamily="34" charset="-122"/>
                <a:cs typeface="Calibri" pitchFamily="34" charset="-120"/>
              </a:rPr>
              <a:t>With slope m = 1 and intercept b = 0, the line is simply y = x.</a:t>
            </a:r>
            <a:endParaRPr lang="en-US" sz="1400" dirty="0"/>
          </a:p>
          <a:p>
            <a:pPr marL="203200" indent="-203200">
              <a:lnSpc>
                <a:spcPts val="1800"/>
              </a:lnSpc>
              <a:spcAft>
                <a:spcPts val="800"/>
              </a:spcAft>
              <a:buSzPct val="100000"/>
              <a:buChar char="▪"/>
            </a:pPr>
            <a:r>
              <a:rPr lang="en-US" sz="1400" dirty="0">
                <a:solidFill>
                  <a:srgbClr val="1B2420"/>
                </a:solidFill>
                <a:latin typeface="Calibri" pitchFamily="34" charset="0"/>
                <a:ea typeface="Calibri" pitchFamily="34" charset="-122"/>
                <a:cs typeface="Calibri" pitchFamily="34" charset="-120"/>
              </a:rPr>
              <a:t>With slope m = 0.5 and intercept b = 0, every prediction is scaled down by half.</a:t>
            </a:r>
            <a:endParaRPr lang="en-US" sz="1400" dirty="0"/>
          </a:p>
        </p:txBody>
      </p:sp>
      <p:sp>
        <p:nvSpPr>
          <p:cNvPr id="6" name="Shape 3"/>
          <p:cNvSpPr/>
          <p:nvPr/>
        </p:nvSpPr>
        <p:spPr>
          <a:xfrm>
            <a:off x="640080" y="2971800"/>
            <a:ext cx="10881360" cy="3063240"/>
          </a:xfrm>
          <a:prstGeom prst="roundRect">
            <a:avLst>
              <a:gd name="adj" fmla="val 2985"/>
            </a:avLst>
          </a:prstGeom>
          <a:solidFill>
            <a:srgbClr val="1B2420"/>
          </a:solidFill>
          <a:ln w="12700">
            <a:solidFill>
              <a:srgbClr val="333333"/>
            </a:solidFill>
            <a:prstDash val="solid"/>
          </a:ln>
        </p:spPr>
      </p:sp>
      <p:sp>
        <p:nvSpPr>
          <p:cNvPr id="7" name="Text 4"/>
          <p:cNvSpPr/>
          <p:nvPr/>
        </p:nvSpPr>
        <p:spPr>
          <a:xfrm>
            <a:off x="960120" y="3246120"/>
            <a:ext cx="10241280" cy="2514600"/>
          </a:xfrm>
          <a:prstGeom prst="rect">
            <a:avLst/>
          </a:prstGeom>
          <a:noFill/>
          <a:ln/>
        </p:spPr>
        <p:txBody>
          <a:bodyPr wrap="square" lIns="0" tIns="0" rIns="0" bIns="0" rtlCol="0" anchor="t"/>
          <a:lstStyle/>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y = mx + b</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Case 1: m = 1, b = 0</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x = 1.5</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y = 1 * x + 0        # y = 1.5</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Case 2: m = 0.5, b = 0</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x = 1.5</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y = 0.5 * x + 0       # y = 0.75</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Changing m and b reshapes the line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this is exactly what "training" tunes</a:t>
            </a:r>
            <a:endParaRPr lang="en-US" sz="13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9</a:t>
            </a:r>
            <a:endParaRPr lang="en-US" sz="1000" dirty="0"/>
          </a:p>
        </p:txBody>
      </p:sp>
      <p:sp>
        <p:nvSpPr>
          <p:cNvPr id="9"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0"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waypoints.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400" b="1" dirty="0">
                <a:solidFill>
                  <a:srgbClr val="1B2420"/>
                </a:solidFill>
                <a:latin typeface="Cambria" pitchFamily="34" charset="0"/>
                <a:ea typeface="Cambria" pitchFamily="34" charset="-122"/>
                <a:cs typeface="Cambria" pitchFamily="34" charset="-120"/>
              </a:rPr>
              <a:t>The ML Notation: hθ(x)</a:t>
            </a:r>
            <a:endParaRPr lang="en-US" sz="2400" dirty="0"/>
          </a:p>
        </p:txBody>
      </p:sp>
      <p:sp>
        <p:nvSpPr>
          <p:cNvPr id="5" name="Text 2"/>
          <p:cNvSpPr/>
          <p:nvPr/>
        </p:nvSpPr>
        <p:spPr>
          <a:xfrm>
            <a:off x="640080" y="1600200"/>
            <a:ext cx="6675120" cy="4297680"/>
          </a:xfrm>
          <a:prstGeom prst="rect">
            <a:avLst/>
          </a:prstGeom>
          <a:noFill/>
          <a:ln/>
        </p:spPr>
        <p:txBody>
          <a:bodyPr wrap="square" lIns="0" tIns="0" rIns="0" bIns="0" rtlCol="0" anchor="ctr"/>
          <a:lstStyle/>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In ML, we usually write the line as hθ(x) = θ0 + θ1·x instead of y = mx + b — same idea, different symbols.</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θ0 (theta-zero) is the intercept — same role as b.</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θ1 (theta-one) is the slope — same role as m.</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h stands for hypothesis — the model's current best guess function.</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Training a Linear Regression model literally means finding the perfect values of θ0 and θ1.</a:t>
            </a:r>
            <a:endParaRPr lang="en-US" sz="1550" dirty="0"/>
          </a:p>
        </p:txBody>
      </p:sp>
      <p:sp>
        <p:nvSpPr>
          <p:cNvPr id="6" name="Shape 3"/>
          <p:cNvSpPr/>
          <p:nvPr/>
        </p:nvSpPr>
        <p:spPr>
          <a:xfrm>
            <a:off x="8229600" y="1828800"/>
            <a:ext cx="3337560" cy="3566160"/>
          </a:xfrm>
          <a:prstGeom prst="roundRect">
            <a:avLst>
              <a:gd name="adj" fmla="val 3288"/>
            </a:avLst>
          </a:prstGeom>
          <a:solidFill>
            <a:srgbClr val="F1F3EC"/>
          </a:solidFill>
          <a:ln w="12700">
            <a:solidFill>
              <a:srgbClr val="333333"/>
            </a:solidFill>
            <a:prstDash val="solid"/>
          </a:ln>
        </p:spPr>
      </p:sp>
      <p:sp>
        <p:nvSpPr>
          <p:cNvPr id="7" name="Shape 4"/>
          <p:cNvSpPr/>
          <p:nvPr/>
        </p:nvSpPr>
        <p:spPr>
          <a:xfrm>
            <a:off x="9441180" y="2331720"/>
            <a:ext cx="914400" cy="914400"/>
          </a:xfrm>
          <a:prstGeom prst="ellipse">
            <a:avLst/>
          </a:prstGeom>
          <a:solidFill>
            <a:srgbClr val="A5473F"/>
          </a:solidFill>
          <a:ln w="12700">
            <a:solidFill>
              <a:srgbClr val="333333"/>
            </a:solidFill>
            <a:prstDash val="solid"/>
          </a:ln>
        </p:spPr>
      </p:sp>
      <p:pic>
        <p:nvPicPr>
          <p:cNvPr id="8" name="Image 1" descr="/home/claude/work/icons_png/target.png">    </p:cNvPr>
          <p:cNvPicPr>
            <a:picLocks noChangeAspect="1"/>
          </p:cNvPicPr>
          <p:nvPr/>
        </p:nvPicPr>
        <p:blipFill>
          <a:blip r:embed="rId2"/>
          <a:stretch>
            <a:fillRect/>
          </a:stretch>
        </p:blipFill>
        <p:spPr>
          <a:xfrm>
            <a:off x="9642348" y="2532888"/>
            <a:ext cx="512064" cy="512064"/>
          </a:xfrm>
          <a:prstGeom prst="rect">
            <a:avLst/>
          </a:prstGeom>
        </p:spPr>
      </p:pic>
      <p:sp>
        <p:nvSpPr>
          <p:cNvPr id="9" name="Text 5"/>
          <p:cNvSpPr/>
          <p:nvPr/>
        </p:nvSpPr>
        <p:spPr>
          <a:xfrm>
            <a:off x="8458200" y="3520440"/>
            <a:ext cx="2880360" cy="1554480"/>
          </a:xfrm>
          <a:prstGeom prst="rect">
            <a:avLst/>
          </a:prstGeom>
          <a:noFill/>
          <a:ln/>
        </p:spPr>
        <p:txBody>
          <a:bodyPr wrap="square" lIns="0" tIns="0" rIns="0" bIns="0" rtlCol="0" anchor="t"/>
          <a:lstStyle/>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Goal: find the</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best θ0 and θ1</a:t>
            </a:r>
            <a:endParaRPr lang="en-US" sz="1700" dirty="0"/>
          </a:p>
        </p:txBody>
      </p:sp>
      <p:sp>
        <p:nvSpPr>
          <p:cNvPr id="10"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10</a:t>
            </a:r>
            <a:endParaRPr lang="en-US" sz="1000" dirty="0"/>
          </a:p>
        </p:txBody>
      </p:sp>
      <p:sp>
        <p:nvSpPr>
          <p:cNvPr id="11" name="Shape 7"/>
          <p:cNvSpPr/>
          <p:nvPr/>
        </p:nvSpPr>
        <p:spPr>
          <a:xfrm>
            <a:off x="11475720" y="6400800"/>
            <a:ext cx="329184" cy="329184"/>
          </a:xfrm>
          <a:prstGeom prst="ellipse">
            <a:avLst/>
          </a:prstGeom>
          <a:solidFill>
            <a:srgbClr val="F1F3EC"/>
          </a:solidFill>
          <a:ln w="12700">
            <a:solidFill>
              <a:srgbClr val="333333"/>
            </a:solidFill>
            <a:prstDash val="solid"/>
          </a:ln>
        </p:spPr>
      </p:sp>
      <p:sp>
        <p:nvSpPr>
          <p:cNvPr id="12" name="Text 8"/>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052560" y="-1371600"/>
            <a:ext cx="4114800" cy="4114800"/>
          </a:xfrm>
          <a:prstGeom prst="ellipse">
            <a:avLst/>
          </a:prstGeom>
          <a:solidFill>
            <a:srgbClr val="184038"/>
          </a:solidFill>
          <a:ln w="12700">
            <a:solidFill>
              <a:srgbClr val="333333"/>
            </a:solidFill>
            <a:prstDash val="solid"/>
          </a:ln>
        </p:spPr>
      </p:sp>
      <p:sp>
        <p:nvSpPr>
          <p:cNvPr id="3" name="Shape 1"/>
          <p:cNvSpPr/>
          <p:nvPr/>
        </p:nvSpPr>
        <p:spPr>
          <a:xfrm>
            <a:off x="5547208" y="1371600"/>
            <a:ext cx="1097280" cy="1097280"/>
          </a:xfrm>
          <a:prstGeom prst="ellipse">
            <a:avLst/>
          </a:prstGeom>
          <a:solidFill>
            <a:srgbClr val="2C6E63"/>
          </a:solidFill>
          <a:ln w="12700">
            <a:solidFill>
              <a:srgbClr val="333333"/>
            </a:solidFill>
            <a:prstDash val="solid"/>
          </a:ln>
        </p:spPr>
      </p:sp>
      <p:pic>
        <p:nvPicPr>
          <p:cNvPr id="4" name="Image 0" descr="/home/claude/work/icons_png/activity.png">    </p:cNvPr>
          <p:cNvPicPr>
            <a:picLocks noChangeAspect="1"/>
          </p:cNvPicPr>
          <p:nvPr/>
        </p:nvPicPr>
        <p:blipFill>
          <a:blip r:embed="rId1"/>
          <a:stretch>
            <a:fillRect/>
          </a:stretch>
        </p:blipFill>
        <p:spPr>
          <a:xfrm>
            <a:off x="5794096" y="1618488"/>
            <a:ext cx="603504" cy="603504"/>
          </a:xfrm>
          <a:prstGeom prst="rect">
            <a:avLst/>
          </a:prstGeom>
        </p:spPr>
      </p:pic>
      <p:sp>
        <p:nvSpPr>
          <p:cNvPr id="5" name="Text 2"/>
          <p:cNvSpPr/>
          <p:nvPr/>
        </p:nvSpPr>
        <p:spPr>
          <a:xfrm>
            <a:off x="0" y="2788920"/>
            <a:ext cx="12191695" cy="365760"/>
          </a:xfrm>
          <a:prstGeom prst="rect">
            <a:avLst/>
          </a:prstGeom>
          <a:noFill/>
          <a:ln/>
        </p:spPr>
        <p:txBody>
          <a:bodyPr wrap="square" lIns="0" tIns="0" rIns="0" bIns="0" rtlCol="0" anchor="ctr"/>
          <a:lstStyle/>
          <a:p>
            <a:pPr algn="ctr" indent="0" marL="0">
              <a:buNone/>
            </a:pPr>
            <a:r>
              <a:rPr lang="en-US" sz="1400" spc="300" kern="0" dirty="0">
                <a:solidFill>
                  <a:srgbClr val="E7C588"/>
                </a:solidFill>
                <a:latin typeface="Calibri" pitchFamily="34" charset="0"/>
                <a:ea typeface="Calibri" pitchFamily="34" charset="-122"/>
                <a:cs typeface="Calibri" pitchFamily="34" charset="-120"/>
              </a:rPr>
              <a:t>PART 3</a:t>
            </a:r>
            <a:endParaRPr lang="en-US" sz="1400" dirty="0"/>
          </a:p>
        </p:txBody>
      </p:sp>
      <p:sp>
        <p:nvSpPr>
          <p:cNvPr id="6" name="Text 3"/>
          <p:cNvSpPr/>
          <p:nvPr/>
        </p:nvSpPr>
        <p:spPr>
          <a:xfrm>
            <a:off x="914400" y="3200400"/>
            <a:ext cx="10362895"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The Cost Function</a:t>
            </a:r>
            <a:endParaRPr lang="en-US" sz="3400" dirty="0"/>
          </a:p>
        </p:txBody>
      </p:sp>
      <p:sp>
        <p:nvSpPr>
          <p:cNvPr id="7" name="Text 4"/>
          <p:cNvSpPr/>
          <p:nvPr/>
        </p:nvSpPr>
        <p:spPr>
          <a:xfrm>
            <a:off x="1828800" y="4343400"/>
            <a:ext cx="8534095" cy="457200"/>
          </a:xfrm>
          <a:prstGeom prst="rect">
            <a:avLst/>
          </a:prstGeom>
          <a:noFill/>
          <a:ln/>
        </p:spPr>
        <p:txBody>
          <a:bodyPr wrap="square" lIns="0" tIns="0" rIns="0" bIns="0" rtlCol="0" anchor="ctr"/>
          <a:lstStyle/>
          <a:p>
            <a:pPr algn="ctr" indent="0" marL="0">
              <a:buNone/>
            </a:pPr>
            <a:r>
              <a:rPr lang="en-US" sz="1500" i="1" dirty="0">
                <a:solidFill>
                  <a:srgbClr val="C9D3CC"/>
                </a:solidFill>
                <a:latin typeface="Calibri" pitchFamily="34" charset="0"/>
                <a:ea typeface="Calibri" pitchFamily="34" charset="-122"/>
                <a:cs typeface="Calibri" pitchFamily="34" charset="-120"/>
              </a:rPr>
              <a:t>How do we know if a line is good or bad?</a:t>
            </a:r>
            <a:endParaRPr lang="en-US" sz="15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alertTriangle.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Residual Error</a:t>
            </a:r>
            <a:endParaRPr lang="en-US" sz="2300" dirty="0"/>
          </a:p>
        </p:txBody>
      </p:sp>
      <p:sp>
        <p:nvSpPr>
          <p:cNvPr id="5" name="Text 2"/>
          <p:cNvSpPr/>
          <p:nvPr/>
        </p:nvSpPr>
        <p:spPr>
          <a:xfrm>
            <a:off x="640080" y="1417320"/>
            <a:ext cx="5394960" cy="448056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For every data point, the residual error is the gap between the actual value and what the line predicted.</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Some points sit above the line, some below — the residual can be positive or negative.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A good line keeps these gaps small overall, across every point in the dataset.</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A bad line has large residuals — its predictions are consistently far from reality.</a:t>
            </a:r>
            <a:endParaRPr lang="en-US" sz="1350" dirty="0"/>
          </a:p>
        </p:txBody>
      </p:sp>
      <p:sp>
        <p:nvSpPr>
          <p:cNvPr id="6" name="Shape 3"/>
          <p:cNvSpPr/>
          <p:nvPr/>
        </p:nvSpPr>
        <p:spPr>
          <a:xfrm>
            <a:off x="6172200" y="1417320"/>
            <a:ext cx="5303520" cy="4297680"/>
          </a:xfrm>
          <a:prstGeom prst="roundRect">
            <a:avLst>
              <a:gd name="adj" fmla="val 2128"/>
            </a:avLst>
          </a:prstGeom>
          <a:solidFill>
            <a:srgbClr val="F1F3EC"/>
          </a:solidFill>
          <a:ln w="12700">
            <a:solidFill>
              <a:srgbClr val="333333"/>
            </a:solidFill>
            <a:prstDash val="solid"/>
          </a:ln>
        </p:spPr>
      </p:sp>
      <p:pic>
        <p:nvPicPr>
          <p:cNvPr id="7" name="Image 1" descr="/home/claude/work/charts/residual_error.png">    </p:cNvPr>
          <p:cNvPicPr>
            <a:picLocks noChangeAspect="1"/>
          </p:cNvPicPr>
          <p:nvPr/>
        </p:nvPicPr>
        <p:blipFill>
          <a:blip r:embed="rId2"/>
          <a:srcRect l="0" r="0" t="0" b="0"/>
          <a:stretch/>
        </p:blipFill>
        <p:spPr>
          <a:xfrm>
            <a:off x="6309360" y="1508760"/>
            <a:ext cx="5029200" cy="4114800"/>
          </a:xfrm>
          <a:prstGeom prst="rect">
            <a:avLst/>
          </a:prstGeom>
        </p:spPr>
      </p:pic>
      <p:sp>
        <p:nvSpPr>
          <p:cNvPr id="8" name="Text 4"/>
          <p:cNvSpPr/>
          <p:nvPr/>
        </p:nvSpPr>
        <p:spPr>
          <a:xfrm>
            <a:off x="6172200" y="5751576"/>
            <a:ext cx="530352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The dashed segments are residuals — the vertical gap at each point</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12</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2C6E63"/>
          </a:solidFill>
          <a:ln w="12700">
            <a:solidFill>
              <a:srgbClr val="333333"/>
            </a:solidFill>
            <a:prstDash val="solid"/>
          </a:ln>
        </p:spPr>
      </p:sp>
      <p:pic>
        <p:nvPicPr>
          <p:cNvPr id="3" name="Image 0" descr="/home/claude/work/icons_png/activity.png">    </p:cNvPr>
          <p:cNvPicPr>
            <a:picLocks noChangeAspect="1"/>
          </p:cNvPicPr>
          <p:nvPr/>
        </p:nvPicPr>
        <p:blipFill>
          <a:blip r:embed="rId1"/>
          <a:stretch>
            <a:fillRect/>
          </a:stretch>
        </p:blipFill>
        <p:spPr>
          <a:xfrm>
            <a:off x="763524" y="580644"/>
            <a:ext cx="320040" cy="320040"/>
          </a:xfrm>
          <a:prstGeom prst="rect">
            <a:avLst/>
          </a:prstGeom>
        </p:spPr>
      </p:pic>
      <p:sp>
        <p:nvSpPr>
          <p:cNvPr id="4" name="Text 1"/>
          <p:cNvSpPr/>
          <p:nvPr/>
        </p:nvSpPr>
        <p:spPr>
          <a:xfrm>
            <a:off x="1353312" y="457200"/>
            <a:ext cx="9326880" cy="566928"/>
          </a:xfrm>
          <a:prstGeom prst="rect">
            <a:avLst/>
          </a:prstGeom>
          <a:noFill/>
          <a:ln/>
        </p:spPr>
        <p:txBody>
          <a:bodyPr wrap="square" lIns="0" tIns="0" rIns="0" bIns="0" rtlCol="0" anchor="ctr"/>
          <a:lstStyle/>
          <a:p>
            <a:pPr indent="0" marL="0">
              <a:buNone/>
            </a:pPr>
            <a:r>
              <a:rPr lang="en-US" sz="2100" b="1" dirty="0">
                <a:solidFill>
                  <a:srgbClr val="1B2420"/>
                </a:solidFill>
                <a:latin typeface="Cambria" pitchFamily="34" charset="0"/>
                <a:ea typeface="Cambria" pitchFamily="34" charset="-122"/>
                <a:cs typeface="Cambria" pitchFamily="34" charset="-120"/>
              </a:rPr>
              <a:t>The Cost Function J(θ0, θ1) — In Depth</a:t>
            </a:r>
            <a:endParaRPr lang="en-US" sz="2100" dirty="0"/>
          </a:p>
        </p:txBody>
      </p:sp>
      <p:sp>
        <p:nvSpPr>
          <p:cNvPr id="5" name="Shape 2"/>
          <p:cNvSpPr/>
          <p:nvPr/>
        </p:nvSpPr>
        <p:spPr>
          <a:xfrm>
            <a:off x="640080" y="1170432"/>
            <a:ext cx="10881360" cy="786384"/>
          </a:xfrm>
          <a:prstGeom prst="roundRect">
            <a:avLst>
              <a:gd name="adj" fmla="val 9302"/>
            </a:avLst>
          </a:prstGeom>
          <a:solidFill>
            <a:srgbClr val="F1F3EC"/>
          </a:solidFill>
          <a:ln w="12700">
            <a:solidFill>
              <a:srgbClr val="333333"/>
            </a:solidFill>
            <a:prstDash val="solid"/>
          </a:ln>
        </p:spPr>
      </p:sp>
      <p:sp>
        <p:nvSpPr>
          <p:cNvPr id="6" name="Text 3"/>
          <p:cNvSpPr/>
          <p:nvPr/>
        </p:nvSpPr>
        <p:spPr>
          <a:xfrm>
            <a:off x="868680" y="1170432"/>
            <a:ext cx="10424160" cy="786384"/>
          </a:xfrm>
          <a:prstGeom prst="rect">
            <a:avLst/>
          </a:prstGeom>
          <a:noFill/>
          <a:ln/>
        </p:spPr>
        <p:txBody>
          <a:bodyPr wrap="square" lIns="0" tIns="0" rIns="0" bIns="0" rtlCol="0" anchor="ctr"/>
          <a:lstStyle/>
          <a:p>
            <a:pPr indent="0" marL="0">
              <a:lnSpc>
                <a:spcPts val="1700"/>
              </a:lnSpc>
              <a:buNone/>
            </a:pPr>
            <a:r>
              <a:rPr lang="en-US" sz="1300" b="1" dirty="0">
                <a:solidFill>
                  <a:srgbClr val="2C6E63"/>
                </a:solidFill>
                <a:latin typeface="Calibri" pitchFamily="34" charset="0"/>
                <a:ea typeface="Calibri" pitchFamily="34" charset="-122"/>
                <a:cs typeface="Calibri" pitchFamily="34" charset="-120"/>
              </a:rPr>
              <a:t>IN PLAIN WORDS:  </a:t>
            </a:r>
            <a:pPr indent="0" marL="0">
              <a:lnSpc>
                <a:spcPts val="1700"/>
              </a:lnSpc>
              <a:buNone/>
            </a:pPr>
            <a:r>
              <a:rPr lang="en-US" sz="1300" dirty="0">
                <a:solidFill>
                  <a:srgbClr val="1B2420"/>
                </a:solidFill>
                <a:latin typeface="Calibri" pitchFamily="34" charset="0"/>
                <a:ea typeface="Calibri" pitchFamily="34" charset="-122"/>
                <a:cs typeface="Calibri" pitchFamily="34" charset="-120"/>
              </a:rPr>
              <a:t>For every point, check how far off the line's guess was, square that miss (so it's always positive and big misses hurt more), add up all those squared misses, then divide by the count so it's a fair average error.</a:t>
            </a:r>
            <a:endParaRPr lang="en-US" sz="1300" dirty="0"/>
          </a:p>
        </p:txBody>
      </p:sp>
      <p:sp>
        <p:nvSpPr>
          <p:cNvPr id="7" name="Shape 4"/>
          <p:cNvSpPr/>
          <p:nvPr/>
        </p:nvSpPr>
        <p:spPr>
          <a:xfrm>
            <a:off x="640080" y="2148840"/>
            <a:ext cx="6263640" cy="3520440"/>
          </a:xfrm>
          <a:prstGeom prst="roundRect">
            <a:avLst>
              <a:gd name="adj" fmla="val 2597"/>
            </a:avLst>
          </a:prstGeom>
          <a:solidFill>
            <a:srgbClr val="1B2420"/>
          </a:solidFill>
          <a:ln w="12700">
            <a:solidFill>
              <a:srgbClr val="333333"/>
            </a:solidFill>
            <a:prstDash val="solid"/>
          </a:ln>
        </p:spPr>
      </p:sp>
      <p:sp>
        <p:nvSpPr>
          <p:cNvPr id="8" name="Text 5"/>
          <p:cNvSpPr/>
          <p:nvPr/>
        </p:nvSpPr>
        <p:spPr>
          <a:xfrm>
            <a:off x="960120" y="2423160"/>
            <a:ext cx="5669280" cy="3017520"/>
          </a:xfrm>
          <a:prstGeom prst="rect">
            <a:avLst/>
          </a:prstGeom>
          <a:noFill/>
          <a:ln/>
        </p:spPr>
        <p:txBody>
          <a:bodyPr wrap="square" lIns="0" tIns="0" rIns="0" bIns="0" rtlCol="0" anchor="t"/>
          <a:lstStyle/>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m</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J(θ0,θ1) = Σ  1/(2m) · (h(x_i) − y_i)²</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i=1</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h(x_i) = θ0 + θ1·x_i   (the line's guess)</a:t>
            </a:r>
            <a:endParaRPr lang="en-US" sz="1500" dirty="0"/>
          </a:p>
        </p:txBody>
      </p:sp>
      <p:sp>
        <p:nvSpPr>
          <p:cNvPr id="9" name="Shape 6"/>
          <p:cNvSpPr/>
          <p:nvPr/>
        </p:nvSpPr>
        <p:spPr>
          <a:xfrm>
            <a:off x="7132320" y="2148840"/>
            <a:ext cx="4389120" cy="3520440"/>
          </a:xfrm>
          <a:prstGeom prst="roundRect">
            <a:avLst>
              <a:gd name="adj" fmla="val 2597"/>
            </a:avLst>
          </a:prstGeom>
          <a:solidFill>
            <a:srgbClr val="F1F3EC"/>
          </a:solidFill>
          <a:ln w="12700">
            <a:solidFill>
              <a:srgbClr val="333333"/>
            </a:solidFill>
            <a:prstDash val="solid"/>
          </a:ln>
        </p:spPr>
      </p:sp>
      <p:sp>
        <p:nvSpPr>
          <p:cNvPr id="10" name="Text 7"/>
          <p:cNvSpPr/>
          <p:nvPr/>
        </p:nvSpPr>
        <p:spPr>
          <a:xfrm>
            <a:off x="7406640" y="2331720"/>
            <a:ext cx="3840480" cy="320040"/>
          </a:xfrm>
          <a:prstGeom prst="rect">
            <a:avLst/>
          </a:prstGeom>
          <a:noFill/>
          <a:ln/>
        </p:spPr>
        <p:txBody>
          <a:bodyPr wrap="square" lIns="0" tIns="0" rIns="0" bIns="0" rtlCol="0" anchor="ctr"/>
          <a:lstStyle/>
          <a:p>
            <a:pPr indent="0" marL="0">
              <a:buNone/>
            </a:pPr>
            <a:r>
              <a:rPr lang="en-US" sz="1100" b="1" spc="100" kern="0" dirty="0">
                <a:solidFill>
                  <a:srgbClr val="7C8A80"/>
                </a:solidFill>
                <a:latin typeface="Calibri" pitchFamily="34" charset="0"/>
                <a:ea typeface="Calibri" pitchFamily="34" charset="-122"/>
                <a:cs typeface="Calibri" pitchFamily="34" charset="-120"/>
              </a:rPr>
              <a:t>WHAT EACH SYMBOL MEANS</a:t>
            </a:r>
            <a:endParaRPr lang="en-US" sz="1100" dirty="0"/>
          </a:p>
        </p:txBody>
      </p:sp>
      <p:sp>
        <p:nvSpPr>
          <p:cNvPr id="11" name="Text 8"/>
          <p:cNvSpPr/>
          <p:nvPr/>
        </p:nvSpPr>
        <p:spPr>
          <a:xfrm>
            <a:off x="7406640" y="2743200"/>
            <a:ext cx="1051560" cy="480060"/>
          </a:xfrm>
          <a:prstGeom prst="rect">
            <a:avLst/>
          </a:prstGeom>
          <a:noFill/>
          <a:ln/>
        </p:spPr>
        <p:txBody>
          <a:bodyPr wrap="square" lIns="0" tIns="0" rIns="0" bIns="0" rtlCol="0" anchor="t"/>
          <a:lstStyle/>
          <a:p>
            <a:pPr indent="0" marL="0">
              <a:buNone/>
            </a:pPr>
            <a:r>
              <a:rPr lang="en-US" sz="1200" b="1" dirty="0">
                <a:solidFill>
                  <a:srgbClr val="2C6E63"/>
                </a:solidFill>
                <a:latin typeface="Consolas" pitchFamily="34" charset="0"/>
                <a:ea typeface="Consolas" pitchFamily="34" charset="-122"/>
                <a:cs typeface="Consolas" pitchFamily="34" charset="-120"/>
              </a:rPr>
              <a:t>m</a:t>
            </a:r>
            <a:endParaRPr lang="en-US" sz="1200" dirty="0"/>
          </a:p>
        </p:txBody>
      </p:sp>
      <p:sp>
        <p:nvSpPr>
          <p:cNvPr id="12" name="Text 9"/>
          <p:cNvSpPr/>
          <p:nvPr/>
        </p:nvSpPr>
        <p:spPr>
          <a:xfrm>
            <a:off x="8503920" y="2743200"/>
            <a:ext cx="2743200" cy="480060"/>
          </a:xfrm>
          <a:prstGeom prst="rect">
            <a:avLst/>
          </a:prstGeom>
          <a:noFill/>
          <a:ln/>
        </p:spPr>
        <p:txBody>
          <a:bodyPr wrap="square" lIns="0" tIns="0" rIns="0" bIns="0" rtlCol="0" anchor="t"/>
          <a:lstStyle/>
          <a:p>
            <a:pPr indent="0" marL="0">
              <a:lnSpc>
                <a:spcPts val="1200"/>
              </a:lnSpc>
              <a:buNone/>
            </a:pPr>
            <a:r>
              <a:rPr lang="en-US" sz="1000" dirty="0">
                <a:solidFill>
                  <a:srgbClr val="1B2420"/>
                </a:solidFill>
                <a:latin typeface="Calibri" pitchFamily="34" charset="0"/>
                <a:ea typeface="Calibri" pitchFamily="34" charset="-122"/>
                <a:cs typeface="Calibri" pitchFamily="34" charset="-120"/>
              </a:rPr>
              <a:t>Total number of training examples (rows) you have.</a:t>
            </a:r>
            <a:endParaRPr lang="en-US" sz="1000" dirty="0"/>
          </a:p>
        </p:txBody>
      </p:sp>
      <p:sp>
        <p:nvSpPr>
          <p:cNvPr id="13" name="Text 10"/>
          <p:cNvSpPr/>
          <p:nvPr/>
        </p:nvSpPr>
        <p:spPr>
          <a:xfrm>
            <a:off x="7406640" y="3223260"/>
            <a:ext cx="1051560" cy="480060"/>
          </a:xfrm>
          <a:prstGeom prst="rect">
            <a:avLst/>
          </a:prstGeom>
          <a:noFill/>
          <a:ln/>
        </p:spPr>
        <p:txBody>
          <a:bodyPr wrap="square" lIns="0" tIns="0" rIns="0" bIns="0" rtlCol="0" anchor="t"/>
          <a:lstStyle/>
          <a:p>
            <a:pPr indent="0" marL="0">
              <a:buNone/>
            </a:pPr>
            <a:r>
              <a:rPr lang="en-US" sz="1200" b="1" dirty="0">
                <a:solidFill>
                  <a:srgbClr val="2C6E63"/>
                </a:solidFill>
                <a:latin typeface="Consolas" pitchFamily="34" charset="0"/>
                <a:ea typeface="Consolas" pitchFamily="34" charset="-122"/>
                <a:cs typeface="Consolas" pitchFamily="34" charset="-120"/>
              </a:rPr>
              <a:t>Σ</a:t>
            </a:r>
            <a:endParaRPr lang="en-US" sz="1200" dirty="0"/>
          </a:p>
        </p:txBody>
      </p:sp>
      <p:sp>
        <p:nvSpPr>
          <p:cNvPr id="14" name="Text 11"/>
          <p:cNvSpPr/>
          <p:nvPr/>
        </p:nvSpPr>
        <p:spPr>
          <a:xfrm>
            <a:off x="8503920" y="3223260"/>
            <a:ext cx="2743200" cy="480060"/>
          </a:xfrm>
          <a:prstGeom prst="rect">
            <a:avLst/>
          </a:prstGeom>
          <a:noFill/>
          <a:ln/>
        </p:spPr>
        <p:txBody>
          <a:bodyPr wrap="square" lIns="0" tIns="0" rIns="0" bIns="0" rtlCol="0" anchor="t"/>
          <a:lstStyle/>
          <a:p>
            <a:pPr indent="0" marL="0">
              <a:lnSpc>
                <a:spcPts val="1200"/>
              </a:lnSpc>
              <a:buNone/>
            </a:pPr>
            <a:r>
              <a:rPr lang="en-US" sz="1000" dirty="0">
                <a:solidFill>
                  <a:srgbClr val="1B2420"/>
                </a:solidFill>
                <a:latin typeface="Calibri" pitchFamily="34" charset="0"/>
                <a:ea typeface="Calibri" pitchFamily="34" charset="-122"/>
                <a:cs typeface="Calibri" pitchFamily="34" charset="-120"/>
              </a:rPr>
              <a:t>"Sum this up" — repeat for every single point, then add the results together.</a:t>
            </a:r>
            <a:endParaRPr lang="en-US" sz="1000" dirty="0"/>
          </a:p>
        </p:txBody>
      </p:sp>
      <p:sp>
        <p:nvSpPr>
          <p:cNvPr id="15" name="Text 12"/>
          <p:cNvSpPr/>
          <p:nvPr/>
        </p:nvSpPr>
        <p:spPr>
          <a:xfrm>
            <a:off x="7406640" y="3703320"/>
            <a:ext cx="1051560" cy="480060"/>
          </a:xfrm>
          <a:prstGeom prst="rect">
            <a:avLst/>
          </a:prstGeom>
          <a:noFill/>
          <a:ln/>
        </p:spPr>
        <p:txBody>
          <a:bodyPr wrap="square" lIns="0" tIns="0" rIns="0" bIns="0" rtlCol="0" anchor="t"/>
          <a:lstStyle/>
          <a:p>
            <a:pPr indent="0" marL="0">
              <a:buNone/>
            </a:pPr>
            <a:r>
              <a:rPr lang="en-US" sz="1200" b="1" dirty="0">
                <a:solidFill>
                  <a:srgbClr val="2C6E63"/>
                </a:solidFill>
                <a:latin typeface="Consolas" pitchFamily="34" charset="0"/>
                <a:ea typeface="Consolas" pitchFamily="34" charset="-122"/>
                <a:cs typeface="Consolas" pitchFamily="34" charset="-120"/>
              </a:rPr>
              <a:t>h(x_i)</a:t>
            </a:r>
            <a:endParaRPr lang="en-US" sz="1200" dirty="0"/>
          </a:p>
        </p:txBody>
      </p:sp>
      <p:sp>
        <p:nvSpPr>
          <p:cNvPr id="16" name="Text 13"/>
          <p:cNvSpPr/>
          <p:nvPr/>
        </p:nvSpPr>
        <p:spPr>
          <a:xfrm>
            <a:off x="8503920" y="3703320"/>
            <a:ext cx="2743200" cy="480060"/>
          </a:xfrm>
          <a:prstGeom prst="rect">
            <a:avLst/>
          </a:prstGeom>
          <a:noFill/>
          <a:ln/>
        </p:spPr>
        <p:txBody>
          <a:bodyPr wrap="square" lIns="0" tIns="0" rIns="0" bIns="0" rtlCol="0" anchor="t"/>
          <a:lstStyle/>
          <a:p>
            <a:pPr indent="0" marL="0">
              <a:lnSpc>
                <a:spcPts val="1200"/>
              </a:lnSpc>
              <a:buNone/>
            </a:pPr>
            <a:r>
              <a:rPr lang="en-US" sz="1000" dirty="0">
                <a:solidFill>
                  <a:srgbClr val="1B2420"/>
                </a:solidFill>
                <a:latin typeface="Calibri" pitchFamily="34" charset="0"/>
                <a:ea typeface="Calibri" pitchFamily="34" charset="-122"/>
                <a:cs typeface="Calibri" pitchFamily="34" charset="-120"/>
              </a:rPr>
              <a:t>The line's predicted value for point i — plug x_i into y = mx + b.</a:t>
            </a:r>
            <a:endParaRPr lang="en-US" sz="1000" dirty="0"/>
          </a:p>
        </p:txBody>
      </p:sp>
      <p:sp>
        <p:nvSpPr>
          <p:cNvPr id="17" name="Text 14"/>
          <p:cNvSpPr/>
          <p:nvPr/>
        </p:nvSpPr>
        <p:spPr>
          <a:xfrm>
            <a:off x="7406640" y="4183380"/>
            <a:ext cx="1051560" cy="480060"/>
          </a:xfrm>
          <a:prstGeom prst="rect">
            <a:avLst/>
          </a:prstGeom>
          <a:noFill/>
          <a:ln/>
        </p:spPr>
        <p:txBody>
          <a:bodyPr wrap="square" lIns="0" tIns="0" rIns="0" bIns="0" rtlCol="0" anchor="t"/>
          <a:lstStyle/>
          <a:p>
            <a:pPr indent="0" marL="0">
              <a:buNone/>
            </a:pPr>
            <a:r>
              <a:rPr lang="en-US" sz="1200" b="1" dirty="0">
                <a:solidFill>
                  <a:srgbClr val="2C6E63"/>
                </a:solidFill>
                <a:latin typeface="Consolas" pitchFamily="34" charset="0"/>
                <a:ea typeface="Consolas" pitchFamily="34" charset="-122"/>
                <a:cs typeface="Consolas" pitchFamily="34" charset="-120"/>
              </a:rPr>
              <a:t>y_i</a:t>
            </a:r>
            <a:endParaRPr lang="en-US" sz="1200" dirty="0"/>
          </a:p>
        </p:txBody>
      </p:sp>
      <p:sp>
        <p:nvSpPr>
          <p:cNvPr id="18" name="Text 15"/>
          <p:cNvSpPr/>
          <p:nvPr/>
        </p:nvSpPr>
        <p:spPr>
          <a:xfrm>
            <a:off x="8503920" y="4183380"/>
            <a:ext cx="2743200" cy="480060"/>
          </a:xfrm>
          <a:prstGeom prst="rect">
            <a:avLst/>
          </a:prstGeom>
          <a:noFill/>
          <a:ln/>
        </p:spPr>
        <p:txBody>
          <a:bodyPr wrap="square" lIns="0" tIns="0" rIns="0" bIns="0" rtlCol="0" anchor="t"/>
          <a:lstStyle/>
          <a:p>
            <a:pPr indent="0" marL="0">
              <a:lnSpc>
                <a:spcPts val="1200"/>
              </a:lnSpc>
              <a:buNone/>
            </a:pPr>
            <a:r>
              <a:rPr lang="en-US" sz="1000" dirty="0">
                <a:solidFill>
                  <a:srgbClr val="1B2420"/>
                </a:solidFill>
                <a:latin typeface="Calibri" pitchFamily="34" charset="0"/>
                <a:ea typeface="Calibri" pitchFamily="34" charset="-122"/>
                <a:cs typeface="Calibri" pitchFamily="34" charset="-120"/>
              </a:rPr>
              <a:t>The actual, real value for point i from your dataset.</a:t>
            </a:r>
            <a:endParaRPr lang="en-US" sz="1000" dirty="0"/>
          </a:p>
        </p:txBody>
      </p:sp>
      <p:sp>
        <p:nvSpPr>
          <p:cNvPr id="19" name="Text 16"/>
          <p:cNvSpPr/>
          <p:nvPr/>
        </p:nvSpPr>
        <p:spPr>
          <a:xfrm>
            <a:off x="7406640" y="4663440"/>
            <a:ext cx="1051560" cy="480060"/>
          </a:xfrm>
          <a:prstGeom prst="rect">
            <a:avLst/>
          </a:prstGeom>
          <a:noFill/>
          <a:ln/>
        </p:spPr>
        <p:txBody>
          <a:bodyPr wrap="square" lIns="0" tIns="0" rIns="0" bIns="0" rtlCol="0" anchor="t"/>
          <a:lstStyle/>
          <a:p>
            <a:pPr indent="0" marL="0">
              <a:buNone/>
            </a:pPr>
            <a:r>
              <a:rPr lang="en-US" sz="1200" b="1" dirty="0">
                <a:solidFill>
                  <a:srgbClr val="2C6E63"/>
                </a:solidFill>
                <a:latin typeface="Consolas" pitchFamily="34" charset="0"/>
                <a:ea typeface="Consolas" pitchFamily="34" charset="-122"/>
                <a:cs typeface="Consolas" pitchFamily="34" charset="-120"/>
              </a:rPr>
              <a:t>( )²</a:t>
            </a:r>
            <a:endParaRPr lang="en-US" sz="1200" dirty="0"/>
          </a:p>
        </p:txBody>
      </p:sp>
      <p:sp>
        <p:nvSpPr>
          <p:cNvPr id="20" name="Text 17"/>
          <p:cNvSpPr/>
          <p:nvPr/>
        </p:nvSpPr>
        <p:spPr>
          <a:xfrm>
            <a:off x="8503920" y="4663440"/>
            <a:ext cx="2743200" cy="480060"/>
          </a:xfrm>
          <a:prstGeom prst="rect">
            <a:avLst/>
          </a:prstGeom>
          <a:noFill/>
          <a:ln/>
        </p:spPr>
        <p:txBody>
          <a:bodyPr wrap="square" lIns="0" tIns="0" rIns="0" bIns="0" rtlCol="0" anchor="t"/>
          <a:lstStyle/>
          <a:p>
            <a:pPr indent="0" marL="0">
              <a:lnSpc>
                <a:spcPts val="1200"/>
              </a:lnSpc>
              <a:buNone/>
            </a:pPr>
            <a:r>
              <a:rPr lang="en-US" sz="1000" dirty="0">
                <a:solidFill>
                  <a:srgbClr val="1B2420"/>
                </a:solidFill>
                <a:latin typeface="Calibri" pitchFamily="34" charset="0"/>
                <a:ea typeface="Calibri" pitchFamily="34" charset="-122"/>
                <a:cs typeface="Calibri" pitchFamily="34" charset="-120"/>
              </a:rPr>
              <a:t>Squaring: makes misses positive, and punishes big misses much harder than small ones.</a:t>
            </a:r>
            <a:endParaRPr lang="en-US" sz="1000" dirty="0"/>
          </a:p>
        </p:txBody>
      </p:sp>
      <p:sp>
        <p:nvSpPr>
          <p:cNvPr id="21" name="Text 18"/>
          <p:cNvSpPr/>
          <p:nvPr/>
        </p:nvSpPr>
        <p:spPr>
          <a:xfrm>
            <a:off x="7406640" y="5143500"/>
            <a:ext cx="1051560" cy="480060"/>
          </a:xfrm>
          <a:prstGeom prst="rect">
            <a:avLst/>
          </a:prstGeom>
          <a:noFill/>
          <a:ln/>
        </p:spPr>
        <p:txBody>
          <a:bodyPr wrap="square" lIns="0" tIns="0" rIns="0" bIns="0" rtlCol="0" anchor="t"/>
          <a:lstStyle/>
          <a:p>
            <a:pPr indent="0" marL="0">
              <a:buNone/>
            </a:pPr>
            <a:r>
              <a:rPr lang="en-US" sz="1200" b="1" dirty="0">
                <a:solidFill>
                  <a:srgbClr val="2C6E63"/>
                </a:solidFill>
                <a:latin typeface="Consolas" pitchFamily="34" charset="0"/>
                <a:ea typeface="Consolas" pitchFamily="34" charset="-122"/>
                <a:cs typeface="Consolas" pitchFamily="34" charset="-120"/>
              </a:rPr>
              <a:t>1/(2m)</a:t>
            </a:r>
            <a:endParaRPr lang="en-US" sz="1200" dirty="0"/>
          </a:p>
        </p:txBody>
      </p:sp>
      <p:sp>
        <p:nvSpPr>
          <p:cNvPr id="22" name="Text 19"/>
          <p:cNvSpPr/>
          <p:nvPr/>
        </p:nvSpPr>
        <p:spPr>
          <a:xfrm>
            <a:off x="8503920" y="5143500"/>
            <a:ext cx="2743200" cy="480060"/>
          </a:xfrm>
          <a:prstGeom prst="rect">
            <a:avLst/>
          </a:prstGeom>
          <a:noFill/>
          <a:ln/>
        </p:spPr>
        <p:txBody>
          <a:bodyPr wrap="square" lIns="0" tIns="0" rIns="0" bIns="0" rtlCol="0" anchor="t"/>
          <a:lstStyle/>
          <a:p>
            <a:pPr indent="0" marL="0">
              <a:lnSpc>
                <a:spcPts val="1200"/>
              </a:lnSpc>
              <a:buNone/>
            </a:pPr>
            <a:r>
              <a:rPr lang="en-US" sz="1000" dirty="0">
                <a:solidFill>
                  <a:srgbClr val="1B2420"/>
                </a:solidFill>
                <a:latin typeface="Calibri" pitchFamily="34" charset="0"/>
                <a:ea typeface="Calibri" pitchFamily="34" charset="-122"/>
                <a:cs typeface="Calibri" pitchFamily="34" charset="-120"/>
              </a:rPr>
              <a:t>Averages the total error — the '2' just cancels out neatly later in the calculus.</a:t>
            </a:r>
            <a:endParaRPr lang="en-US" sz="1000" dirty="0"/>
          </a:p>
        </p:txBody>
      </p:sp>
      <p:sp>
        <p:nvSpPr>
          <p:cNvPr id="23" name="Text 20"/>
          <p:cNvSpPr/>
          <p:nvPr/>
        </p:nvSpPr>
        <p:spPr>
          <a:xfrm>
            <a:off x="640080" y="5760720"/>
            <a:ext cx="10881360" cy="502920"/>
          </a:xfrm>
          <a:prstGeom prst="rect">
            <a:avLst/>
          </a:prstGeom>
          <a:noFill/>
          <a:ln/>
        </p:spPr>
        <p:txBody>
          <a:bodyPr wrap="square" lIns="0" tIns="0" rIns="0" bIns="0" rtlCol="0" anchor="ctr"/>
          <a:lstStyle/>
          <a:p>
            <a:pPr indent="0" marL="0">
              <a:lnSpc>
                <a:spcPts val="1400"/>
              </a:lnSpc>
              <a:buNone/>
            </a:pPr>
            <a:r>
              <a:rPr lang="en-US" sz="1150" i="1" dirty="0">
                <a:solidFill>
                  <a:srgbClr val="7C8A80"/>
                </a:solidFill>
                <a:latin typeface="Calibri" pitchFamily="34" charset="0"/>
                <a:ea typeface="Calibri" pitchFamily="34" charset="-122"/>
                <a:cs typeface="Calibri" pitchFamily="34" charset="-120"/>
              </a:rPr>
              <a:t>Smaller J = a better-fitting line. Training the model is just repeatedly adjusting θ0 and θ1 to make J as small as possible.</a:t>
            </a:r>
            <a:endParaRPr lang="en-US" sz="1150" dirty="0"/>
          </a:p>
        </p:txBody>
      </p:sp>
      <p:sp>
        <p:nvSpPr>
          <p:cNvPr id="24" name="Text 2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13</a:t>
            </a:r>
            <a:endParaRPr lang="en-US" sz="1000" dirty="0"/>
          </a:p>
        </p:txBody>
      </p:sp>
      <p:sp>
        <p:nvSpPr>
          <p:cNvPr id="25" name="Shape 22"/>
          <p:cNvSpPr/>
          <p:nvPr/>
        </p:nvSpPr>
        <p:spPr>
          <a:xfrm>
            <a:off x="11475720" y="6400800"/>
            <a:ext cx="329184" cy="329184"/>
          </a:xfrm>
          <a:prstGeom prst="ellipse">
            <a:avLst/>
          </a:prstGeom>
          <a:solidFill>
            <a:srgbClr val="F1F3EC"/>
          </a:solidFill>
          <a:ln w="12700">
            <a:solidFill>
              <a:srgbClr val="333333"/>
            </a:solidFill>
            <a:prstDash val="solid"/>
          </a:ln>
        </p:spPr>
      </p:sp>
      <p:sp>
        <p:nvSpPr>
          <p:cNvPr id="26" name="Text 23"/>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052560" y="-1371600"/>
            <a:ext cx="4114800" cy="4114800"/>
          </a:xfrm>
          <a:prstGeom prst="ellipse">
            <a:avLst/>
          </a:prstGeom>
          <a:solidFill>
            <a:srgbClr val="184038"/>
          </a:solidFill>
          <a:ln w="12700">
            <a:solidFill>
              <a:srgbClr val="333333"/>
            </a:solidFill>
            <a:prstDash val="solid"/>
          </a:ln>
        </p:spPr>
      </p:sp>
      <p:sp>
        <p:nvSpPr>
          <p:cNvPr id="3" name="Shape 1"/>
          <p:cNvSpPr/>
          <p:nvPr/>
        </p:nvSpPr>
        <p:spPr>
          <a:xfrm>
            <a:off x="5547208" y="1371600"/>
            <a:ext cx="1097280" cy="1097280"/>
          </a:xfrm>
          <a:prstGeom prst="ellipse">
            <a:avLst/>
          </a:prstGeom>
          <a:solidFill>
            <a:srgbClr val="2C6E63"/>
          </a:solidFill>
          <a:ln w="12700">
            <a:solidFill>
              <a:srgbClr val="333333"/>
            </a:solidFill>
            <a:prstDash val="solid"/>
          </a:ln>
        </p:spPr>
      </p:sp>
      <p:pic>
        <p:nvPicPr>
          <p:cNvPr id="4" name="Image 0" descr="/home/claude/work/icons_png/mountain.png">    </p:cNvPr>
          <p:cNvPicPr>
            <a:picLocks noChangeAspect="1"/>
          </p:cNvPicPr>
          <p:nvPr/>
        </p:nvPicPr>
        <p:blipFill>
          <a:blip r:embed="rId1"/>
          <a:stretch>
            <a:fillRect/>
          </a:stretch>
        </p:blipFill>
        <p:spPr>
          <a:xfrm>
            <a:off x="5794096" y="1618488"/>
            <a:ext cx="603504" cy="603504"/>
          </a:xfrm>
          <a:prstGeom prst="rect">
            <a:avLst/>
          </a:prstGeom>
        </p:spPr>
      </p:pic>
      <p:sp>
        <p:nvSpPr>
          <p:cNvPr id="5" name="Text 2"/>
          <p:cNvSpPr/>
          <p:nvPr/>
        </p:nvSpPr>
        <p:spPr>
          <a:xfrm>
            <a:off x="0" y="2788920"/>
            <a:ext cx="12191695" cy="365760"/>
          </a:xfrm>
          <a:prstGeom prst="rect">
            <a:avLst/>
          </a:prstGeom>
          <a:noFill/>
          <a:ln/>
        </p:spPr>
        <p:txBody>
          <a:bodyPr wrap="square" lIns="0" tIns="0" rIns="0" bIns="0" rtlCol="0" anchor="ctr"/>
          <a:lstStyle/>
          <a:p>
            <a:pPr algn="ctr" indent="0" marL="0">
              <a:buNone/>
            </a:pPr>
            <a:r>
              <a:rPr lang="en-US" sz="1400" spc="300" kern="0" dirty="0">
                <a:solidFill>
                  <a:srgbClr val="E7C588"/>
                </a:solidFill>
                <a:latin typeface="Calibri" pitchFamily="34" charset="0"/>
                <a:ea typeface="Calibri" pitchFamily="34" charset="-122"/>
                <a:cs typeface="Calibri" pitchFamily="34" charset="-120"/>
              </a:rPr>
              <a:t>PART 4</a:t>
            </a:r>
            <a:endParaRPr lang="en-US" sz="1400" dirty="0"/>
          </a:p>
        </p:txBody>
      </p:sp>
      <p:sp>
        <p:nvSpPr>
          <p:cNvPr id="6" name="Text 3"/>
          <p:cNvSpPr/>
          <p:nvPr/>
        </p:nvSpPr>
        <p:spPr>
          <a:xfrm>
            <a:off x="914400" y="3200400"/>
            <a:ext cx="10362895"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Gradient Descent</a:t>
            </a:r>
            <a:endParaRPr lang="en-US" sz="3400" dirty="0"/>
          </a:p>
        </p:txBody>
      </p:sp>
      <p:sp>
        <p:nvSpPr>
          <p:cNvPr id="7" name="Text 4"/>
          <p:cNvSpPr/>
          <p:nvPr/>
        </p:nvSpPr>
        <p:spPr>
          <a:xfrm>
            <a:off x="1828800" y="4343400"/>
            <a:ext cx="8534095" cy="457200"/>
          </a:xfrm>
          <a:prstGeom prst="rect">
            <a:avLst/>
          </a:prstGeom>
          <a:noFill/>
          <a:ln/>
        </p:spPr>
        <p:txBody>
          <a:bodyPr wrap="square" lIns="0" tIns="0" rIns="0" bIns="0" rtlCol="0" anchor="ctr"/>
          <a:lstStyle/>
          <a:p>
            <a:pPr algn="ctr" indent="0" marL="0">
              <a:buNone/>
            </a:pPr>
            <a:r>
              <a:rPr lang="en-US" sz="1500" i="1" dirty="0">
                <a:solidFill>
                  <a:srgbClr val="C9D3CC"/>
                </a:solidFill>
                <a:latin typeface="Calibri" pitchFamily="34" charset="0"/>
                <a:ea typeface="Calibri" pitchFamily="34" charset="-122"/>
                <a:cs typeface="Calibri" pitchFamily="34" charset="-120"/>
              </a:rPr>
              <a:t>The algorithm that finds the minimum-error line</a:t>
            </a:r>
            <a:endParaRPr lang="en-US" sz="15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mountain.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What Is Gradient Descent?</a:t>
            </a:r>
            <a:endParaRPr lang="en-US" sz="2300" dirty="0"/>
          </a:p>
        </p:txBody>
      </p:sp>
      <p:sp>
        <p:nvSpPr>
          <p:cNvPr id="5" name="Text 2"/>
          <p:cNvSpPr/>
          <p:nvPr/>
        </p:nvSpPr>
        <p:spPr>
          <a:xfrm>
            <a:off x="640080" y="1417320"/>
            <a:ext cx="5394960" cy="448056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Gradient Descent is the optimization algorithm that searches for the θ0 and θ1 that minimize the cost function J.</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Picture plotting J against θ1 — it forms a bowl-shaped (convex) curve.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The lowest point of that bowl is the global minimum — the setting of θ1 with the smallest possible error.</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Gradient descent starts at some random point on the curve and takes repeated small steps downhill toward that minimum.</a:t>
            </a:r>
            <a:endParaRPr lang="en-US" sz="1350" dirty="0"/>
          </a:p>
        </p:txBody>
      </p:sp>
      <p:sp>
        <p:nvSpPr>
          <p:cNvPr id="6" name="Shape 3"/>
          <p:cNvSpPr/>
          <p:nvPr/>
        </p:nvSpPr>
        <p:spPr>
          <a:xfrm>
            <a:off x="6172200" y="1417320"/>
            <a:ext cx="5303520" cy="4297680"/>
          </a:xfrm>
          <a:prstGeom prst="roundRect">
            <a:avLst>
              <a:gd name="adj" fmla="val 2128"/>
            </a:avLst>
          </a:prstGeom>
          <a:solidFill>
            <a:srgbClr val="F1F3EC"/>
          </a:solidFill>
          <a:ln w="12700">
            <a:solidFill>
              <a:srgbClr val="333333"/>
            </a:solidFill>
            <a:prstDash val="solid"/>
          </a:ln>
        </p:spPr>
      </p:sp>
      <p:pic>
        <p:nvPicPr>
          <p:cNvPr id="7" name="Image 1" descr="/home/claude/work/charts/cost_bowl.png">    </p:cNvPr>
          <p:cNvPicPr>
            <a:picLocks noChangeAspect="1"/>
          </p:cNvPicPr>
          <p:nvPr/>
        </p:nvPicPr>
        <p:blipFill>
          <a:blip r:embed="rId2"/>
          <a:srcRect l="0" r="0" t="0" b="0"/>
          <a:stretch/>
        </p:blipFill>
        <p:spPr>
          <a:xfrm>
            <a:off x="6309360" y="1508760"/>
            <a:ext cx="5029200" cy="4114800"/>
          </a:xfrm>
          <a:prstGeom prst="rect">
            <a:avLst/>
          </a:prstGeom>
        </p:spPr>
      </p:pic>
      <p:sp>
        <p:nvSpPr>
          <p:cNvPr id="8" name="Text 4"/>
          <p:cNvSpPr/>
          <p:nvPr/>
        </p:nvSpPr>
        <p:spPr>
          <a:xfrm>
            <a:off x="6172200" y="5751576"/>
            <a:ext cx="530352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J(θ1) forms a convex bowl — the bottom is the global minimum</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15</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calculator.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200" b="1" dirty="0">
                <a:solidFill>
                  <a:srgbClr val="1B2420"/>
                </a:solidFill>
                <a:latin typeface="Cambria" pitchFamily="34" charset="0"/>
                <a:ea typeface="Cambria" pitchFamily="34" charset="-122"/>
                <a:cs typeface="Cambria" pitchFamily="34" charset="-120"/>
              </a:rPr>
              <a:t>Worked Example: Evaluating a Few θ Values</a:t>
            </a:r>
            <a:endParaRPr lang="en-US" sz="2200" dirty="0"/>
          </a:p>
        </p:txBody>
      </p:sp>
      <p:sp>
        <p:nvSpPr>
          <p:cNvPr id="5" name="Text 2"/>
          <p:cNvSpPr/>
          <p:nvPr/>
        </p:nvSpPr>
        <p:spPr>
          <a:xfrm>
            <a:off x="640080" y="1371600"/>
            <a:ext cx="10881360" cy="1417320"/>
          </a:xfrm>
          <a:prstGeom prst="rect">
            <a:avLst/>
          </a:prstGeom>
          <a:noFill/>
          <a:ln/>
        </p:spPr>
        <p:txBody>
          <a:bodyPr wrap="square" lIns="0" tIns="0" rIns="0" bIns="0" rtlCol="0" anchor="ctr"/>
          <a:lstStyle/>
          <a:p>
            <a:pPr marL="203200" indent="-203200">
              <a:lnSpc>
                <a:spcPts val="1800"/>
              </a:lnSpc>
              <a:spcAft>
                <a:spcPts val="800"/>
              </a:spcAft>
              <a:buSzPct val="100000"/>
              <a:buChar char="▪"/>
            </a:pPr>
            <a:r>
              <a:rPr lang="en-US" sz="1400" dirty="0">
                <a:solidFill>
                  <a:srgbClr val="1B2420"/>
                </a:solidFill>
                <a:latin typeface="Calibri" pitchFamily="34" charset="0"/>
                <a:ea typeface="Calibri" pitchFamily="34" charset="-122"/>
                <a:cs typeface="Calibri" pitchFamily="34" charset="-120"/>
              </a:rPr>
              <a:t>Take a tiny dataset: (1,1), (2,2), (3,3) — a perfect line y = x.</a:t>
            </a:r>
            <a:endParaRPr lang="en-US" sz="1400" dirty="0"/>
          </a:p>
          <a:p>
            <a:pPr marL="203200" indent="-203200">
              <a:lnSpc>
                <a:spcPts val="1800"/>
              </a:lnSpc>
              <a:spcAft>
                <a:spcPts val="800"/>
              </a:spcAft>
              <a:buSzPct val="100000"/>
              <a:buChar char="▪"/>
            </a:pPr>
            <a:r>
              <a:rPr lang="en-US" sz="1400" dirty="0">
                <a:solidFill>
                  <a:srgbClr val="1B2420"/>
                </a:solidFill>
                <a:latin typeface="Calibri" pitchFamily="34" charset="0"/>
                <a:ea typeface="Calibri" pitchFamily="34" charset="-122"/>
                <a:cs typeface="Calibri" pitchFamily="34" charset="-120"/>
              </a:rPr>
              <a:t>Try a few candidate slopes and see how the cost function J reacts.</a:t>
            </a:r>
            <a:endParaRPr lang="en-US" sz="1400" dirty="0"/>
          </a:p>
        </p:txBody>
      </p:sp>
      <p:sp>
        <p:nvSpPr>
          <p:cNvPr id="6" name="Shape 3"/>
          <p:cNvSpPr/>
          <p:nvPr/>
        </p:nvSpPr>
        <p:spPr>
          <a:xfrm>
            <a:off x="640080" y="2971800"/>
            <a:ext cx="10881360" cy="3063240"/>
          </a:xfrm>
          <a:prstGeom prst="roundRect">
            <a:avLst>
              <a:gd name="adj" fmla="val 2985"/>
            </a:avLst>
          </a:prstGeom>
          <a:solidFill>
            <a:srgbClr val="1B2420"/>
          </a:solidFill>
          <a:ln w="12700">
            <a:solidFill>
              <a:srgbClr val="333333"/>
            </a:solidFill>
            <a:prstDash val="solid"/>
          </a:ln>
        </p:spPr>
      </p:sp>
      <p:sp>
        <p:nvSpPr>
          <p:cNvPr id="7" name="Text 4"/>
          <p:cNvSpPr/>
          <p:nvPr/>
        </p:nvSpPr>
        <p:spPr>
          <a:xfrm>
            <a:off x="960120" y="3246120"/>
            <a:ext cx="10241280" cy="2514600"/>
          </a:xfrm>
          <a:prstGeom prst="rect">
            <a:avLst/>
          </a:prstGeom>
          <a:noFill/>
          <a:ln/>
        </p:spPr>
        <p:txBody>
          <a:bodyPr wrap="square" lIns="0" tIns="0" rIns="0" bIns="0" rtlCol="0" anchor="t"/>
          <a:lstStyle/>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Data: {(1,1), (2,2), (3,3)},   θ0 = 0</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θ1 = 1  -&gt;  predictions: 1, 2, 3  (perfect match)</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J(θ1=1) = 0                &lt;- global minimum</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θ1 = 0.5 -&gt; predictions: 0.5, 1, 1.5</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J(θ1=0.5) ≈ 0.58</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θ1 = 0   -&gt; predictions: 0, 0, 0</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J(θ1=0) ≈ 2.33</a:t>
            </a:r>
            <a:endParaRPr lang="en-US" sz="1350" dirty="0"/>
          </a:p>
          <a:p>
            <a:pPr indent="0" marL="0">
              <a:lnSpc>
                <a:spcPts val="2000"/>
              </a:lnSpc>
              <a:spcAft>
                <a:spcPts val="200"/>
              </a:spcAft>
              <a:buNone/>
            </a:pPr>
            <a:r>
              <a:rPr lang="en-US" sz="1350" dirty="0">
                <a:solidFill>
                  <a:srgbClr val="F1F3EC"/>
                </a:solidFill>
                <a:latin typeface="Consolas" pitchFamily="34" charset="0"/>
                <a:ea typeface="Consolas" pitchFamily="34" charset="-122"/>
                <a:cs typeface="Consolas" pitchFamily="34" charset="-120"/>
              </a:rPr>
              <a:t>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Plotting J against θ1 traces a bowl —</a:t>
            </a:r>
            <a:endParaRPr lang="en-US" sz="1350" dirty="0"/>
          </a:p>
          <a:p>
            <a:pPr indent="0" marL="0">
              <a:lnSpc>
                <a:spcPts val="2000"/>
              </a:lnSpc>
              <a:spcAft>
                <a:spcPts val="200"/>
              </a:spcAft>
              <a:buNone/>
            </a:pPr>
            <a:r>
              <a:rPr lang="en-US" sz="1350" dirty="0">
                <a:solidFill>
                  <a:srgbClr val="7FB8A8"/>
                </a:solidFill>
                <a:latin typeface="Consolas" pitchFamily="34" charset="0"/>
                <a:ea typeface="Consolas" pitchFamily="34" charset="-122"/>
                <a:cs typeface="Consolas" pitchFamily="34" charset="-120"/>
              </a:rPr>
              <a:t># and θ1 = 1 sits right at the bottom</a:t>
            </a:r>
            <a:endParaRPr lang="en-US" sz="13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16</a:t>
            </a:r>
            <a:endParaRPr lang="en-US" sz="1000" dirty="0"/>
          </a:p>
        </p:txBody>
      </p:sp>
      <p:sp>
        <p:nvSpPr>
          <p:cNvPr id="9"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0"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repeat.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Watching Gradient Descent Converge</a:t>
            </a:r>
            <a:endParaRPr lang="en-US" sz="2300" dirty="0"/>
          </a:p>
        </p:txBody>
      </p:sp>
      <p:sp>
        <p:nvSpPr>
          <p:cNvPr id="5" name="Text 2"/>
          <p:cNvSpPr/>
          <p:nvPr/>
        </p:nvSpPr>
        <p:spPr>
          <a:xfrm>
            <a:off x="640080" y="1417320"/>
            <a:ext cx="5394960" cy="448056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Starting from a random θ1 far from the answer, each step moves closer to the bottom of the bowl.</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Steps are naturally larger when far from the minimum, and shrink automatically as it gets close.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Once the steps stop making meaningful progress, the algorithm has converged on θ1 = 1 — the global minimum for this dataset.</a:t>
            </a:r>
            <a:endParaRPr lang="en-US" sz="1350" dirty="0"/>
          </a:p>
        </p:txBody>
      </p:sp>
      <p:sp>
        <p:nvSpPr>
          <p:cNvPr id="6" name="Shape 3"/>
          <p:cNvSpPr/>
          <p:nvPr/>
        </p:nvSpPr>
        <p:spPr>
          <a:xfrm>
            <a:off x="6172200" y="1417320"/>
            <a:ext cx="5303520" cy="4297680"/>
          </a:xfrm>
          <a:prstGeom prst="roundRect">
            <a:avLst>
              <a:gd name="adj" fmla="val 2128"/>
            </a:avLst>
          </a:prstGeom>
          <a:solidFill>
            <a:srgbClr val="F1F3EC"/>
          </a:solidFill>
          <a:ln w="12700">
            <a:solidFill>
              <a:srgbClr val="333333"/>
            </a:solidFill>
            <a:prstDash val="solid"/>
          </a:ln>
        </p:spPr>
      </p:sp>
      <p:pic>
        <p:nvPicPr>
          <p:cNvPr id="7" name="Image 1" descr="/home/claude/work/charts/gradient_descent_steps.png">    </p:cNvPr>
          <p:cNvPicPr>
            <a:picLocks noChangeAspect="1"/>
          </p:cNvPicPr>
          <p:nvPr/>
        </p:nvPicPr>
        <p:blipFill>
          <a:blip r:embed="rId2"/>
          <a:srcRect l="0" r="0" t="0" b="0"/>
          <a:stretch/>
        </p:blipFill>
        <p:spPr>
          <a:xfrm>
            <a:off x="6309360" y="1508760"/>
            <a:ext cx="5029200" cy="4114800"/>
          </a:xfrm>
          <a:prstGeom prst="rect">
            <a:avLst/>
          </a:prstGeom>
        </p:spPr>
      </p:pic>
      <p:sp>
        <p:nvSpPr>
          <p:cNvPr id="8" name="Text 4"/>
          <p:cNvSpPr/>
          <p:nvPr/>
        </p:nvSpPr>
        <p:spPr>
          <a:xfrm>
            <a:off x="6172200" y="5751576"/>
            <a:ext cx="530352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Each red dot is one gradient descent iteration, walking downhill</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17</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2C6E63"/>
          </a:solidFill>
          <a:ln w="12700">
            <a:solidFill>
              <a:srgbClr val="333333"/>
            </a:solidFill>
            <a:prstDash val="solid"/>
          </a:ln>
        </p:spPr>
      </p:sp>
      <p:pic>
        <p:nvPicPr>
          <p:cNvPr id="3" name="Image 0" descr="/home/claude/work/icons_png/repeat.png">    </p:cNvPr>
          <p:cNvPicPr>
            <a:picLocks noChangeAspect="1"/>
          </p:cNvPicPr>
          <p:nvPr/>
        </p:nvPicPr>
        <p:blipFill>
          <a:blip r:embed="rId1"/>
          <a:stretch>
            <a:fillRect/>
          </a:stretch>
        </p:blipFill>
        <p:spPr>
          <a:xfrm>
            <a:off x="763524" y="580644"/>
            <a:ext cx="320040" cy="320040"/>
          </a:xfrm>
          <a:prstGeom prst="rect">
            <a:avLst/>
          </a:prstGeom>
        </p:spPr>
      </p:pic>
      <p:sp>
        <p:nvSpPr>
          <p:cNvPr id="4" name="Text 1"/>
          <p:cNvSpPr/>
          <p:nvPr/>
        </p:nvSpPr>
        <p:spPr>
          <a:xfrm>
            <a:off x="1353312" y="457200"/>
            <a:ext cx="9326880" cy="566928"/>
          </a:xfrm>
          <a:prstGeom prst="rect">
            <a:avLst/>
          </a:prstGeom>
          <a:noFill/>
          <a:ln/>
        </p:spPr>
        <p:txBody>
          <a:bodyPr wrap="square" lIns="0" tIns="0" rIns="0" bIns="0" rtlCol="0" anchor="ctr"/>
          <a:lstStyle/>
          <a:p>
            <a:pPr indent="0" marL="0">
              <a:buNone/>
            </a:pPr>
            <a:r>
              <a:rPr lang="en-US" sz="2100" b="1" dirty="0">
                <a:solidFill>
                  <a:srgbClr val="1B2420"/>
                </a:solidFill>
                <a:latin typeface="Cambria" pitchFamily="34" charset="0"/>
                <a:ea typeface="Cambria" pitchFamily="34" charset="-122"/>
                <a:cs typeface="Cambria" pitchFamily="34" charset="-120"/>
              </a:rPr>
              <a:t>The Gradient Descent Update Rule — In Depth</a:t>
            </a:r>
            <a:endParaRPr lang="en-US" sz="2100" dirty="0"/>
          </a:p>
        </p:txBody>
      </p:sp>
      <p:sp>
        <p:nvSpPr>
          <p:cNvPr id="5" name="Shape 2"/>
          <p:cNvSpPr/>
          <p:nvPr/>
        </p:nvSpPr>
        <p:spPr>
          <a:xfrm>
            <a:off x="640080" y="1170432"/>
            <a:ext cx="10881360" cy="786384"/>
          </a:xfrm>
          <a:prstGeom prst="roundRect">
            <a:avLst>
              <a:gd name="adj" fmla="val 9302"/>
            </a:avLst>
          </a:prstGeom>
          <a:solidFill>
            <a:srgbClr val="F1F3EC"/>
          </a:solidFill>
          <a:ln w="12700">
            <a:solidFill>
              <a:srgbClr val="333333"/>
            </a:solidFill>
            <a:prstDash val="solid"/>
          </a:ln>
        </p:spPr>
      </p:sp>
      <p:sp>
        <p:nvSpPr>
          <p:cNvPr id="6" name="Text 3"/>
          <p:cNvSpPr/>
          <p:nvPr/>
        </p:nvSpPr>
        <p:spPr>
          <a:xfrm>
            <a:off x="868680" y="1170432"/>
            <a:ext cx="10424160" cy="786384"/>
          </a:xfrm>
          <a:prstGeom prst="rect">
            <a:avLst/>
          </a:prstGeom>
          <a:noFill/>
          <a:ln/>
        </p:spPr>
        <p:txBody>
          <a:bodyPr wrap="square" lIns="0" tIns="0" rIns="0" bIns="0" rtlCol="0" anchor="ctr"/>
          <a:lstStyle/>
          <a:p>
            <a:pPr indent="0" marL="0">
              <a:lnSpc>
                <a:spcPts val="1700"/>
              </a:lnSpc>
              <a:buNone/>
            </a:pPr>
            <a:r>
              <a:rPr lang="en-US" sz="1300" b="1" dirty="0">
                <a:solidFill>
                  <a:srgbClr val="2C6E63"/>
                </a:solidFill>
                <a:latin typeface="Calibri" pitchFamily="34" charset="0"/>
                <a:ea typeface="Calibri" pitchFamily="34" charset="-122"/>
                <a:cs typeface="Calibri" pitchFamily="34" charset="-120"/>
              </a:rPr>
              <a:t>IN PLAIN WORDS:  </a:t>
            </a:r>
            <a:pPr indent="0" marL="0">
              <a:lnSpc>
                <a:spcPts val="1700"/>
              </a:lnSpc>
              <a:buNone/>
            </a:pPr>
            <a:r>
              <a:rPr lang="en-US" sz="1300" dirty="0">
                <a:solidFill>
                  <a:srgbClr val="1B2420"/>
                </a:solidFill>
                <a:latin typeface="Calibri" pitchFamily="34" charset="0"/>
                <a:ea typeface="Calibri" pitchFamily="34" charset="-122"/>
                <a:cs typeface="Calibri" pitchFamily="34" charset="-120"/>
              </a:rPr>
              <a:t>To take one step downhill, nudge each θ a little in whichever direction makes J smaller — the learning rate α controls how big that nudge is, and the slope (derivative) tells you which direction is 'downhill' from where you're standing.</a:t>
            </a:r>
            <a:endParaRPr lang="en-US" sz="1300" dirty="0"/>
          </a:p>
        </p:txBody>
      </p:sp>
      <p:sp>
        <p:nvSpPr>
          <p:cNvPr id="7" name="Shape 4"/>
          <p:cNvSpPr/>
          <p:nvPr/>
        </p:nvSpPr>
        <p:spPr>
          <a:xfrm>
            <a:off x="640080" y="2148840"/>
            <a:ext cx="6263640" cy="3520440"/>
          </a:xfrm>
          <a:prstGeom prst="roundRect">
            <a:avLst>
              <a:gd name="adj" fmla="val 2597"/>
            </a:avLst>
          </a:prstGeom>
          <a:solidFill>
            <a:srgbClr val="1B2420"/>
          </a:solidFill>
          <a:ln w="12700">
            <a:solidFill>
              <a:srgbClr val="333333"/>
            </a:solidFill>
            <a:prstDash val="solid"/>
          </a:ln>
        </p:spPr>
      </p:sp>
      <p:sp>
        <p:nvSpPr>
          <p:cNvPr id="8" name="Text 5"/>
          <p:cNvSpPr/>
          <p:nvPr/>
        </p:nvSpPr>
        <p:spPr>
          <a:xfrm>
            <a:off x="960120" y="2423160"/>
            <a:ext cx="5669280" cy="3017520"/>
          </a:xfrm>
          <a:prstGeom prst="rect">
            <a:avLst/>
          </a:prstGeom>
          <a:noFill/>
          <a:ln/>
        </p:spPr>
        <p:txBody>
          <a:bodyPr wrap="square" lIns="0" tIns="0" rIns="0" bIns="0" rtlCol="0" anchor="t"/>
          <a:lstStyle/>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repeat until convergence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θj := θj − α · ∂/∂θj  J(θ0, θ1)</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(update θ0 and θ1 simultaneously)</a:t>
            </a:r>
            <a:endParaRPr lang="en-US" sz="1500" dirty="0"/>
          </a:p>
        </p:txBody>
      </p:sp>
      <p:sp>
        <p:nvSpPr>
          <p:cNvPr id="9" name="Shape 6"/>
          <p:cNvSpPr/>
          <p:nvPr/>
        </p:nvSpPr>
        <p:spPr>
          <a:xfrm>
            <a:off x="7132320" y="2148840"/>
            <a:ext cx="4389120" cy="3520440"/>
          </a:xfrm>
          <a:prstGeom prst="roundRect">
            <a:avLst>
              <a:gd name="adj" fmla="val 2597"/>
            </a:avLst>
          </a:prstGeom>
          <a:solidFill>
            <a:srgbClr val="F1F3EC"/>
          </a:solidFill>
          <a:ln w="12700">
            <a:solidFill>
              <a:srgbClr val="333333"/>
            </a:solidFill>
            <a:prstDash val="solid"/>
          </a:ln>
        </p:spPr>
      </p:sp>
      <p:sp>
        <p:nvSpPr>
          <p:cNvPr id="10" name="Text 7"/>
          <p:cNvSpPr/>
          <p:nvPr/>
        </p:nvSpPr>
        <p:spPr>
          <a:xfrm>
            <a:off x="7406640" y="2331720"/>
            <a:ext cx="3840480" cy="320040"/>
          </a:xfrm>
          <a:prstGeom prst="rect">
            <a:avLst/>
          </a:prstGeom>
          <a:noFill/>
          <a:ln/>
        </p:spPr>
        <p:txBody>
          <a:bodyPr wrap="square" lIns="0" tIns="0" rIns="0" bIns="0" rtlCol="0" anchor="ctr"/>
          <a:lstStyle/>
          <a:p>
            <a:pPr indent="0" marL="0">
              <a:buNone/>
            </a:pPr>
            <a:r>
              <a:rPr lang="en-US" sz="1100" b="1" spc="100" kern="0" dirty="0">
                <a:solidFill>
                  <a:srgbClr val="7C8A80"/>
                </a:solidFill>
                <a:latin typeface="Calibri" pitchFamily="34" charset="0"/>
                <a:ea typeface="Calibri" pitchFamily="34" charset="-122"/>
                <a:cs typeface="Calibri" pitchFamily="34" charset="-120"/>
              </a:rPr>
              <a:t>WHAT EACH SYMBOL MEANS</a:t>
            </a:r>
            <a:endParaRPr lang="en-US" sz="1100" dirty="0"/>
          </a:p>
        </p:txBody>
      </p:sp>
      <p:sp>
        <p:nvSpPr>
          <p:cNvPr id="11" name="Text 8"/>
          <p:cNvSpPr/>
          <p:nvPr/>
        </p:nvSpPr>
        <p:spPr>
          <a:xfrm>
            <a:off x="7406640" y="274320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a:t>
            </a:r>
            <a:endParaRPr lang="en-US" sz="1300" dirty="0"/>
          </a:p>
        </p:txBody>
      </p:sp>
      <p:sp>
        <p:nvSpPr>
          <p:cNvPr id="12" name="Text 9"/>
          <p:cNvSpPr/>
          <p:nvPr/>
        </p:nvSpPr>
        <p:spPr>
          <a:xfrm>
            <a:off x="8503920" y="274320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"Gets updated to" — replace the old θj with this new value.</a:t>
            </a:r>
            <a:endParaRPr lang="en-US" sz="1100" dirty="0"/>
          </a:p>
        </p:txBody>
      </p:sp>
      <p:sp>
        <p:nvSpPr>
          <p:cNvPr id="13" name="Text 10"/>
          <p:cNvSpPr/>
          <p:nvPr/>
        </p:nvSpPr>
        <p:spPr>
          <a:xfrm>
            <a:off x="7406640" y="346329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θj</a:t>
            </a:r>
            <a:endParaRPr lang="en-US" sz="1300" dirty="0"/>
          </a:p>
        </p:txBody>
      </p:sp>
      <p:sp>
        <p:nvSpPr>
          <p:cNvPr id="14" name="Text 11"/>
          <p:cNvSpPr/>
          <p:nvPr/>
        </p:nvSpPr>
        <p:spPr>
          <a:xfrm>
            <a:off x="8503920" y="346329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Whichever parameter you're updating — θ0 or θ1.</a:t>
            </a:r>
            <a:endParaRPr lang="en-US" sz="1100" dirty="0"/>
          </a:p>
        </p:txBody>
      </p:sp>
      <p:sp>
        <p:nvSpPr>
          <p:cNvPr id="15" name="Text 12"/>
          <p:cNvSpPr/>
          <p:nvPr/>
        </p:nvSpPr>
        <p:spPr>
          <a:xfrm>
            <a:off x="7406640" y="418338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α</a:t>
            </a:r>
            <a:endParaRPr lang="en-US" sz="1300" dirty="0"/>
          </a:p>
        </p:txBody>
      </p:sp>
      <p:sp>
        <p:nvSpPr>
          <p:cNvPr id="16" name="Text 13"/>
          <p:cNvSpPr/>
          <p:nvPr/>
        </p:nvSpPr>
        <p:spPr>
          <a:xfrm>
            <a:off x="8503920" y="418338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Learning rate — how big a step to take. Small = slow but safe; too big = overshoots.</a:t>
            </a:r>
            <a:endParaRPr lang="en-US" sz="1100" dirty="0"/>
          </a:p>
        </p:txBody>
      </p:sp>
      <p:sp>
        <p:nvSpPr>
          <p:cNvPr id="17" name="Text 14"/>
          <p:cNvSpPr/>
          <p:nvPr/>
        </p:nvSpPr>
        <p:spPr>
          <a:xfrm>
            <a:off x="7406640" y="490347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∂/∂θj J</a:t>
            </a:r>
            <a:endParaRPr lang="en-US" sz="1300" dirty="0"/>
          </a:p>
        </p:txBody>
      </p:sp>
      <p:sp>
        <p:nvSpPr>
          <p:cNvPr id="18" name="Text 15"/>
          <p:cNvSpPr/>
          <p:nvPr/>
        </p:nvSpPr>
        <p:spPr>
          <a:xfrm>
            <a:off x="8503920" y="490347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The slope of the cost curve at your current θj — which way is downhill, and how steep.</a:t>
            </a:r>
            <a:endParaRPr lang="en-US" sz="1100" dirty="0"/>
          </a:p>
        </p:txBody>
      </p:sp>
      <p:sp>
        <p:nvSpPr>
          <p:cNvPr id="19" name="Text 16"/>
          <p:cNvSpPr/>
          <p:nvPr/>
        </p:nvSpPr>
        <p:spPr>
          <a:xfrm>
            <a:off x="640080" y="5760720"/>
            <a:ext cx="10881360" cy="502920"/>
          </a:xfrm>
          <a:prstGeom prst="rect">
            <a:avLst/>
          </a:prstGeom>
          <a:noFill/>
          <a:ln/>
        </p:spPr>
        <p:txBody>
          <a:bodyPr wrap="square" lIns="0" tIns="0" rIns="0" bIns="0" rtlCol="0" anchor="ctr"/>
          <a:lstStyle/>
          <a:p>
            <a:pPr indent="0" marL="0">
              <a:lnSpc>
                <a:spcPts val="1400"/>
              </a:lnSpc>
              <a:buNone/>
            </a:pPr>
            <a:r>
              <a:rPr lang="en-US" sz="1150" i="1" dirty="0">
                <a:solidFill>
                  <a:srgbClr val="7C8A80"/>
                </a:solidFill>
                <a:latin typeface="Calibri" pitchFamily="34" charset="0"/>
                <a:ea typeface="Calibri" pitchFamily="34" charset="-122"/>
                <a:cs typeface="Calibri" pitchFamily="34" charset="-120"/>
              </a:rPr>
              <a:t>Why subtract? If the slope is positive (curve rising to the right), subtracting moves θj left — downhill. If the slope is negative, subtracting a negative moves θj right — still downhill either way.</a:t>
            </a:r>
            <a:endParaRPr lang="en-US" sz="1150" dirty="0"/>
          </a:p>
        </p:txBody>
      </p:sp>
      <p:sp>
        <p:nvSpPr>
          <p:cNvPr id="20"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18</a:t>
            </a:r>
            <a:endParaRPr lang="en-US" sz="1000" dirty="0"/>
          </a:p>
        </p:txBody>
      </p:sp>
      <p:sp>
        <p:nvSpPr>
          <p:cNvPr id="21" name="Shape 18"/>
          <p:cNvSpPr/>
          <p:nvPr/>
        </p:nvSpPr>
        <p:spPr>
          <a:xfrm>
            <a:off x="11475720" y="6400800"/>
            <a:ext cx="329184" cy="329184"/>
          </a:xfrm>
          <a:prstGeom prst="ellipse">
            <a:avLst/>
          </a:prstGeom>
          <a:solidFill>
            <a:srgbClr val="F1F3EC"/>
          </a:solidFill>
          <a:ln w="12700">
            <a:solidFill>
              <a:srgbClr val="333333"/>
            </a:solidFill>
            <a:prstDash val="solid"/>
          </a:ln>
        </p:spPr>
      </p:sp>
      <p:sp>
        <p:nvSpPr>
          <p:cNvPr id="22" name="Text 19"/>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repeat.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400" b="1" dirty="0">
                <a:solidFill>
                  <a:srgbClr val="1B2420"/>
                </a:solidFill>
                <a:latin typeface="Cambria" pitchFamily="34" charset="0"/>
                <a:ea typeface="Cambria" pitchFamily="34" charset="-122"/>
                <a:cs typeface="Cambria" pitchFamily="34" charset="-120"/>
              </a:rPr>
              <a:t>Repeat &amp; Convergence Theorem</a:t>
            </a:r>
            <a:endParaRPr lang="en-US" sz="2400" dirty="0"/>
          </a:p>
        </p:txBody>
      </p:sp>
      <p:sp>
        <p:nvSpPr>
          <p:cNvPr id="5" name="Text 2"/>
          <p:cNvSpPr/>
          <p:nvPr/>
        </p:nvSpPr>
        <p:spPr>
          <a:xfrm>
            <a:off x="640080" y="1600200"/>
            <a:ext cx="6675120" cy="4297680"/>
          </a:xfrm>
          <a:prstGeom prst="rect">
            <a:avLst/>
          </a:prstGeom>
          <a:noFill/>
          <a:ln/>
        </p:spPr>
        <p:txBody>
          <a:bodyPr wrap="square" lIns="0" tIns="0" rIns="0" bIns="0" rtlCol="0" anchor="ctr"/>
          <a:lstStyle/>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At each step, gradient descent nudges θ0 and θ1 slightly in the direction that reduces J the fastest.</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It repeats this update over and over — that's the 'Repeat' part of the convergence theorem.</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Convergence means the steps get smaller and smaller as you approach the minimum, until J stops meaningfully decreasing.</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At that point, the algorithm has found (or nearly found) the optimal θ0 and θ1.</a:t>
            </a:r>
            <a:endParaRPr lang="en-US" sz="1550" dirty="0"/>
          </a:p>
        </p:txBody>
      </p:sp>
      <p:sp>
        <p:nvSpPr>
          <p:cNvPr id="6" name="Shape 3"/>
          <p:cNvSpPr/>
          <p:nvPr/>
        </p:nvSpPr>
        <p:spPr>
          <a:xfrm>
            <a:off x="8229600" y="1828800"/>
            <a:ext cx="3337560" cy="3566160"/>
          </a:xfrm>
          <a:prstGeom prst="roundRect">
            <a:avLst>
              <a:gd name="adj" fmla="val 3288"/>
            </a:avLst>
          </a:prstGeom>
          <a:solidFill>
            <a:srgbClr val="F1F3EC"/>
          </a:solidFill>
          <a:ln w="12700">
            <a:solidFill>
              <a:srgbClr val="333333"/>
            </a:solidFill>
            <a:prstDash val="solid"/>
          </a:ln>
        </p:spPr>
      </p:sp>
      <p:sp>
        <p:nvSpPr>
          <p:cNvPr id="7" name="Shape 4"/>
          <p:cNvSpPr/>
          <p:nvPr/>
        </p:nvSpPr>
        <p:spPr>
          <a:xfrm>
            <a:off x="9441180" y="2331720"/>
            <a:ext cx="914400" cy="914400"/>
          </a:xfrm>
          <a:prstGeom prst="ellipse">
            <a:avLst/>
          </a:prstGeom>
          <a:solidFill>
            <a:srgbClr val="C98A2B"/>
          </a:solidFill>
          <a:ln w="12700">
            <a:solidFill>
              <a:srgbClr val="333333"/>
            </a:solidFill>
            <a:prstDash val="solid"/>
          </a:ln>
        </p:spPr>
      </p:sp>
      <p:pic>
        <p:nvPicPr>
          <p:cNvPr id="8" name="Image 1" descr="/home/claude/work/icons_png/repeat.png">    </p:cNvPr>
          <p:cNvPicPr>
            <a:picLocks noChangeAspect="1"/>
          </p:cNvPicPr>
          <p:nvPr/>
        </p:nvPicPr>
        <p:blipFill>
          <a:blip r:embed="rId2"/>
          <a:stretch>
            <a:fillRect/>
          </a:stretch>
        </p:blipFill>
        <p:spPr>
          <a:xfrm>
            <a:off x="9642348" y="2532888"/>
            <a:ext cx="512064" cy="512064"/>
          </a:xfrm>
          <a:prstGeom prst="rect">
            <a:avLst/>
          </a:prstGeom>
        </p:spPr>
      </p:pic>
      <p:sp>
        <p:nvSpPr>
          <p:cNvPr id="9" name="Text 5"/>
          <p:cNvSpPr/>
          <p:nvPr/>
        </p:nvSpPr>
        <p:spPr>
          <a:xfrm>
            <a:off x="8458200" y="3520440"/>
            <a:ext cx="2880360" cy="1554480"/>
          </a:xfrm>
          <a:prstGeom prst="rect">
            <a:avLst/>
          </a:prstGeom>
          <a:noFill/>
          <a:ln/>
        </p:spPr>
        <p:txBody>
          <a:bodyPr wrap="square" lIns="0" tIns="0" rIns="0" bIns="0" rtlCol="0" anchor="t"/>
          <a:lstStyle/>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Repeat until</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J stops</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decreasing</a:t>
            </a:r>
            <a:endParaRPr lang="en-US" sz="1700" dirty="0"/>
          </a:p>
        </p:txBody>
      </p:sp>
      <p:sp>
        <p:nvSpPr>
          <p:cNvPr id="10"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19</a:t>
            </a:r>
            <a:endParaRPr lang="en-US" sz="1000" dirty="0"/>
          </a:p>
        </p:txBody>
      </p:sp>
      <p:sp>
        <p:nvSpPr>
          <p:cNvPr id="11" name="Shape 7"/>
          <p:cNvSpPr/>
          <p:nvPr/>
        </p:nvSpPr>
        <p:spPr>
          <a:xfrm>
            <a:off x="11475720" y="6400800"/>
            <a:ext cx="329184" cy="329184"/>
          </a:xfrm>
          <a:prstGeom prst="ellipse">
            <a:avLst/>
          </a:prstGeom>
          <a:solidFill>
            <a:srgbClr val="F1F3EC"/>
          </a:solidFill>
          <a:ln w="12700">
            <a:solidFill>
              <a:srgbClr val="333333"/>
            </a:solidFill>
            <a:prstDash val="solid"/>
          </a:ln>
        </p:spPr>
      </p:sp>
      <p:sp>
        <p:nvSpPr>
          <p:cNvPr id="12" name="Text 8"/>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sliders.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400" b="1" dirty="0">
                <a:solidFill>
                  <a:srgbClr val="1B2420"/>
                </a:solidFill>
                <a:latin typeface="Cambria" pitchFamily="34" charset="0"/>
                <a:ea typeface="Cambria" pitchFamily="34" charset="-122"/>
                <a:cs typeface="Cambria" pitchFamily="34" charset="-120"/>
              </a:rPr>
              <a:t>The Learning Rate (α)</a:t>
            </a:r>
            <a:endParaRPr lang="en-US" sz="2400" dirty="0"/>
          </a:p>
        </p:txBody>
      </p:sp>
      <p:sp>
        <p:nvSpPr>
          <p:cNvPr id="5" name="Text 2"/>
          <p:cNvSpPr/>
          <p:nvPr/>
        </p:nvSpPr>
        <p:spPr>
          <a:xfrm>
            <a:off x="640080" y="1600200"/>
            <a:ext cx="6675120" cy="4297680"/>
          </a:xfrm>
          <a:prstGeom prst="rect">
            <a:avLst/>
          </a:prstGeom>
          <a:noFill/>
          <a:ln/>
        </p:spPr>
        <p:txBody>
          <a:bodyPr wrap="square" lIns="0" tIns="0" rIns="0" bIns="0" rtlCol="0" anchor="ctr"/>
          <a:lstStyle/>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The learning rate α controls how big each step downhill is.</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Too small an α — the model learns correctly but painfully slowly, taking many iterations.</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Too large an α — the steps overshoot the minimum and the algorithm can bounce around or even diverge.</a:t>
            </a:r>
            <a:endParaRPr lang="en-US" sz="1550" dirty="0"/>
          </a:p>
          <a:p>
            <a:pPr marL="228600" indent="-228600">
              <a:lnSpc>
                <a:spcPts val="2200"/>
              </a:lnSpc>
              <a:spcAft>
                <a:spcPts val="1400"/>
              </a:spcAft>
              <a:buSzPct val="100000"/>
              <a:buChar char="▪"/>
            </a:pPr>
            <a:r>
              <a:rPr lang="en-US" sz="1550" dirty="0">
                <a:solidFill>
                  <a:srgbClr val="1B2420"/>
                </a:solidFill>
                <a:latin typeface="Calibri" pitchFamily="34" charset="0"/>
                <a:ea typeface="Calibri" pitchFamily="34" charset="-122"/>
                <a:cs typeface="Calibri" pitchFamily="34" charset="-120"/>
              </a:rPr>
              <a:t>Picking a good α is one of the first 'tuning knobs' you learn to adjust in any ML model.</a:t>
            </a:r>
            <a:endParaRPr lang="en-US" sz="1550" dirty="0"/>
          </a:p>
        </p:txBody>
      </p:sp>
      <p:sp>
        <p:nvSpPr>
          <p:cNvPr id="6" name="Shape 3"/>
          <p:cNvSpPr/>
          <p:nvPr/>
        </p:nvSpPr>
        <p:spPr>
          <a:xfrm>
            <a:off x="8229600" y="1828800"/>
            <a:ext cx="3337560" cy="3566160"/>
          </a:xfrm>
          <a:prstGeom prst="roundRect">
            <a:avLst>
              <a:gd name="adj" fmla="val 3288"/>
            </a:avLst>
          </a:prstGeom>
          <a:solidFill>
            <a:srgbClr val="F1F3EC"/>
          </a:solidFill>
          <a:ln w="12700">
            <a:solidFill>
              <a:srgbClr val="333333"/>
            </a:solidFill>
            <a:prstDash val="solid"/>
          </a:ln>
        </p:spPr>
      </p:sp>
      <p:sp>
        <p:nvSpPr>
          <p:cNvPr id="7" name="Shape 4"/>
          <p:cNvSpPr/>
          <p:nvPr/>
        </p:nvSpPr>
        <p:spPr>
          <a:xfrm>
            <a:off x="9441180" y="2331720"/>
            <a:ext cx="914400" cy="914400"/>
          </a:xfrm>
          <a:prstGeom prst="ellipse">
            <a:avLst/>
          </a:prstGeom>
          <a:solidFill>
            <a:srgbClr val="A5473F"/>
          </a:solidFill>
          <a:ln w="12700">
            <a:solidFill>
              <a:srgbClr val="333333"/>
            </a:solidFill>
            <a:prstDash val="solid"/>
          </a:ln>
        </p:spPr>
      </p:sp>
      <p:pic>
        <p:nvPicPr>
          <p:cNvPr id="8" name="Image 1" descr="/home/claude/work/icons_png/sliders.png">    </p:cNvPr>
          <p:cNvPicPr>
            <a:picLocks noChangeAspect="1"/>
          </p:cNvPicPr>
          <p:nvPr/>
        </p:nvPicPr>
        <p:blipFill>
          <a:blip r:embed="rId2"/>
          <a:stretch>
            <a:fillRect/>
          </a:stretch>
        </p:blipFill>
        <p:spPr>
          <a:xfrm>
            <a:off x="9642348" y="2532888"/>
            <a:ext cx="512064" cy="512064"/>
          </a:xfrm>
          <a:prstGeom prst="rect">
            <a:avLst/>
          </a:prstGeom>
        </p:spPr>
      </p:pic>
      <p:sp>
        <p:nvSpPr>
          <p:cNvPr id="9" name="Text 5"/>
          <p:cNvSpPr/>
          <p:nvPr/>
        </p:nvSpPr>
        <p:spPr>
          <a:xfrm>
            <a:off x="8458200" y="3520440"/>
            <a:ext cx="2880360" cy="1554480"/>
          </a:xfrm>
          <a:prstGeom prst="rect">
            <a:avLst/>
          </a:prstGeom>
          <a:noFill/>
          <a:ln/>
        </p:spPr>
        <p:txBody>
          <a:bodyPr wrap="square" lIns="0" tIns="0" rIns="0" bIns="0" rtlCol="0" anchor="t"/>
          <a:lstStyle/>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α too big →</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overshoots</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α too small →</a:t>
            </a:r>
            <a:endParaRPr lang="en-US" sz="1700" dirty="0"/>
          </a:p>
          <a:p>
            <a:pPr algn="ctr" indent="0" marL="0">
              <a:lnSpc>
                <a:spcPts val="2100"/>
              </a:lnSpc>
              <a:buNone/>
            </a:pPr>
            <a:r>
              <a:rPr lang="en-US" sz="1700" b="1" dirty="0">
                <a:solidFill>
                  <a:srgbClr val="1B2420"/>
                </a:solidFill>
                <a:latin typeface="Cambria" pitchFamily="34" charset="0"/>
                <a:ea typeface="Cambria" pitchFamily="34" charset="-122"/>
                <a:cs typeface="Cambria" pitchFamily="34" charset="-120"/>
              </a:rPr>
              <a:t>too slow</a:t>
            </a:r>
            <a:endParaRPr lang="en-US" sz="1700" dirty="0"/>
          </a:p>
        </p:txBody>
      </p:sp>
      <p:sp>
        <p:nvSpPr>
          <p:cNvPr id="10"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20</a:t>
            </a:r>
            <a:endParaRPr lang="en-US" sz="1000" dirty="0"/>
          </a:p>
        </p:txBody>
      </p:sp>
      <p:sp>
        <p:nvSpPr>
          <p:cNvPr id="11" name="Shape 7"/>
          <p:cNvSpPr/>
          <p:nvPr/>
        </p:nvSpPr>
        <p:spPr>
          <a:xfrm>
            <a:off x="11475720" y="6400800"/>
            <a:ext cx="329184" cy="329184"/>
          </a:xfrm>
          <a:prstGeom prst="ellipse">
            <a:avLst/>
          </a:prstGeom>
          <a:solidFill>
            <a:srgbClr val="F1F3EC"/>
          </a:solidFill>
          <a:ln w="12700">
            <a:solidFill>
              <a:srgbClr val="333333"/>
            </a:solidFill>
            <a:prstDash val="solid"/>
          </a:ln>
        </p:spPr>
      </p:sp>
      <p:sp>
        <p:nvSpPr>
          <p:cNvPr id="12" name="Text 8"/>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052560" y="-1371600"/>
            <a:ext cx="4114800" cy="4114800"/>
          </a:xfrm>
          <a:prstGeom prst="ellipse">
            <a:avLst/>
          </a:prstGeom>
          <a:solidFill>
            <a:srgbClr val="184038"/>
          </a:solidFill>
          <a:ln w="12700">
            <a:solidFill>
              <a:srgbClr val="333333"/>
            </a:solidFill>
            <a:prstDash val="solid"/>
          </a:ln>
        </p:spPr>
      </p:sp>
      <p:sp>
        <p:nvSpPr>
          <p:cNvPr id="3" name="Shape 1"/>
          <p:cNvSpPr/>
          <p:nvPr/>
        </p:nvSpPr>
        <p:spPr>
          <a:xfrm>
            <a:off x="5547208" y="1371600"/>
            <a:ext cx="1097280" cy="1097280"/>
          </a:xfrm>
          <a:prstGeom prst="ellipse">
            <a:avLst/>
          </a:prstGeom>
          <a:solidFill>
            <a:srgbClr val="2C6E63"/>
          </a:solidFill>
          <a:ln w="12700">
            <a:solidFill>
              <a:srgbClr val="333333"/>
            </a:solidFill>
            <a:prstDash val="solid"/>
          </a:ln>
        </p:spPr>
      </p:sp>
      <p:pic>
        <p:nvPicPr>
          <p:cNvPr id="4" name="Image 0" descr="/home/claude/work/icons_png/box.png">    </p:cNvPr>
          <p:cNvPicPr>
            <a:picLocks noChangeAspect="1"/>
          </p:cNvPicPr>
          <p:nvPr/>
        </p:nvPicPr>
        <p:blipFill>
          <a:blip r:embed="rId1"/>
          <a:stretch>
            <a:fillRect/>
          </a:stretch>
        </p:blipFill>
        <p:spPr>
          <a:xfrm>
            <a:off x="5794096" y="1618488"/>
            <a:ext cx="603504" cy="603504"/>
          </a:xfrm>
          <a:prstGeom prst="rect">
            <a:avLst/>
          </a:prstGeom>
        </p:spPr>
      </p:pic>
      <p:sp>
        <p:nvSpPr>
          <p:cNvPr id="5" name="Text 2"/>
          <p:cNvSpPr/>
          <p:nvPr/>
        </p:nvSpPr>
        <p:spPr>
          <a:xfrm>
            <a:off x="0" y="2788920"/>
            <a:ext cx="12191695" cy="365760"/>
          </a:xfrm>
          <a:prstGeom prst="rect">
            <a:avLst/>
          </a:prstGeom>
          <a:noFill/>
          <a:ln/>
        </p:spPr>
        <p:txBody>
          <a:bodyPr wrap="square" lIns="0" tIns="0" rIns="0" bIns="0" rtlCol="0" anchor="ctr"/>
          <a:lstStyle/>
          <a:p>
            <a:pPr algn="ctr" indent="0" marL="0">
              <a:buNone/>
            </a:pPr>
            <a:r>
              <a:rPr lang="en-US" sz="1400" spc="300" kern="0" dirty="0">
                <a:solidFill>
                  <a:srgbClr val="E7C588"/>
                </a:solidFill>
                <a:latin typeface="Calibri" pitchFamily="34" charset="0"/>
                <a:ea typeface="Calibri" pitchFamily="34" charset="-122"/>
                <a:cs typeface="Calibri" pitchFamily="34" charset="-120"/>
              </a:rPr>
              <a:t>PART 5</a:t>
            </a:r>
            <a:endParaRPr lang="en-US" sz="1400" dirty="0"/>
          </a:p>
        </p:txBody>
      </p:sp>
      <p:sp>
        <p:nvSpPr>
          <p:cNvPr id="6" name="Text 3"/>
          <p:cNvSpPr/>
          <p:nvPr/>
        </p:nvSpPr>
        <p:spPr>
          <a:xfrm>
            <a:off x="914400" y="3200400"/>
            <a:ext cx="10362895"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Multiple Linear Regression</a:t>
            </a:r>
            <a:endParaRPr lang="en-US" sz="3400" dirty="0"/>
          </a:p>
        </p:txBody>
      </p:sp>
      <p:sp>
        <p:nvSpPr>
          <p:cNvPr id="7" name="Text 4"/>
          <p:cNvSpPr/>
          <p:nvPr/>
        </p:nvSpPr>
        <p:spPr>
          <a:xfrm>
            <a:off x="1828800" y="4343400"/>
            <a:ext cx="8534095" cy="457200"/>
          </a:xfrm>
          <a:prstGeom prst="rect">
            <a:avLst/>
          </a:prstGeom>
          <a:noFill/>
          <a:ln/>
        </p:spPr>
        <p:txBody>
          <a:bodyPr wrap="square" lIns="0" tIns="0" rIns="0" bIns="0" rtlCol="0" anchor="ctr"/>
          <a:lstStyle/>
          <a:p>
            <a:pPr algn="ctr" indent="0" marL="0">
              <a:buNone/>
            </a:pPr>
            <a:r>
              <a:rPr lang="en-US" sz="1500" i="1" dirty="0">
                <a:solidFill>
                  <a:srgbClr val="C9D3CC"/>
                </a:solidFill>
                <a:latin typeface="Calibri" pitchFamily="34" charset="0"/>
                <a:ea typeface="Calibri" pitchFamily="34" charset="-122"/>
                <a:cs typeface="Calibri" pitchFamily="34" charset="-120"/>
              </a:rPr>
              <a:t>When more than one feature drives the prediction</a:t>
            </a:r>
            <a:endParaRPr lang="en-US" sz="15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2C6E63"/>
          </a:solidFill>
          <a:ln w="12700">
            <a:solidFill>
              <a:srgbClr val="333333"/>
            </a:solidFill>
            <a:prstDash val="solid"/>
          </a:ln>
        </p:spPr>
      </p:sp>
      <p:pic>
        <p:nvPicPr>
          <p:cNvPr id="3" name="Image 0" descr="/home/claude/work/icons_png/layers3.png">    </p:cNvPr>
          <p:cNvPicPr>
            <a:picLocks noChangeAspect="1"/>
          </p:cNvPicPr>
          <p:nvPr/>
        </p:nvPicPr>
        <p:blipFill>
          <a:blip r:embed="rId1"/>
          <a:stretch>
            <a:fillRect/>
          </a:stretch>
        </p:blipFill>
        <p:spPr>
          <a:xfrm>
            <a:off x="763524" y="580644"/>
            <a:ext cx="320040" cy="320040"/>
          </a:xfrm>
          <a:prstGeom prst="rect">
            <a:avLst/>
          </a:prstGeom>
        </p:spPr>
      </p:pic>
      <p:sp>
        <p:nvSpPr>
          <p:cNvPr id="4" name="Text 1"/>
          <p:cNvSpPr/>
          <p:nvPr/>
        </p:nvSpPr>
        <p:spPr>
          <a:xfrm>
            <a:off x="1353312" y="457200"/>
            <a:ext cx="9326880" cy="566928"/>
          </a:xfrm>
          <a:prstGeom prst="rect">
            <a:avLst/>
          </a:prstGeom>
          <a:noFill/>
          <a:ln/>
        </p:spPr>
        <p:txBody>
          <a:bodyPr wrap="square" lIns="0" tIns="0" rIns="0" bIns="0" rtlCol="0" anchor="ctr"/>
          <a:lstStyle/>
          <a:p>
            <a:pPr indent="0" marL="0">
              <a:buNone/>
            </a:pPr>
            <a:r>
              <a:rPr lang="en-US" sz="2100" b="1" dirty="0">
                <a:solidFill>
                  <a:srgbClr val="1B2420"/>
                </a:solidFill>
                <a:latin typeface="Cambria" pitchFamily="34" charset="0"/>
                <a:ea typeface="Cambria" pitchFamily="34" charset="-122"/>
                <a:cs typeface="Cambria" pitchFamily="34" charset="-120"/>
              </a:rPr>
              <a:t>Multiple Linear Regression — In Depth</a:t>
            </a:r>
            <a:endParaRPr lang="en-US" sz="2100" dirty="0"/>
          </a:p>
        </p:txBody>
      </p:sp>
      <p:sp>
        <p:nvSpPr>
          <p:cNvPr id="5" name="Shape 2"/>
          <p:cNvSpPr/>
          <p:nvPr/>
        </p:nvSpPr>
        <p:spPr>
          <a:xfrm>
            <a:off x="640080" y="1170432"/>
            <a:ext cx="10881360" cy="786384"/>
          </a:xfrm>
          <a:prstGeom prst="roundRect">
            <a:avLst>
              <a:gd name="adj" fmla="val 9302"/>
            </a:avLst>
          </a:prstGeom>
          <a:solidFill>
            <a:srgbClr val="F1F3EC"/>
          </a:solidFill>
          <a:ln w="12700">
            <a:solidFill>
              <a:srgbClr val="333333"/>
            </a:solidFill>
            <a:prstDash val="solid"/>
          </a:ln>
        </p:spPr>
      </p:sp>
      <p:sp>
        <p:nvSpPr>
          <p:cNvPr id="6" name="Text 3"/>
          <p:cNvSpPr/>
          <p:nvPr/>
        </p:nvSpPr>
        <p:spPr>
          <a:xfrm>
            <a:off x="868680" y="1170432"/>
            <a:ext cx="10424160" cy="786384"/>
          </a:xfrm>
          <a:prstGeom prst="rect">
            <a:avLst/>
          </a:prstGeom>
          <a:noFill/>
          <a:ln/>
        </p:spPr>
        <p:txBody>
          <a:bodyPr wrap="square" lIns="0" tIns="0" rIns="0" bIns="0" rtlCol="0" anchor="ctr"/>
          <a:lstStyle/>
          <a:p>
            <a:pPr indent="0" marL="0">
              <a:lnSpc>
                <a:spcPts val="1700"/>
              </a:lnSpc>
              <a:buNone/>
            </a:pPr>
            <a:r>
              <a:rPr lang="en-US" sz="1300" b="1" dirty="0">
                <a:solidFill>
                  <a:srgbClr val="2C6E63"/>
                </a:solidFill>
                <a:latin typeface="Calibri" pitchFamily="34" charset="0"/>
                <a:ea typeface="Calibri" pitchFamily="34" charset="-122"/>
                <a:cs typeface="Calibri" pitchFamily="34" charset="-120"/>
              </a:rPr>
              <a:t>IN PLAIN WORDS:  </a:t>
            </a:r>
            <a:pPr indent="0" marL="0">
              <a:lnSpc>
                <a:spcPts val="1700"/>
              </a:lnSpc>
              <a:buNone/>
            </a:pPr>
            <a:r>
              <a:rPr lang="en-US" sz="1300" dirty="0">
                <a:solidFill>
                  <a:srgbClr val="1B2420"/>
                </a:solidFill>
                <a:latin typeface="Calibri" pitchFamily="34" charset="0"/>
                <a:ea typeface="Calibri" pitchFamily="34" charset="-122"/>
                <a:cs typeface="Calibri" pitchFamily="34" charset="-120"/>
              </a:rPr>
              <a:t>Instead of one input driving the prediction, now every feature gets its own weight (θ). The prediction is just the intercept plus each feature multiplied by how much it matters — all added together.</a:t>
            </a:r>
            <a:endParaRPr lang="en-US" sz="1300" dirty="0"/>
          </a:p>
        </p:txBody>
      </p:sp>
      <p:sp>
        <p:nvSpPr>
          <p:cNvPr id="7" name="Shape 4"/>
          <p:cNvSpPr/>
          <p:nvPr/>
        </p:nvSpPr>
        <p:spPr>
          <a:xfrm>
            <a:off x="640080" y="2148840"/>
            <a:ext cx="6263640" cy="3520440"/>
          </a:xfrm>
          <a:prstGeom prst="roundRect">
            <a:avLst>
              <a:gd name="adj" fmla="val 2597"/>
            </a:avLst>
          </a:prstGeom>
          <a:solidFill>
            <a:srgbClr val="1B2420"/>
          </a:solidFill>
          <a:ln w="12700">
            <a:solidFill>
              <a:srgbClr val="333333"/>
            </a:solidFill>
            <a:prstDash val="solid"/>
          </a:ln>
        </p:spPr>
      </p:sp>
      <p:sp>
        <p:nvSpPr>
          <p:cNvPr id="8" name="Text 5"/>
          <p:cNvSpPr/>
          <p:nvPr/>
        </p:nvSpPr>
        <p:spPr>
          <a:xfrm>
            <a:off x="960120" y="2423160"/>
            <a:ext cx="5669280" cy="3017520"/>
          </a:xfrm>
          <a:prstGeom prst="rect">
            <a:avLst/>
          </a:prstGeom>
          <a:noFill/>
          <a:ln/>
        </p:spPr>
        <p:txBody>
          <a:bodyPr wrap="square" lIns="0" tIns="0" rIns="0" bIns="0" rtlCol="0" anchor="t"/>
          <a:lstStyle/>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Simple:    h(θ) = θ0 + θ1·x1</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Multiple:  h(θ) = θ0 + θ1·x1 + θ2·x2 + θ3·x3</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 ... + θn·xn</a:t>
            </a:r>
            <a:endParaRPr lang="en-US" sz="1500" dirty="0"/>
          </a:p>
        </p:txBody>
      </p:sp>
      <p:sp>
        <p:nvSpPr>
          <p:cNvPr id="9" name="Shape 6"/>
          <p:cNvSpPr/>
          <p:nvPr/>
        </p:nvSpPr>
        <p:spPr>
          <a:xfrm>
            <a:off x="7132320" y="2148840"/>
            <a:ext cx="4389120" cy="3520440"/>
          </a:xfrm>
          <a:prstGeom prst="roundRect">
            <a:avLst>
              <a:gd name="adj" fmla="val 2597"/>
            </a:avLst>
          </a:prstGeom>
          <a:solidFill>
            <a:srgbClr val="F1F3EC"/>
          </a:solidFill>
          <a:ln w="12700">
            <a:solidFill>
              <a:srgbClr val="333333"/>
            </a:solidFill>
            <a:prstDash val="solid"/>
          </a:ln>
        </p:spPr>
      </p:sp>
      <p:sp>
        <p:nvSpPr>
          <p:cNvPr id="10" name="Text 7"/>
          <p:cNvSpPr/>
          <p:nvPr/>
        </p:nvSpPr>
        <p:spPr>
          <a:xfrm>
            <a:off x="7406640" y="2331720"/>
            <a:ext cx="3840480" cy="320040"/>
          </a:xfrm>
          <a:prstGeom prst="rect">
            <a:avLst/>
          </a:prstGeom>
          <a:noFill/>
          <a:ln/>
        </p:spPr>
        <p:txBody>
          <a:bodyPr wrap="square" lIns="0" tIns="0" rIns="0" bIns="0" rtlCol="0" anchor="ctr"/>
          <a:lstStyle/>
          <a:p>
            <a:pPr indent="0" marL="0">
              <a:buNone/>
            </a:pPr>
            <a:r>
              <a:rPr lang="en-US" sz="1100" b="1" spc="100" kern="0" dirty="0">
                <a:solidFill>
                  <a:srgbClr val="7C8A80"/>
                </a:solidFill>
                <a:latin typeface="Calibri" pitchFamily="34" charset="0"/>
                <a:ea typeface="Calibri" pitchFamily="34" charset="-122"/>
                <a:cs typeface="Calibri" pitchFamily="34" charset="-120"/>
              </a:rPr>
              <a:t>WHAT EACH SYMBOL MEANS</a:t>
            </a:r>
            <a:endParaRPr lang="en-US" sz="1100" dirty="0"/>
          </a:p>
        </p:txBody>
      </p:sp>
      <p:sp>
        <p:nvSpPr>
          <p:cNvPr id="11" name="Text 8"/>
          <p:cNvSpPr/>
          <p:nvPr/>
        </p:nvSpPr>
        <p:spPr>
          <a:xfrm>
            <a:off x="7406640" y="274320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θ0</a:t>
            </a:r>
            <a:endParaRPr lang="en-US" sz="1300" dirty="0"/>
          </a:p>
        </p:txBody>
      </p:sp>
      <p:sp>
        <p:nvSpPr>
          <p:cNvPr id="12" name="Text 9"/>
          <p:cNvSpPr/>
          <p:nvPr/>
        </p:nvSpPr>
        <p:spPr>
          <a:xfrm>
            <a:off x="8503920" y="274320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The intercept — the baseline prediction when every feature is 0.</a:t>
            </a:r>
            <a:endParaRPr lang="en-US" sz="1100" dirty="0"/>
          </a:p>
        </p:txBody>
      </p:sp>
      <p:sp>
        <p:nvSpPr>
          <p:cNvPr id="13" name="Text 10"/>
          <p:cNvSpPr/>
          <p:nvPr/>
        </p:nvSpPr>
        <p:spPr>
          <a:xfrm>
            <a:off x="7406640" y="346329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x1, x2…xn</a:t>
            </a:r>
            <a:endParaRPr lang="en-US" sz="1300" dirty="0"/>
          </a:p>
        </p:txBody>
      </p:sp>
      <p:sp>
        <p:nvSpPr>
          <p:cNvPr id="14" name="Text 11"/>
          <p:cNvSpPr/>
          <p:nvPr/>
        </p:nvSpPr>
        <p:spPr>
          <a:xfrm>
            <a:off x="8503920" y="346329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Each individual feature — e.g. Age, Location, Years of Experience.</a:t>
            </a:r>
            <a:endParaRPr lang="en-US" sz="1100" dirty="0"/>
          </a:p>
        </p:txBody>
      </p:sp>
      <p:sp>
        <p:nvSpPr>
          <p:cNvPr id="15" name="Text 12"/>
          <p:cNvSpPr/>
          <p:nvPr/>
        </p:nvSpPr>
        <p:spPr>
          <a:xfrm>
            <a:off x="7406640" y="418338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θ1, θ2…θn</a:t>
            </a:r>
            <a:endParaRPr lang="en-US" sz="1300" dirty="0"/>
          </a:p>
        </p:txBody>
      </p:sp>
      <p:sp>
        <p:nvSpPr>
          <p:cNvPr id="16" name="Text 13"/>
          <p:cNvSpPr/>
          <p:nvPr/>
        </p:nvSpPr>
        <p:spPr>
          <a:xfrm>
            <a:off x="8503920" y="418338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Each feature's own weight — how much that feature pushes the prediction up or down.</a:t>
            </a:r>
            <a:endParaRPr lang="en-US" sz="1100" dirty="0"/>
          </a:p>
        </p:txBody>
      </p:sp>
      <p:sp>
        <p:nvSpPr>
          <p:cNvPr id="17" name="Text 14"/>
          <p:cNvSpPr/>
          <p:nvPr/>
        </p:nvSpPr>
        <p:spPr>
          <a:xfrm>
            <a:off x="7406640" y="490347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n</a:t>
            </a:r>
            <a:endParaRPr lang="en-US" sz="1300" dirty="0"/>
          </a:p>
        </p:txBody>
      </p:sp>
      <p:sp>
        <p:nvSpPr>
          <p:cNvPr id="18" name="Text 15"/>
          <p:cNvSpPr/>
          <p:nvPr/>
        </p:nvSpPr>
        <p:spPr>
          <a:xfrm>
            <a:off x="8503920" y="490347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The total number of features being used.</a:t>
            </a:r>
            <a:endParaRPr lang="en-US" sz="1100" dirty="0"/>
          </a:p>
        </p:txBody>
      </p:sp>
      <p:sp>
        <p:nvSpPr>
          <p:cNvPr id="19" name="Text 16"/>
          <p:cNvSpPr/>
          <p:nvPr/>
        </p:nvSpPr>
        <p:spPr>
          <a:xfrm>
            <a:off x="640080" y="5760720"/>
            <a:ext cx="10881360" cy="502920"/>
          </a:xfrm>
          <a:prstGeom prst="rect">
            <a:avLst/>
          </a:prstGeom>
          <a:noFill/>
          <a:ln/>
        </p:spPr>
        <p:txBody>
          <a:bodyPr wrap="square" lIns="0" tIns="0" rIns="0" bIns="0" rtlCol="0" anchor="ctr"/>
          <a:lstStyle/>
          <a:p>
            <a:pPr indent="0" marL="0">
              <a:lnSpc>
                <a:spcPts val="1400"/>
              </a:lnSpc>
              <a:buNone/>
            </a:pPr>
            <a:r>
              <a:rPr lang="en-US" sz="1150" i="1" dirty="0">
                <a:solidFill>
                  <a:srgbClr val="7C8A80"/>
                </a:solidFill>
                <a:latin typeface="Calibri" pitchFamily="34" charset="0"/>
                <a:ea typeface="Calibri" pitchFamily="34" charset="-122"/>
                <a:cs typeface="Calibri" pitchFamily="34" charset="-120"/>
              </a:rPr>
              <a:t>Example: predicting Salary from Age, Location, and Experience — each feature gets multiplied by its own θ, then everything is summed into one prediction.</a:t>
            </a:r>
            <a:endParaRPr lang="en-US" sz="1150" dirty="0"/>
          </a:p>
        </p:txBody>
      </p:sp>
      <p:sp>
        <p:nvSpPr>
          <p:cNvPr id="20"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22</a:t>
            </a:r>
            <a:endParaRPr lang="en-US" sz="1000" dirty="0"/>
          </a:p>
        </p:txBody>
      </p:sp>
      <p:sp>
        <p:nvSpPr>
          <p:cNvPr id="21" name="Shape 18"/>
          <p:cNvSpPr/>
          <p:nvPr/>
        </p:nvSpPr>
        <p:spPr>
          <a:xfrm>
            <a:off x="11475720" y="6400800"/>
            <a:ext cx="329184" cy="329184"/>
          </a:xfrm>
          <a:prstGeom prst="ellipse">
            <a:avLst/>
          </a:prstGeom>
          <a:solidFill>
            <a:srgbClr val="F1F3EC"/>
          </a:solidFill>
          <a:ln w="12700">
            <a:solidFill>
              <a:srgbClr val="333333"/>
            </a:solidFill>
            <a:prstDash val="solid"/>
          </a:ln>
        </p:spPr>
      </p:sp>
      <p:sp>
        <p:nvSpPr>
          <p:cNvPr id="22" name="Text 19"/>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box.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The Hyperplane</a:t>
            </a:r>
            <a:endParaRPr lang="en-US" sz="2300" dirty="0"/>
          </a:p>
        </p:txBody>
      </p:sp>
      <p:sp>
        <p:nvSpPr>
          <p:cNvPr id="5" name="Text 2"/>
          <p:cNvSpPr/>
          <p:nvPr/>
        </p:nvSpPr>
        <p:spPr>
          <a:xfrm>
            <a:off x="640080" y="1417320"/>
            <a:ext cx="5394960" cy="448056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With one feature, the best fit is a line. With two features, it becomes a flat plane cutting through 3D space.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With three or more features, it's called a hyperplane — the same idea generalized to higher dimensions we can't directly visualize.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Each axis (x1, x2, x3…) represents one feature, and the hyperplane still tries to sit as close as possible to every data point.</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The math scales up cleanly — same cost function, same gradient descent, just more θ parameters to solve for.</a:t>
            </a:r>
            <a:endParaRPr lang="en-US" sz="1350" dirty="0"/>
          </a:p>
        </p:txBody>
      </p:sp>
      <p:sp>
        <p:nvSpPr>
          <p:cNvPr id="6" name="Shape 3"/>
          <p:cNvSpPr/>
          <p:nvPr/>
        </p:nvSpPr>
        <p:spPr>
          <a:xfrm>
            <a:off x="6172200" y="1417320"/>
            <a:ext cx="4846320" cy="3931920"/>
          </a:xfrm>
          <a:prstGeom prst="roundRect">
            <a:avLst>
              <a:gd name="adj" fmla="val 2326"/>
            </a:avLst>
          </a:prstGeom>
          <a:solidFill>
            <a:srgbClr val="F1F3EC"/>
          </a:solidFill>
          <a:ln w="12700">
            <a:solidFill>
              <a:srgbClr val="333333"/>
            </a:solidFill>
            <a:prstDash val="solid"/>
          </a:ln>
        </p:spPr>
      </p:sp>
      <p:pic>
        <p:nvPicPr>
          <p:cNvPr id="7" name="Image 1" descr="/home/claude/work/charts/hyperplane.png">    </p:cNvPr>
          <p:cNvPicPr>
            <a:picLocks noChangeAspect="1"/>
          </p:cNvPicPr>
          <p:nvPr/>
        </p:nvPicPr>
        <p:blipFill>
          <a:blip r:embed="rId2"/>
          <a:srcRect l="0" r="0" t="0" b="0"/>
          <a:stretch/>
        </p:blipFill>
        <p:spPr>
          <a:xfrm>
            <a:off x="6309360" y="1508760"/>
            <a:ext cx="4572000" cy="3749040"/>
          </a:xfrm>
          <a:prstGeom prst="rect">
            <a:avLst/>
          </a:prstGeom>
        </p:spPr>
      </p:pic>
      <p:sp>
        <p:nvSpPr>
          <p:cNvPr id="8" name="Text 4"/>
          <p:cNvSpPr/>
          <p:nvPr/>
        </p:nvSpPr>
        <p:spPr>
          <a:xfrm>
            <a:off x="6172200" y="5385816"/>
            <a:ext cx="484632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Two features (X1, X2) predicting Y — a flat plane instead of a line</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23</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052560" y="-1371600"/>
            <a:ext cx="4114800" cy="4114800"/>
          </a:xfrm>
          <a:prstGeom prst="ellipse">
            <a:avLst/>
          </a:prstGeom>
          <a:solidFill>
            <a:srgbClr val="184038"/>
          </a:solidFill>
          <a:ln w="12700">
            <a:solidFill>
              <a:srgbClr val="333333"/>
            </a:solidFill>
            <a:prstDash val="solid"/>
          </a:ln>
        </p:spPr>
      </p:sp>
      <p:sp>
        <p:nvSpPr>
          <p:cNvPr id="3" name="Shape 1"/>
          <p:cNvSpPr/>
          <p:nvPr/>
        </p:nvSpPr>
        <p:spPr>
          <a:xfrm>
            <a:off x="5547208" y="1371600"/>
            <a:ext cx="1097280" cy="1097280"/>
          </a:xfrm>
          <a:prstGeom prst="ellipse">
            <a:avLst/>
          </a:prstGeom>
          <a:solidFill>
            <a:srgbClr val="2C6E63"/>
          </a:solidFill>
          <a:ln w="12700">
            <a:solidFill>
              <a:srgbClr val="333333"/>
            </a:solidFill>
            <a:prstDash val="solid"/>
          </a:ln>
        </p:spPr>
      </p:sp>
      <p:pic>
        <p:nvPicPr>
          <p:cNvPr id="4" name="Image 0" descr="/home/claude/work/icons_png/percent.png">    </p:cNvPr>
          <p:cNvPicPr>
            <a:picLocks noChangeAspect="1"/>
          </p:cNvPicPr>
          <p:nvPr/>
        </p:nvPicPr>
        <p:blipFill>
          <a:blip r:embed="rId1"/>
          <a:stretch>
            <a:fillRect/>
          </a:stretch>
        </p:blipFill>
        <p:spPr>
          <a:xfrm>
            <a:off x="5794096" y="1618488"/>
            <a:ext cx="603504" cy="603504"/>
          </a:xfrm>
          <a:prstGeom prst="rect">
            <a:avLst/>
          </a:prstGeom>
        </p:spPr>
      </p:pic>
      <p:sp>
        <p:nvSpPr>
          <p:cNvPr id="5" name="Text 2"/>
          <p:cNvSpPr/>
          <p:nvPr/>
        </p:nvSpPr>
        <p:spPr>
          <a:xfrm>
            <a:off x="0" y="2788920"/>
            <a:ext cx="12191695" cy="365760"/>
          </a:xfrm>
          <a:prstGeom prst="rect">
            <a:avLst/>
          </a:prstGeom>
          <a:noFill/>
          <a:ln/>
        </p:spPr>
        <p:txBody>
          <a:bodyPr wrap="square" lIns="0" tIns="0" rIns="0" bIns="0" rtlCol="0" anchor="ctr"/>
          <a:lstStyle/>
          <a:p>
            <a:pPr algn="ctr" indent="0" marL="0">
              <a:buNone/>
            </a:pPr>
            <a:r>
              <a:rPr lang="en-US" sz="1400" spc="300" kern="0" dirty="0">
                <a:solidFill>
                  <a:srgbClr val="E7C588"/>
                </a:solidFill>
                <a:latin typeface="Calibri" pitchFamily="34" charset="0"/>
                <a:ea typeface="Calibri" pitchFamily="34" charset="-122"/>
                <a:cs typeface="Calibri" pitchFamily="34" charset="-120"/>
              </a:rPr>
              <a:t>PART 6</a:t>
            </a:r>
            <a:endParaRPr lang="en-US" sz="1400" dirty="0"/>
          </a:p>
        </p:txBody>
      </p:sp>
      <p:sp>
        <p:nvSpPr>
          <p:cNvPr id="6" name="Text 3"/>
          <p:cNvSpPr/>
          <p:nvPr/>
        </p:nvSpPr>
        <p:spPr>
          <a:xfrm>
            <a:off x="914400" y="3200400"/>
            <a:ext cx="10362895"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Evaluating the Model</a:t>
            </a:r>
            <a:endParaRPr lang="en-US" sz="3400" dirty="0"/>
          </a:p>
        </p:txBody>
      </p:sp>
      <p:sp>
        <p:nvSpPr>
          <p:cNvPr id="7" name="Text 4"/>
          <p:cNvSpPr/>
          <p:nvPr/>
        </p:nvSpPr>
        <p:spPr>
          <a:xfrm>
            <a:off x="1828800" y="4343400"/>
            <a:ext cx="8534095" cy="457200"/>
          </a:xfrm>
          <a:prstGeom prst="rect">
            <a:avLst/>
          </a:prstGeom>
          <a:noFill/>
          <a:ln/>
        </p:spPr>
        <p:txBody>
          <a:bodyPr wrap="square" lIns="0" tIns="0" rIns="0" bIns="0" rtlCol="0" anchor="ctr"/>
          <a:lstStyle/>
          <a:p>
            <a:pPr algn="ctr" indent="0" marL="0">
              <a:buNone/>
            </a:pPr>
            <a:r>
              <a:rPr lang="en-US" sz="1500" i="1" dirty="0">
                <a:solidFill>
                  <a:srgbClr val="C9D3CC"/>
                </a:solidFill>
                <a:latin typeface="Calibri" pitchFamily="34" charset="0"/>
                <a:ea typeface="Calibri" pitchFamily="34" charset="-122"/>
                <a:cs typeface="Calibri" pitchFamily="34" charset="-120"/>
              </a:rPr>
              <a:t>Is this line actually any good?</a:t>
            </a:r>
            <a:endParaRPr lang="en-US" sz="15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percent.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R² — The Coefficient of Determination</a:t>
            </a:r>
            <a:endParaRPr lang="en-US" sz="2300" dirty="0"/>
          </a:p>
        </p:txBody>
      </p:sp>
      <p:sp>
        <p:nvSpPr>
          <p:cNvPr id="5" name="Text 2"/>
          <p:cNvSpPr/>
          <p:nvPr/>
        </p:nvSpPr>
        <p:spPr>
          <a:xfrm>
            <a:off x="640080" y="1417320"/>
            <a:ext cx="5394960" cy="448056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R² measures how much of the variation in the output is explained by the model, compared to just guessing the average every time.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The result is always a decimal, usually shown as a percentage — e.g. 0.86 means 86%.</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Higher R² generally means a better fit, but it isn't the whole story — see the next slide.</a:t>
            </a:r>
            <a:endParaRPr lang="en-US" sz="1350" dirty="0"/>
          </a:p>
        </p:txBody>
      </p:sp>
      <p:sp>
        <p:nvSpPr>
          <p:cNvPr id="6" name="Shape 3"/>
          <p:cNvSpPr/>
          <p:nvPr/>
        </p:nvSpPr>
        <p:spPr>
          <a:xfrm>
            <a:off x="6172200" y="1417320"/>
            <a:ext cx="5303520" cy="4297680"/>
          </a:xfrm>
          <a:prstGeom prst="roundRect">
            <a:avLst>
              <a:gd name="adj" fmla="val 2128"/>
            </a:avLst>
          </a:prstGeom>
          <a:solidFill>
            <a:srgbClr val="F1F3EC"/>
          </a:solidFill>
          <a:ln w="12700">
            <a:solidFill>
              <a:srgbClr val="333333"/>
            </a:solidFill>
            <a:prstDash val="solid"/>
          </a:ln>
        </p:spPr>
      </p:sp>
      <p:pic>
        <p:nvPicPr>
          <p:cNvPr id="7" name="Image 1" descr="/home/claude/work/charts/r2_baseline.png">    </p:cNvPr>
          <p:cNvPicPr>
            <a:picLocks noChangeAspect="1"/>
          </p:cNvPicPr>
          <p:nvPr/>
        </p:nvPicPr>
        <p:blipFill>
          <a:blip r:embed="rId2"/>
          <a:srcRect l="0" r="0" t="0" b="0"/>
          <a:stretch/>
        </p:blipFill>
        <p:spPr>
          <a:xfrm>
            <a:off x="6309360" y="1508760"/>
            <a:ext cx="5029200" cy="4114800"/>
          </a:xfrm>
          <a:prstGeom prst="rect">
            <a:avLst/>
          </a:prstGeom>
        </p:spPr>
      </p:pic>
      <p:sp>
        <p:nvSpPr>
          <p:cNvPr id="8" name="Text 4"/>
          <p:cNvSpPr/>
          <p:nvPr/>
        </p:nvSpPr>
        <p:spPr>
          <a:xfrm>
            <a:off x="6172200" y="5751576"/>
            <a:ext cx="530352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R² compares the model's line against just predicting the mean every time</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25</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2C6E63"/>
          </a:solidFill>
          <a:ln w="12700">
            <a:solidFill>
              <a:srgbClr val="333333"/>
            </a:solidFill>
            <a:prstDash val="solid"/>
          </a:ln>
        </p:spPr>
      </p:sp>
      <p:pic>
        <p:nvPicPr>
          <p:cNvPr id="3" name="Image 0" descr="/home/claude/work/icons_png/percent.png">    </p:cNvPr>
          <p:cNvPicPr>
            <a:picLocks noChangeAspect="1"/>
          </p:cNvPicPr>
          <p:nvPr/>
        </p:nvPicPr>
        <p:blipFill>
          <a:blip r:embed="rId1"/>
          <a:stretch>
            <a:fillRect/>
          </a:stretch>
        </p:blipFill>
        <p:spPr>
          <a:xfrm>
            <a:off x="763524" y="580644"/>
            <a:ext cx="320040" cy="320040"/>
          </a:xfrm>
          <a:prstGeom prst="rect">
            <a:avLst/>
          </a:prstGeom>
        </p:spPr>
      </p:pic>
      <p:sp>
        <p:nvSpPr>
          <p:cNvPr id="4" name="Text 1"/>
          <p:cNvSpPr/>
          <p:nvPr/>
        </p:nvSpPr>
        <p:spPr>
          <a:xfrm>
            <a:off x="1353312" y="457200"/>
            <a:ext cx="9326880" cy="566928"/>
          </a:xfrm>
          <a:prstGeom prst="rect">
            <a:avLst/>
          </a:prstGeom>
          <a:noFill/>
          <a:ln/>
        </p:spPr>
        <p:txBody>
          <a:bodyPr wrap="square" lIns="0" tIns="0" rIns="0" bIns="0" rtlCol="0" anchor="ctr"/>
          <a:lstStyle/>
          <a:p>
            <a:pPr indent="0" marL="0">
              <a:buNone/>
            </a:pPr>
            <a:r>
              <a:rPr lang="en-US" sz="2100" b="1" dirty="0">
                <a:solidFill>
                  <a:srgbClr val="1B2420"/>
                </a:solidFill>
                <a:latin typeface="Cambria" pitchFamily="34" charset="0"/>
                <a:ea typeface="Cambria" pitchFamily="34" charset="-122"/>
                <a:cs typeface="Cambria" pitchFamily="34" charset="-120"/>
              </a:rPr>
              <a:t>The R² Formula — In Depth</a:t>
            </a:r>
            <a:endParaRPr lang="en-US" sz="2100" dirty="0"/>
          </a:p>
        </p:txBody>
      </p:sp>
      <p:sp>
        <p:nvSpPr>
          <p:cNvPr id="5" name="Shape 2"/>
          <p:cNvSpPr/>
          <p:nvPr/>
        </p:nvSpPr>
        <p:spPr>
          <a:xfrm>
            <a:off x="640080" y="1170432"/>
            <a:ext cx="10881360" cy="786384"/>
          </a:xfrm>
          <a:prstGeom prst="roundRect">
            <a:avLst>
              <a:gd name="adj" fmla="val 9302"/>
            </a:avLst>
          </a:prstGeom>
          <a:solidFill>
            <a:srgbClr val="F1F3EC"/>
          </a:solidFill>
          <a:ln w="12700">
            <a:solidFill>
              <a:srgbClr val="333333"/>
            </a:solidFill>
            <a:prstDash val="solid"/>
          </a:ln>
        </p:spPr>
      </p:sp>
      <p:sp>
        <p:nvSpPr>
          <p:cNvPr id="6" name="Text 3"/>
          <p:cNvSpPr/>
          <p:nvPr/>
        </p:nvSpPr>
        <p:spPr>
          <a:xfrm>
            <a:off x="868680" y="1170432"/>
            <a:ext cx="10424160" cy="786384"/>
          </a:xfrm>
          <a:prstGeom prst="rect">
            <a:avLst/>
          </a:prstGeom>
          <a:noFill/>
          <a:ln/>
        </p:spPr>
        <p:txBody>
          <a:bodyPr wrap="square" lIns="0" tIns="0" rIns="0" bIns="0" rtlCol="0" anchor="ctr"/>
          <a:lstStyle/>
          <a:p>
            <a:pPr indent="0" marL="0">
              <a:lnSpc>
                <a:spcPts val="1700"/>
              </a:lnSpc>
              <a:buNone/>
            </a:pPr>
            <a:r>
              <a:rPr lang="en-US" sz="1300" b="1" dirty="0">
                <a:solidFill>
                  <a:srgbClr val="2C6E63"/>
                </a:solidFill>
                <a:latin typeface="Calibri" pitchFamily="34" charset="0"/>
                <a:ea typeface="Calibri" pitchFamily="34" charset="-122"/>
                <a:cs typeface="Calibri" pitchFamily="34" charset="-120"/>
              </a:rPr>
              <a:t>IN PLAIN WORDS:  </a:t>
            </a:r>
            <a:pPr indent="0" marL="0">
              <a:lnSpc>
                <a:spcPts val="1700"/>
              </a:lnSpc>
              <a:buNone/>
            </a:pPr>
            <a:r>
              <a:rPr lang="en-US" sz="1300" dirty="0">
                <a:solidFill>
                  <a:srgbClr val="1B2420"/>
                </a:solidFill>
                <a:latin typeface="Calibri" pitchFamily="34" charset="0"/>
                <a:ea typeface="Calibri" pitchFamily="34" charset="-122"/>
                <a:cs typeface="Calibri" pitchFamily="34" charset="-120"/>
              </a:rPr>
              <a:t>Compare how wrong your model's line is (the residuals) against how wrong you'd be if you just guessed the average every single time. If your model barely beats the average, R² is near 0. If it nails every point, R² is near 1.</a:t>
            </a:r>
            <a:endParaRPr lang="en-US" sz="1300" dirty="0"/>
          </a:p>
        </p:txBody>
      </p:sp>
      <p:sp>
        <p:nvSpPr>
          <p:cNvPr id="7" name="Shape 4"/>
          <p:cNvSpPr/>
          <p:nvPr/>
        </p:nvSpPr>
        <p:spPr>
          <a:xfrm>
            <a:off x="640080" y="2148840"/>
            <a:ext cx="6263640" cy="3520440"/>
          </a:xfrm>
          <a:prstGeom prst="roundRect">
            <a:avLst>
              <a:gd name="adj" fmla="val 2597"/>
            </a:avLst>
          </a:prstGeom>
          <a:solidFill>
            <a:srgbClr val="1B2420"/>
          </a:solidFill>
          <a:ln w="12700">
            <a:solidFill>
              <a:srgbClr val="333333"/>
            </a:solidFill>
            <a:prstDash val="solid"/>
          </a:ln>
        </p:spPr>
      </p:sp>
      <p:sp>
        <p:nvSpPr>
          <p:cNvPr id="8" name="Text 5"/>
          <p:cNvSpPr/>
          <p:nvPr/>
        </p:nvSpPr>
        <p:spPr>
          <a:xfrm>
            <a:off x="960120" y="2423160"/>
            <a:ext cx="5669280" cy="3017520"/>
          </a:xfrm>
          <a:prstGeom prst="rect">
            <a:avLst/>
          </a:prstGeom>
          <a:noFill/>
          <a:ln/>
        </p:spPr>
        <p:txBody>
          <a:bodyPr wrap="square" lIns="0" tIns="0" rIns="0" bIns="0" rtlCol="0" anchor="t"/>
          <a:lstStyle/>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Sum of Squared Residuals</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R² = 1 −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Sum of Squared Total</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Σ (y_i − ŷ_i)²</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 1 −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Σ (y_i − ȳ)²</a:t>
            </a:r>
            <a:endParaRPr lang="en-US" sz="1500" dirty="0"/>
          </a:p>
        </p:txBody>
      </p:sp>
      <p:sp>
        <p:nvSpPr>
          <p:cNvPr id="9" name="Shape 6"/>
          <p:cNvSpPr/>
          <p:nvPr/>
        </p:nvSpPr>
        <p:spPr>
          <a:xfrm>
            <a:off x="7132320" y="2148840"/>
            <a:ext cx="4389120" cy="3520440"/>
          </a:xfrm>
          <a:prstGeom prst="roundRect">
            <a:avLst>
              <a:gd name="adj" fmla="val 2597"/>
            </a:avLst>
          </a:prstGeom>
          <a:solidFill>
            <a:srgbClr val="F1F3EC"/>
          </a:solidFill>
          <a:ln w="12700">
            <a:solidFill>
              <a:srgbClr val="333333"/>
            </a:solidFill>
            <a:prstDash val="solid"/>
          </a:ln>
        </p:spPr>
      </p:sp>
      <p:sp>
        <p:nvSpPr>
          <p:cNvPr id="10" name="Text 7"/>
          <p:cNvSpPr/>
          <p:nvPr/>
        </p:nvSpPr>
        <p:spPr>
          <a:xfrm>
            <a:off x="7406640" y="2331720"/>
            <a:ext cx="3840480" cy="320040"/>
          </a:xfrm>
          <a:prstGeom prst="rect">
            <a:avLst/>
          </a:prstGeom>
          <a:noFill/>
          <a:ln/>
        </p:spPr>
        <p:txBody>
          <a:bodyPr wrap="square" lIns="0" tIns="0" rIns="0" bIns="0" rtlCol="0" anchor="ctr"/>
          <a:lstStyle/>
          <a:p>
            <a:pPr indent="0" marL="0">
              <a:buNone/>
            </a:pPr>
            <a:r>
              <a:rPr lang="en-US" sz="1100" b="1" spc="100" kern="0" dirty="0">
                <a:solidFill>
                  <a:srgbClr val="7C8A80"/>
                </a:solidFill>
                <a:latin typeface="Calibri" pitchFamily="34" charset="0"/>
                <a:ea typeface="Calibri" pitchFamily="34" charset="-122"/>
                <a:cs typeface="Calibri" pitchFamily="34" charset="-120"/>
              </a:rPr>
              <a:t>WHAT EACH SYMBOL MEANS</a:t>
            </a:r>
            <a:endParaRPr lang="en-US" sz="1100" dirty="0"/>
          </a:p>
        </p:txBody>
      </p:sp>
      <p:sp>
        <p:nvSpPr>
          <p:cNvPr id="11" name="Text 8"/>
          <p:cNvSpPr/>
          <p:nvPr/>
        </p:nvSpPr>
        <p:spPr>
          <a:xfrm>
            <a:off x="7406640" y="2743200"/>
            <a:ext cx="1051560" cy="576072"/>
          </a:xfrm>
          <a:prstGeom prst="rect">
            <a:avLst/>
          </a:prstGeom>
          <a:noFill/>
          <a:ln/>
        </p:spPr>
        <p:txBody>
          <a:bodyPr wrap="square" lIns="0" tIns="0" rIns="0" bIns="0" rtlCol="0" anchor="t"/>
          <a:lstStyle/>
          <a:p>
            <a:pPr indent="0" marL="0">
              <a:buNone/>
            </a:pPr>
            <a:r>
              <a:rPr lang="en-US" sz="1250" b="1" dirty="0">
                <a:solidFill>
                  <a:srgbClr val="2C6E63"/>
                </a:solidFill>
                <a:latin typeface="Consolas" pitchFamily="34" charset="0"/>
                <a:ea typeface="Consolas" pitchFamily="34" charset="-122"/>
                <a:cs typeface="Consolas" pitchFamily="34" charset="-120"/>
              </a:rPr>
              <a:t>y_i</a:t>
            </a:r>
            <a:endParaRPr lang="en-US" sz="1250" dirty="0"/>
          </a:p>
        </p:txBody>
      </p:sp>
      <p:sp>
        <p:nvSpPr>
          <p:cNvPr id="12" name="Text 9"/>
          <p:cNvSpPr/>
          <p:nvPr/>
        </p:nvSpPr>
        <p:spPr>
          <a:xfrm>
            <a:off x="8503920" y="2743200"/>
            <a:ext cx="2743200" cy="576072"/>
          </a:xfrm>
          <a:prstGeom prst="rect">
            <a:avLst/>
          </a:prstGeom>
          <a:noFill/>
          <a:ln/>
        </p:spPr>
        <p:txBody>
          <a:bodyPr wrap="square" lIns="0" tIns="0" rIns="0" bIns="0" rtlCol="0" anchor="t"/>
          <a:lstStyle/>
          <a:p>
            <a:pPr indent="0" marL="0">
              <a:lnSpc>
                <a:spcPts val="1250"/>
              </a:lnSpc>
              <a:buNone/>
            </a:pPr>
            <a:r>
              <a:rPr lang="en-US" sz="1050" dirty="0">
                <a:solidFill>
                  <a:srgbClr val="1B2420"/>
                </a:solidFill>
                <a:latin typeface="Calibri" pitchFamily="34" charset="0"/>
                <a:ea typeface="Calibri" pitchFamily="34" charset="-122"/>
                <a:cs typeface="Calibri" pitchFamily="34" charset="-120"/>
              </a:rPr>
              <a:t>The actual, real value for point i.</a:t>
            </a:r>
            <a:endParaRPr lang="en-US" sz="1050" dirty="0"/>
          </a:p>
        </p:txBody>
      </p:sp>
      <p:sp>
        <p:nvSpPr>
          <p:cNvPr id="13" name="Text 10"/>
          <p:cNvSpPr/>
          <p:nvPr/>
        </p:nvSpPr>
        <p:spPr>
          <a:xfrm>
            <a:off x="7406640" y="3319272"/>
            <a:ext cx="1051560" cy="576072"/>
          </a:xfrm>
          <a:prstGeom prst="rect">
            <a:avLst/>
          </a:prstGeom>
          <a:noFill/>
          <a:ln/>
        </p:spPr>
        <p:txBody>
          <a:bodyPr wrap="square" lIns="0" tIns="0" rIns="0" bIns="0" rtlCol="0" anchor="t"/>
          <a:lstStyle/>
          <a:p>
            <a:pPr indent="0" marL="0">
              <a:buNone/>
            </a:pPr>
            <a:r>
              <a:rPr lang="en-US" sz="1250" b="1" dirty="0">
                <a:solidFill>
                  <a:srgbClr val="2C6E63"/>
                </a:solidFill>
                <a:latin typeface="Consolas" pitchFamily="34" charset="0"/>
                <a:ea typeface="Consolas" pitchFamily="34" charset="-122"/>
                <a:cs typeface="Consolas" pitchFamily="34" charset="-120"/>
              </a:rPr>
              <a:t>ŷ_i</a:t>
            </a:r>
            <a:endParaRPr lang="en-US" sz="1250" dirty="0"/>
          </a:p>
        </p:txBody>
      </p:sp>
      <p:sp>
        <p:nvSpPr>
          <p:cNvPr id="14" name="Text 11"/>
          <p:cNvSpPr/>
          <p:nvPr/>
        </p:nvSpPr>
        <p:spPr>
          <a:xfrm>
            <a:off x="8503920" y="3319272"/>
            <a:ext cx="2743200" cy="576072"/>
          </a:xfrm>
          <a:prstGeom prst="rect">
            <a:avLst/>
          </a:prstGeom>
          <a:noFill/>
          <a:ln/>
        </p:spPr>
        <p:txBody>
          <a:bodyPr wrap="square" lIns="0" tIns="0" rIns="0" bIns="0" rtlCol="0" anchor="t"/>
          <a:lstStyle/>
          <a:p>
            <a:pPr indent="0" marL="0">
              <a:lnSpc>
                <a:spcPts val="1250"/>
              </a:lnSpc>
              <a:buNone/>
            </a:pPr>
            <a:r>
              <a:rPr lang="en-US" sz="1050" dirty="0">
                <a:solidFill>
                  <a:srgbClr val="1B2420"/>
                </a:solidFill>
                <a:latin typeface="Calibri" pitchFamily="34" charset="0"/>
                <a:ea typeface="Calibri" pitchFamily="34" charset="-122"/>
                <a:cs typeface="Calibri" pitchFamily="34" charset="-120"/>
              </a:rPr>
              <a:t>("y-hat") — your model's predicted value for point i.</a:t>
            </a:r>
            <a:endParaRPr lang="en-US" sz="1050" dirty="0"/>
          </a:p>
        </p:txBody>
      </p:sp>
      <p:sp>
        <p:nvSpPr>
          <p:cNvPr id="15" name="Text 12"/>
          <p:cNvSpPr/>
          <p:nvPr/>
        </p:nvSpPr>
        <p:spPr>
          <a:xfrm>
            <a:off x="7406640" y="3895344"/>
            <a:ext cx="1051560" cy="576072"/>
          </a:xfrm>
          <a:prstGeom prst="rect">
            <a:avLst/>
          </a:prstGeom>
          <a:noFill/>
          <a:ln/>
        </p:spPr>
        <p:txBody>
          <a:bodyPr wrap="square" lIns="0" tIns="0" rIns="0" bIns="0" rtlCol="0" anchor="t"/>
          <a:lstStyle/>
          <a:p>
            <a:pPr indent="0" marL="0">
              <a:buNone/>
            </a:pPr>
            <a:r>
              <a:rPr lang="en-US" sz="1250" b="1" dirty="0">
                <a:solidFill>
                  <a:srgbClr val="2C6E63"/>
                </a:solidFill>
                <a:latin typeface="Consolas" pitchFamily="34" charset="0"/>
                <a:ea typeface="Consolas" pitchFamily="34" charset="-122"/>
                <a:cs typeface="Consolas" pitchFamily="34" charset="-120"/>
              </a:rPr>
              <a:t>ȳ</a:t>
            </a:r>
            <a:endParaRPr lang="en-US" sz="1250" dirty="0"/>
          </a:p>
        </p:txBody>
      </p:sp>
      <p:sp>
        <p:nvSpPr>
          <p:cNvPr id="16" name="Text 13"/>
          <p:cNvSpPr/>
          <p:nvPr/>
        </p:nvSpPr>
        <p:spPr>
          <a:xfrm>
            <a:off x="8503920" y="3895344"/>
            <a:ext cx="2743200" cy="576072"/>
          </a:xfrm>
          <a:prstGeom prst="rect">
            <a:avLst/>
          </a:prstGeom>
          <a:noFill/>
          <a:ln/>
        </p:spPr>
        <p:txBody>
          <a:bodyPr wrap="square" lIns="0" tIns="0" rIns="0" bIns="0" rtlCol="0" anchor="t"/>
          <a:lstStyle/>
          <a:p>
            <a:pPr indent="0" marL="0">
              <a:lnSpc>
                <a:spcPts val="1250"/>
              </a:lnSpc>
              <a:buNone/>
            </a:pPr>
            <a:r>
              <a:rPr lang="en-US" sz="1050" dirty="0">
                <a:solidFill>
                  <a:srgbClr val="1B2420"/>
                </a:solidFill>
                <a:latin typeface="Calibri" pitchFamily="34" charset="0"/>
                <a:ea typeface="Calibri" pitchFamily="34" charset="-122"/>
                <a:cs typeface="Calibri" pitchFamily="34" charset="-120"/>
              </a:rPr>
              <a:t>("y-bar") — the plain average of all actual y values, ignoring the model entirely.</a:t>
            </a:r>
            <a:endParaRPr lang="en-US" sz="1050" dirty="0"/>
          </a:p>
        </p:txBody>
      </p:sp>
      <p:sp>
        <p:nvSpPr>
          <p:cNvPr id="17" name="Text 14"/>
          <p:cNvSpPr/>
          <p:nvPr/>
        </p:nvSpPr>
        <p:spPr>
          <a:xfrm>
            <a:off x="7406640" y="4471416"/>
            <a:ext cx="1051560" cy="576072"/>
          </a:xfrm>
          <a:prstGeom prst="rect">
            <a:avLst/>
          </a:prstGeom>
          <a:noFill/>
          <a:ln/>
        </p:spPr>
        <p:txBody>
          <a:bodyPr wrap="square" lIns="0" tIns="0" rIns="0" bIns="0" rtlCol="0" anchor="t"/>
          <a:lstStyle/>
          <a:p>
            <a:pPr indent="0" marL="0">
              <a:buNone/>
            </a:pPr>
            <a:r>
              <a:rPr lang="en-US" sz="1250" b="1" dirty="0">
                <a:solidFill>
                  <a:srgbClr val="2C6E63"/>
                </a:solidFill>
                <a:latin typeface="Consolas" pitchFamily="34" charset="0"/>
                <a:ea typeface="Consolas" pitchFamily="34" charset="-122"/>
                <a:cs typeface="Consolas" pitchFamily="34" charset="-120"/>
              </a:rPr>
              <a:t>Numerator</a:t>
            </a:r>
            <a:endParaRPr lang="en-US" sz="1250" dirty="0"/>
          </a:p>
        </p:txBody>
      </p:sp>
      <p:sp>
        <p:nvSpPr>
          <p:cNvPr id="18" name="Text 15"/>
          <p:cNvSpPr/>
          <p:nvPr/>
        </p:nvSpPr>
        <p:spPr>
          <a:xfrm>
            <a:off x="8503920" y="4471416"/>
            <a:ext cx="2743200" cy="576072"/>
          </a:xfrm>
          <a:prstGeom prst="rect">
            <a:avLst/>
          </a:prstGeom>
          <a:noFill/>
          <a:ln/>
        </p:spPr>
        <p:txBody>
          <a:bodyPr wrap="square" lIns="0" tIns="0" rIns="0" bIns="0" rtlCol="0" anchor="t"/>
          <a:lstStyle/>
          <a:p>
            <a:pPr indent="0" marL="0">
              <a:lnSpc>
                <a:spcPts val="1250"/>
              </a:lnSpc>
              <a:buNone/>
            </a:pPr>
            <a:r>
              <a:rPr lang="en-US" sz="1050" dirty="0">
                <a:solidFill>
                  <a:srgbClr val="1B2420"/>
                </a:solidFill>
                <a:latin typeface="Calibri" pitchFamily="34" charset="0"/>
                <a:ea typeface="Calibri" pitchFamily="34" charset="-122"/>
                <a:cs typeface="Calibri" pitchFamily="34" charset="-120"/>
              </a:rPr>
              <a:t>How wrong your model's predictions are, squared and summed.</a:t>
            </a:r>
            <a:endParaRPr lang="en-US" sz="1050" dirty="0"/>
          </a:p>
        </p:txBody>
      </p:sp>
      <p:sp>
        <p:nvSpPr>
          <p:cNvPr id="19" name="Text 16"/>
          <p:cNvSpPr/>
          <p:nvPr/>
        </p:nvSpPr>
        <p:spPr>
          <a:xfrm>
            <a:off x="7406640" y="5047488"/>
            <a:ext cx="1051560" cy="576072"/>
          </a:xfrm>
          <a:prstGeom prst="rect">
            <a:avLst/>
          </a:prstGeom>
          <a:noFill/>
          <a:ln/>
        </p:spPr>
        <p:txBody>
          <a:bodyPr wrap="square" lIns="0" tIns="0" rIns="0" bIns="0" rtlCol="0" anchor="t"/>
          <a:lstStyle/>
          <a:p>
            <a:pPr indent="0" marL="0">
              <a:buNone/>
            </a:pPr>
            <a:r>
              <a:rPr lang="en-US" sz="1250" b="1" dirty="0">
                <a:solidFill>
                  <a:srgbClr val="2C6E63"/>
                </a:solidFill>
                <a:latin typeface="Consolas" pitchFamily="34" charset="0"/>
                <a:ea typeface="Consolas" pitchFamily="34" charset="-122"/>
                <a:cs typeface="Consolas" pitchFamily="34" charset="-120"/>
              </a:rPr>
              <a:t>Denominator</a:t>
            </a:r>
            <a:endParaRPr lang="en-US" sz="1250" dirty="0"/>
          </a:p>
        </p:txBody>
      </p:sp>
      <p:sp>
        <p:nvSpPr>
          <p:cNvPr id="20" name="Text 17"/>
          <p:cNvSpPr/>
          <p:nvPr/>
        </p:nvSpPr>
        <p:spPr>
          <a:xfrm>
            <a:off x="8503920" y="5047488"/>
            <a:ext cx="2743200" cy="576072"/>
          </a:xfrm>
          <a:prstGeom prst="rect">
            <a:avLst/>
          </a:prstGeom>
          <a:noFill/>
          <a:ln/>
        </p:spPr>
        <p:txBody>
          <a:bodyPr wrap="square" lIns="0" tIns="0" rIns="0" bIns="0" rtlCol="0" anchor="t"/>
          <a:lstStyle/>
          <a:p>
            <a:pPr indent="0" marL="0">
              <a:lnSpc>
                <a:spcPts val="1250"/>
              </a:lnSpc>
              <a:buNone/>
            </a:pPr>
            <a:r>
              <a:rPr lang="en-US" sz="1050" dirty="0">
                <a:solidFill>
                  <a:srgbClr val="1B2420"/>
                </a:solidFill>
                <a:latin typeface="Calibri" pitchFamily="34" charset="0"/>
                <a:ea typeface="Calibri" pitchFamily="34" charset="-122"/>
                <a:cs typeface="Calibri" pitchFamily="34" charset="-120"/>
              </a:rPr>
              <a:t>How wrong just guessing the average would be — the baseline to beat.</a:t>
            </a:r>
            <a:endParaRPr lang="en-US" sz="1050" dirty="0"/>
          </a:p>
        </p:txBody>
      </p:sp>
      <p:sp>
        <p:nvSpPr>
          <p:cNvPr id="21" name="Text 18"/>
          <p:cNvSpPr/>
          <p:nvPr/>
        </p:nvSpPr>
        <p:spPr>
          <a:xfrm>
            <a:off x="640080" y="5760720"/>
            <a:ext cx="10881360" cy="502920"/>
          </a:xfrm>
          <a:prstGeom prst="rect">
            <a:avLst/>
          </a:prstGeom>
          <a:noFill/>
          <a:ln/>
        </p:spPr>
        <p:txBody>
          <a:bodyPr wrap="square" lIns="0" tIns="0" rIns="0" bIns="0" rtlCol="0" anchor="ctr"/>
          <a:lstStyle/>
          <a:p>
            <a:pPr indent="0" marL="0">
              <a:lnSpc>
                <a:spcPts val="1400"/>
              </a:lnSpc>
              <a:buNone/>
            </a:pPr>
            <a:r>
              <a:rPr lang="en-US" sz="1150" i="1" dirty="0">
                <a:solidFill>
                  <a:srgbClr val="7C8A80"/>
                </a:solidFill>
                <a:latin typeface="Calibri" pitchFamily="34" charset="0"/>
                <a:ea typeface="Calibri" pitchFamily="34" charset="-122"/>
                <a:cs typeface="Calibri" pitchFamily="34" charset="-120"/>
              </a:rPr>
              <a:t>R² = 89% means your model explains 89% of the ups and downs in the data — only 11% is left as unexplained error.</a:t>
            </a:r>
            <a:endParaRPr lang="en-US" sz="1150" dirty="0"/>
          </a:p>
        </p:txBody>
      </p:sp>
      <p:sp>
        <p:nvSpPr>
          <p:cNvPr id="22" name="Text 19"/>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26</a:t>
            </a:r>
            <a:endParaRPr lang="en-US" sz="1000" dirty="0"/>
          </a:p>
        </p:txBody>
      </p:sp>
      <p:sp>
        <p:nvSpPr>
          <p:cNvPr id="23" name="Shape 20"/>
          <p:cNvSpPr/>
          <p:nvPr/>
        </p:nvSpPr>
        <p:spPr>
          <a:xfrm>
            <a:off x="11475720" y="6400800"/>
            <a:ext cx="329184" cy="329184"/>
          </a:xfrm>
          <a:prstGeom prst="ellipse">
            <a:avLst/>
          </a:prstGeom>
          <a:solidFill>
            <a:srgbClr val="F1F3EC"/>
          </a:solidFill>
          <a:ln w="12700">
            <a:solidFill>
              <a:srgbClr val="333333"/>
            </a:solidFill>
            <a:prstDash val="solid"/>
          </a:ln>
        </p:spPr>
      </p:sp>
      <p:sp>
        <p:nvSpPr>
          <p:cNvPr id="24" name="Text 21"/>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2C6E63"/>
          </a:solidFill>
          <a:ln w="12700">
            <a:solidFill>
              <a:srgbClr val="333333"/>
            </a:solidFill>
            <a:prstDash val="solid"/>
          </a:ln>
        </p:spPr>
      </p:sp>
      <p:pic>
        <p:nvPicPr>
          <p:cNvPr id="3" name="Image 0" descr="/home/claude/work/icons_png/calculator.png">    </p:cNvPr>
          <p:cNvPicPr>
            <a:picLocks noChangeAspect="1"/>
          </p:cNvPicPr>
          <p:nvPr/>
        </p:nvPicPr>
        <p:blipFill>
          <a:blip r:embed="rId1"/>
          <a:stretch>
            <a:fillRect/>
          </a:stretch>
        </p:blipFill>
        <p:spPr>
          <a:xfrm>
            <a:off x="763524" y="580644"/>
            <a:ext cx="320040" cy="320040"/>
          </a:xfrm>
          <a:prstGeom prst="rect">
            <a:avLst/>
          </a:prstGeom>
        </p:spPr>
      </p:pic>
      <p:sp>
        <p:nvSpPr>
          <p:cNvPr id="4" name="Text 1"/>
          <p:cNvSpPr/>
          <p:nvPr/>
        </p:nvSpPr>
        <p:spPr>
          <a:xfrm>
            <a:off x="1353312" y="457200"/>
            <a:ext cx="9326880" cy="566928"/>
          </a:xfrm>
          <a:prstGeom prst="rect">
            <a:avLst/>
          </a:prstGeom>
          <a:noFill/>
          <a:ln/>
        </p:spPr>
        <p:txBody>
          <a:bodyPr wrap="square" lIns="0" tIns="0" rIns="0" bIns="0" rtlCol="0" anchor="ctr"/>
          <a:lstStyle/>
          <a:p>
            <a:pPr indent="0" marL="0">
              <a:buNone/>
            </a:pPr>
            <a:r>
              <a:rPr lang="en-US" sz="2100" b="1" dirty="0">
                <a:solidFill>
                  <a:srgbClr val="1B2420"/>
                </a:solidFill>
                <a:latin typeface="Cambria" pitchFamily="34" charset="0"/>
                <a:ea typeface="Cambria" pitchFamily="34" charset="-122"/>
                <a:cs typeface="Cambria" pitchFamily="34" charset="-120"/>
              </a:rPr>
              <a:t>The Adjusted R² Formula — In Depth</a:t>
            </a:r>
            <a:endParaRPr lang="en-US" sz="2100" dirty="0"/>
          </a:p>
        </p:txBody>
      </p:sp>
      <p:sp>
        <p:nvSpPr>
          <p:cNvPr id="5" name="Shape 2"/>
          <p:cNvSpPr/>
          <p:nvPr/>
        </p:nvSpPr>
        <p:spPr>
          <a:xfrm>
            <a:off x="640080" y="1170432"/>
            <a:ext cx="10881360" cy="786384"/>
          </a:xfrm>
          <a:prstGeom prst="roundRect">
            <a:avLst>
              <a:gd name="adj" fmla="val 9302"/>
            </a:avLst>
          </a:prstGeom>
          <a:solidFill>
            <a:srgbClr val="F1F3EC"/>
          </a:solidFill>
          <a:ln w="12700">
            <a:solidFill>
              <a:srgbClr val="333333"/>
            </a:solidFill>
            <a:prstDash val="solid"/>
          </a:ln>
        </p:spPr>
      </p:sp>
      <p:sp>
        <p:nvSpPr>
          <p:cNvPr id="6" name="Text 3"/>
          <p:cNvSpPr/>
          <p:nvPr/>
        </p:nvSpPr>
        <p:spPr>
          <a:xfrm>
            <a:off x="868680" y="1170432"/>
            <a:ext cx="10424160" cy="786384"/>
          </a:xfrm>
          <a:prstGeom prst="rect">
            <a:avLst/>
          </a:prstGeom>
          <a:noFill/>
          <a:ln/>
        </p:spPr>
        <p:txBody>
          <a:bodyPr wrap="square" lIns="0" tIns="0" rIns="0" bIns="0" rtlCol="0" anchor="ctr"/>
          <a:lstStyle/>
          <a:p>
            <a:pPr indent="0" marL="0">
              <a:lnSpc>
                <a:spcPts val="1700"/>
              </a:lnSpc>
              <a:buNone/>
            </a:pPr>
            <a:r>
              <a:rPr lang="en-US" sz="1300" b="1" dirty="0">
                <a:solidFill>
                  <a:srgbClr val="2C6E63"/>
                </a:solidFill>
                <a:latin typeface="Calibri" pitchFamily="34" charset="0"/>
                <a:ea typeface="Calibri" pitchFamily="34" charset="-122"/>
                <a:cs typeface="Calibri" pitchFamily="34" charset="-120"/>
              </a:rPr>
              <a:t>IN PLAIN WORDS:  </a:t>
            </a:r>
            <a:pPr indent="0" marL="0">
              <a:lnSpc>
                <a:spcPts val="1700"/>
              </a:lnSpc>
              <a:buNone/>
            </a:pPr>
            <a:r>
              <a:rPr lang="en-US" sz="1300" dirty="0">
                <a:solidFill>
                  <a:srgbClr val="1B2420"/>
                </a:solidFill>
                <a:latin typeface="Calibri" pitchFamily="34" charset="0"/>
                <a:ea typeface="Calibri" pitchFamily="34" charset="-122"/>
                <a:cs typeface="Calibri" pitchFamily="34" charset="-120"/>
              </a:rPr>
              <a:t>Plain R² can be tricked — it goes up (or stays flat) every time you add ANY feature, even a useless one. Adjusted R² fixes this by charging a small 'entry fee' per feature, so it only rises if that feature genuinely earns its keep.</a:t>
            </a:r>
            <a:endParaRPr lang="en-US" sz="1300" dirty="0"/>
          </a:p>
        </p:txBody>
      </p:sp>
      <p:sp>
        <p:nvSpPr>
          <p:cNvPr id="7" name="Shape 4"/>
          <p:cNvSpPr/>
          <p:nvPr/>
        </p:nvSpPr>
        <p:spPr>
          <a:xfrm>
            <a:off x="640080" y="2148840"/>
            <a:ext cx="6263640" cy="3520440"/>
          </a:xfrm>
          <a:prstGeom prst="roundRect">
            <a:avLst>
              <a:gd name="adj" fmla="val 2597"/>
            </a:avLst>
          </a:prstGeom>
          <a:solidFill>
            <a:srgbClr val="1B2420"/>
          </a:solidFill>
          <a:ln w="12700">
            <a:solidFill>
              <a:srgbClr val="333333"/>
            </a:solidFill>
            <a:prstDash val="solid"/>
          </a:ln>
        </p:spPr>
      </p:sp>
      <p:sp>
        <p:nvSpPr>
          <p:cNvPr id="8" name="Text 5"/>
          <p:cNvSpPr/>
          <p:nvPr/>
        </p:nvSpPr>
        <p:spPr>
          <a:xfrm>
            <a:off x="960120" y="2423160"/>
            <a:ext cx="5669280" cy="3017520"/>
          </a:xfrm>
          <a:prstGeom prst="rect">
            <a:avLst/>
          </a:prstGeom>
          <a:noFill/>
          <a:ln/>
        </p:spPr>
        <p:txBody>
          <a:bodyPr wrap="square" lIns="0" tIns="0" rIns="0" bIns="0" rtlCol="0" anchor="t"/>
          <a:lstStyle/>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(1 − R²)(n − 1)</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Adj R² = 1 −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n − p − 1</a:t>
            </a:r>
            <a:endParaRPr lang="en-US" sz="1500" dirty="0"/>
          </a:p>
        </p:txBody>
      </p:sp>
      <p:sp>
        <p:nvSpPr>
          <p:cNvPr id="9" name="Shape 6"/>
          <p:cNvSpPr/>
          <p:nvPr/>
        </p:nvSpPr>
        <p:spPr>
          <a:xfrm>
            <a:off x="7132320" y="2148840"/>
            <a:ext cx="4389120" cy="3520440"/>
          </a:xfrm>
          <a:prstGeom prst="roundRect">
            <a:avLst>
              <a:gd name="adj" fmla="val 2597"/>
            </a:avLst>
          </a:prstGeom>
          <a:solidFill>
            <a:srgbClr val="F1F3EC"/>
          </a:solidFill>
          <a:ln w="12700">
            <a:solidFill>
              <a:srgbClr val="333333"/>
            </a:solidFill>
            <a:prstDash val="solid"/>
          </a:ln>
        </p:spPr>
      </p:sp>
      <p:sp>
        <p:nvSpPr>
          <p:cNvPr id="10" name="Text 7"/>
          <p:cNvSpPr/>
          <p:nvPr/>
        </p:nvSpPr>
        <p:spPr>
          <a:xfrm>
            <a:off x="7406640" y="2331720"/>
            <a:ext cx="3840480" cy="320040"/>
          </a:xfrm>
          <a:prstGeom prst="rect">
            <a:avLst/>
          </a:prstGeom>
          <a:noFill/>
          <a:ln/>
        </p:spPr>
        <p:txBody>
          <a:bodyPr wrap="square" lIns="0" tIns="0" rIns="0" bIns="0" rtlCol="0" anchor="ctr"/>
          <a:lstStyle/>
          <a:p>
            <a:pPr indent="0" marL="0">
              <a:buNone/>
            </a:pPr>
            <a:r>
              <a:rPr lang="en-US" sz="1100" b="1" spc="100" kern="0" dirty="0">
                <a:solidFill>
                  <a:srgbClr val="7C8A80"/>
                </a:solidFill>
                <a:latin typeface="Calibri" pitchFamily="34" charset="0"/>
                <a:ea typeface="Calibri" pitchFamily="34" charset="-122"/>
                <a:cs typeface="Calibri" pitchFamily="34" charset="-120"/>
              </a:rPr>
              <a:t>WHAT EACH SYMBOL MEANS</a:t>
            </a:r>
            <a:endParaRPr lang="en-US" sz="1100" dirty="0"/>
          </a:p>
        </p:txBody>
      </p:sp>
      <p:sp>
        <p:nvSpPr>
          <p:cNvPr id="11" name="Text 8"/>
          <p:cNvSpPr/>
          <p:nvPr/>
        </p:nvSpPr>
        <p:spPr>
          <a:xfrm>
            <a:off x="7406640" y="274320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R²</a:t>
            </a:r>
            <a:endParaRPr lang="en-US" sz="1300" dirty="0"/>
          </a:p>
        </p:txBody>
      </p:sp>
      <p:sp>
        <p:nvSpPr>
          <p:cNvPr id="12" name="Text 9"/>
          <p:cNvSpPr/>
          <p:nvPr/>
        </p:nvSpPr>
        <p:spPr>
          <a:xfrm>
            <a:off x="8503920" y="274320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The plain R² score you already calculated for this model.</a:t>
            </a:r>
            <a:endParaRPr lang="en-US" sz="1100" dirty="0"/>
          </a:p>
        </p:txBody>
      </p:sp>
      <p:sp>
        <p:nvSpPr>
          <p:cNvPr id="13" name="Text 10"/>
          <p:cNvSpPr/>
          <p:nvPr/>
        </p:nvSpPr>
        <p:spPr>
          <a:xfrm>
            <a:off x="7406640" y="346329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n</a:t>
            </a:r>
            <a:endParaRPr lang="en-US" sz="1300" dirty="0"/>
          </a:p>
        </p:txBody>
      </p:sp>
      <p:sp>
        <p:nvSpPr>
          <p:cNvPr id="14" name="Text 11"/>
          <p:cNvSpPr/>
          <p:nvPr/>
        </p:nvSpPr>
        <p:spPr>
          <a:xfrm>
            <a:off x="8503920" y="346329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Number of rows (samples/observations) in your dataset.</a:t>
            </a:r>
            <a:endParaRPr lang="en-US" sz="1100" dirty="0"/>
          </a:p>
        </p:txBody>
      </p:sp>
      <p:sp>
        <p:nvSpPr>
          <p:cNvPr id="15" name="Text 12"/>
          <p:cNvSpPr/>
          <p:nvPr/>
        </p:nvSpPr>
        <p:spPr>
          <a:xfrm>
            <a:off x="7406640" y="418338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p</a:t>
            </a:r>
            <a:endParaRPr lang="en-US" sz="1300" dirty="0"/>
          </a:p>
        </p:txBody>
      </p:sp>
      <p:sp>
        <p:nvSpPr>
          <p:cNvPr id="16" name="Text 13"/>
          <p:cNvSpPr/>
          <p:nvPr/>
        </p:nvSpPr>
        <p:spPr>
          <a:xfrm>
            <a:off x="8503920" y="418338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Number of features (predictor columns) the model is using.</a:t>
            </a:r>
            <a:endParaRPr lang="en-US" sz="1100" dirty="0"/>
          </a:p>
        </p:txBody>
      </p:sp>
      <p:sp>
        <p:nvSpPr>
          <p:cNvPr id="17" name="Text 14"/>
          <p:cNvSpPr/>
          <p:nvPr/>
        </p:nvSpPr>
        <p:spPr>
          <a:xfrm>
            <a:off x="7406640" y="490347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n − p − 1</a:t>
            </a:r>
            <a:endParaRPr lang="en-US" sz="1300" dirty="0"/>
          </a:p>
        </p:txBody>
      </p:sp>
      <p:sp>
        <p:nvSpPr>
          <p:cNvPr id="18" name="Text 15"/>
          <p:cNvSpPr/>
          <p:nvPr/>
        </p:nvSpPr>
        <p:spPr>
          <a:xfrm>
            <a:off x="8503920" y="490347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Shrinks as you add features — this is literally the 'fee' for each new column.</a:t>
            </a:r>
            <a:endParaRPr lang="en-US" sz="1100" dirty="0"/>
          </a:p>
        </p:txBody>
      </p:sp>
      <p:sp>
        <p:nvSpPr>
          <p:cNvPr id="19" name="Text 16"/>
          <p:cNvSpPr/>
          <p:nvPr/>
        </p:nvSpPr>
        <p:spPr>
          <a:xfrm>
            <a:off x="640080" y="5760720"/>
            <a:ext cx="10881360" cy="502920"/>
          </a:xfrm>
          <a:prstGeom prst="rect">
            <a:avLst/>
          </a:prstGeom>
          <a:noFill/>
          <a:ln/>
        </p:spPr>
        <p:txBody>
          <a:bodyPr wrap="square" lIns="0" tIns="0" rIns="0" bIns="0" rtlCol="0" anchor="ctr"/>
          <a:lstStyle/>
          <a:p>
            <a:pPr indent="0" marL="0">
              <a:lnSpc>
                <a:spcPts val="1400"/>
              </a:lnSpc>
              <a:buNone/>
            </a:pPr>
            <a:r>
              <a:rPr lang="en-US" sz="1150" i="1" dirty="0">
                <a:solidFill>
                  <a:srgbClr val="7C8A80"/>
                </a:solidFill>
                <a:latin typeface="Calibri" pitchFamily="34" charset="0"/>
                <a:ea typeface="Calibri" pitchFamily="34" charset="-122"/>
                <a:cs typeface="Calibri" pitchFamily="34" charset="-120"/>
              </a:rPr>
              <a:t>Example: adding a weak 'sleep hours' feature — R² rises 81%→88%→89%, but Adjusted R² goes 79%→89%→86%. That drop is the tell that the last feature wasn't worth adding.</a:t>
            </a:r>
            <a:endParaRPr lang="en-US" sz="1150" dirty="0"/>
          </a:p>
        </p:txBody>
      </p:sp>
      <p:sp>
        <p:nvSpPr>
          <p:cNvPr id="20"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27</a:t>
            </a:r>
            <a:endParaRPr lang="en-US" sz="1000" dirty="0"/>
          </a:p>
        </p:txBody>
      </p:sp>
      <p:sp>
        <p:nvSpPr>
          <p:cNvPr id="21" name="Shape 18"/>
          <p:cNvSpPr/>
          <p:nvPr/>
        </p:nvSpPr>
        <p:spPr>
          <a:xfrm>
            <a:off x="11475720" y="6400800"/>
            <a:ext cx="329184" cy="329184"/>
          </a:xfrm>
          <a:prstGeom prst="ellipse">
            <a:avLst/>
          </a:prstGeom>
          <a:solidFill>
            <a:srgbClr val="F1F3EC"/>
          </a:solidFill>
          <a:ln w="12700">
            <a:solidFill>
              <a:srgbClr val="333333"/>
            </a:solidFill>
            <a:prstDash val="solid"/>
          </a:ln>
        </p:spPr>
      </p:sp>
      <p:sp>
        <p:nvSpPr>
          <p:cNvPr id="22" name="Text 19"/>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052560" y="-1371600"/>
            <a:ext cx="4114800" cy="4114800"/>
          </a:xfrm>
          <a:prstGeom prst="ellipse">
            <a:avLst/>
          </a:prstGeom>
          <a:solidFill>
            <a:srgbClr val="184038"/>
          </a:solidFill>
          <a:ln w="12700">
            <a:solidFill>
              <a:srgbClr val="333333"/>
            </a:solidFill>
            <a:prstDash val="solid"/>
          </a:ln>
        </p:spPr>
      </p:sp>
      <p:sp>
        <p:nvSpPr>
          <p:cNvPr id="3" name="Shape 1"/>
          <p:cNvSpPr/>
          <p:nvPr/>
        </p:nvSpPr>
        <p:spPr>
          <a:xfrm>
            <a:off x="5547208" y="1371600"/>
            <a:ext cx="1097280" cy="1097280"/>
          </a:xfrm>
          <a:prstGeom prst="ellipse">
            <a:avLst/>
          </a:prstGeom>
          <a:solidFill>
            <a:srgbClr val="2C6E63"/>
          </a:solidFill>
          <a:ln w="12700">
            <a:solidFill>
              <a:srgbClr val="333333"/>
            </a:solidFill>
            <a:prstDash val="solid"/>
          </a:ln>
        </p:spPr>
      </p:sp>
      <p:pic>
        <p:nvPicPr>
          <p:cNvPr id="4" name="Image 0" descr="/home/claude/work/icons_png/scale.png">    </p:cNvPr>
          <p:cNvPicPr>
            <a:picLocks noChangeAspect="1"/>
          </p:cNvPicPr>
          <p:nvPr/>
        </p:nvPicPr>
        <p:blipFill>
          <a:blip r:embed="rId1"/>
          <a:stretch>
            <a:fillRect/>
          </a:stretch>
        </p:blipFill>
        <p:spPr>
          <a:xfrm>
            <a:off x="5794096" y="1618488"/>
            <a:ext cx="603504" cy="603504"/>
          </a:xfrm>
          <a:prstGeom prst="rect">
            <a:avLst/>
          </a:prstGeom>
        </p:spPr>
      </p:pic>
      <p:sp>
        <p:nvSpPr>
          <p:cNvPr id="5" name="Text 2"/>
          <p:cNvSpPr/>
          <p:nvPr/>
        </p:nvSpPr>
        <p:spPr>
          <a:xfrm>
            <a:off x="0" y="2788920"/>
            <a:ext cx="12191695" cy="365760"/>
          </a:xfrm>
          <a:prstGeom prst="rect">
            <a:avLst/>
          </a:prstGeom>
          <a:noFill/>
          <a:ln/>
        </p:spPr>
        <p:txBody>
          <a:bodyPr wrap="square" lIns="0" tIns="0" rIns="0" bIns="0" rtlCol="0" anchor="ctr"/>
          <a:lstStyle/>
          <a:p>
            <a:pPr algn="ctr" indent="0" marL="0">
              <a:buNone/>
            </a:pPr>
            <a:r>
              <a:rPr lang="en-US" sz="1400" spc="300" kern="0" dirty="0">
                <a:solidFill>
                  <a:srgbClr val="E7C588"/>
                </a:solidFill>
                <a:latin typeface="Calibri" pitchFamily="34" charset="0"/>
                <a:ea typeface="Calibri" pitchFamily="34" charset="-122"/>
                <a:cs typeface="Calibri" pitchFamily="34" charset="-120"/>
              </a:rPr>
              <a:t>PART 7</a:t>
            </a:r>
            <a:endParaRPr lang="en-US" sz="1400" dirty="0"/>
          </a:p>
        </p:txBody>
      </p:sp>
      <p:sp>
        <p:nvSpPr>
          <p:cNvPr id="6" name="Text 3"/>
          <p:cNvSpPr/>
          <p:nvPr/>
        </p:nvSpPr>
        <p:spPr>
          <a:xfrm>
            <a:off x="914400" y="3200400"/>
            <a:ext cx="10362895"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Overfitting vs. Underfitting</a:t>
            </a:r>
            <a:endParaRPr lang="en-US" sz="3400" dirty="0"/>
          </a:p>
        </p:txBody>
      </p:sp>
      <p:sp>
        <p:nvSpPr>
          <p:cNvPr id="7" name="Text 4"/>
          <p:cNvSpPr/>
          <p:nvPr/>
        </p:nvSpPr>
        <p:spPr>
          <a:xfrm>
            <a:off x="1828800" y="4343400"/>
            <a:ext cx="8534095" cy="457200"/>
          </a:xfrm>
          <a:prstGeom prst="rect">
            <a:avLst/>
          </a:prstGeom>
          <a:noFill/>
          <a:ln/>
        </p:spPr>
        <p:txBody>
          <a:bodyPr wrap="square" lIns="0" tIns="0" rIns="0" bIns="0" rtlCol="0" anchor="ctr"/>
          <a:lstStyle/>
          <a:p>
            <a:pPr algn="ctr" indent="0" marL="0">
              <a:buNone/>
            </a:pPr>
            <a:r>
              <a:rPr lang="en-US" sz="1500" i="1" dirty="0">
                <a:solidFill>
                  <a:srgbClr val="C9D3CC"/>
                </a:solidFill>
                <a:latin typeface="Calibri" pitchFamily="34" charset="0"/>
                <a:ea typeface="Calibri" pitchFamily="34" charset="-122"/>
                <a:cs typeface="Calibri" pitchFamily="34" charset="-120"/>
              </a:rPr>
              <a:t>The two ways a model can go wrong</a:t>
            </a:r>
            <a:endParaRPr lang="en-US" sz="15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scale.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400" b="1" dirty="0">
                <a:solidFill>
                  <a:srgbClr val="1B2420"/>
                </a:solidFill>
                <a:latin typeface="Cambria" pitchFamily="34" charset="0"/>
                <a:ea typeface="Cambria" pitchFamily="34" charset="-122"/>
                <a:cs typeface="Cambria" pitchFamily="34" charset="-120"/>
              </a:rPr>
              <a:t>Overfitting vs. Underfitting</a:t>
            </a:r>
            <a:endParaRPr lang="en-US" sz="2400" dirty="0"/>
          </a:p>
        </p:txBody>
      </p:sp>
      <p:sp>
        <p:nvSpPr>
          <p:cNvPr id="5" name="Shape 2"/>
          <p:cNvSpPr/>
          <p:nvPr/>
        </p:nvSpPr>
        <p:spPr>
          <a:xfrm>
            <a:off x="640080" y="1554480"/>
            <a:ext cx="5280660" cy="566928"/>
          </a:xfrm>
          <a:prstGeom prst="roundRect">
            <a:avLst>
              <a:gd name="adj" fmla="val 12903"/>
            </a:avLst>
          </a:prstGeom>
          <a:solidFill>
            <a:srgbClr val="A5473F"/>
          </a:solidFill>
          <a:ln w="12700">
            <a:solidFill>
              <a:srgbClr val="333333"/>
            </a:solidFill>
            <a:prstDash val="solid"/>
          </a:ln>
        </p:spPr>
      </p:sp>
      <p:sp>
        <p:nvSpPr>
          <p:cNvPr id="6" name="Text 3"/>
          <p:cNvSpPr/>
          <p:nvPr/>
        </p:nvSpPr>
        <p:spPr>
          <a:xfrm>
            <a:off x="640080" y="1554480"/>
            <a:ext cx="52806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Overfitting</a:t>
            </a:r>
            <a:endParaRPr lang="en-US" sz="1600" dirty="0"/>
          </a:p>
        </p:txBody>
      </p:sp>
      <p:sp>
        <p:nvSpPr>
          <p:cNvPr id="7" name="Shape 4"/>
          <p:cNvSpPr/>
          <p:nvPr/>
        </p:nvSpPr>
        <p:spPr>
          <a:xfrm>
            <a:off x="640080" y="2194560"/>
            <a:ext cx="5280660" cy="3931920"/>
          </a:xfrm>
          <a:prstGeom prst="roundRect">
            <a:avLst>
              <a:gd name="adj" fmla="val 1860"/>
            </a:avLst>
          </a:prstGeom>
          <a:solidFill>
            <a:srgbClr val="F1F3EC"/>
          </a:solidFill>
          <a:ln w="12700">
            <a:solidFill>
              <a:srgbClr val="333333"/>
            </a:solidFill>
            <a:prstDash val="solid"/>
          </a:ln>
        </p:spPr>
      </p:sp>
      <p:sp>
        <p:nvSpPr>
          <p:cNvPr id="8" name="Text 5"/>
          <p:cNvSpPr/>
          <p:nvPr/>
        </p:nvSpPr>
        <p:spPr>
          <a:xfrm>
            <a:off x="868680" y="2423160"/>
            <a:ext cx="4823460" cy="3474720"/>
          </a:xfrm>
          <a:prstGeom prst="rect">
            <a:avLst/>
          </a:prstGeom>
          <a:noFill/>
          <a:ln/>
        </p:spPr>
        <p:txBody>
          <a:bodyPr wrap="square" lIns="0" tIns="0" rIns="0" bIns="0" rtlCol="0" anchor="ctr"/>
          <a:lstStyle/>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Model memorizes training data too closely</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Training performance: excellent</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Testing performance: poor</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Low bias, high variance</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Fix: simplify the model, get more data, regularize</a:t>
            </a:r>
            <a:endParaRPr lang="en-US" sz="1250" dirty="0"/>
          </a:p>
        </p:txBody>
      </p:sp>
      <p:sp>
        <p:nvSpPr>
          <p:cNvPr id="9" name="Shape 6"/>
          <p:cNvSpPr/>
          <p:nvPr/>
        </p:nvSpPr>
        <p:spPr>
          <a:xfrm>
            <a:off x="6240780" y="1554480"/>
            <a:ext cx="5280660" cy="566928"/>
          </a:xfrm>
          <a:prstGeom prst="roundRect">
            <a:avLst>
              <a:gd name="adj" fmla="val 12903"/>
            </a:avLst>
          </a:prstGeom>
          <a:solidFill>
            <a:srgbClr val="C98A2B"/>
          </a:solidFill>
          <a:ln w="12700">
            <a:solidFill>
              <a:srgbClr val="333333"/>
            </a:solidFill>
            <a:prstDash val="solid"/>
          </a:ln>
        </p:spPr>
      </p:sp>
      <p:sp>
        <p:nvSpPr>
          <p:cNvPr id="10" name="Text 7"/>
          <p:cNvSpPr/>
          <p:nvPr/>
        </p:nvSpPr>
        <p:spPr>
          <a:xfrm>
            <a:off x="6240780" y="1554480"/>
            <a:ext cx="52806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Underfitting</a:t>
            </a:r>
            <a:endParaRPr lang="en-US" sz="1600" dirty="0"/>
          </a:p>
        </p:txBody>
      </p:sp>
      <p:sp>
        <p:nvSpPr>
          <p:cNvPr id="11" name="Shape 8"/>
          <p:cNvSpPr/>
          <p:nvPr/>
        </p:nvSpPr>
        <p:spPr>
          <a:xfrm>
            <a:off x="6240780" y="2194560"/>
            <a:ext cx="5280660" cy="3931920"/>
          </a:xfrm>
          <a:prstGeom prst="roundRect">
            <a:avLst>
              <a:gd name="adj" fmla="val 1860"/>
            </a:avLst>
          </a:prstGeom>
          <a:solidFill>
            <a:srgbClr val="F1F3EC"/>
          </a:solidFill>
          <a:ln w="12700">
            <a:solidFill>
              <a:srgbClr val="333333"/>
            </a:solidFill>
            <a:prstDash val="solid"/>
          </a:ln>
        </p:spPr>
      </p:sp>
      <p:sp>
        <p:nvSpPr>
          <p:cNvPr id="12" name="Text 9"/>
          <p:cNvSpPr/>
          <p:nvPr/>
        </p:nvSpPr>
        <p:spPr>
          <a:xfrm>
            <a:off x="6469380" y="2423160"/>
            <a:ext cx="4823460" cy="3474720"/>
          </a:xfrm>
          <a:prstGeom prst="rect">
            <a:avLst/>
          </a:prstGeom>
          <a:noFill/>
          <a:ln/>
        </p:spPr>
        <p:txBody>
          <a:bodyPr wrap="square" lIns="0" tIns="0" rIns="0" bIns="0" rtlCol="0" anchor="ctr"/>
          <a:lstStyle/>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Model is too simple to capture the pattern</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Training performance: poor</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Testing performance: also poor</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High bias, high variance</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Fix: add features, use a more complex model</a:t>
            </a:r>
            <a:endParaRPr lang="en-US" sz="1250" dirty="0"/>
          </a:p>
        </p:txBody>
      </p:sp>
      <p:sp>
        <p:nvSpPr>
          <p:cNvPr id="13" name="Text 1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29</a:t>
            </a:r>
            <a:endParaRPr lang="en-US" sz="1000" dirty="0"/>
          </a:p>
        </p:txBody>
      </p:sp>
      <p:sp>
        <p:nvSpPr>
          <p:cNvPr id="14" name="Shape 11"/>
          <p:cNvSpPr/>
          <p:nvPr/>
        </p:nvSpPr>
        <p:spPr>
          <a:xfrm>
            <a:off x="11475720" y="6400800"/>
            <a:ext cx="329184" cy="329184"/>
          </a:xfrm>
          <a:prstGeom prst="ellipse">
            <a:avLst/>
          </a:prstGeom>
          <a:solidFill>
            <a:srgbClr val="F1F3EC"/>
          </a:solidFill>
          <a:ln w="12700">
            <a:solidFill>
              <a:srgbClr val="333333"/>
            </a:solidFill>
            <a:prstDash val="solid"/>
          </a:ln>
        </p:spPr>
      </p:sp>
      <p:sp>
        <p:nvSpPr>
          <p:cNvPr id="15" name="Text 12"/>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activity.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300" b="1" dirty="0">
                <a:solidFill>
                  <a:srgbClr val="1B2420"/>
                </a:solidFill>
                <a:latin typeface="Cambria" pitchFamily="34" charset="0"/>
                <a:ea typeface="Cambria" pitchFamily="34" charset="-122"/>
                <a:cs typeface="Cambria" pitchFamily="34" charset="-120"/>
              </a:rPr>
              <a:t>What Overfitting &amp; Underfitting Actually Look Like</a:t>
            </a:r>
            <a:endParaRPr lang="en-US" sz="2300" dirty="0"/>
          </a:p>
        </p:txBody>
      </p:sp>
      <p:sp>
        <p:nvSpPr>
          <p:cNvPr id="5" name="Text 2"/>
          <p:cNvSpPr/>
          <p:nvPr/>
        </p:nvSpPr>
        <p:spPr>
          <a:xfrm>
            <a:off x="640080" y="1417320"/>
            <a:ext cx="10881360" cy="1554480"/>
          </a:xfrm>
          <a:prstGeom prst="rect">
            <a:avLst/>
          </a:prstGeom>
          <a:noFill/>
          <a:ln/>
        </p:spPr>
        <p:txBody>
          <a:bodyPr wrap="square" lIns="0" tIns="0" rIns="0" bIns="0" rtlCol="0" anchor="ctr"/>
          <a:lstStyle/>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Underfitting — a straight line forced onto curved data; it misses the pattern in both training and test data alike.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Good Fit — a smooth curve that follows the true trend without chasing every bit of noise.</a:t>
            </a:r>
            <a:endParaRPr lang="en-US" sz="1350" dirty="0"/>
          </a:p>
          <a:p>
            <a:pPr marL="203200" indent="-203200">
              <a:lnSpc>
                <a:spcPts val="1800"/>
              </a:lnSpc>
              <a:spcAft>
                <a:spcPts val="1100"/>
              </a:spcAft>
              <a:buSzPct val="100000"/>
              <a:buChar char="▪"/>
            </a:pPr>
            <a:r>
              <a:rPr lang="en-US" sz="1350" dirty="0">
                <a:solidFill>
                  <a:srgbClr val="1B2420"/>
                </a:solidFill>
                <a:latin typeface="Calibri" pitchFamily="34" charset="0"/>
                <a:ea typeface="Calibri" pitchFamily="34" charset="-122"/>
                <a:cs typeface="Calibri" pitchFamily="34" charset="-120"/>
              </a:rPr>
              <a:t>Overfitting — a wiggly curve that hits nearly every training point exactly, but that wiggle won't generalize to new data.</a:t>
            </a:r>
            <a:endParaRPr lang="en-US" sz="1350" dirty="0"/>
          </a:p>
        </p:txBody>
      </p:sp>
      <p:sp>
        <p:nvSpPr>
          <p:cNvPr id="6" name="Shape 3"/>
          <p:cNvSpPr/>
          <p:nvPr/>
        </p:nvSpPr>
        <p:spPr>
          <a:xfrm>
            <a:off x="929488" y="2926080"/>
            <a:ext cx="10332720" cy="3200400"/>
          </a:xfrm>
          <a:prstGeom prst="roundRect">
            <a:avLst>
              <a:gd name="adj" fmla="val 2857"/>
            </a:avLst>
          </a:prstGeom>
          <a:solidFill>
            <a:srgbClr val="F1F3EC"/>
          </a:solidFill>
          <a:ln w="12700">
            <a:solidFill>
              <a:srgbClr val="333333"/>
            </a:solidFill>
            <a:prstDash val="solid"/>
          </a:ln>
        </p:spPr>
      </p:sp>
      <p:pic>
        <p:nvPicPr>
          <p:cNvPr id="7" name="Image 1" descr="/home/claude/work/charts/overfit_underfit_triad.png">    </p:cNvPr>
          <p:cNvPicPr>
            <a:picLocks noChangeAspect="1"/>
          </p:cNvPicPr>
          <p:nvPr/>
        </p:nvPicPr>
        <p:blipFill>
          <a:blip r:embed="rId2"/>
          <a:srcRect l="0" r="0" t="0" b="0"/>
          <a:stretch/>
        </p:blipFill>
        <p:spPr>
          <a:xfrm>
            <a:off x="1066648" y="3017520"/>
            <a:ext cx="10058400" cy="3017520"/>
          </a:xfrm>
          <a:prstGeom prst="rect">
            <a:avLst/>
          </a:prstGeom>
        </p:spPr>
      </p:pic>
      <p:sp>
        <p:nvSpPr>
          <p:cNvPr id="8" name="Text 4"/>
          <p:cNvSpPr/>
          <p:nvPr/>
        </p:nvSpPr>
        <p:spPr>
          <a:xfrm>
            <a:off x="929488" y="6163056"/>
            <a:ext cx="10332720" cy="320040"/>
          </a:xfrm>
          <a:prstGeom prst="rect">
            <a:avLst/>
          </a:prstGeom>
          <a:noFill/>
          <a:ln/>
        </p:spPr>
        <p:txBody>
          <a:bodyPr wrap="square" lIns="0" tIns="0" rIns="0" bIns="0" rtlCol="0" anchor="ctr"/>
          <a:lstStyle/>
          <a:p>
            <a:pPr algn="ctr" indent="0" marL="0">
              <a:buNone/>
            </a:pPr>
            <a:r>
              <a:rPr lang="en-US" sz="1050" i="1" dirty="0">
                <a:solidFill>
                  <a:srgbClr val="7C8A80"/>
                </a:solidFill>
                <a:latin typeface="Calibri" pitchFamily="34" charset="0"/>
                <a:ea typeface="Calibri" pitchFamily="34" charset="-122"/>
                <a:cs typeface="Calibri" pitchFamily="34" charset="-120"/>
              </a:rPr>
              <a:t>Same data, three different model complexities</a:t>
            </a:r>
            <a:endParaRPr lang="en-US" sz="1050" dirty="0"/>
          </a:p>
        </p:txBody>
      </p:sp>
      <p:sp>
        <p:nvSpPr>
          <p:cNvPr id="9"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30</a:t>
            </a:r>
            <a:endParaRPr lang="en-US" sz="1000" dirty="0"/>
          </a:p>
        </p:txBody>
      </p:sp>
      <p:sp>
        <p:nvSpPr>
          <p:cNvPr id="10" name="Shape 6"/>
          <p:cNvSpPr/>
          <p:nvPr/>
        </p:nvSpPr>
        <p:spPr>
          <a:xfrm>
            <a:off x="11475720" y="6400800"/>
            <a:ext cx="329184" cy="329184"/>
          </a:xfrm>
          <a:prstGeom prst="ellipse">
            <a:avLst/>
          </a:prstGeom>
          <a:solidFill>
            <a:srgbClr val="F1F3EC"/>
          </a:solidFill>
          <a:ln w="12700">
            <a:solidFill>
              <a:srgbClr val="333333"/>
            </a:solidFill>
            <a:prstDash val="solid"/>
          </a:ln>
        </p:spPr>
      </p:sp>
      <p:sp>
        <p:nvSpPr>
          <p:cNvPr id="11" name="Text 7"/>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gauge.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400" b="1" dirty="0">
                <a:solidFill>
                  <a:srgbClr val="1B2420"/>
                </a:solidFill>
                <a:latin typeface="Cambria" pitchFamily="34" charset="0"/>
                <a:ea typeface="Cambria" pitchFamily="34" charset="-122"/>
                <a:cs typeface="Cambria" pitchFamily="34" charset="-120"/>
              </a:rPr>
              <a:t>Reading Train vs. Test Accuracy</a:t>
            </a:r>
            <a:endParaRPr lang="en-US" sz="2400" dirty="0"/>
          </a:p>
        </p:txBody>
      </p:sp>
      <p:sp>
        <p:nvSpPr>
          <p:cNvPr id="5" name="Shape 2"/>
          <p:cNvSpPr/>
          <p:nvPr/>
        </p:nvSpPr>
        <p:spPr>
          <a:xfrm>
            <a:off x="640080" y="1920240"/>
            <a:ext cx="3444240" cy="3566160"/>
          </a:xfrm>
          <a:prstGeom prst="roundRect">
            <a:avLst>
              <a:gd name="adj" fmla="val 2655"/>
            </a:avLst>
          </a:prstGeom>
          <a:solidFill>
            <a:srgbClr val="F1F3EC"/>
          </a:solidFill>
          <a:ln w="12700">
            <a:solidFill>
              <a:srgbClr val="333333"/>
            </a:solidFill>
            <a:prstDash val="solid"/>
          </a:ln>
        </p:spPr>
      </p:sp>
      <p:sp>
        <p:nvSpPr>
          <p:cNvPr id="6" name="Shape 3"/>
          <p:cNvSpPr/>
          <p:nvPr/>
        </p:nvSpPr>
        <p:spPr>
          <a:xfrm>
            <a:off x="1996440" y="2286000"/>
            <a:ext cx="731520" cy="731520"/>
          </a:xfrm>
          <a:prstGeom prst="ellipse">
            <a:avLst/>
          </a:prstGeom>
          <a:solidFill>
            <a:srgbClr val="A5473F"/>
          </a:solidFill>
          <a:ln w="12700">
            <a:solidFill>
              <a:srgbClr val="333333"/>
            </a:solidFill>
            <a:prstDash val="solid"/>
          </a:ln>
        </p:spPr>
      </p:sp>
      <p:pic>
        <p:nvPicPr>
          <p:cNvPr id="7" name="Image 1" descr="/home/claude/work/icons_png/trendingUp.png">    </p:cNvPr>
          <p:cNvPicPr>
            <a:picLocks noChangeAspect="1"/>
          </p:cNvPicPr>
          <p:nvPr/>
        </p:nvPicPr>
        <p:blipFill>
          <a:blip r:embed="rId2"/>
          <a:stretch>
            <a:fillRect/>
          </a:stretch>
        </p:blipFill>
        <p:spPr>
          <a:xfrm>
            <a:off x="2161032" y="2450592"/>
            <a:ext cx="402336" cy="402336"/>
          </a:xfrm>
          <a:prstGeom prst="rect">
            <a:avLst/>
          </a:prstGeom>
        </p:spPr>
      </p:pic>
      <p:sp>
        <p:nvSpPr>
          <p:cNvPr id="8" name="Text 4"/>
          <p:cNvSpPr/>
          <p:nvPr/>
        </p:nvSpPr>
        <p:spPr>
          <a:xfrm>
            <a:off x="777240" y="3200400"/>
            <a:ext cx="3169920" cy="457200"/>
          </a:xfrm>
          <a:prstGeom prst="rect">
            <a:avLst/>
          </a:prstGeom>
          <a:noFill/>
          <a:ln/>
        </p:spPr>
        <p:txBody>
          <a:bodyPr wrap="square" lIns="0" tIns="0" rIns="0" bIns="0" rtlCol="0" anchor="ctr"/>
          <a:lstStyle/>
          <a:p>
            <a:pPr algn="ctr" indent="0" marL="0">
              <a:buNone/>
            </a:pPr>
            <a:r>
              <a:rPr lang="en-US" sz="1450" b="1" dirty="0">
                <a:solidFill>
                  <a:srgbClr val="1B2420"/>
                </a:solidFill>
                <a:latin typeface="Cambria" pitchFamily="34" charset="0"/>
                <a:ea typeface="Cambria" pitchFamily="34" charset="-122"/>
                <a:cs typeface="Cambria" pitchFamily="34" charset="-120"/>
              </a:rPr>
              <a:t>Model M1</a:t>
            </a:r>
            <a:endParaRPr lang="en-US" sz="1450" dirty="0"/>
          </a:p>
        </p:txBody>
      </p:sp>
      <p:sp>
        <p:nvSpPr>
          <p:cNvPr id="9" name="Text 5"/>
          <p:cNvSpPr/>
          <p:nvPr/>
        </p:nvSpPr>
        <p:spPr>
          <a:xfrm>
            <a:off x="777240" y="3703320"/>
            <a:ext cx="3169920" cy="1645920"/>
          </a:xfrm>
          <a:prstGeom prst="rect">
            <a:avLst/>
          </a:prstGeom>
          <a:noFill/>
          <a:ln/>
        </p:spPr>
        <p:txBody>
          <a:bodyPr wrap="square" lIns="0" tIns="0" rIns="0" bIns="0" rtlCol="0" anchor="ctr"/>
          <a:lstStyle/>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Train: 92%</a:t>
            </a:r>
            <a:endParaRPr lang="en-US" sz="1100" dirty="0"/>
          </a:p>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Test: 64%</a:t>
            </a:r>
            <a:endParaRPr lang="en-US" sz="1100" dirty="0"/>
          </a:p>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 Overfitting</a:t>
            </a:r>
            <a:endParaRPr lang="en-US" sz="1100" dirty="0"/>
          </a:p>
        </p:txBody>
      </p:sp>
      <p:sp>
        <p:nvSpPr>
          <p:cNvPr id="10" name="Shape 6"/>
          <p:cNvSpPr/>
          <p:nvPr/>
        </p:nvSpPr>
        <p:spPr>
          <a:xfrm>
            <a:off x="4358640" y="1920240"/>
            <a:ext cx="3444240" cy="3566160"/>
          </a:xfrm>
          <a:prstGeom prst="roundRect">
            <a:avLst>
              <a:gd name="adj" fmla="val 2655"/>
            </a:avLst>
          </a:prstGeom>
          <a:solidFill>
            <a:srgbClr val="F1F3EC"/>
          </a:solidFill>
          <a:ln w="12700">
            <a:solidFill>
              <a:srgbClr val="333333"/>
            </a:solidFill>
            <a:prstDash val="solid"/>
          </a:ln>
        </p:spPr>
      </p:sp>
      <p:sp>
        <p:nvSpPr>
          <p:cNvPr id="11" name="Shape 7"/>
          <p:cNvSpPr/>
          <p:nvPr/>
        </p:nvSpPr>
        <p:spPr>
          <a:xfrm>
            <a:off x="5715000" y="2286000"/>
            <a:ext cx="731520" cy="731520"/>
          </a:xfrm>
          <a:prstGeom prst="ellipse">
            <a:avLst/>
          </a:prstGeom>
          <a:solidFill>
            <a:srgbClr val="2C6E63"/>
          </a:solidFill>
          <a:ln w="12700">
            <a:solidFill>
              <a:srgbClr val="333333"/>
            </a:solidFill>
            <a:prstDash val="solid"/>
          </a:ln>
        </p:spPr>
      </p:sp>
      <p:pic>
        <p:nvPicPr>
          <p:cNvPr id="12" name="Image 2" descr="/home/claude/work/icons_png/checkCircle.png">    </p:cNvPr>
          <p:cNvPicPr>
            <a:picLocks noChangeAspect="1"/>
          </p:cNvPicPr>
          <p:nvPr/>
        </p:nvPicPr>
        <p:blipFill>
          <a:blip r:embed="rId3"/>
          <a:stretch>
            <a:fillRect/>
          </a:stretch>
        </p:blipFill>
        <p:spPr>
          <a:xfrm>
            <a:off x="5879592" y="2450592"/>
            <a:ext cx="402336" cy="402336"/>
          </a:xfrm>
          <a:prstGeom prst="rect">
            <a:avLst/>
          </a:prstGeom>
        </p:spPr>
      </p:pic>
      <p:sp>
        <p:nvSpPr>
          <p:cNvPr id="13" name="Text 8"/>
          <p:cNvSpPr/>
          <p:nvPr/>
        </p:nvSpPr>
        <p:spPr>
          <a:xfrm>
            <a:off x="4495800" y="3200400"/>
            <a:ext cx="3169920" cy="457200"/>
          </a:xfrm>
          <a:prstGeom prst="rect">
            <a:avLst/>
          </a:prstGeom>
          <a:noFill/>
          <a:ln/>
        </p:spPr>
        <p:txBody>
          <a:bodyPr wrap="square" lIns="0" tIns="0" rIns="0" bIns="0" rtlCol="0" anchor="ctr"/>
          <a:lstStyle/>
          <a:p>
            <a:pPr algn="ctr" indent="0" marL="0">
              <a:buNone/>
            </a:pPr>
            <a:r>
              <a:rPr lang="en-US" sz="1450" b="1" dirty="0">
                <a:solidFill>
                  <a:srgbClr val="1B2420"/>
                </a:solidFill>
                <a:latin typeface="Cambria" pitchFamily="34" charset="0"/>
                <a:ea typeface="Cambria" pitchFamily="34" charset="-122"/>
                <a:cs typeface="Cambria" pitchFamily="34" charset="-120"/>
              </a:rPr>
              <a:t>Model M2</a:t>
            </a:r>
            <a:endParaRPr lang="en-US" sz="1450" dirty="0"/>
          </a:p>
        </p:txBody>
      </p:sp>
      <p:sp>
        <p:nvSpPr>
          <p:cNvPr id="14" name="Text 9"/>
          <p:cNvSpPr/>
          <p:nvPr/>
        </p:nvSpPr>
        <p:spPr>
          <a:xfrm>
            <a:off x="4495800" y="3703320"/>
            <a:ext cx="3169920" cy="1645920"/>
          </a:xfrm>
          <a:prstGeom prst="rect">
            <a:avLst/>
          </a:prstGeom>
          <a:noFill/>
          <a:ln/>
        </p:spPr>
        <p:txBody>
          <a:bodyPr wrap="square" lIns="0" tIns="0" rIns="0" bIns="0" rtlCol="0" anchor="ctr"/>
          <a:lstStyle/>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Train: 92%</a:t>
            </a:r>
            <a:endParaRPr lang="en-US" sz="1100" dirty="0"/>
          </a:p>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Test: 90%</a:t>
            </a:r>
            <a:endParaRPr lang="en-US" sz="1100" dirty="0"/>
          </a:p>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 Perfect fit</a:t>
            </a:r>
            <a:endParaRPr lang="en-US" sz="1100" dirty="0"/>
          </a:p>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(low bias, low variance)</a:t>
            </a:r>
            <a:endParaRPr lang="en-US" sz="1100" dirty="0"/>
          </a:p>
        </p:txBody>
      </p:sp>
      <p:sp>
        <p:nvSpPr>
          <p:cNvPr id="15" name="Shape 10"/>
          <p:cNvSpPr/>
          <p:nvPr/>
        </p:nvSpPr>
        <p:spPr>
          <a:xfrm>
            <a:off x="8077200" y="1920240"/>
            <a:ext cx="3444240" cy="3566160"/>
          </a:xfrm>
          <a:prstGeom prst="roundRect">
            <a:avLst>
              <a:gd name="adj" fmla="val 2655"/>
            </a:avLst>
          </a:prstGeom>
          <a:solidFill>
            <a:srgbClr val="F1F3EC"/>
          </a:solidFill>
          <a:ln w="12700">
            <a:solidFill>
              <a:srgbClr val="333333"/>
            </a:solidFill>
            <a:prstDash val="solid"/>
          </a:ln>
        </p:spPr>
      </p:sp>
      <p:sp>
        <p:nvSpPr>
          <p:cNvPr id="16" name="Shape 11"/>
          <p:cNvSpPr/>
          <p:nvPr/>
        </p:nvSpPr>
        <p:spPr>
          <a:xfrm>
            <a:off x="9433560" y="2286000"/>
            <a:ext cx="731520" cy="731520"/>
          </a:xfrm>
          <a:prstGeom prst="ellipse">
            <a:avLst/>
          </a:prstGeom>
          <a:solidFill>
            <a:srgbClr val="C98A2B"/>
          </a:solidFill>
          <a:ln w="12700">
            <a:solidFill>
              <a:srgbClr val="333333"/>
            </a:solidFill>
            <a:prstDash val="solid"/>
          </a:ln>
        </p:spPr>
      </p:sp>
      <p:pic>
        <p:nvPicPr>
          <p:cNvPr id="17" name="Image 3" descr="/home/claude/work/icons_png/trendingDown.png">    </p:cNvPr>
          <p:cNvPicPr>
            <a:picLocks noChangeAspect="1"/>
          </p:cNvPicPr>
          <p:nvPr/>
        </p:nvPicPr>
        <p:blipFill>
          <a:blip r:embed="rId4"/>
          <a:stretch>
            <a:fillRect/>
          </a:stretch>
        </p:blipFill>
        <p:spPr>
          <a:xfrm>
            <a:off x="9598152" y="2450592"/>
            <a:ext cx="402336" cy="402336"/>
          </a:xfrm>
          <a:prstGeom prst="rect">
            <a:avLst/>
          </a:prstGeom>
        </p:spPr>
      </p:pic>
      <p:sp>
        <p:nvSpPr>
          <p:cNvPr id="18" name="Text 12"/>
          <p:cNvSpPr/>
          <p:nvPr/>
        </p:nvSpPr>
        <p:spPr>
          <a:xfrm>
            <a:off x="8214360" y="3200400"/>
            <a:ext cx="3169920" cy="457200"/>
          </a:xfrm>
          <a:prstGeom prst="rect">
            <a:avLst/>
          </a:prstGeom>
          <a:noFill/>
          <a:ln/>
        </p:spPr>
        <p:txBody>
          <a:bodyPr wrap="square" lIns="0" tIns="0" rIns="0" bIns="0" rtlCol="0" anchor="ctr"/>
          <a:lstStyle/>
          <a:p>
            <a:pPr algn="ctr" indent="0" marL="0">
              <a:buNone/>
            </a:pPr>
            <a:r>
              <a:rPr lang="en-US" sz="1450" b="1" dirty="0">
                <a:solidFill>
                  <a:srgbClr val="1B2420"/>
                </a:solidFill>
                <a:latin typeface="Cambria" pitchFamily="34" charset="0"/>
                <a:ea typeface="Cambria" pitchFamily="34" charset="-122"/>
                <a:cs typeface="Cambria" pitchFamily="34" charset="-120"/>
              </a:rPr>
              <a:t>Model M3</a:t>
            </a:r>
            <a:endParaRPr lang="en-US" sz="1450" dirty="0"/>
          </a:p>
        </p:txBody>
      </p:sp>
      <p:sp>
        <p:nvSpPr>
          <p:cNvPr id="19" name="Text 13"/>
          <p:cNvSpPr/>
          <p:nvPr/>
        </p:nvSpPr>
        <p:spPr>
          <a:xfrm>
            <a:off x="8214360" y="3703320"/>
            <a:ext cx="3169920" cy="1645920"/>
          </a:xfrm>
          <a:prstGeom prst="rect">
            <a:avLst/>
          </a:prstGeom>
          <a:noFill/>
          <a:ln/>
        </p:spPr>
        <p:txBody>
          <a:bodyPr wrap="square" lIns="0" tIns="0" rIns="0" bIns="0" rtlCol="0" anchor="ctr"/>
          <a:lstStyle/>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Train: 68%</a:t>
            </a:r>
            <a:endParaRPr lang="en-US" sz="1100" dirty="0"/>
          </a:p>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Test: 64%</a:t>
            </a:r>
            <a:endParaRPr lang="en-US" sz="1100" dirty="0"/>
          </a:p>
          <a:p>
            <a:pPr algn="ctr" indent="0" marL="0">
              <a:lnSpc>
                <a:spcPts val="1400"/>
              </a:lnSpc>
              <a:buNone/>
            </a:pPr>
            <a:r>
              <a:rPr lang="en-US" sz="1100" dirty="0">
                <a:solidFill>
                  <a:srgbClr val="4B564F"/>
                </a:solidFill>
                <a:latin typeface="Calibri" pitchFamily="34" charset="0"/>
                <a:ea typeface="Calibri" pitchFamily="34" charset="-122"/>
                <a:cs typeface="Calibri" pitchFamily="34" charset="-120"/>
              </a:rPr>
              <a:t>→ Underfitting</a:t>
            </a:r>
            <a:endParaRPr lang="en-US" sz="1100" dirty="0"/>
          </a:p>
        </p:txBody>
      </p:sp>
      <p:sp>
        <p:nvSpPr>
          <p:cNvPr id="20" name="Text 1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31</a:t>
            </a:r>
            <a:endParaRPr lang="en-US" sz="1000" dirty="0"/>
          </a:p>
        </p:txBody>
      </p:sp>
      <p:sp>
        <p:nvSpPr>
          <p:cNvPr id="21" name="Shape 15"/>
          <p:cNvSpPr/>
          <p:nvPr/>
        </p:nvSpPr>
        <p:spPr>
          <a:xfrm>
            <a:off x="11475720" y="6400800"/>
            <a:ext cx="329184" cy="329184"/>
          </a:xfrm>
          <a:prstGeom prst="ellipse">
            <a:avLst/>
          </a:prstGeom>
          <a:solidFill>
            <a:srgbClr val="F1F3EC"/>
          </a:solidFill>
          <a:ln w="12700">
            <a:solidFill>
              <a:srgbClr val="333333"/>
            </a:solidFill>
            <a:prstDash val="solid"/>
          </a:ln>
        </p:spPr>
      </p:sp>
      <p:sp>
        <p:nvSpPr>
          <p:cNvPr id="22" name="Text 16"/>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9052560" y="-1371600"/>
            <a:ext cx="4114800" cy="4114800"/>
          </a:xfrm>
          <a:prstGeom prst="ellipse">
            <a:avLst/>
          </a:prstGeom>
          <a:solidFill>
            <a:srgbClr val="184038"/>
          </a:solidFill>
          <a:ln w="12700">
            <a:solidFill>
              <a:srgbClr val="333333"/>
            </a:solidFill>
            <a:prstDash val="solid"/>
          </a:ln>
        </p:spPr>
      </p:sp>
      <p:sp>
        <p:nvSpPr>
          <p:cNvPr id="3" name="Shape 1"/>
          <p:cNvSpPr/>
          <p:nvPr/>
        </p:nvSpPr>
        <p:spPr>
          <a:xfrm>
            <a:off x="5547208" y="1371600"/>
            <a:ext cx="1097280" cy="1097280"/>
          </a:xfrm>
          <a:prstGeom prst="ellipse">
            <a:avLst/>
          </a:prstGeom>
          <a:solidFill>
            <a:srgbClr val="2C6E63"/>
          </a:solidFill>
          <a:ln w="12700">
            <a:solidFill>
              <a:srgbClr val="333333"/>
            </a:solidFill>
            <a:prstDash val="solid"/>
          </a:ln>
        </p:spPr>
      </p:sp>
      <p:pic>
        <p:nvPicPr>
          <p:cNvPr id="4" name="Image 0" descr="/home/claude/work/icons_png/sliders.png">    </p:cNvPr>
          <p:cNvPicPr>
            <a:picLocks noChangeAspect="1"/>
          </p:cNvPicPr>
          <p:nvPr/>
        </p:nvPicPr>
        <p:blipFill>
          <a:blip r:embed="rId1"/>
          <a:stretch>
            <a:fillRect/>
          </a:stretch>
        </p:blipFill>
        <p:spPr>
          <a:xfrm>
            <a:off x="5794096" y="1618488"/>
            <a:ext cx="603504" cy="603504"/>
          </a:xfrm>
          <a:prstGeom prst="rect">
            <a:avLst/>
          </a:prstGeom>
        </p:spPr>
      </p:pic>
      <p:sp>
        <p:nvSpPr>
          <p:cNvPr id="5" name="Text 2"/>
          <p:cNvSpPr/>
          <p:nvPr/>
        </p:nvSpPr>
        <p:spPr>
          <a:xfrm>
            <a:off x="0" y="2788920"/>
            <a:ext cx="12191695" cy="365760"/>
          </a:xfrm>
          <a:prstGeom prst="rect">
            <a:avLst/>
          </a:prstGeom>
          <a:noFill/>
          <a:ln/>
        </p:spPr>
        <p:txBody>
          <a:bodyPr wrap="square" lIns="0" tIns="0" rIns="0" bIns="0" rtlCol="0" anchor="ctr"/>
          <a:lstStyle/>
          <a:p>
            <a:pPr algn="ctr" indent="0" marL="0">
              <a:buNone/>
            </a:pPr>
            <a:r>
              <a:rPr lang="en-US" sz="1400" spc="300" kern="0" dirty="0">
                <a:solidFill>
                  <a:srgbClr val="E7C588"/>
                </a:solidFill>
                <a:latin typeface="Calibri" pitchFamily="34" charset="0"/>
                <a:ea typeface="Calibri" pitchFamily="34" charset="-122"/>
                <a:cs typeface="Calibri" pitchFamily="34" charset="-120"/>
              </a:rPr>
              <a:t>PART 8</a:t>
            </a:r>
            <a:endParaRPr lang="en-US" sz="1400" dirty="0"/>
          </a:p>
        </p:txBody>
      </p:sp>
      <p:sp>
        <p:nvSpPr>
          <p:cNvPr id="6" name="Text 3"/>
          <p:cNvSpPr/>
          <p:nvPr/>
        </p:nvSpPr>
        <p:spPr>
          <a:xfrm>
            <a:off x="914400" y="3200400"/>
            <a:ext cx="10362895"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Ridge &amp; Lasso Regression</a:t>
            </a:r>
            <a:endParaRPr lang="en-US" sz="3400" dirty="0"/>
          </a:p>
        </p:txBody>
      </p:sp>
      <p:sp>
        <p:nvSpPr>
          <p:cNvPr id="7" name="Text 4"/>
          <p:cNvSpPr/>
          <p:nvPr/>
        </p:nvSpPr>
        <p:spPr>
          <a:xfrm>
            <a:off x="1828800" y="4343400"/>
            <a:ext cx="8534095" cy="457200"/>
          </a:xfrm>
          <a:prstGeom prst="rect">
            <a:avLst/>
          </a:prstGeom>
          <a:noFill/>
          <a:ln/>
        </p:spPr>
        <p:txBody>
          <a:bodyPr wrap="square" lIns="0" tIns="0" rIns="0" bIns="0" rtlCol="0" anchor="ctr"/>
          <a:lstStyle/>
          <a:p>
            <a:pPr algn="ctr" indent="0" marL="0">
              <a:buNone/>
            </a:pPr>
            <a:r>
              <a:rPr lang="en-US" sz="1500" i="1" dirty="0">
                <a:solidFill>
                  <a:srgbClr val="C9D3CC"/>
                </a:solidFill>
                <a:latin typeface="Calibri" pitchFamily="34" charset="0"/>
                <a:ea typeface="Calibri" pitchFamily="34" charset="-122"/>
                <a:cs typeface="Calibri" pitchFamily="34" charset="-120"/>
              </a:rPr>
              <a:t>Taming overfitting by penalizing complexity</a:t>
            </a:r>
            <a:endParaRPr lang="en-US" sz="15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2C6E63"/>
          </a:solidFill>
          <a:ln w="12700">
            <a:solidFill>
              <a:srgbClr val="333333"/>
            </a:solidFill>
            <a:prstDash val="solid"/>
          </a:ln>
        </p:spPr>
      </p:sp>
      <p:pic>
        <p:nvPicPr>
          <p:cNvPr id="3" name="Image 0" descr="/home/claude/work/icons_png/sliders.png">    </p:cNvPr>
          <p:cNvPicPr>
            <a:picLocks noChangeAspect="1"/>
          </p:cNvPicPr>
          <p:nvPr/>
        </p:nvPicPr>
        <p:blipFill>
          <a:blip r:embed="rId1"/>
          <a:stretch>
            <a:fillRect/>
          </a:stretch>
        </p:blipFill>
        <p:spPr>
          <a:xfrm>
            <a:off x="763524" y="580644"/>
            <a:ext cx="320040" cy="320040"/>
          </a:xfrm>
          <a:prstGeom prst="rect">
            <a:avLst/>
          </a:prstGeom>
        </p:spPr>
      </p:pic>
      <p:sp>
        <p:nvSpPr>
          <p:cNvPr id="4" name="Text 1"/>
          <p:cNvSpPr/>
          <p:nvPr/>
        </p:nvSpPr>
        <p:spPr>
          <a:xfrm>
            <a:off x="1353312" y="457200"/>
            <a:ext cx="9326880" cy="566928"/>
          </a:xfrm>
          <a:prstGeom prst="rect">
            <a:avLst/>
          </a:prstGeom>
          <a:noFill/>
          <a:ln/>
        </p:spPr>
        <p:txBody>
          <a:bodyPr wrap="square" lIns="0" tIns="0" rIns="0" bIns="0" rtlCol="0" anchor="ctr"/>
          <a:lstStyle/>
          <a:p>
            <a:pPr indent="0" marL="0">
              <a:buNone/>
            </a:pPr>
            <a:r>
              <a:rPr lang="en-US" sz="2100" b="1" dirty="0">
                <a:solidFill>
                  <a:srgbClr val="1B2420"/>
                </a:solidFill>
                <a:latin typeface="Cambria" pitchFamily="34" charset="0"/>
                <a:ea typeface="Cambria" pitchFamily="34" charset="-122"/>
                <a:cs typeface="Cambria" pitchFamily="34" charset="-120"/>
              </a:rPr>
              <a:t>The Ridge Regression Formula — In Depth</a:t>
            </a:r>
            <a:endParaRPr lang="en-US" sz="2100" dirty="0"/>
          </a:p>
        </p:txBody>
      </p:sp>
      <p:sp>
        <p:nvSpPr>
          <p:cNvPr id="5" name="Shape 2"/>
          <p:cNvSpPr/>
          <p:nvPr/>
        </p:nvSpPr>
        <p:spPr>
          <a:xfrm>
            <a:off x="640080" y="1170432"/>
            <a:ext cx="10881360" cy="786384"/>
          </a:xfrm>
          <a:prstGeom prst="roundRect">
            <a:avLst>
              <a:gd name="adj" fmla="val 9302"/>
            </a:avLst>
          </a:prstGeom>
          <a:solidFill>
            <a:srgbClr val="F1F3EC"/>
          </a:solidFill>
          <a:ln w="12700">
            <a:solidFill>
              <a:srgbClr val="333333"/>
            </a:solidFill>
            <a:prstDash val="solid"/>
          </a:ln>
        </p:spPr>
      </p:sp>
      <p:sp>
        <p:nvSpPr>
          <p:cNvPr id="6" name="Text 3"/>
          <p:cNvSpPr/>
          <p:nvPr/>
        </p:nvSpPr>
        <p:spPr>
          <a:xfrm>
            <a:off x="868680" y="1170432"/>
            <a:ext cx="10424160" cy="786384"/>
          </a:xfrm>
          <a:prstGeom prst="rect">
            <a:avLst/>
          </a:prstGeom>
          <a:noFill/>
          <a:ln/>
        </p:spPr>
        <p:txBody>
          <a:bodyPr wrap="square" lIns="0" tIns="0" rIns="0" bIns="0" rtlCol="0" anchor="ctr"/>
          <a:lstStyle/>
          <a:p>
            <a:pPr indent="0" marL="0">
              <a:lnSpc>
                <a:spcPts val="1700"/>
              </a:lnSpc>
              <a:buNone/>
            </a:pPr>
            <a:r>
              <a:rPr lang="en-US" sz="1300" b="1" dirty="0">
                <a:solidFill>
                  <a:srgbClr val="2C6E63"/>
                </a:solidFill>
                <a:latin typeface="Calibri" pitchFamily="34" charset="0"/>
                <a:ea typeface="Calibri" pitchFamily="34" charset="-122"/>
                <a:cs typeface="Calibri" pitchFamily="34" charset="-120"/>
              </a:rPr>
              <a:t>IN PLAIN WORDS:  </a:t>
            </a:r>
            <a:pPr indent="0" marL="0">
              <a:lnSpc>
                <a:spcPts val="1700"/>
              </a:lnSpc>
              <a:buNone/>
            </a:pPr>
            <a:r>
              <a:rPr lang="en-US" sz="1300" dirty="0">
                <a:solidFill>
                  <a:srgbClr val="1B2420"/>
                </a:solidFill>
                <a:latin typeface="Calibri" pitchFamily="34" charset="0"/>
                <a:ea typeface="Calibri" pitchFamily="34" charset="-122"/>
                <a:cs typeface="Calibri" pitchFamily="34" charset="-120"/>
              </a:rPr>
              <a:t>Take the normal cost function (average squared error) and tack on an extra penalty that grows if any slope (θ) gets too large. To keep the total cost low, the model is forced to keep its θ values small and reasonable — instead of stretching to fit every last wiggle in the training data.</a:t>
            </a:r>
            <a:endParaRPr lang="en-US" sz="1300" dirty="0"/>
          </a:p>
        </p:txBody>
      </p:sp>
      <p:sp>
        <p:nvSpPr>
          <p:cNvPr id="7" name="Shape 4"/>
          <p:cNvSpPr/>
          <p:nvPr/>
        </p:nvSpPr>
        <p:spPr>
          <a:xfrm>
            <a:off x="640080" y="2148840"/>
            <a:ext cx="6263640" cy="3520440"/>
          </a:xfrm>
          <a:prstGeom prst="roundRect">
            <a:avLst>
              <a:gd name="adj" fmla="val 2597"/>
            </a:avLst>
          </a:prstGeom>
          <a:solidFill>
            <a:srgbClr val="1B2420"/>
          </a:solidFill>
          <a:ln w="12700">
            <a:solidFill>
              <a:srgbClr val="333333"/>
            </a:solidFill>
            <a:prstDash val="solid"/>
          </a:ln>
        </p:spPr>
      </p:sp>
      <p:sp>
        <p:nvSpPr>
          <p:cNvPr id="8" name="Text 5"/>
          <p:cNvSpPr/>
          <p:nvPr/>
        </p:nvSpPr>
        <p:spPr>
          <a:xfrm>
            <a:off x="960120" y="2423160"/>
            <a:ext cx="5669280" cy="3017520"/>
          </a:xfrm>
          <a:prstGeom prst="rect">
            <a:avLst/>
          </a:prstGeom>
          <a:noFill/>
          <a:ln/>
        </p:spPr>
        <p:txBody>
          <a:bodyPr wrap="square" lIns="0" tIns="0" rIns="0" bIns="0" rtlCol="0" anchor="t"/>
          <a:lstStyle/>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m</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J(θ) =  Σ  1/(2m) · (h(x_i) − y_i)²   +   λ · (θ1)²</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i=1</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\_______________________________/    \__________/</a:t>
            </a:r>
            <a:endParaRPr lang="en-US" sz="1500" dirty="0"/>
          </a:p>
          <a:p>
            <a:pPr indent="0" marL="0">
              <a:lnSpc>
                <a:spcPts val="2200"/>
              </a:lnSpc>
              <a:spcAft>
                <a:spcPts val="600"/>
              </a:spcAft>
              <a:buNone/>
            </a:pPr>
            <a:r>
              <a:rPr lang="en-US" sz="1500" dirty="0">
                <a:solidFill>
                  <a:srgbClr val="F1F3EC"/>
                </a:solidFill>
                <a:latin typeface="Consolas" pitchFamily="34" charset="0"/>
                <a:ea typeface="Consolas" pitchFamily="34" charset="-122"/>
                <a:cs typeface="Consolas" pitchFamily="34" charset="-120"/>
              </a:rPr>
              <a:t>       usual prediction error          the new penalty</a:t>
            </a:r>
            <a:endParaRPr lang="en-US" sz="1500" dirty="0"/>
          </a:p>
        </p:txBody>
      </p:sp>
      <p:sp>
        <p:nvSpPr>
          <p:cNvPr id="9" name="Shape 6"/>
          <p:cNvSpPr/>
          <p:nvPr/>
        </p:nvSpPr>
        <p:spPr>
          <a:xfrm>
            <a:off x="7132320" y="2148840"/>
            <a:ext cx="4389120" cy="3520440"/>
          </a:xfrm>
          <a:prstGeom prst="roundRect">
            <a:avLst>
              <a:gd name="adj" fmla="val 2597"/>
            </a:avLst>
          </a:prstGeom>
          <a:solidFill>
            <a:srgbClr val="F1F3EC"/>
          </a:solidFill>
          <a:ln w="12700">
            <a:solidFill>
              <a:srgbClr val="333333"/>
            </a:solidFill>
            <a:prstDash val="solid"/>
          </a:ln>
        </p:spPr>
      </p:sp>
      <p:sp>
        <p:nvSpPr>
          <p:cNvPr id="10" name="Text 7"/>
          <p:cNvSpPr/>
          <p:nvPr/>
        </p:nvSpPr>
        <p:spPr>
          <a:xfrm>
            <a:off x="7406640" y="2331720"/>
            <a:ext cx="3840480" cy="320040"/>
          </a:xfrm>
          <a:prstGeom prst="rect">
            <a:avLst/>
          </a:prstGeom>
          <a:noFill/>
          <a:ln/>
        </p:spPr>
        <p:txBody>
          <a:bodyPr wrap="square" lIns="0" tIns="0" rIns="0" bIns="0" rtlCol="0" anchor="ctr"/>
          <a:lstStyle/>
          <a:p>
            <a:pPr indent="0" marL="0">
              <a:buNone/>
            </a:pPr>
            <a:r>
              <a:rPr lang="en-US" sz="1100" b="1" spc="100" kern="0" dirty="0">
                <a:solidFill>
                  <a:srgbClr val="7C8A80"/>
                </a:solidFill>
                <a:latin typeface="Calibri" pitchFamily="34" charset="0"/>
                <a:ea typeface="Calibri" pitchFamily="34" charset="-122"/>
                <a:cs typeface="Calibri" pitchFamily="34" charset="-120"/>
              </a:rPr>
              <a:t>WHAT EACH SYMBOL MEANS</a:t>
            </a:r>
            <a:endParaRPr lang="en-US" sz="1100" dirty="0"/>
          </a:p>
        </p:txBody>
      </p:sp>
      <p:sp>
        <p:nvSpPr>
          <p:cNvPr id="11" name="Text 8"/>
          <p:cNvSpPr/>
          <p:nvPr/>
        </p:nvSpPr>
        <p:spPr>
          <a:xfrm>
            <a:off x="7406640" y="274320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λ</a:t>
            </a:r>
            <a:endParaRPr lang="en-US" sz="1300" dirty="0"/>
          </a:p>
        </p:txBody>
      </p:sp>
      <p:sp>
        <p:nvSpPr>
          <p:cNvPr id="12" name="Text 9"/>
          <p:cNvSpPr/>
          <p:nvPr/>
        </p:nvSpPr>
        <p:spPr>
          <a:xfrm>
            <a:off x="8503920" y="274320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("lambda") — how strong the penalty is. λ = 0 → plain Linear Regression. Bigger λ → smaller, more conservative θ.</a:t>
            </a:r>
            <a:endParaRPr lang="en-US" sz="1100" dirty="0"/>
          </a:p>
        </p:txBody>
      </p:sp>
      <p:sp>
        <p:nvSpPr>
          <p:cNvPr id="13" name="Text 10"/>
          <p:cNvSpPr/>
          <p:nvPr/>
        </p:nvSpPr>
        <p:spPr>
          <a:xfrm>
            <a:off x="7406640" y="346329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(θ1)²</a:t>
            </a:r>
            <a:endParaRPr lang="en-US" sz="1300" dirty="0"/>
          </a:p>
        </p:txBody>
      </p:sp>
      <p:sp>
        <p:nvSpPr>
          <p:cNvPr id="14" name="Text 11"/>
          <p:cNvSpPr/>
          <p:nvPr/>
        </p:nvSpPr>
        <p:spPr>
          <a:xfrm>
            <a:off x="8503920" y="346329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Squaring the slope — same trick as before, always positive, and big slopes get punished hard.</a:t>
            </a:r>
            <a:endParaRPr lang="en-US" sz="1100" dirty="0"/>
          </a:p>
        </p:txBody>
      </p:sp>
      <p:sp>
        <p:nvSpPr>
          <p:cNvPr id="15" name="Text 12"/>
          <p:cNvSpPr/>
          <p:nvPr/>
        </p:nvSpPr>
        <p:spPr>
          <a:xfrm>
            <a:off x="7406640" y="418338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Left term</a:t>
            </a:r>
            <a:endParaRPr lang="en-US" sz="1300" dirty="0"/>
          </a:p>
        </p:txBody>
      </p:sp>
      <p:sp>
        <p:nvSpPr>
          <p:cNvPr id="16" name="Text 13"/>
          <p:cNvSpPr/>
          <p:nvPr/>
        </p:nvSpPr>
        <p:spPr>
          <a:xfrm>
            <a:off x="8503920" y="418338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The same MSE cost function you already know — how wrong the predictions are.</a:t>
            </a:r>
            <a:endParaRPr lang="en-US" sz="1100" dirty="0"/>
          </a:p>
        </p:txBody>
      </p:sp>
      <p:sp>
        <p:nvSpPr>
          <p:cNvPr id="17" name="Text 14"/>
          <p:cNvSpPr/>
          <p:nvPr/>
        </p:nvSpPr>
        <p:spPr>
          <a:xfrm>
            <a:off x="7406640" y="4903470"/>
            <a:ext cx="1051560" cy="720090"/>
          </a:xfrm>
          <a:prstGeom prst="rect">
            <a:avLst/>
          </a:prstGeom>
          <a:noFill/>
          <a:ln/>
        </p:spPr>
        <p:txBody>
          <a:bodyPr wrap="square" lIns="0" tIns="0" rIns="0" bIns="0" rtlCol="0" anchor="t"/>
          <a:lstStyle/>
          <a:p>
            <a:pPr indent="0" marL="0">
              <a:buNone/>
            </a:pPr>
            <a:r>
              <a:rPr lang="en-US" sz="1300" b="1" dirty="0">
                <a:solidFill>
                  <a:srgbClr val="2C6E63"/>
                </a:solidFill>
                <a:latin typeface="Consolas" pitchFamily="34" charset="0"/>
                <a:ea typeface="Consolas" pitchFamily="34" charset="-122"/>
                <a:cs typeface="Consolas" pitchFamily="34" charset="-120"/>
              </a:rPr>
              <a:t>Right term</a:t>
            </a:r>
            <a:endParaRPr lang="en-US" sz="1300" dirty="0"/>
          </a:p>
        </p:txBody>
      </p:sp>
      <p:sp>
        <p:nvSpPr>
          <p:cNvPr id="18" name="Text 15"/>
          <p:cNvSpPr/>
          <p:nvPr/>
        </p:nvSpPr>
        <p:spPr>
          <a:xfrm>
            <a:off x="8503920" y="4903470"/>
            <a:ext cx="2743200" cy="720090"/>
          </a:xfrm>
          <a:prstGeom prst="rect">
            <a:avLst/>
          </a:prstGeom>
          <a:noFill/>
          <a:ln/>
        </p:spPr>
        <p:txBody>
          <a:bodyPr wrap="square" lIns="0" tIns="0" rIns="0" bIns="0" rtlCol="0" anchor="t"/>
          <a:lstStyle/>
          <a:p>
            <a:pPr indent="0" marL="0">
              <a:lnSpc>
                <a:spcPts val="1350"/>
              </a:lnSpc>
              <a:buNone/>
            </a:pPr>
            <a:r>
              <a:rPr lang="en-US" sz="1100" dirty="0">
                <a:solidFill>
                  <a:srgbClr val="1B2420"/>
                </a:solidFill>
                <a:latin typeface="Calibri" pitchFamily="34" charset="0"/>
                <a:ea typeface="Calibri" pitchFamily="34" charset="-122"/>
                <a:cs typeface="Calibri" pitchFamily="34" charset="-120"/>
              </a:rPr>
              <a:t>The 'complexity tax' — added purely to discourage relying too heavily on any one feature.</a:t>
            </a:r>
            <a:endParaRPr lang="en-US" sz="1100" dirty="0"/>
          </a:p>
        </p:txBody>
      </p:sp>
      <p:sp>
        <p:nvSpPr>
          <p:cNvPr id="19" name="Text 16"/>
          <p:cNvSpPr/>
          <p:nvPr/>
        </p:nvSpPr>
        <p:spPr>
          <a:xfrm>
            <a:off x="640080" y="5760720"/>
            <a:ext cx="10881360" cy="502920"/>
          </a:xfrm>
          <a:prstGeom prst="rect">
            <a:avLst/>
          </a:prstGeom>
          <a:noFill/>
          <a:ln/>
        </p:spPr>
        <p:txBody>
          <a:bodyPr wrap="square" lIns="0" tIns="0" rIns="0" bIns="0" rtlCol="0" anchor="ctr"/>
          <a:lstStyle/>
          <a:p>
            <a:pPr indent="0" marL="0">
              <a:lnSpc>
                <a:spcPts val="1400"/>
              </a:lnSpc>
              <a:buNone/>
            </a:pPr>
            <a:r>
              <a:rPr lang="en-US" sz="1150" i="1" dirty="0">
                <a:solidFill>
                  <a:srgbClr val="7C8A80"/>
                </a:solidFill>
                <a:latin typeface="Calibri" pitchFamily="34" charset="0"/>
                <a:ea typeface="Calibri" pitchFamily="34" charset="-122"/>
                <a:cs typeface="Calibri" pitchFamily="34" charset="-120"/>
              </a:rPr>
              <a:t>Lasso uses the exact same idea, but penalizes |θ1| (absolute value) instead of (θ1)² — that small change is what lets Lasso shrink some coefficients all the way to zero.</a:t>
            </a:r>
            <a:endParaRPr lang="en-US" sz="1150" dirty="0"/>
          </a:p>
        </p:txBody>
      </p:sp>
      <p:sp>
        <p:nvSpPr>
          <p:cNvPr id="20"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33</a:t>
            </a:r>
            <a:endParaRPr lang="en-US" sz="1000" dirty="0"/>
          </a:p>
        </p:txBody>
      </p:sp>
      <p:sp>
        <p:nvSpPr>
          <p:cNvPr id="21" name="Shape 18"/>
          <p:cNvSpPr/>
          <p:nvPr/>
        </p:nvSpPr>
        <p:spPr>
          <a:xfrm>
            <a:off x="11475720" y="6400800"/>
            <a:ext cx="329184" cy="329184"/>
          </a:xfrm>
          <a:prstGeom prst="ellipse">
            <a:avLst/>
          </a:prstGeom>
          <a:solidFill>
            <a:srgbClr val="F1F3EC"/>
          </a:solidFill>
          <a:ln w="12700">
            <a:solidFill>
              <a:srgbClr val="333333"/>
            </a:solidFill>
            <a:prstDash val="solid"/>
          </a:ln>
        </p:spPr>
      </p:sp>
      <p:sp>
        <p:nvSpPr>
          <p:cNvPr id="22" name="Text 19"/>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2C6E63"/>
          </a:solidFill>
          <a:ln w="12700">
            <a:solidFill>
              <a:srgbClr val="333333"/>
            </a:solidFill>
            <a:prstDash val="solid"/>
          </a:ln>
        </p:spPr>
      </p:sp>
      <p:pic>
        <p:nvPicPr>
          <p:cNvPr id="3" name="Image 0" descr="/home/claude/work/icons_png/sliders.png">    </p:cNvPr>
          <p:cNvPicPr>
            <a:picLocks noChangeAspect="1"/>
          </p:cNvPicPr>
          <p:nvPr/>
        </p:nvPicPr>
        <p:blipFill>
          <a:blip r:embed="rId1"/>
          <a:stretch>
            <a:fillRect/>
          </a:stretch>
        </p:blipFill>
        <p:spPr>
          <a:xfrm>
            <a:off x="763524" y="626364"/>
            <a:ext cx="320040" cy="320040"/>
          </a:xfrm>
          <a:prstGeom prst="rect">
            <a:avLst/>
          </a:prstGeom>
        </p:spPr>
      </p:pic>
      <p:sp>
        <p:nvSpPr>
          <p:cNvPr id="4" name="Text 1"/>
          <p:cNvSpPr/>
          <p:nvPr/>
        </p:nvSpPr>
        <p:spPr>
          <a:xfrm>
            <a:off x="1353312" y="502920"/>
            <a:ext cx="8686800" cy="566928"/>
          </a:xfrm>
          <a:prstGeom prst="rect">
            <a:avLst/>
          </a:prstGeom>
          <a:noFill/>
          <a:ln/>
        </p:spPr>
        <p:txBody>
          <a:bodyPr wrap="square" lIns="0" tIns="0" rIns="0" bIns="0" rtlCol="0" anchor="ctr"/>
          <a:lstStyle/>
          <a:p>
            <a:pPr indent="0" marL="0">
              <a:buNone/>
            </a:pPr>
            <a:r>
              <a:rPr lang="en-US" sz="2400" b="1" dirty="0">
                <a:solidFill>
                  <a:srgbClr val="1B2420"/>
                </a:solidFill>
                <a:latin typeface="Cambria" pitchFamily="34" charset="0"/>
                <a:ea typeface="Cambria" pitchFamily="34" charset="-122"/>
                <a:cs typeface="Cambria" pitchFamily="34" charset="-120"/>
              </a:rPr>
              <a:t>Ridge vs. Lasso — What's the Difference?</a:t>
            </a:r>
            <a:endParaRPr lang="en-US" sz="2400" dirty="0"/>
          </a:p>
        </p:txBody>
      </p:sp>
      <p:sp>
        <p:nvSpPr>
          <p:cNvPr id="5" name="Shape 2"/>
          <p:cNvSpPr/>
          <p:nvPr/>
        </p:nvSpPr>
        <p:spPr>
          <a:xfrm>
            <a:off x="640080" y="1554480"/>
            <a:ext cx="5280660" cy="566928"/>
          </a:xfrm>
          <a:prstGeom prst="roundRect">
            <a:avLst>
              <a:gd name="adj" fmla="val 12903"/>
            </a:avLst>
          </a:prstGeom>
          <a:solidFill>
            <a:srgbClr val="2C6E63"/>
          </a:solidFill>
          <a:ln w="12700">
            <a:solidFill>
              <a:srgbClr val="333333"/>
            </a:solidFill>
            <a:prstDash val="solid"/>
          </a:ln>
        </p:spPr>
      </p:sp>
      <p:sp>
        <p:nvSpPr>
          <p:cNvPr id="6" name="Text 3"/>
          <p:cNvSpPr/>
          <p:nvPr/>
        </p:nvSpPr>
        <p:spPr>
          <a:xfrm>
            <a:off x="640080" y="1554480"/>
            <a:ext cx="52806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Ridge (L2)</a:t>
            </a:r>
            <a:endParaRPr lang="en-US" sz="1600" dirty="0"/>
          </a:p>
        </p:txBody>
      </p:sp>
      <p:sp>
        <p:nvSpPr>
          <p:cNvPr id="7" name="Shape 4"/>
          <p:cNvSpPr/>
          <p:nvPr/>
        </p:nvSpPr>
        <p:spPr>
          <a:xfrm>
            <a:off x="640080" y="2194560"/>
            <a:ext cx="5280660" cy="3931920"/>
          </a:xfrm>
          <a:prstGeom prst="roundRect">
            <a:avLst>
              <a:gd name="adj" fmla="val 1860"/>
            </a:avLst>
          </a:prstGeom>
          <a:solidFill>
            <a:srgbClr val="F1F3EC"/>
          </a:solidFill>
          <a:ln w="12700">
            <a:solidFill>
              <a:srgbClr val="333333"/>
            </a:solidFill>
            <a:prstDash val="solid"/>
          </a:ln>
        </p:spPr>
      </p:sp>
      <p:sp>
        <p:nvSpPr>
          <p:cNvPr id="8" name="Text 5"/>
          <p:cNvSpPr/>
          <p:nvPr/>
        </p:nvSpPr>
        <p:spPr>
          <a:xfrm>
            <a:off x="868680" y="2423160"/>
            <a:ext cx="4823460" cy="3474720"/>
          </a:xfrm>
          <a:prstGeom prst="rect">
            <a:avLst/>
          </a:prstGeom>
          <a:noFill/>
          <a:ln/>
        </p:spPr>
        <p:txBody>
          <a:bodyPr wrap="square" lIns="0" tIns="0" rIns="0" bIns="0" rtlCol="0" anchor="ctr"/>
          <a:lstStyle/>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Cost = MSE + λ · (slope)²</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Shrinks all coefficients toward zero</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Rarely sets any coefficient to exactly zero</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Good when most features matter a little</a:t>
            </a:r>
            <a:endParaRPr lang="en-US" sz="1250" dirty="0"/>
          </a:p>
        </p:txBody>
      </p:sp>
      <p:sp>
        <p:nvSpPr>
          <p:cNvPr id="9" name="Shape 6"/>
          <p:cNvSpPr/>
          <p:nvPr/>
        </p:nvSpPr>
        <p:spPr>
          <a:xfrm>
            <a:off x="6240780" y="1554480"/>
            <a:ext cx="5280660" cy="566928"/>
          </a:xfrm>
          <a:prstGeom prst="roundRect">
            <a:avLst>
              <a:gd name="adj" fmla="val 12903"/>
            </a:avLst>
          </a:prstGeom>
          <a:solidFill>
            <a:srgbClr val="C98A2B"/>
          </a:solidFill>
          <a:ln w="12700">
            <a:solidFill>
              <a:srgbClr val="333333"/>
            </a:solidFill>
            <a:prstDash val="solid"/>
          </a:ln>
        </p:spPr>
      </p:sp>
      <p:sp>
        <p:nvSpPr>
          <p:cNvPr id="10" name="Text 7"/>
          <p:cNvSpPr/>
          <p:nvPr/>
        </p:nvSpPr>
        <p:spPr>
          <a:xfrm>
            <a:off x="6240780" y="1554480"/>
            <a:ext cx="52806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Lasso (L1)</a:t>
            </a:r>
            <a:endParaRPr lang="en-US" sz="1600" dirty="0"/>
          </a:p>
        </p:txBody>
      </p:sp>
      <p:sp>
        <p:nvSpPr>
          <p:cNvPr id="11" name="Shape 8"/>
          <p:cNvSpPr/>
          <p:nvPr/>
        </p:nvSpPr>
        <p:spPr>
          <a:xfrm>
            <a:off x="6240780" y="2194560"/>
            <a:ext cx="5280660" cy="3931920"/>
          </a:xfrm>
          <a:prstGeom prst="roundRect">
            <a:avLst>
              <a:gd name="adj" fmla="val 1860"/>
            </a:avLst>
          </a:prstGeom>
          <a:solidFill>
            <a:srgbClr val="F1F3EC"/>
          </a:solidFill>
          <a:ln w="12700">
            <a:solidFill>
              <a:srgbClr val="333333"/>
            </a:solidFill>
            <a:prstDash val="solid"/>
          </a:ln>
        </p:spPr>
      </p:sp>
      <p:sp>
        <p:nvSpPr>
          <p:cNvPr id="12" name="Text 9"/>
          <p:cNvSpPr/>
          <p:nvPr/>
        </p:nvSpPr>
        <p:spPr>
          <a:xfrm>
            <a:off x="6469380" y="2423160"/>
            <a:ext cx="4823460" cy="3474720"/>
          </a:xfrm>
          <a:prstGeom prst="rect">
            <a:avLst/>
          </a:prstGeom>
          <a:noFill/>
          <a:ln/>
        </p:spPr>
        <p:txBody>
          <a:bodyPr wrap="square" lIns="0" tIns="0" rIns="0" bIns="0" rtlCol="0" anchor="ctr"/>
          <a:lstStyle/>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Cost = MSE + λ · |slope|</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Can shrink weak coefficients to exactly zero</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Effectively performs feature selection</a:t>
            </a:r>
            <a:endParaRPr lang="en-US" sz="1250" dirty="0"/>
          </a:p>
          <a:p>
            <a:pPr marL="177800" indent="-177800">
              <a:lnSpc>
                <a:spcPts val="1600"/>
              </a:lnSpc>
              <a:spcAft>
                <a:spcPts val="1000"/>
              </a:spcAft>
              <a:buSzPct val="100000"/>
              <a:buChar char="•"/>
            </a:pPr>
            <a:r>
              <a:rPr lang="en-US" sz="1250" dirty="0">
                <a:solidFill>
                  <a:srgbClr val="1B2420"/>
                </a:solidFill>
                <a:latin typeface="Calibri" pitchFamily="34" charset="0"/>
                <a:ea typeface="Calibri" pitchFamily="34" charset="-122"/>
                <a:cs typeface="Calibri" pitchFamily="34" charset="-120"/>
              </a:rPr>
              <a:t>Good when only a few features truly matter</a:t>
            </a:r>
            <a:endParaRPr lang="en-US" sz="1250" dirty="0"/>
          </a:p>
        </p:txBody>
      </p:sp>
      <p:sp>
        <p:nvSpPr>
          <p:cNvPr id="13" name="Text 1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34</a:t>
            </a:r>
            <a:endParaRPr lang="en-US" sz="1000" dirty="0"/>
          </a:p>
        </p:txBody>
      </p:sp>
      <p:sp>
        <p:nvSpPr>
          <p:cNvPr id="14" name="Shape 11"/>
          <p:cNvSpPr/>
          <p:nvPr/>
        </p:nvSpPr>
        <p:spPr>
          <a:xfrm>
            <a:off x="11475720" y="6400800"/>
            <a:ext cx="329184" cy="329184"/>
          </a:xfrm>
          <a:prstGeom prst="ellipse">
            <a:avLst/>
          </a:prstGeom>
          <a:solidFill>
            <a:srgbClr val="F1F3EC"/>
          </a:solidFill>
          <a:ln w="12700">
            <a:solidFill>
              <a:srgbClr val="333333"/>
            </a:solidFill>
            <a:prstDash val="solid"/>
          </a:ln>
        </p:spPr>
      </p:sp>
      <p:sp>
        <p:nvSpPr>
          <p:cNvPr id="15" name="Text 12"/>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2C6E63"/>
          </a:solidFill>
          <a:ln w="12700">
            <a:solidFill>
              <a:srgbClr val="333333"/>
            </a:solidFill>
            <a:prstDash val="solid"/>
          </a:ln>
        </p:spPr>
      </p:sp>
      <p:pic>
        <p:nvPicPr>
          <p:cNvPr id="3" name="Image 0" descr="/home/claude/work/icons_png/code.png">    </p:cNvPr>
          <p:cNvPicPr>
            <a:picLocks noChangeAspect="1"/>
          </p:cNvPicPr>
          <p:nvPr/>
        </p:nvPicPr>
        <p:blipFill>
          <a:blip r:embed="rId1"/>
          <a:stretch>
            <a:fillRect/>
          </a:stretch>
        </p:blipFill>
        <p:spPr>
          <a:xfrm>
            <a:off x="763524" y="580644"/>
            <a:ext cx="320040" cy="320040"/>
          </a:xfrm>
          <a:prstGeom prst="rect">
            <a:avLst/>
          </a:prstGeom>
        </p:spPr>
      </p:pic>
      <p:sp>
        <p:nvSpPr>
          <p:cNvPr id="4" name="Text 1"/>
          <p:cNvSpPr/>
          <p:nvPr/>
        </p:nvSpPr>
        <p:spPr>
          <a:xfrm>
            <a:off x="1353312" y="457200"/>
            <a:ext cx="9601200" cy="566928"/>
          </a:xfrm>
          <a:prstGeom prst="rect">
            <a:avLst/>
          </a:prstGeom>
          <a:noFill/>
          <a:ln/>
        </p:spPr>
        <p:txBody>
          <a:bodyPr wrap="square" lIns="0" tIns="0" rIns="0" bIns="0" rtlCol="0" anchor="ctr"/>
          <a:lstStyle/>
          <a:p>
            <a:pPr indent="0" marL="0">
              <a:buNone/>
            </a:pPr>
            <a:r>
              <a:rPr lang="en-US" sz="2200" b="1" dirty="0">
                <a:solidFill>
                  <a:srgbClr val="1B2420"/>
                </a:solidFill>
                <a:latin typeface="Cambria" pitchFamily="34" charset="0"/>
                <a:ea typeface="Cambria" pitchFamily="34" charset="-122"/>
                <a:cs typeface="Cambria" pitchFamily="34" charset="-120"/>
              </a:rPr>
              <a:t>Try It Yourself — Practice Tasks</a:t>
            </a:r>
            <a:endParaRPr lang="en-US" sz="2200" dirty="0"/>
          </a:p>
        </p:txBody>
      </p:sp>
      <p:sp>
        <p:nvSpPr>
          <p:cNvPr id="5" name="Text 2"/>
          <p:cNvSpPr/>
          <p:nvPr/>
        </p:nvSpPr>
        <p:spPr>
          <a:xfrm>
            <a:off x="640080" y="1078992"/>
            <a:ext cx="10515600" cy="320040"/>
          </a:xfrm>
          <a:prstGeom prst="rect">
            <a:avLst/>
          </a:prstGeom>
          <a:noFill/>
          <a:ln/>
        </p:spPr>
        <p:txBody>
          <a:bodyPr wrap="square" lIns="0" tIns="0" rIns="0" bIns="0" rtlCol="0" anchor="ctr"/>
          <a:lstStyle/>
          <a:p>
            <a:pPr indent="0" marL="0">
              <a:buNone/>
            </a:pPr>
            <a:r>
              <a:rPr lang="en-US" sz="1250" i="1" dirty="0">
                <a:solidFill>
                  <a:srgbClr val="7C8A80"/>
                </a:solidFill>
                <a:latin typeface="Calibri" pitchFamily="34" charset="0"/>
                <a:ea typeface="Calibri" pitchFamily="34" charset="-122"/>
                <a:cs typeface="Calibri" pitchFamily="34" charset="-120"/>
              </a:rPr>
              <a:t>Use any small numeric dataset (e.g. house prices, salary data) and work through these with scikit-learn</a:t>
            </a:r>
            <a:endParaRPr lang="en-US" sz="1250" dirty="0"/>
          </a:p>
        </p:txBody>
      </p:sp>
      <p:sp>
        <p:nvSpPr>
          <p:cNvPr id="6" name="Shape 3"/>
          <p:cNvSpPr/>
          <p:nvPr/>
        </p:nvSpPr>
        <p:spPr>
          <a:xfrm>
            <a:off x="640080" y="1627632"/>
            <a:ext cx="384048" cy="384048"/>
          </a:xfrm>
          <a:prstGeom prst="ellipse">
            <a:avLst/>
          </a:prstGeom>
          <a:solidFill>
            <a:srgbClr val="2C6E63"/>
          </a:solidFill>
          <a:ln w="12700">
            <a:solidFill>
              <a:srgbClr val="333333"/>
            </a:solidFill>
            <a:prstDash val="solid"/>
          </a:ln>
        </p:spPr>
      </p:sp>
      <p:sp>
        <p:nvSpPr>
          <p:cNvPr id="7" name="Text 4"/>
          <p:cNvSpPr/>
          <p:nvPr/>
        </p:nvSpPr>
        <p:spPr>
          <a:xfrm>
            <a:off x="640080"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5"/>
          <p:cNvSpPr/>
          <p:nvPr/>
        </p:nvSpPr>
        <p:spPr>
          <a:xfrm>
            <a:off x="1170432" y="1600200"/>
            <a:ext cx="4709160" cy="777240"/>
          </a:xfrm>
          <a:prstGeom prst="rect">
            <a:avLst/>
          </a:prstGeom>
          <a:noFill/>
          <a:ln/>
        </p:spPr>
        <p:txBody>
          <a:bodyPr wrap="square" lIns="0" tIns="0" rIns="0" bIns="0" rtlCol="0" anchor="ctr"/>
          <a:lstStyle/>
          <a:p>
            <a:pPr indent="0" marL="0">
              <a:lnSpc>
                <a:spcPts val="1600"/>
              </a:lnSpc>
              <a:buNone/>
            </a:pPr>
            <a:r>
              <a:rPr lang="en-US" sz="1300" dirty="0">
                <a:solidFill>
                  <a:srgbClr val="1B2420"/>
                </a:solidFill>
                <a:latin typeface="Calibri" pitchFamily="34" charset="0"/>
                <a:ea typeface="Calibri" pitchFamily="34" charset="-122"/>
                <a:cs typeface="Calibri" pitchFamily="34" charset="-120"/>
              </a:rPr>
              <a:t>Load the dataset and split it: X_train, X_test, y_train, y_test</a:t>
            </a:r>
            <a:endParaRPr lang="en-US" sz="1300" dirty="0"/>
          </a:p>
        </p:txBody>
      </p:sp>
      <p:sp>
        <p:nvSpPr>
          <p:cNvPr id="9" name="Shape 6"/>
          <p:cNvSpPr/>
          <p:nvPr/>
        </p:nvSpPr>
        <p:spPr>
          <a:xfrm>
            <a:off x="640080" y="2404872"/>
            <a:ext cx="384048" cy="384048"/>
          </a:xfrm>
          <a:prstGeom prst="ellipse">
            <a:avLst/>
          </a:prstGeom>
          <a:solidFill>
            <a:srgbClr val="2C6E63"/>
          </a:solidFill>
          <a:ln w="12700">
            <a:solidFill>
              <a:srgbClr val="333333"/>
            </a:solidFill>
            <a:prstDash val="solid"/>
          </a:ln>
        </p:spPr>
      </p:sp>
      <p:sp>
        <p:nvSpPr>
          <p:cNvPr id="10" name="Text 7"/>
          <p:cNvSpPr/>
          <p:nvPr/>
        </p:nvSpPr>
        <p:spPr>
          <a:xfrm>
            <a:off x="640080" y="2404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8"/>
          <p:cNvSpPr/>
          <p:nvPr/>
        </p:nvSpPr>
        <p:spPr>
          <a:xfrm>
            <a:off x="1170432" y="2377440"/>
            <a:ext cx="4709160" cy="777240"/>
          </a:xfrm>
          <a:prstGeom prst="rect">
            <a:avLst/>
          </a:prstGeom>
          <a:noFill/>
          <a:ln/>
        </p:spPr>
        <p:txBody>
          <a:bodyPr wrap="square" lIns="0" tIns="0" rIns="0" bIns="0" rtlCol="0" anchor="ctr"/>
          <a:lstStyle/>
          <a:p>
            <a:pPr indent="0" marL="0">
              <a:lnSpc>
                <a:spcPts val="1600"/>
              </a:lnSpc>
              <a:buNone/>
            </a:pPr>
            <a:r>
              <a:rPr lang="en-US" sz="1300" dirty="0">
                <a:solidFill>
                  <a:srgbClr val="1B2420"/>
                </a:solidFill>
                <a:latin typeface="Calibri" pitchFamily="34" charset="0"/>
                <a:ea typeface="Calibri" pitchFamily="34" charset="-122"/>
                <a:cs typeface="Calibri" pitchFamily="34" charset="-120"/>
              </a:rPr>
              <a:t>Fit a LinearRegression() model on the training data</a:t>
            </a:r>
            <a:endParaRPr lang="en-US" sz="1300" dirty="0"/>
          </a:p>
        </p:txBody>
      </p:sp>
      <p:sp>
        <p:nvSpPr>
          <p:cNvPr id="12" name="Shape 9"/>
          <p:cNvSpPr/>
          <p:nvPr/>
        </p:nvSpPr>
        <p:spPr>
          <a:xfrm>
            <a:off x="640080" y="3182112"/>
            <a:ext cx="384048" cy="384048"/>
          </a:xfrm>
          <a:prstGeom prst="ellipse">
            <a:avLst/>
          </a:prstGeom>
          <a:solidFill>
            <a:srgbClr val="2C6E63"/>
          </a:solidFill>
          <a:ln w="12700">
            <a:solidFill>
              <a:srgbClr val="333333"/>
            </a:solidFill>
            <a:prstDash val="solid"/>
          </a:ln>
        </p:spPr>
      </p:sp>
      <p:sp>
        <p:nvSpPr>
          <p:cNvPr id="13" name="Text 10"/>
          <p:cNvSpPr/>
          <p:nvPr/>
        </p:nvSpPr>
        <p:spPr>
          <a:xfrm>
            <a:off x="640080" y="3182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1"/>
          <p:cNvSpPr/>
          <p:nvPr/>
        </p:nvSpPr>
        <p:spPr>
          <a:xfrm>
            <a:off x="1170432" y="3154680"/>
            <a:ext cx="4709160" cy="777240"/>
          </a:xfrm>
          <a:prstGeom prst="rect">
            <a:avLst/>
          </a:prstGeom>
          <a:noFill/>
          <a:ln/>
        </p:spPr>
        <p:txBody>
          <a:bodyPr wrap="square" lIns="0" tIns="0" rIns="0" bIns="0" rtlCol="0" anchor="ctr"/>
          <a:lstStyle/>
          <a:p>
            <a:pPr indent="0" marL="0">
              <a:lnSpc>
                <a:spcPts val="1600"/>
              </a:lnSpc>
              <a:buNone/>
            </a:pPr>
            <a:r>
              <a:rPr lang="en-US" sz="1300" dirty="0">
                <a:solidFill>
                  <a:srgbClr val="1B2420"/>
                </a:solidFill>
                <a:latin typeface="Calibri" pitchFamily="34" charset="0"/>
                <a:ea typeface="Calibri" pitchFamily="34" charset="-122"/>
                <a:cs typeface="Calibri" pitchFamily="34" charset="-120"/>
              </a:rPr>
              <a:t>Print the learned coefficients (θ) and intercept</a:t>
            </a:r>
            <a:endParaRPr lang="en-US" sz="1300" dirty="0"/>
          </a:p>
        </p:txBody>
      </p:sp>
      <p:sp>
        <p:nvSpPr>
          <p:cNvPr id="15" name="Shape 12"/>
          <p:cNvSpPr/>
          <p:nvPr/>
        </p:nvSpPr>
        <p:spPr>
          <a:xfrm>
            <a:off x="640080" y="3959352"/>
            <a:ext cx="384048" cy="384048"/>
          </a:xfrm>
          <a:prstGeom prst="ellipse">
            <a:avLst/>
          </a:prstGeom>
          <a:solidFill>
            <a:srgbClr val="2C6E63"/>
          </a:solidFill>
          <a:ln w="12700">
            <a:solidFill>
              <a:srgbClr val="333333"/>
            </a:solidFill>
            <a:prstDash val="solid"/>
          </a:ln>
        </p:spPr>
      </p:sp>
      <p:sp>
        <p:nvSpPr>
          <p:cNvPr id="16" name="Text 13"/>
          <p:cNvSpPr/>
          <p:nvPr/>
        </p:nvSpPr>
        <p:spPr>
          <a:xfrm>
            <a:off x="640080" y="3959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4"/>
          <p:cNvSpPr/>
          <p:nvPr/>
        </p:nvSpPr>
        <p:spPr>
          <a:xfrm>
            <a:off x="1170432" y="3931920"/>
            <a:ext cx="4709160" cy="777240"/>
          </a:xfrm>
          <a:prstGeom prst="rect">
            <a:avLst/>
          </a:prstGeom>
          <a:noFill/>
          <a:ln/>
        </p:spPr>
        <p:txBody>
          <a:bodyPr wrap="square" lIns="0" tIns="0" rIns="0" bIns="0" rtlCol="0" anchor="ctr"/>
          <a:lstStyle/>
          <a:p>
            <a:pPr indent="0" marL="0">
              <a:lnSpc>
                <a:spcPts val="1600"/>
              </a:lnSpc>
              <a:buNone/>
            </a:pPr>
            <a:r>
              <a:rPr lang="en-US" sz="1300" dirty="0">
                <a:solidFill>
                  <a:srgbClr val="1B2420"/>
                </a:solidFill>
                <a:latin typeface="Calibri" pitchFamily="34" charset="0"/>
                <a:ea typeface="Calibri" pitchFamily="34" charset="-122"/>
                <a:cs typeface="Calibri" pitchFamily="34" charset="-120"/>
              </a:rPr>
              <a:t>Predict on X_test and compare against y_test</a:t>
            </a:r>
            <a:endParaRPr lang="en-US" sz="1300" dirty="0"/>
          </a:p>
        </p:txBody>
      </p:sp>
      <p:sp>
        <p:nvSpPr>
          <p:cNvPr id="18" name="Shape 15"/>
          <p:cNvSpPr/>
          <p:nvPr/>
        </p:nvSpPr>
        <p:spPr>
          <a:xfrm>
            <a:off x="6263640" y="1627632"/>
            <a:ext cx="384048" cy="384048"/>
          </a:xfrm>
          <a:prstGeom prst="ellipse">
            <a:avLst/>
          </a:prstGeom>
          <a:solidFill>
            <a:srgbClr val="2C6E63"/>
          </a:solidFill>
          <a:ln w="12700">
            <a:solidFill>
              <a:srgbClr val="333333"/>
            </a:solidFill>
            <a:prstDash val="solid"/>
          </a:ln>
        </p:spPr>
      </p:sp>
      <p:sp>
        <p:nvSpPr>
          <p:cNvPr id="19" name="Text 16"/>
          <p:cNvSpPr/>
          <p:nvPr/>
        </p:nvSpPr>
        <p:spPr>
          <a:xfrm>
            <a:off x="6263640"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7"/>
          <p:cNvSpPr/>
          <p:nvPr/>
        </p:nvSpPr>
        <p:spPr>
          <a:xfrm>
            <a:off x="6793992" y="1600200"/>
            <a:ext cx="4709160" cy="777240"/>
          </a:xfrm>
          <a:prstGeom prst="rect">
            <a:avLst/>
          </a:prstGeom>
          <a:noFill/>
          <a:ln/>
        </p:spPr>
        <p:txBody>
          <a:bodyPr wrap="square" lIns="0" tIns="0" rIns="0" bIns="0" rtlCol="0" anchor="ctr"/>
          <a:lstStyle/>
          <a:p>
            <a:pPr indent="0" marL="0">
              <a:lnSpc>
                <a:spcPts val="1600"/>
              </a:lnSpc>
              <a:buNone/>
            </a:pPr>
            <a:r>
              <a:rPr lang="en-US" sz="1300" dirty="0">
                <a:solidFill>
                  <a:srgbClr val="1B2420"/>
                </a:solidFill>
                <a:latin typeface="Calibri" pitchFamily="34" charset="0"/>
                <a:ea typeface="Calibri" pitchFamily="34" charset="-122"/>
                <a:cs typeface="Calibri" pitchFamily="34" charset="-120"/>
              </a:rPr>
              <a:t>Calculate R² using model.score() or r2_score()</a:t>
            </a:r>
            <a:endParaRPr lang="en-US" sz="1300" dirty="0"/>
          </a:p>
        </p:txBody>
      </p:sp>
      <p:sp>
        <p:nvSpPr>
          <p:cNvPr id="21" name="Shape 18"/>
          <p:cNvSpPr/>
          <p:nvPr/>
        </p:nvSpPr>
        <p:spPr>
          <a:xfrm>
            <a:off x="6263640" y="2404872"/>
            <a:ext cx="384048" cy="384048"/>
          </a:xfrm>
          <a:prstGeom prst="ellipse">
            <a:avLst/>
          </a:prstGeom>
          <a:solidFill>
            <a:srgbClr val="2C6E63"/>
          </a:solidFill>
          <a:ln w="12700">
            <a:solidFill>
              <a:srgbClr val="333333"/>
            </a:solidFill>
            <a:prstDash val="solid"/>
          </a:ln>
        </p:spPr>
      </p:sp>
      <p:sp>
        <p:nvSpPr>
          <p:cNvPr id="22" name="Text 19"/>
          <p:cNvSpPr/>
          <p:nvPr/>
        </p:nvSpPr>
        <p:spPr>
          <a:xfrm>
            <a:off x="6263640" y="2404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0"/>
          <p:cNvSpPr/>
          <p:nvPr/>
        </p:nvSpPr>
        <p:spPr>
          <a:xfrm>
            <a:off x="6793992" y="2377440"/>
            <a:ext cx="4709160" cy="777240"/>
          </a:xfrm>
          <a:prstGeom prst="rect">
            <a:avLst/>
          </a:prstGeom>
          <a:noFill/>
          <a:ln/>
        </p:spPr>
        <p:txBody>
          <a:bodyPr wrap="square" lIns="0" tIns="0" rIns="0" bIns="0" rtlCol="0" anchor="ctr"/>
          <a:lstStyle/>
          <a:p>
            <a:pPr indent="0" marL="0">
              <a:lnSpc>
                <a:spcPts val="1600"/>
              </a:lnSpc>
              <a:buNone/>
            </a:pPr>
            <a:r>
              <a:rPr lang="en-US" sz="1300" dirty="0">
                <a:solidFill>
                  <a:srgbClr val="1B2420"/>
                </a:solidFill>
                <a:latin typeface="Calibri" pitchFamily="34" charset="0"/>
                <a:ea typeface="Calibri" pitchFamily="34" charset="-122"/>
                <a:cs typeface="Calibri" pitchFamily="34" charset="-120"/>
              </a:rPr>
              <a:t>Add a second feature and watch R² vs Adjusted R² diverge</a:t>
            </a:r>
            <a:endParaRPr lang="en-US" sz="1300" dirty="0"/>
          </a:p>
        </p:txBody>
      </p:sp>
      <p:sp>
        <p:nvSpPr>
          <p:cNvPr id="24" name="Shape 21"/>
          <p:cNvSpPr/>
          <p:nvPr/>
        </p:nvSpPr>
        <p:spPr>
          <a:xfrm>
            <a:off x="6263640" y="3182112"/>
            <a:ext cx="384048" cy="384048"/>
          </a:xfrm>
          <a:prstGeom prst="ellipse">
            <a:avLst/>
          </a:prstGeom>
          <a:solidFill>
            <a:srgbClr val="2C6E63"/>
          </a:solidFill>
          <a:ln w="12700">
            <a:solidFill>
              <a:srgbClr val="333333"/>
            </a:solidFill>
            <a:prstDash val="solid"/>
          </a:ln>
        </p:spPr>
      </p:sp>
      <p:sp>
        <p:nvSpPr>
          <p:cNvPr id="25" name="Text 22"/>
          <p:cNvSpPr/>
          <p:nvPr/>
        </p:nvSpPr>
        <p:spPr>
          <a:xfrm>
            <a:off x="6263640" y="3182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3"/>
          <p:cNvSpPr/>
          <p:nvPr/>
        </p:nvSpPr>
        <p:spPr>
          <a:xfrm>
            <a:off x="6793992" y="3154680"/>
            <a:ext cx="4709160" cy="777240"/>
          </a:xfrm>
          <a:prstGeom prst="rect">
            <a:avLst/>
          </a:prstGeom>
          <a:noFill/>
          <a:ln/>
        </p:spPr>
        <p:txBody>
          <a:bodyPr wrap="square" lIns="0" tIns="0" rIns="0" bIns="0" rtlCol="0" anchor="ctr"/>
          <a:lstStyle/>
          <a:p>
            <a:pPr indent="0" marL="0">
              <a:lnSpc>
                <a:spcPts val="1600"/>
              </a:lnSpc>
              <a:buNone/>
            </a:pPr>
            <a:r>
              <a:rPr lang="en-US" sz="1300" dirty="0">
                <a:solidFill>
                  <a:srgbClr val="1B2420"/>
                </a:solidFill>
                <a:latin typeface="Calibri" pitchFamily="34" charset="0"/>
                <a:ea typeface="Calibri" pitchFamily="34" charset="-122"/>
                <a:cs typeface="Calibri" pitchFamily="34" charset="-120"/>
              </a:rPr>
              <a:t>Compare train vs test accuracy to check for over/underfitting</a:t>
            </a:r>
            <a:endParaRPr lang="en-US" sz="1300" dirty="0"/>
          </a:p>
        </p:txBody>
      </p:sp>
      <p:sp>
        <p:nvSpPr>
          <p:cNvPr id="27" name="Shape 24"/>
          <p:cNvSpPr/>
          <p:nvPr/>
        </p:nvSpPr>
        <p:spPr>
          <a:xfrm>
            <a:off x="6263640" y="3959352"/>
            <a:ext cx="384048" cy="384048"/>
          </a:xfrm>
          <a:prstGeom prst="ellipse">
            <a:avLst/>
          </a:prstGeom>
          <a:solidFill>
            <a:srgbClr val="2C6E63"/>
          </a:solidFill>
          <a:ln w="12700">
            <a:solidFill>
              <a:srgbClr val="333333"/>
            </a:solidFill>
            <a:prstDash val="solid"/>
          </a:ln>
        </p:spPr>
      </p:sp>
      <p:sp>
        <p:nvSpPr>
          <p:cNvPr id="28" name="Text 25"/>
          <p:cNvSpPr/>
          <p:nvPr/>
        </p:nvSpPr>
        <p:spPr>
          <a:xfrm>
            <a:off x="6263640" y="3959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6"/>
          <p:cNvSpPr/>
          <p:nvPr/>
        </p:nvSpPr>
        <p:spPr>
          <a:xfrm>
            <a:off x="6793992" y="3931920"/>
            <a:ext cx="4709160" cy="777240"/>
          </a:xfrm>
          <a:prstGeom prst="rect">
            <a:avLst/>
          </a:prstGeom>
          <a:noFill/>
          <a:ln/>
        </p:spPr>
        <p:txBody>
          <a:bodyPr wrap="square" lIns="0" tIns="0" rIns="0" bIns="0" rtlCol="0" anchor="ctr"/>
          <a:lstStyle/>
          <a:p>
            <a:pPr indent="0" marL="0">
              <a:lnSpc>
                <a:spcPts val="1600"/>
              </a:lnSpc>
              <a:buNone/>
            </a:pPr>
            <a:r>
              <a:rPr lang="en-US" sz="1300" dirty="0">
                <a:solidFill>
                  <a:srgbClr val="1B2420"/>
                </a:solidFill>
                <a:latin typeface="Calibri" pitchFamily="34" charset="0"/>
                <a:ea typeface="Calibri" pitchFamily="34" charset="-122"/>
                <a:cs typeface="Calibri" pitchFamily="34" charset="-120"/>
              </a:rPr>
              <a:t>Try Ridge() and Lasso() and compare their coefficients</a:t>
            </a:r>
            <a:endParaRPr lang="en-US" sz="1300" dirty="0"/>
          </a:p>
        </p:txBody>
      </p:sp>
      <p:sp>
        <p:nvSpPr>
          <p:cNvPr id="30" name="Text 2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7C8A80"/>
                </a:solidFill>
                <a:latin typeface="Calibri" pitchFamily="34" charset="0"/>
                <a:ea typeface="Calibri" pitchFamily="34" charset="-122"/>
                <a:cs typeface="Calibri" pitchFamily="34" charset="-120"/>
              </a:rPr>
              <a:t>Introduction to Machine Learning  ·  35</a:t>
            </a:r>
            <a:endParaRPr lang="en-US" sz="1000" dirty="0"/>
          </a:p>
        </p:txBody>
      </p:sp>
      <p:sp>
        <p:nvSpPr>
          <p:cNvPr id="31" name="Shape 28"/>
          <p:cNvSpPr/>
          <p:nvPr/>
        </p:nvSpPr>
        <p:spPr>
          <a:xfrm>
            <a:off x="11475720" y="6400800"/>
            <a:ext cx="329184" cy="329184"/>
          </a:xfrm>
          <a:prstGeom prst="ellipse">
            <a:avLst/>
          </a:prstGeom>
          <a:solidFill>
            <a:srgbClr val="F1F3EC"/>
          </a:solidFill>
          <a:ln w="12700">
            <a:solidFill>
              <a:srgbClr val="333333"/>
            </a:solidFill>
            <a:prstDash val="solid"/>
          </a:ln>
        </p:spPr>
      </p:sp>
      <p:sp>
        <p:nvSpPr>
          <p:cNvPr id="32" name="Text 29"/>
          <p:cNvSpPr/>
          <p:nvPr/>
        </p:nvSpPr>
        <p:spPr>
          <a:xfrm>
            <a:off x="11475720" y="6400800"/>
            <a:ext cx="329184" cy="329184"/>
          </a:xfrm>
          <a:prstGeom prst="rect">
            <a:avLst/>
          </a:prstGeom>
          <a:noFill/>
          <a:ln/>
        </p:spPr>
        <p:txBody>
          <a:bodyPr wrap="square" lIns="0" tIns="0" rIns="0" bIns="0" rtlCol="0" anchor="ctr"/>
          <a:lstStyle/>
          <a:p>
            <a:pPr algn="ctr" indent="0" marL="0">
              <a:buNone/>
            </a:pPr>
            <a:r>
              <a:rPr lang="en-US" sz="1100" dirty="0">
                <a:solidFill>
                  <a:srgbClr val="4B564F"/>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3312F"/>
        </a:solidFill>
      </p:bgPr>
    </p:bg>
    <p:spTree>
      <p:nvGrpSpPr>
        <p:cNvPr id="1" name=""/>
        <p:cNvGrpSpPr/>
        <p:nvPr/>
      </p:nvGrpSpPr>
      <p:grpSpPr>
        <a:xfrm>
          <a:off x="0" y="0"/>
          <a:ext cx="0" cy="0"/>
          <a:chOff x="0" y="0"/>
          <a:chExt cx="0" cy="0"/>
        </a:xfrm>
      </p:grpSpPr>
      <p:sp>
        <p:nvSpPr>
          <p:cNvPr id="2" name="Shape 0"/>
          <p:cNvSpPr/>
          <p:nvPr/>
        </p:nvSpPr>
        <p:spPr>
          <a:xfrm>
            <a:off x="-1097280" y="4389120"/>
            <a:ext cx="3657600" cy="3657600"/>
          </a:xfrm>
          <a:prstGeom prst="ellipse">
            <a:avLst/>
          </a:prstGeom>
          <a:solidFill>
            <a:srgbClr val="184038"/>
          </a:solidFill>
          <a:ln w="12700">
            <a:solidFill>
              <a:srgbClr val="333333"/>
            </a:solidFill>
            <a:prstDash val="solid"/>
          </a:ln>
        </p:spPr>
      </p:sp>
      <p:sp>
        <p:nvSpPr>
          <p:cNvPr id="3" name="Shape 1"/>
          <p:cNvSpPr/>
          <p:nvPr/>
        </p:nvSpPr>
        <p:spPr>
          <a:xfrm>
            <a:off x="5638648" y="1051560"/>
            <a:ext cx="914400" cy="914400"/>
          </a:xfrm>
          <a:prstGeom prst="ellipse">
            <a:avLst/>
          </a:prstGeom>
          <a:solidFill>
            <a:srgbClr val="C98A2B"/>
          </a:solidFill>
          <a:ln w="12700">
            <a:solidFill>
              <a:srgbClr val="333333"/>
            </a:solidFill>
            <a:prstDash val="solid"/>
          </a:ln>
        </p:spPr>
      </p:sp>
      <p:pic>
        <p:nvPicPr>
          <p:cNvPr id="4" name="Image 0" descr="/home/claude/work/icons_png/trendingUp.png">    </p:cNvPr>
          <p:cNvPicPr>
            <a:picLocks noChangeAspect="1"/>
          </p:cNvPicPr>
          <p:nvPr/>
        </p:nvPicPr>
        <p:blipFill>
          <a:blip r:embed="rId1"/>
          <a:stretch>
            <a:fillRect/>
          </a:stretch>
        </p:blipFill>
        <p:spPr>
          <a:xfrm>
            <a:off x="5839816" y="1252728"/>
            <a:ext cx="512064" cy="512064"/>
          </a:xfrm>
          <a:prstGeom prst="rect">
            <a:avLst/>
          </a:prstGeom>
        </p:spPr>
      </p:pic>
      <p:sp>
        <p:nvSpPr>
          <p:cNvPr id="5" name="Text 2"/>
          <p:cNvSpPr/>
          <p:nvPr/>
        </p:nvSpPr>
        <p:spPr>
          <a:xfrm>
            <a:off x="0" y="2148840"/>
            <a:ext cx="12191695" cy="320040"/>
          </a:xfrm>
          <a:prstGeom prst="rect">
            <a:avLst/>
          </a:prstGeom>
          <a:noFill/>
          <a:ln/>
        </p:spPr>
        <p:txBody>
          <a:bodyPr wrap="square" lIns="0" tIns="0" rIns="0" bIns="0" rtlCol="0" anchor="ctr"/>
          <a:lstStyle/>
          <a:p>
            <a:pPr algn="ctr" indent="0" marL="0">
              <a:buNone/>
            </a:pPr>
            <a:r>
              <a:rPr lang="en-US" sz="1300" spc="300" kern="0" dirty="0">
                <a:solidFill>
                  <a:srgbClr val="E7C588"/>
                </a:solidFill>
                <a:latin typeface="Calibri" pitchFamily="34" charset="0"/>
                <a:ea typeface="Calibri" pitchFamily="34" charset="-122"/>
                <a:cs typeface="Calibri" pitchFamily="34" charset="-120"/>
              </a:rPr>
              <a:t>RECAP</a:t>
            </a:r>
            <a:endParaRPr lang="en-US" sz="1300" dirty="0"/>
          </a:p>
        </p:txBody>
      </p:sp>
      <p:sp>
        <p:nvSpPr>
          <p:cNvPr id="6" name="Text 3"/>
          <p:cNvSpPr/>
          <p:nvPr/>
        </p:nvSpPr>
        <p:spPr>
          <a:xfrm>
            <a:off x="1463040" y="2606040"/>
            <a:ext cx="9265615" cy="1737360"/>
          </a:xfrm>
          <a:prstGeom prst="rect">
            <a:avLst/>
          </a:prstGeom>
          <a:noFill/>
          <a:ln/>
        </p:spPr>
        <p:txBody>
          <a:bodyPr wrap="square" lIns="0" tIns="0" rIns="0" bIns="0" rtlCol="0" anchor="ctr"/>
          <a:lstStyle/>
          <a:p>
            <a:pPr algn="ctr" indent="0" marL="0">
              <a:lnSpc>
                <a:spcPts val="3200"/>
              </a:lnSpc>
              <a:buNone/>
            </a:pPr>
            <a:r>
              <a:rPr lang="en-US" sz="2400" b="1" dirty="0">
                <a:solidFill>
                  <a:srgbClr val="FFFFFF"/>
                </a:solidFill>
                <a:latin typeface="Cambria" pitchFamily="34" charset="0"/>
                <a:ea typeface="Cambria" pitchFamily="34" charset="-122"/>
                <a:cs typeface="Cambria" pitchFamily="34" charset="-120"/>
              </a:rPr>
              <a:t>Linear Regression is a straight line, fit by shrinking a cost</a:t>
            </a:r>
            <a:endParaRPr lang="en-US" sz="2400" dirty="0"/>
          </a:p>
          <a:p>
            <a:pPr algn="ctr" indent="0" marL="0">
              <a:lnSpc>
                <a:spcPts val="3200"/>
              </a:lnSpc>
              <a:buNone/>
            </a:pPr>
            <a:r>
              <a:rPr lang="en-US" sz="2400" b="1" dirty="0">
                <a:solidFill>
                  <a:srgbClr val="FFFFFF"/>
                </a:solidFill>
                <a:latin typeface="Cambria" pitchFamily="34" charset="0"/>
                <a:ea typeface="Cambria" pitchFamily="34" charset="-122"/>
                <a:cs typeface="Cambria" pitchFamily="34" charset="-120"/>
              </a:rPr>
              <a:t>function with gradient descent — everything else refines that idea.</a:t>
            </a:r>
            <a:endParaRPr lang="en-US" sz="2400" dirty="0"/>
          </a:p>
        </p:txBody>
      </p:sp>
      <p:sp>
        <p:nvSpPr>
          <p:cNvPr id="7" name="Text 4"/>
          <p:cNvSpPr/>
          <p:nvPr/>
        </p:nvSpPr>
        <p:spPr>
          <a:xfrm>
            <a:off x="1828800" y="5120640"/>
            <a:ext cx="8534095" cy="457200"/>
          </a:xfrm>
          <a:prstGeom prst="rect">
            <a:avLst/>
          </a:prstGeom>
          <a:noFill/>
          <a:ln/>
        </p:spPr>
        <p:txBody>
          <a:bodyPr wrap="square" lIns="0" tIns="0" rIns="0" bIns="0" rtlCol="0" anchor="ctr"/>
          <a:lstStyle/>
          <a:p>
            <a:pPr algn="ctr" indent="0" marL="0">
              <a:buNone/>
            </a:pPr>
            <a:r>
              <a:rPr lang="en-US" sz="1300" i="1" dirty="0">
                <a:solidFill>
                  <a:srgbClr val="C9D3CC"/>
                </a:solidFill>
                <a:latin typeface="Calibri" pitchFamily="34" charset="0"/>
                <a:ea typeface="Calibri" pitchFamily="34" charset="-122"/>
                <a:cs typeface="Calibri" pitchFamily="34" charset="-120"/>
              </a:rPr>
              <a:t>Next session: Logistic Regression — predicting categories instead of numbers</a:t>
            </a:r>
            <a:endParaRPr lang="en-US" sz="1300" dirty="0"/>
          </a:p>
        </p:txBody>
      </p:sp>
      <p:sp>
        <p:nvSpPr>
          <p:cNvPr id="8" name="Text 5"/>
          <p:cNvSpPr/>
          <p:nvPr/>
        </p:nvSpPr>
        <p:spPr>
          <a:xfrm>
            <a:off x="11475720" y="6400800"/>
            <a:ext cx="365760" cy="365760"/>
          </a:xfrm>
          <a:prstGeom prst="rect">
            <a:avLst/>
          </a:prstGeom>
          <a:noFill/>
          <a:ln/>
        </p:spPr>
        <p:txBody>
          <a:bodyPr wrap="square" lIns="0" tIns="0" rIns="0" bIns="0" rtlCol="0" anchor="ctr"/>
          <a:lstStyle/>
          <a:p>
            <a:pPr algn="l" indent="0" marL="0">
              <a:buNone/>
            </a:pPr>
            <a:r>
              <a:rPr lang="en-US" sz="1200" dirty="0">
                <a:solidFill>
                  <a:srgbClr val="C9D3CC"/>
                </a:solidFill>
                <a:latin typeface="Calibri" pitchFamily="34" charset="0"/>
                <a:ea typeface="Calibri" pitchFamily="34" charset="-122"/>
                <a:cs typeface="Calibri" pitchFamily="34" charset="-120"/>
              </a:rPr>
              <a:t>36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2026-07-22T11:31:42Z</dcterms:created>
  <dcterms:modified xsi:type="dcterms:W3CDTF">2026-07-22T11:31:42Z</dcterms:modified>
</cp:coreProperties>
</file>