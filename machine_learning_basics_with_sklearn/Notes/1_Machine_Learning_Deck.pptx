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394960"/>
            <a:ext cx="3291840" cy="329184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960120" cy="96012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59536"/>
            <a:ext cx="521208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4688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58368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Real Predictions — Concepts, Workflow &amp; Tools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FOUNDATIONS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7572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0934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1463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Machine Learning actually is (and isn't)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/home/claude/work/icons_png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60934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76872" y="14630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Machine Learning vs Deep Learning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2" descr="/home/claude/work/icons_png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47802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61872" y="2331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types of ML — with real examples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355080" y="237744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3" descr="/home/claude/work/icons_png/listChec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47802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76872" y="23317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ML project pipeline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4" descr="/home/claude/work/icons_png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34670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61872" y="32004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355080" y="324612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5" descr="/home/claude/work/icons_png/broo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334670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76872" y="32004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fixing what's broken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6" descr="/home/claude/work/icons_png/slid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421538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61872" y="40690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— encoding &amp; scaling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6355080" y="411480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7" descr="/home/claude/work/icons_png/puzz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4215384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76872" y="40690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building better inputs</a:t>
            </a:r>
            <a:endParaRPr lang="en-US" sz="1350" dirty="0"/>
          </a:p>
        </p:txBody>
      </p:sp>
      <p:sp>
        <p:nvSpPr>
          <p:cNvPr id="27" name="Shape 17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8" descr="/home/claude/work/icons_png/filt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" y="5084064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261872" y="49377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— Filter, Wrapper, Embedded</a:t>
            </a:r>
            <a:endParaRPr lang="en-US" sz="1350" dirty="0"/>
          </a:p>
        </p:txBody>
      </p:sp>
      <p:sp>
        <p:nvSpPr>
          <p:cNvPr id="30" name="Shape 19"/>
          <p:cNvSpPr/>
          <p:nvPr/>
        </p:nvSpPr>
        <p:spPr>
          <a:xfrm>
            <a:off x="6355080" y="4983480"/>
            <a:ext cx="457200" cy="4572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9" descr="/home/claude/work/icons_png/targ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5664" y="5084064"/>
            <a:ext cx="256032" cy="2560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976872" y="49377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pitfalls: overfitting &amp; train/test splits</a:t>
            </a:r>
            <a:endParaRPr lang="en-US" sz="1350" dirty="0"/>
          </a:p>
        </p:txBody>
      </p:sp>
      <p:sp>
        <p:nvSpPr>
          <p:cNvPr id="3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</a:t>
            </a:r>
            <a:endParaRPr lang="en-US" sz="1000" dirty="0"/>
          </a:p>
        </p:txBody>
      </p:sp>
      <p:sp>
        <p:nvSpPr>
          <p:cNvPr id="34" name="Shape 22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114800" cy="411480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161848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that changed how software gets written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7572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Machine Learning?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(ML) is a branch of AI where a system learns patterns from data instead of following hand-written rules.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 it many examples — it works out the pattern connecting inputs to outputs on its own.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relevant data it sees, the better its pattern-matching (usually) gets.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Formally: a program that improves its performance on a task through experience (data), without being explicitly reprogrammed.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from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not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hard-coded rules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4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Programming vs. Machine Learning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programming: you write the rules yourself — Rules + Data go in, Answers come out.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flips this — Data + Answers (examples) go in, and the machine works out the Rules (the model).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flip matters when the rules are too complex, too fuzzy, or unknown to write by hand — like recognizing a face or predicting a price.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trained, that learned 'rule set' (the model) can be applied to brand-new, unseen data.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+ Answers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Rules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(the model)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5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 Everyday Life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10881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&amp; Netflix recommendations — learn from your watch history to predict what you'll watch next.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 in Gmail — learns the patterns common to spam emails and filters them out.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(Siri, Alexa, Google Assistant) — learn to understand how you speak.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 — learn to recognize stop signs, pedestrians, lanes, and other vehicles.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fraud detection — learn what a normal transaction looks like, and flag what doesn't.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Example: Face Unlock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phone's camera captures thousands of tiny facial measurements — distances between eyes, nose shape, jawline, and more.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setup, the model learns the unique pattern that is your face.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unlock your phone, it compares the live scan against that learned pattern — in a fraction of a second.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even adapts over time to gradual changes, like glasses or a new haircut.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031736" y="1636776"/>
            <a:ext cx="4590288" cy="3447288"/>
          </a:xfrm>
          <a:prstGeom prst="roundRect">
            <a:avLst>
              <a:gd name="adj" fmla="val 2653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/home/claude/work/photos/fac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86600" y="1691640"/>
            <a:ext cx="4480560" cy="3337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86600" y="5138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ML: pattern recognition applied to facial geometry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7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Learn ML Now?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Machine Learning powers everything from the apps on your phone to the systems running hospitals, banks, and space research.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engine behind search engines, recommendation systems, medical diagnosis tools, and generative AI.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tech industry is increasingly hiring for ML/data roles — in fintech, health-tech, and e-commerce.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ML today means learning the language the next decade of software will be written in.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A547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future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software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8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114800" cy="411480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161848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ML vs DL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related terms people mix up constantly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7572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circu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— The Big Umbrella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broadest term: the science of building machines that can perform tasks that normally require human intelligence.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includes reasoning, understanding language, recognizing images, planning, and decision-making.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goal, not one specific technique — it covers everything from simple if/else rule engines to today's deep neural networks.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simply the most successful modern approach to achieving AI.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circu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that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&amp; reason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humans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10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— A Subset of AI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one specific way to achieve AI: instead of programming intelligence directly, you let the machine learn it from data.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covers a huge family of algorithms — from simple Linear Regression to complex ensemble models.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system is AI, but not every AI system uses ML (a chess engine with hand-coded rules is AI, not ML).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systems generally improve as they're exposed to more (good) data over time.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from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gets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over time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— A Subset of Machine Learning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(DL) is a specialized branch of ML built on artificial neural networks with many stacked layers — 'deep' refers to that layer count.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networks are loosely inspired by how neurons connect in the human brain.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shines at unstructured data — images, audio, and text — powering things like face recognition, computer vision, and speech-to-text.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typically needs much more data and computing power than classic ML algorithms.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A547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networks,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layers deep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12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ML vs DL — Side by Side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413760" cy="566928"/>
          </a:xfrm>
          <a:prstGeom prst="roundRect">
            <a:avLst>
              <a:gd name="adj" fmla="val 12903"/>
            </a:avLst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54480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3413760" cy="3931920"/>
          </a:xfrm>
          <a:prstGeom prst="roundRect">
            <a:avLst>
              <a:gd name="adj" fmla="val 2143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423160"/>
            <a:ext cx="2956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goal: machines that think or act intelligently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rule-based systems, search, planning, ML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chess engine, a rule-based chatbot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3880" y="1554480"/>
            <a:ext cx="3413760" cy="566928"/>
          </a:xfrm>
          <a:prstGeom prst="roundRect">
            <a:avLst>
              <a:gd name="adj" fmla="val 12903"/>
            </a:avLst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73880" y="1554480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3880" y="2194560"/>
            <a:ext cx="3413760" cy="3931920"/>
          </a:xfrm>
          <a:prstGeom prst="roundRect">
            <a:avLst>
              <a:gd name="adj" fmla="val 2143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02480" y="2423160"/>
            <a:ext cx="2956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reach AI by learning from data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labeled or unlabeled datasets to train on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predicting house prices from past sales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07680" y="1554480"/>
            <a:ext cx="3413760" cy="566928"/>
          </a:xfrm>
          <a:prstGeom prst="roundRect">
            <a:avLst>
              <a:gd name="adj" fmla="val 12903"/>
            </a:avLst>
          </a:prstGeom>
          <a:solidFill>
            <a:srgbClr val="A547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07680" y="1554480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7680" y="2194560"/>
            <a:ext cx="3413760" cy="3931920"/>
          </a:xfrm>
          <a:prstGeom prst="roundRect">
            <a:avLst>
              <a:gd name="adj" fmla="val 2143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36280" y="2423160"/>
            <a:ext cx="2956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ML using deep neural networks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images, audio, video, and text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face recognition, self-driving perception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114800" cy="411480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161848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Types of Machine Learning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 Learning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7572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291840" cy="3291840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200" kern="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ML  ·  1 OF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72888" y="9144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72888" y="914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LABELS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/home/claude/work/icons_png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645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5603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103120" y="3246120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student learning with a teacher — the machine is given both the input data and the correct answer, and it learns to map one to the other.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5989320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predicting loan approval from income &amp; credit score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— A Worked Example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we want to predict whether a bank should approve a loan.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Credit Score are the input variables (features) — what we already know about an applicant.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Approved (Yes/No) is the output variable (target/label) — what we want to predict.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the model on historical rows where both the inputs and the correct output are already known.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trained, the model can predict the output for a brand-new applicant it has never seen before.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→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→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output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listChe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Supervised Learning Algorithms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predicts a continuous number (e.g. house price).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predicts a yes/no category despite the name 'regression'.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Random Forests — split data on questions to reach a decision.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 — classifies based on the closest labeled examples.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(SVM) — finds the best boundary that separates classes.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— a fast probability-based classifier, popular for spam filtering.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flavors: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(numbers) &amp;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(categories)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17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291840" cy="3291840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200" kern="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ML  ·  2 OF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72888" y="9144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72888" y="914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/home/claude/work/icons_png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645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5603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103120" y="3246120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only gets data — no correct answers. It's left to find structure on its own: grouping similar items, spotting outliers, and simplifying complexity.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5989320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grouping website visitors into customer segments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 — Algorithms &amp; Uses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(e.g. K-Means, Hierarchical Clustering) — groups similar data points together, like customer segments.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(e.g. PCA) — compresses many features into fewer, more informative ones.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flags unusual data points, useful for fraud or defect detection.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Learning — finds relationships between items, like 'customers who buy X also buy Y'.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Google's search-result clustering and 'customers also bought' recommendations both lean on unsupervised techniques.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hidden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—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teacher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19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291840" cy="3291840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200" kern="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ML  ·  3 OF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72888" y="9144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A547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72888" y="914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&amp; ERROR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A547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/home/claude/work/icons_png/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645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5603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103120" y="3246120"/>
            <a:ext cx="7985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training a dog — you don't explain every rule. You reward good actions and discourage bad ones, and the agent learns the best strategy through trial and error.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5989320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game-playing AI, robotics, self-driving decision-making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 Types of ML at a Glance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44240" cy="3566160"/>
          </a:xfrm>
          <a:prstGeom prst="roundRect">
            <a:avLst>
              <a:gd name="adj" fmla="val 2655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96440" y="2286000"/>
            <a:ext cx="731520" cy="73152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/home/claude/work/icons_png/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032" y="245059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20040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77240" y="3703320"/>
            <a:ext cx="316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correct answers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outputs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inputs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58640" y="1920240"/>
            <a:ext cx="3444240" cy="3566160"/>
          </a:xfrm>
          <a:prstGeom prst="roundRect">
            <a:avLst>
              <a:gd name="adj" fmla="val 2655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2" descr="/home/claude/work/icons_png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45059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95800" y="320040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495800" y="3703320"/>
            <a:ext cx="316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outliers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77200" y="1920240"/>
            <a:ext cx="3444240" cy="3566160"/>
          </a:xfrm>
          <a:prstGeom prst="roundRect">
            <a:avLst>
              <a:gd name="adj" fmla="val 2655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433560" y="2286000"/>
            <a:ext cx="731520" cy="731520"/>
          </a:xfrm>
          <a:prstGeom prst="ellipse">
            <a:avLst/>
          </a:prstGeom>
          <a:solidFill>
            <a:srgbClr val="A547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3" descr="/home/claude/work/icons_png/d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152" y="245059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14360" y="320040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214360" y="3703320"/>
            <a:ext cx="316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penalties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best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by trial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21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114800" cy="411480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listChe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161848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Workflow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raw dataset becomes a working model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7572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listChe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58064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11 Steps of a Machine Learning Project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serious ML project — from a student notebook to a production system — follows roughly this path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70432" y="1600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— what exactly are we predicting, and why?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gather relevant, sufficient, representative data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18211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70432" y="31546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— understand the data first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70432" y="39319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/ Cleaning — fix nulls, duplicates, errors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73659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70432" y="47091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Engineering — choose and craft the best inputs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51383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513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70432" y="54864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Dataset — separate training data from test data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63640" y="162763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3992" y="1600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— pick an algorithm suited to the problem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63640" y="240487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36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93992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let the algorithm learn from the training data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63640" y="318211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6364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93992" y="31546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measure performance on unseen data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263640" y="395935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63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93992" y="39319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fine-tune the model's settings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263640" y="4736592"/>
            <a:ext cx="384048" cy="38404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636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93992" y="47091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Testing / Validation — confirm it generalizes before deployment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23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EDA?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stands for Exploratory Data Analysis — the process of analyzing, visualizing, and understanding your data before building any model.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detective work: you're getting curious about your data before doing any fancy transformations.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almost always Step 3 in the pipeline — right after you collect data, before you touch it.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clean or engineer what you don't first understand.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before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touch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24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EDA Matters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clean or preprocess what you don't understand — EDA comes first.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you identify mistakes, biases, or limitations hiding in the data.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guides the direction of your data cleaning and feature engineering decisions.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your audience or stakeholders a story or overview of what the data is telling you, before any model exists.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EDA →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25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EDA Techniques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the data — .head(), .tail(), .shape, .info() to see structure and types.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— mean, median, mode, std, min, max, quartiles via .describe().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counts — how many unique values in a column, great for categorical data.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 — where are the gaps, and what % of data is missing?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histograms (distribution), boxplots (outliers &amp; spread), correlation heatmaps (relationships), scatter plots (bivariate patterns).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+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visuals =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picture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114800" cy="411480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161848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messy real-world data into model-ready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7572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— Fixing What's Broken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— check which columns have nulls, then drop, impute (mean/median/mode), or predict them.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— detect and drop exact duplicate rows that would bias the model.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 — convert wrongly-typed columns, e.g. numbers stored as strings or dates stored as text.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inconsistent categories — 'Male', 'male', 'MALE' should all become one consistent value.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handle outliers — using boxplots, IQR, or z-score; remove, cap, or investigate them.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logic/domain errors — e.g. age = −5, or an impossible BMI value.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A547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tr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finds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problem.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fixes it.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28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— Encoding Categorical Data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ML algorithms only understand numbers — categorical text columns need to be converted first.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— assigns each category a number (0, 1, 2…); good for ordered categories like 'Low, Medium, High'.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— creates a separate 0/1 column per category; best for unordered categories like region or color.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wrong encoding can accidentally imply an order that doesn't exist in the data — a common beginner mistake.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text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numbers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29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 — Normalization vs. Standardization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80660" cy="566928"/>
          </a:xfrm>
          <a:prstGeom prst="roundRect">
            <a:avLst>
              <a:gd name="adj" fmla="val 12903"/>
            </a:avLst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54480"/>
            <a:ext cx="5280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(Min-Max)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5280660" cy="3931920"/>
          </a:xfrm>
          <a:prstGeom prst="roundRect">
            <a:avLst>
              <a:gd name="adj" fmla="val 1860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423160"/>
            <a:ext cx="48234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values into a fixed 0–1 range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(x − min) / (max − min)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when data has known, bounded limits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0780" y="1554480"/>
            <a:ext cx="5280660" cy="566928"/>
          </a:xfrm>
          <a:prstGeom prst="roundRect">
            <a:avLst>
              <a:gd name="adj" fmla="val 12903"/>
            </a:avLst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0780" y="1554480"/>
            <a:ext cx="5280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 (Z-score)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40780" y="2194560"/>
            <a:ext cx="5280660" cy="3931920"/>
          </a:xfrm>
          <a:prstGeom prst="roundRect">
            <a:avLst>
              <a:gd name="adj" fmla="val 1860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9380" y="2423160"/>
            <a:ext cx="48234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to mean = 0, std = 1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(x − mean) / std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when data is roughly normal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to outliers than min-max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114800" cy="411480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161848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Selection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828800" y="434340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model the best possible inputs to learn from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7572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Feature Engineering?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means creating new features, or transforming existing ones, to expose patterns that ML models can actually learn from.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bother? Because ML models don't understand domain logic on their own — we have to hand them the right signals.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techniques: mathematical combinations (e.g. price per sq. ft.), target-based flags, binning continuous values into ranges, and time-based features (day of week, month, holiday).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feature engineering often improves accuracy more than switching to a fancier algorithm.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flaskCon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inputs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usually beat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fancier model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32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Feature Selection Matters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600200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means picking the most useful features and removing the rest.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and overfitting — fewer irrelevant features means the model generalizes better.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training — fewer columns means faster computation.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 and makes the model easier to interpret and explain.</a:t>
            </a:r>
            <a:endParaRPr lang="en-US" sz="1550" dirty="0"/>
          </a:p>
          <a:p>
            <a:pPr marL="228600" indent="-228600">
              <a:lnSpc>
                <a:spcPts val="22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three broad families of methods: Filter, Wrapper, and Embedded.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0" y="1828800"/>
            <a:ext cx="3337560" cy="3566160"/>
          </a:xfrm>
          <a:prstGeom prst="roundRect">
            <a:avLst>
              <a:gd name="adj" fmla="val 3288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41180" y="2331720"/>
            <a:ext cx="914400" cy="914400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/home/claude/work/icons_png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48" y="25328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582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Fewer, better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beat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more, noisy ones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33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62636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Methods — Filter, Wrapper, Embedded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3413760" cy="566928"/>
          </a:xfrm>
          <a:prstGeom prst="roundRect">
            <a:avLst>
              <a:gd name="adj" fmla="val 12903"/>
            </a:avLst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54480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Methods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3413760" cy="3931920"/>
          </a:xfrm>
          <a:prstGeom prst="roundRect">
            <a:avLst>
              <a:gd name="adj" fmla="val 2143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423160"/>
            <a:ext cx="2956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statistics, model-independent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— drop highly correlated features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— categorical vs categorical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F-test — numerical vs categorical target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ignores feature interactions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3880" y="1554480"/>
            <a:ext cx="3413760" cy="566928"/>
          </a:xfrm>
          <a:prstGeom prst="roundRect">
            <a:avLst>
              <a:gd name="adj" fmla="val 12903"/>
            </a:avLst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73880" y="1554480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Wrapper Methods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3880" y="2194560"/>
            <a:ext cx="3413760" cy="3931920"/>
          </a:xfrm>
          <a:prstGeom prst="roundRect">
            <a:avLst>
              <a:gd name="adj" fmla="val 2143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02480" y="2423160"/>
            <a:ext cx="2956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feature subsets using the actual model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 Elimination (RFE)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 / backward elimination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accurate, but computationally expensive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07680" y="1554480"/>
            <a:ext cx="3413760" cy="566928"/>
          </a:xfrm>
          <a:prstGeom prst="roundRect">
            <a:avLst>
              <a:gd name="adj" fmla="val 12903"/>
            </a:avLst>
          </a:prstGeom>
          <a:solidFill>
            <a:srgbClr val="A547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07680" y="1554480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Methods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07680" y="2194560"/>
            <a:ext cx="3413760" cy="3931920"/>
          </a:xfrm>
          <a:prstGeom prst="roundRect">
            <a:avLst>
              <a:gd name="adj" fmla="val 2143"/>
            </a:avLst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36280" y="2423160"/>
            <a:ext cx="2956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happens during model training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 — shrinks weak coefficients to 0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(Random Forest, XGBoost)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built-in feature importance scores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34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2C6E6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home/claude/work/icons_png/flaskCo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580644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 — Practice Tasks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small dataset (e.g. Titanic, Iris, or a Kaggle CSV) and work through these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384048" cy="38404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70432" y="1600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 and run .info(), .describe(), and .head()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missing values per column and decide how to handle each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182112"/>
            <a:ext cx="384048" cy="38404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70432" y="31546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histogram and a boxplot for one numeric column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70432" y="39319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correlation heatmap across all numeric columns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63640" y="1627632"/>
            <a:ext cx="384048" cy="38404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93992" y="1600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at least one categorical column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63640" y="2404872"/>
            <a:ext cx="384048" cy="38404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793992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 numeric column using Min-Max normalization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63640" y="3182112"/>
            <a:ext cx="384048" cy="38404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3992" y="31546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 using train_test_split (e.g. 80/20)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63640" y="3959352"/>
            <a:ext cx="384048" cy="38404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3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93992" y="39319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one simple model (e.g. Logistic Regression) with scikit-learn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 ·  35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1475720" y="6400800"/>
            <a:ext cx="329184" cy="329184"/>
          </a:xfrm>
          <a:prstGeom prst="ellipse">
            <a:avLst/>
          </a:prstGeom>
          <a:solidFill>
            <a:srgbClr val="F1F3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7572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1840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home/claude/work/icons_png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816" y="12527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48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7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63040" y="2606040"/>
            <a:ext cx="92656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is the art of turning data into decisions —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a model is only ever as good as the data pipeline behind it.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28800" y="512064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hands-on EDA &amp; preprocessing with pandas and scikit-learn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7572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2026-07-22T03:56:57Z</dcterms:created>
  <dcterms:modified xsi:type="dcterms:W3CDTF">2026-07-22T03:56:57Z</dcterms:modified>
</cp:coreProperties>
</file>